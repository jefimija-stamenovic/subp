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4E65"/>
    <a:srgbClr val="A6A6A6"/>
    <a:srgbClr val="1B2A4A"/>
    <a:srgbClr val="FFFFFF"/>
    <a:srgbClr val="A0C1D5"/>
    <a:srgbClr val="312F2C"/>
    <a:srgbClr val="ABD1C6"/>
    <a:srgbClr val="0D94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7497" autoAdjust="0"/>
  </p:normalViewPr>
  <p:slideViewPr>
    <p:cSldViewPr snapToGrid="0" snapToObjects="1">
      <p:cViewPr>
        <p:scale>
          <a:sx n="63" d="100"/>
          <a:sy n="63" d="100"/>
        </p:scale>
        <p:origin x="38" y="101"/>
      </p:cViewPr>
      <p:guideLst/>
    </p:cSldViewPr>
  </p:slideViewPr>
  <p:notesTextViewPr>
    <p:cViewPr>
      <p:scale>
        <a:sx n="1" d="1"/>
        <a:sy n="1" d="1"/>
      </p:scale>
      <p:origin x="0" y="-264"/>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194021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Dobar</a:t>
            </a:r>
            <a:r>
              <a:rPr lang="en-US" dirty="0"/>
              <a:t> dan </a:t>
            </a:r>
            <a:r>
              <a:rPr lang="en-US" dirty="0" err="1"/>
              <a:t>svima</a:t>
            </a:r>
            <a:r>
              <a:rPr lang="en-US" dirty="0"/>
              <a:t>, ja </a:t>
            </a:r>
            <a:r>
              <a:rPr lang="en-US" dirty="0" err="1"/>
              <a:t>sam</a:t>
            </a:r>
            <a:r>
              <a:rPr lang="en-US" dirty="0"/>
              <a:t> Jefimija </a:t>
            </a:r>
            <a:r>
              <a:rPr lang="en-US" dirty="0" err="1"/>
              <a:t>Stamenovi</a:t>
            </a:r>
            <a:r>
              <a:rPr lang="sr-Latn-RS" dirty="0"/>
              <a:t>ć i danas ću vam predstaviti internu strukturu i organizaciju indeksa u Firebird bazi podataka.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r-Latn-RS" dirty="0"/>
              <a:t>U toku svog izlaganja pričaću o kontekstu i motivaciji, odnosno zašto su indeksi bitan faktor za skalabinost sistema. Dalje, kratko ću vam ispričati o fizičkoj organizaciji indeksa. Polse toga će biti reči o MGA i verzionisanju zapisa, B+ stablima, kompresiji i optimizaciji, kao i o tipovima indeksa i statistici. Na samom kraju, prodiskutovaćemo o execution planovima kroz praktične primere.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r-Latn-RS" dirty="0"/>
              <a:t>U današnjem radu sa bazama podataka, brzina pronalaženja informacija je postao osnovni parametar skalabilnosti sistema usled rasta količine uskladištenih podataka. Sekvencijalni pristup je prosto neprihvatljiv kada pričamo o tabelama sa desetinama hiljada podataka jer je složenost linearna. </a:t>
            </a:r>
            <a:r>
              <a:rPr lang="en-US" dirty="0" err="1"/>
              <a:t>Iz</a:t>
            </a:r>
            <a:r>
              <a:rPr lang="en-US" dirty="0"/>
              <a:t> tog </a:t>
            </a:r>
            <a:r>
              <a:rPr lang="en-US" dirty="0" err="1"/>
              <a:t>razloga</a:t>
            </a:r>
            <a:r>
              <a:rPr lang="en-US" dirty="0"/>
              <a:t> </a:t>
            </a:r>
            <a:r>
              <a:rPr lang="en-US" dirty="0" err="1"/>
              <a:t>su</a:t>
            </a:r>
            <a:r>
              <a:rPr lang="en-US" dirty="0"/>
              <a:t> </a:t>
            </a:r>
            <a:r>
              <a:rPr lang="en-US" dirty="0" err="1"/>
              <a:t>bitni</a:t>
            </a:r>
            <a:r>
              <a:rPr lang="en-US" dirty="0"/>
              <a:t> </a:t>
            </a:r>
            <a:r>
              <a:rPr lang="en-US" dirty="0" err="1"/>
              <a:t>indeksi</a:t>
            </a:r>
            <a:r>
              <a:rPr lang="en-US" dirty="0"/>
              <a:t> koji </a:t>
            </a:r>
            <a:r>
              <a:rPr lang="en-US" dirty="0" err="1"/>
              <a:t>predstavljaju</a:t>
            </a:r>
            <a:r>
              <a:rPr lang="en-US" dirty="0"/>
              <a:t> </a:t>
            </a:r>
            <a:r>
              <a:rPr lang="en-US" dirty="0" err="1"/>
              <a:t>pomo</a:t>
            </a:r>
            <a:r>
              <a:rPr lang="sr-Latn-RS" dirty="0"/>
              <a:t>ćne strukture organizovane tako da se brže dođe do podataka. Kod njih je složenost logaritamska Međutim, indeksi nisu besplatan resurs – oni koštaju u vidu prostora, I/O operacija pri izmeni podataka (dodavanje, brisanje i izmeni). Zato je bitno napraviti dobar trade-off, tj. izbalansirati između brzine čitanja i cene upisa. Konkretno, u Firebirdu su indeksi implementirani uz pomoć MGA i B+ stabala. </a:t>
            </a:r>
          </a:p>
          <a:p>
            <a:r>
              <a:rPr lang="sr-Latn-RS" dirty="0"/>
              <a:t>MGA tj. Multi Generational Architecture je zadužen za verzionisanje – svaka izmena je nova verzija umesto da se radi direktno prepisivanje. Indeksi moraju da prate ove verzije što dovodi do pojave Index Bloat, pa je razumevanje fizičke strukture indeksa preduslov za optimizaciju.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r-Latn-RS" dirty="0"/>
              <a:t>Fizički integritet i logika smeštanja podataka u Firebird-u su definisani kroz koncept On-Dist Structure. ODS je binarni protokol koji definiše organizaciju bajtova na medijumu, gde su smešteni metapodaci, a gde pravi podaci i njihovi pripadajući indeksi. Za indeksiranje je ključno da stranice imaju fiksno mesto, svoj identifikacioni broj i da su fiksne veličine. Postoji više različitih vrsta stranica, ali su nama u ovom trenutku najbitnije ove četiri na slajdu. Svaka od njih ima kod na osnovu kog sistem zna kako da razlikuje metapodatke od stvarnog sadržaja. Header Page je prva stranica koja čuva ifnromacije o ODS verziji, veličini stranice i ID poslednje transakcije. U Date page se čuvaju stvarni podaci. U Index Root Page se čuva lista svih indeksa za određenu tabelu. I na kraju imamo Index B-tree Page gde se čuvaju indeksi u sortiranom redosledu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r-Latn-RS" dirty="0"/>
              <a:t>Da bismo razumeli šta je RDB$</a:t>
            </a:r>
            <a:r>
              <a:rPr lang="en-US" dirty="0"/>
              <a:t>KEY</a:t>
            </a:r>
            <a:r>
              <a:rPr lang="sr-Latn-RS" dirty="0"/>
              <a:t>, prvo ću vam objasniti strukturu stranice. Na početku stranice se nalaz</a:t>
            </a:r>
            <a:r>
              <a:rPr lang="en-US" dirty="0"/>
              <a:t>e </a:t>
            </a:r>
            <a:r>
              <a:rPr lang="en-US" dirty="0" err="1"/>
              <a:t>podaci</a:t>
            </a:r>
            <a:r>
              <a:rPr lang="en-US" dirty="0"/>
              <a:t>, </a:t>
            </a:r>
            <a:r>
              <a:rPr lang="en-US" dirty="0" err="1"/>
              <a:t>dok</a:t>
            </a:r>
            <a:r>
              <a:rPr lang="en-US" dirty="0"/>
              <a:t> se </a:t>
            </a:r>
            <a:r>
              <a:rPr lang="en-US" dirty="0" err="1"/>
              <a:t>na</a:t>
            </a:r>
            <a:r>
              <a:rPr lang="en-US" dirty="0"/>
              <a:t> </a:t>
            </a:r>
            <a:r>
              <a:rPr lang="en-US" dirty="0" err="1"/>
              <a:t>kraju</a:t>
            </a:r>
            <a:r>
              <a:rPr lang="en-US" dirty="0"/>
              <a:t> </a:t>
            </a:r>
            <a:r>
              <a:rPr lang="sr-Latn-RS" dirty="0"/>
              <a:t>pakuje tabela slotova koja se popunjava otpozadi.  Slot se sastoji od offset-a tj. pomeraja od početka stranice do mesta gde se zapis nalazi i ukupne dužine tog zapisa u bajtovima. RDB$KEY je zapravo veza između logičkih upita i fizičke lokacije na disku. To je osmobajtna vrednost gde 4 bajta predstavljaju broj stranice, a drugih 4 predstavlja broj slota podatka. Upravo se oni  čuvaju u listovima stabala indeksa što značajno utiče na ubrzanje izvršavanja upita</a:t>
            </a:r>
            <a:r>
              <a:rPr lang="en-US" dirty="0"/>
              <a:t> </a:t>
            </a:r>
            <a:r>
              <a:rPr lang="en-US" dirty="0" err="1"/>
              <a:t>i</a:t>
            </a:r>
            <a:r>
              <a:rPr lang="en-US" dirty="0"/>
              <a:t> </a:t>
            </a:r>
            <a:r>
              <a:rPr lang="en-US" dirty="0" err="1"/>
              <a:t>njegova</a:t>
            </a:r>
            <a:r>
              <a:rPr lang="en-US" dirty="0"/>
              <a:t> </a:t>
            </a:r>
            <a:r>
              <a:rPr lang="en-US" dirty="0" err="1"/>
              <a:t>uloga</a:t>
            </a:r>
            <a:r>
              <a:rPr lang="en-US" dirty="0"/>
              <a:t> je </a:t>
            </a:r>
            <a:r>
              <a:rPr lang="en-US" dirty="0" err="1"/>
              <a:t>isklju</a:t>
            </a:r>
            <a:r>
              <a:rPr lang="sr-Latn-RS" dirty="0"/>
              <a:t>čivo navigaciona. Ono što je bitno napomenuti je da tabela slotova omogućava da se zapis fizički premesti unutar stranice, a da svi indeksi i dalje ostanu validni iz razloga što se ne menja broj slota već samo offset unutar slota. U suprotnom, ovo bi zahtevali da se svi indeksi ažuriraju odmah.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000" dirty="0"/>
              <a:t>Firebird </a:t>
            </a:r>
            <a:r>
              <a:rPr lang="en-US" sz="1000" dirty="0" err="1"/>
              <a:t>koristi</a:t>
            </a:r>
            <a:r>
              <a:rPr lang="en-US" sz="1000" dirty="0"/>
              <a:t> MGA </a:t>
            </a:r>
            <a:r>
              <a:rPr lang="en-US" sz="1000" dirty="0" err="1"/>
              <a:t>arhitekturu</a:t>
            </a:r>
            <a:r>
              <a:rPr lang="sr-Latn-RS" sz="1000" dirty="0"/>
              <a:t> koji predstavlja specifičnu primenu MVCC kontrole</a:t>
            </a:r>
            <a:r>
              <a:rPr lang="en-US" sz="1000" dirty="0"/>
              <a:t> u </a:t>
            </a:r>
            <a:r>
              <a:rPr lang="en-US" sz="1000" dirty="0" err="1"/>
              <a:t>kojoj</a:t>
            </a:r>
            <a:r>
              <a:rPr lang="en-US" sz="1000" dirty="0"/>
              <a:t> </a:t>
            </a:r>
            <a:r>
              <a:rPr lang="en-US" sz="1000" dirty="0" err="1"/>
              <a:t>svaki</a:t>
            </a:r>
            <a:r>
              <a:rPr lang="en-US" sz="1000" dirty="0"/>
              <a:t> UPDATE ne </a:t>
            </a:r>
            <a:r>
              <a:rPr lang="en-US" sz="1000" dirty="0" err="1"/>
              <a:t>menja</a:t>
            </a:r>
            <a:r>
              <a:rPr lang="en-US" sz="1000" dirty="0"/>
              <a:t> </a:t>
            </a:r>
            <a:r>
              <a:rPr lang="en-US" sz="1000" dirty="0" err="1"/>
              <a:t>originalni</a:t>
            </a:r>
            <a:r>
              <a:rPr lang="en-US" sz="1000" dirty="0"/>
              <a:t> </a:t>
            </a:r>
            <a:r>
              <a:rPr lang="en-US" sz="1000" dirty="0" err="1"/>
              <a:t>podatak</a:t>
            </a:r>
            <a:r>
              <a:rPr lang="en-US" sz="1000" dirty="0"/>
              <a:t>, </a:t>
            </a:r>
            <a:r>
              <a:rPr lang="en-US" sz="1000" dirty="0" err="1"/>
              <a:t>već</a:t>
            </a:r>
            <a:r>
              <a:rPr lang="en-US" sz="1000" dirty="0"/>
              <a:t> </a:t>
            </a:r>
            <a:r>
              <a:rPr lang="en-US" sz="1000" dirty="0" err="1"/>
              <a:t>kreira</a:t>
            </a:r>
            <a:r>
              <a:rPr lang="en-US" sz="1000" dirty="0"/>
              <a:t> </a:t>
            </a:r>
            <a:r>
              <a:rPr lang="en-US" sz="1000" dirty="0" err="1"/>
              <a:t>novu</a:t>
            </a:r>
            <a:r>
              <a:rPr lang="en-US" sz="1000" dirty="0"/>
              <a:t> </a:t>
            </a:r>
            <a:r>
              <a:rPr lang="en-US" sz="1000" dirty="0" err="1"/>
              <a:t>verziju</a:t>
            </a:r>
            <a:r>
              <a:rPr lang="en-US" sz="1000" dirty="0"/>
              <a:t> </a:t>
            </a:r>
            <a:r>
              <a:rPr lang="en-US" sz="1000" dirty="0" err="1"/>
              <a:t>zapisa</a:t>
            </a:r>
            <a:r>
              <a:rPr lang="en-US" sz="1000" dirty="0"/>
              <a:t>, </a:t>
            </a:r>
            <a:r>
              <a:rPr lang="en-US" sz="1000" dirty="0" err="1"/>
              <a:t>dok</a:t>
            </a:r>
            <a:r>
              <a:rPr lang="en-US" sz="1000" dirty="0"/>
              <a:t> </a:t>
            </a:r>
            <a:r>
              <a:rPr lang="en-US" sz="1000" dirty="0" err="1"/>
              <a:t>stara</a:t>
            </a:r>
            <a:r>
              <a:rPr lang="en-US" sz="1000" dirty="0"/>
              <a:t> </a:t>
            </a:r>
            <a:r>
              <a:rPr lang="en-US" sz="1000" dirty="0" err="1"/>
              <a:t>ostaje</a:t>
            </a:r>
            <a:r>
              <a:rPr lang="en-US" sz="1000" dirty="0"/>
              <a:t> </a:t>
            </a:r>
            <a:r>
              <a:rPr lang="en-US" sz="1000" dirty="0" err="1"/>
              <a:t>sačuvana</a:t>
            </a:r>
            <a:r>
              <a:rPr lang="en-US" sz="1000" dirty="0"/>
              <a:t> </a:t>
            </a:r>
            <a:r>
              <a:rPr lang="en-US" sz="1000" dirty="0" err="1"/>
              <a:t>na</a:t>
            </a:r>
            <a:r>
              <a:rPr lang="en-US" sz="1000" dirty="0"/>
              <a:t> Data Page </a:t>
            </a:r>
            <a:r>
              <a:rPr lang="en-US" sz="1000" dirty="0" err="1"/>
              <a:t>stranicama</a:t>
            </a:r>
            <a:r>
              <a:rPr lang="en-US" sz="1000" dirty="0"/>
              <a:t>.</a:t>
            </a:r>
            <a:r>
              <a:rPr lang="sr-Latn-RS" sz="1000" dirty="0"/>
              <a:t> </a:t>
            </a:r>
            <a:r>
              <a:rPr lang="en-US" sz="1000" dirty="0"/>
              <a:t>Na taj </a:t>
            </a:r>
            <a:r>
              <a:rPr lang="en-US" sz="1000" dirty="0" err="1"/>
              <a:t>način</a:t>
            </a:r>
            <a:r>
              <a:rPr lang="en-US" sz="1000" dirty="0"/>
              <a:t> se </a:t>
            </a:r>
            <a:r>
              <a:rPr lang="en-US" sz="1000" dirty="0" err="1"/>
              <a:t>formira</a:t>
            </a:r>
            <a:r>
              <a:rPr lang="en-US" sz="1000" dirty="0"/>
              <a:t> </a:t>
            </a:r>
            <a:r>
              <a:rPr lang="en-US" sz="1000" dirty="0" err="1"/>
              <a:t>lanac</a:t>
            </a:r>
            <a:r>
              <a:rPr lang="en-US" sz="1000" dirty="0"/>
              <a:t> </a:t>
            </a:r>
            <a:r>
              <a:rPr lang="en-US" sz="1000" dirty="0" err="1"/>
              <a:t>verzija</a:t>
            </a:r>
            <a:r>
              <a:rPr lang="en-US" sz="1000" dirty="0"/>
              <a:t> — INSERT </a:t>
            </a:r>
            <a:r>
              <a:rPr lang="en-US" sz="1000" dirty="0" err="1"/>
              <a:t>kreira</a:t>
            </a:r>
            <a:r>
              <a:rPr lang="en-US" sz="1000" dirty="0"/>
              <a:t> original, </a:t>
            </a:r>
            <a:r>
              <a:rPr lang="en-US" sz="1000" dirty="0" err="1"/>
              <a:t>svaki</a:t>
            </a:r>
            <a:r>
              <a:rPr lang="en-US" sz="1000" dirty="0"/>
              <a:t> UPDATE </a:t>
            </a:r>
            <a:r>
              <a:rPr lang="en-US" sz="1000" dirty="0" err="1"/>
              <a:t>dodaje</a:t>
            </a:r>
            <a:r>
              <a:rPr lang="en-US" sz="1000" dirty="0"/>
              <a:t> </a:t>
            </a:r>
            <a:r>
              <a:rPr lang="en-US" sz="1000" dirty="0" err="1"/>
              <a:t>novu</a:t>
            </a:r>
            <a:r>
              <a:rPr lang="en-US" sz="1000" dirty="0"/>
              <a:t> </a:t>
            </a:r>
            <a:r>
              <a:rPr lang="en-US" sz="1000" dirty="0" err="1"/>
              <a:t>verziju</a:t>
            </a:r>
            <a:r>
              <a:rPr lang="en-US" sz="1000" dirty="0"/>
              <a:t> </a:t>
            </a:r>
            <a:r>
              <a:rPr lang="en-US" sz="1000" dirty="0" err="1"/>
              <a:t>na</a:t>
            </a:r>
            <a:r>
              <a:rPr lang="en-US" sz="1000" dirty="0"/>
              <a:t> </a:t>
            </a:r>
            <a:r>
              <a:rPr lang="en-US" sz="1000" dirty="0" err="1"/>
              <a:t>kraju</a:t>
            </a:r>
            <a:r>
              <a:rPr lang="en-US" sz="1000" dirty="0"/>
              <a:t> </a:t>
            </a:r>
            <a:r>
              <a:rPr lang="en-US" sz="1000" dirty="0" err="1"/>
              <a:t>lanca</a:t>
            </a:r>
            <a:r>
              <a:rPr lang="en-US" sz="1000" dirty="0"/>
              <a:t>, a engine </a:t>
            </a:r>
            <a:r>
              <a:rPr lang="en-US" sz="1000" dirty="0" err="1"/>
              <a:t>prolazi</a:t>
            </a:r>
            <a:r>
              <a:rPr lang="en-US" sz="1000" dirty="0"/>
              <a:t> </a:t>
            </a:r>
            <a:r>
              <a:rPr lang="en-US" sz="1000" dirty="0" err="1"/>
              <a:t>kroz</a:t>
            </a:r>
            <a:r>
              <a:rPr lang="en-US" sz="1000" dirty="0"/>
              <a:t> </a:t>
            </a:r>
            <a:r>
              <a:rPr lang="en-US" sz="1000" dirty="0" err="1"/>
              <a:t>lanac</a:t>
            </a:r>
            <a:r>
              <a:rPr lang="en-US" sz="1000" dirty="0"/>
              <a:t> </a:t>
            </a:r>
            <a:r>
              <a:rPr lang="en-US" sz="1000" dirty="0" err="1"/>
              <a:t>dok</a:t>
            </a:r>
            <a:r>
              <a:rPr lang="en-US" sz="1000" dirty="0"/>
              <a:t> ne </a:t>
            </a:r>
            <a:r>
              <a:rPr lang="en-US" sz="1000" dirty="0" err="1"/>
              <a:t>pronađe</a:t>
            </a:r>
            <a:r>
              <a:rPr lang="en-US" sz="1000" dirty="0"/>
              <a:t> </a:t>
            </a:r>
            <a:r>
              <a:rPr lang="en-US" sz="1000" dirty="0" err="1"/>
              <a:t>verziju</a:t>
            </a:r>
            <a:r>
              <a:rPr lang="en-US" sz="1000" dirty="0"/>
              <a:t> </a:t>
            </a:r>
            <a:r>
              <a:rPr lang="en-US" sz="1000" dirty="0" err="1"/>
              <a:t>koju</a:t>
            </a:r>
            <a:r>
              <a:rPr lang="en-US" sz="1000" dirty="0"/>
              <a:t> </a:t>
            </a:r>
            <a:r>
              <a:rPr lang="en-US" sz="1000" dirty="0" err="1"/>
              <a:t>konkretna</a:t>
            </a:r>
            <a:r>
              <a:rPr lang="en-US" sz="1000" dirty="0"/>
              <a:t> </a:t>
            </a:r>
            <a:r>
              <a:rPr lang="en-US" sz="1000" dirty="0" err="1"/>
              <a:t>transakcija</a:t>
            </a:r>
            <a:r>
              <a:rPr lang="en-US" sz="1000" dirty="0"/>
              <a:t> </a:t>
            </a:r>
            <a:r>
              <a:rPr lang="en-US" sz="1000" dirty="0" err="1"/>
              <a:t>sme</a:t>
            </a:r>
            <a:r>
              <a:rPr lang="en-US" sz="1000" dirty="0"/>
              <a:t> da </a:t>
            </a:r>
            <a:r>
              <a:rPr lang="en-US" sz="1000" dirty="0" err="1"/>
              <a:t>vidi</a:t>
            </a:r>
            <a:r>
              <a:rPr lang="en-US" sz="1000" dirty="0"/>
              <a:t>.</a:t>
            </a:r>
            <a:r>
              <a:rPr lang="sr-Latn-RS" sz="1000" dirty="0"/>
              <a:t> </a:t>
            </a:r>
            <a:r>
              <a:rPr lang="en-US" sz="1000" dirty="0" err="1"/>
              <a:t>Direktna</a:t>
            </a:r>
            <a:r>
              <a:rPr lang="en-US" sz="1000" dirty="0"/>
              <a:t> </a:t>
            </a:r>
            <a:r>
              <a:rPr lang="en-US" sz="1000" dirty="0" err="1"/>
              <a:t>posledica</a:t>
            </a:r>
            <a:r>
              <a:rPr lang="en-US" sz="1000" dirty="0"/>
              <a:t> </a:t>
            </a:r>
            <a:r>
              <a:rPr lang="en-US" sz="1000" dirty="0" err="1"/>
              <a:t>ovakvog</a:t>
            </a:r>
            <a:r>
              <a:rPr lang="en-US" sz="1000" dirty="0"/>
              <a:t> </a:t>
            </a:r>
            <a:r>
              <a:rPr lang="en-US" sz="1000" dirty="0" err="1"/>
              <a:t>modela</a:t>
            </a:r>
            <a:r>
              <a:rPr lang="en-US" sz="1000" dirty="0"/>
              <a:t> je </a:t>
            </a:r>
            <a:r>
              <a:rPr lang="en-US" sz="1000" dirty="0" err="1"/>
              <a:t>fenomen</a:t>
            </a:r>
            <a:r>
              <a:rPr lang="en-US" sz="1000" dirty="0"/>
              <a:t> </a:t>
            </a:r>
            <a:r>
              <a:rPr lang="en-US" sz="1000" b="1" dirty="0"/>
              <a:t>Index Bloat</a:t>
            </a:r>
            <a:r>
              <a:rPr lang="en-US" sz="1000" dirty="0"/>
              <a:t> — </a:t>
            </a:r>
            <a:r>
              <a:rPr lang="en-US" sz="1000" dirty="0" err="1"/>
              <a:t>indeksne</a:t>
            </a:r>
            <a:r>
              <a:rPr lang="en-US" sz="1000" dirty="0"/>
              <a:t> </a:t>
            </a:r>
            <a:r>
              <a:rPr lang="en-US" sz="1000" dirty="0" err="1"/>
              <a:t>stranice</a:t>
            </a:r>
            <a:r>
              <a:rPr lang="en-US" sz="1000" dirty="0"/>
              <a:t> se </a:t>
            </a:r>
            <a:r>
              <a:rPr lang="en-US" sz="1000" dirty="0" err="1"/>
              <a:t>pune</a:t>
            </a:r>
            <a:r>
              <a:rPr lang="en-US" sz="1000" dirty="0"/>
              <a:t> </a:t>
            </a:r>
            <a:r>
              <a:rPr lang="en-US" sz="1000" dirty="0" err="1"/>
              <a:t>pokazivačima</a:t>
            </a:r>
            <a:r>
              <a:rPr lang="en-US" sz="1000" dirty="0"/>
              <a:t> </a:t>
            </a:r>
            <a:r>
              <a:rPr lang="en-US" sz="1000" dirty="0" err="1"/>
              <a:t>na</a:t>
            </a:r>
            <a:r>
              <a:rPr lang="en-US" sz="1000" dirty="0"/>
              <a:t> stare </a:t>
            </a:r>
            <a:r>
              <a:rPr lang="en-US" sz="1000" dirty="0" err="1"/>
              <a:t>verzije</a:t>
            </a:r>
            <a:r>
              <a:rPr lang="en-US" sz="1000" dirty="0"/>
              <a:t> </a:t>
            </a:r>
            <a:r>
              <a:rPr lang="en-US" sz="1000" dirty="0" err="1"/>
              <a:t>zapisa</a:t>
            </a:r>
            <a:r>
              <a:rPr lang="en-US" sz="1000" dirty="0"/>
              <a:t>, B+ </a:t>
            </a:r>
            <a:r>
              <a:rPr lang="en-US" sz="1000" dirty="0" err="1"/>
              <a:t>stablo</a:t>
            </a:r>
            <a:r>
              <a:rPr lang="en-US" sz="1000" dirty="0"/>
              <a:t> </a:t>
            </a:r>
            <a:r>
              <a:rPr lang="en-US" sz="1000" dirty="0" err="1"/>
              <a:t>raste</a:t>
            </a:r>
            <a:r>
              <a:rPr lang="en-US" sz="1000" dirty="0"/>
              <a:t> </a:t>
            </a:r>
            <a:r>
              <a:rPr lang="en-US" sz="1000" dirty="0" err="1"/>
              <a:t>i</a:t>
            </a:r>
            <a:r>
              <a:rPr lang="en-US" sz="1000" dirty="0"/>
              <a:t> </a:t>
            </a:r>
            <a:r>
              <a:rPr lang="en-US" sz="1000" dirty="0" err="1"/>
              <a:t>postaje</a:t>
            </a:r>
            <a:r>
              <a:rPr lang="en-US" sz="1000" dirty="0"/>
              <a:t> </a:t>
            </a:r>
            <a:r>
              <a:rPr lang="en-US" sz="1000" dirty="0" err="1"/>
              <a:t>dublje</a:t>
            </a:r>
            <a:r>
              <a:rPr lang="en-US" sz="1000" dirty="0"/>
              <a:t>, </a:t>
            </a:r>
            <a:r>
              <a:rPr lang="en-US" sz="1000" dirty="0" err="1"/>
              <a:t>što</a:t>
            </a:r>
            <a:r>
              <a:rPr lang="en-US" sz="1000" dirty="0"/>
              <a:t> </a:t>
            </a:r>
            <a:r>
              <a:rPr lang="en-US" sz="1000" dirty="0" err="1"/>
              <a:t>povećava</a:t>
            </a:r>
            <a:r>
              <a:rPr lang="en-US" sz="1000" dirty="0"/>
              <a:t> </a:t>
            </a:r>
            <a:r>
              <a:rPr lang="en-US" sz="1000" dirty="0" err="1"/>
              <a:t>broj</a:t>
            </a:r>
            <a:r>
              <a:rPr lang="en-US" sz="1000" dirty="0"/>
              <a:t> I/O </a:t>
            </a:r>
            <a:r>
              <a:rPr lang="en-US" sz="1000" dirty="0" err="1"/>
              <a:t>operacija</a:t>
            </a:r>
            <a:r>
              <a:rPr lang="en-US" sz="1000" dirty="0"/>
              <a:t> </a:t>
            </a:r>
            <a:r>
              <a:rPr lang="en-US" sz="1000" dirty="0" err="1"/>
              <a:t>i</a:t>
            </a:r>
            <a:r>
              <a:rPr lang="en-US" sz="1000" dirty="0"/>
              <a:t> </a:t>
            </a:r>
            <a:r>
              <a:rPr lang="en-US" sz="1000" dirty="0" err="1"/>
              <a:t>usporava</a:t>
            </a:r>
            <a:r>
              <a:rPr lang="en-US" sz="1000" dirty="0"/>
              <a:t> </a:t>
            </a:r>
            <a:r>
              <a:rPr lang="en-US" sz="1000" dirty="0" err="1"/>
              <a:t>pretragu</a:t>
            </a:r>
            <a:r>
              <a:rPr lang="en-US" sz="1000" dirty="0"/>
              <a:t>.</a:t>
            </a:r>
            <a:r>
              <a:rPr lang="sr-Latn-RS" sz="1000" dirty="0"/>
              <a:t> </a:t>
            </a:r>
            <a:r>
              <a:rPr lang="en-US" sz="1000" dirty="0"/>
              <a:t>Za </a:t>
            </a:r>
            <a:r>
              <a:rPr lang="en-US" sz="1000" dirty="0" err="1"/>
              <a:t>čišćenje</a:t>
            </a:r>
            <a:r>
              <a:rPr lang="en-US" sz="1000" dirty="0"/>
              <a:t> </a:t>
            </a:r>
            <a:r>
              <a:rPr lang="en-US" sz="1000" dirty="0" err="1"/>
              <a:t>zastarelih</a:t>
            </a:r>
            <a:r>
              <a:rPr lang="en-US" sz="1000" dirty="0"/>
              <a:t> </a:t>
            </a:r>
            <a:r>
              <a:rPr lang="en-US" sz="1000" dirty="0" err="1"/>
              <a:t>verzija</a:t>
            </a:r>
            <a:r>
              <a:rPr lang="en-US" sz="1000" dirty="0"/>
              <a:t> </a:t>
            </a:r>
            <a:r>
              <a:rPr lang="en-US" sz="1000" dirty="0" err="1"/>
              <a:t>zadužen</a:t>
            </a:r>
            <a:r>
              <a:rPr lang="en-US" sz="1000" dirty="0"/>
              <a:t> je </a:t>
            </a:r>
            <a:r>
              <a:rPr lang="en-US" sz="1000" b="1" dirty="0"/>
              <a:t>Garbage Collector (GC)</a:t>
            </a:r>
            <a:r>
              <a:rPr lang="en-US" sz="1000" dirty="0"/>
              <a:t>, koji </a:t>
            </a:r>
            <a:r>
              <a:rPr lang="en-US" sz="1000" dirty="0" err="1"/>
              <a:t>postoji</a:t>
            </a:r>
            <a:r>
              <a:rPr lang="en-US" sz="1000" dirty="0"/>
              <a:t> u tri </a:t>
            </a:r>
            <a:r>
              <a:rPr lang="en-US" sz="1000" dirty="0" err="1"/>
              <a:t>oblika</a:t>
            </a:r>
            <a:r>
              <a:rPr lang="en-US" sz="1000" dirty="0"/>
              <a:t>: </a:t>
            </a:r>
            <a:r>
              <a:rPr lang="en-US" sz="1000" dirty="0" err="1"/>
              <a:t>kooperativni</a:t>
            </a:r>
            <a:r>
              <a:rPr lang="en-US" sz="1000" dirty="0"/>
              <a:t> GC Background GC </a:t>
            </a:r>
            <a:r>
              <a:rPr lang="en-US" sz="1000" dirty="0" err="1"/>
              <a:t>i</a:t>
            </a:r>
            <a:r>
              <a:rPr lang="en-US" sz="1000" dirty="0"/>
              <a:t> </a:t>
            </a:r>
            <a:r>
              <a:rPr lang="en-US" sz="1000" dirty="0" err="1"/>
              <a:t>Sweepin</a:t>
            </a:r>
            <a:r>
              <a:rPr lang="sr-Latn-RS" sz="1000" dirty="0"/>
              <a:t>g</a:t>
            </a:r>
            <a:r>
              <a:rPr lang="en-US" sz="1000" dirty="0"/>
              <a:t>.</a:t>
            </a:r>
            <a:r>
              <a:rPr lang="sr-Latn-RS" sz="1000" dirty="0"/>
              <a:t> </a:t>
            </a:r>
            <a:r>
              <a:rPr lang="en-US" sz="1000" dirty="0" err="1"/>
              <a:t>Važno</a:t>
            </a:r>
            <a:r>
              <a:rPr lang="en-US" sz="1000" dirty="0"/>
              <a:t> </a:t>
            </a:r>
            <a:r>
              <a:rPr lang="en-US" sz="1000" dirty="0" err="1"/>
              <a:t>ograničenje</a:t>
            </a:r>
            <a:r>
              <a:rPr lang="en-US" sz="1000" dirty="0"/>
              <a:t> GC-a je </a:t>
            </a:r>
            <a:r>
              <a:rPr lang="en-US" sz="1000" b="1" dirty="0"/>
              <a:t>Oldest Active Transaction (OAT)</a:t>
            </a:r>
            <a:r>
              <a:rPr lang="en-US" sz="1000" dirty="0"/>
              <a:t> — </a:t>
            </a:r>
            <a:r>
              <a:rPr lang="en-US" sz="1000" dirty="0" err="1"/>
              <a:t>sve</a:t>
            </a:r>
            <a:r>
              <a:rPr lang="en-US" sz="1000" dirty="0"/>
              <a:t> </a:t>
            </a:r>
            <a:r>
              <a:rPr lang="en-US" sz="1000" dirty="0" err="1"/>
              <a:t>verzije</a:t>
            </a:r>
            <a:r>
              <a:rPr lang="en-US" sz="1000" dirty="0"/>
              <a:t> </a:t>
            </a:r>
            <a:r>
              <a:rPr lang="en-US" sz="1000" dirty="0" err="1"/>
              <a:t>nastale</a:t>
            </a:r>
            <a:r>
              <a:rPr lang="en-US" sz="1000" dirty="0"/>
              <a:t> </a:t>
            </a:r>
            <a:r>
              <a:rPr lang="en-US" sz="1000" dirty="0" err="1"/>
              <a:t>posle</a:t>
            </a:r>
            <a:r>
              <a:rPr lang="en-US" sz="1000" dirty="0"/>
              <a:t> </a:t>
            </a:r>
            <a:r>
              <a:rPr lang="en-US" sz="1000" dirty="0" err="1"/>
              <a:t>najstarije</a:t>
            </a:r>
            <a:r>
              <a:rPr lang="en-US" sz="1000" dirty="0"/>
              <a:t> </a:t>
            </a:r>
            <a:r>
              <a:rPr lang="en-US" sz="1000" dirty="0" err="1"/>
              <a:t>aktivne</a:t>
            </a:r>
            <a:r>
              <a:rPr lang="en-US" sz="1000" dirty="0"/>
              <a:t> </a:t>
            </a:r>
            <a:r>
              <a:rPr lang="en-US" sz="1000" dirty="0" err="1"/>
              <a:t>transakcije</a:t>
            </a:r>
            <a:r>
              <a:rPr lang="en-US" sz="1000" dirty="0"/>
              <a:t> ne </a:t>
            </a:r>
            <a:r>
              <a:rPr lang="en-US" sz="1000" dirty="0" err="1"/>
              <a:t>smeju</a:t>
            </a:r>
            <a:r>
              <a:rPr lang="en-US" sz="1000" dirty="0"/>
              <a:t> </a:t>
            </a:r>
            <a:r>
              <a:rPr lang="en-US" sz="1000" dirty="0" err="1"/>
              <a:t>biti</a:t>
            </a:r>
            <a:r>
              <a:rPr lang="en-US" sz="1000" dirty="0"/>
              <a:t> </a:t>
            </a:r>
            <a:r>
              <a:rPr lang="en-US" sz="1000" dirty="0" err="1"/>
              <a:t>obrisane</a:t>
            </a:r>
            <a:r>
              <a:rPr lang="en-US" sz="1000" dirty="0"/>
              <a:t>, </a:t>
            </a:r>
            <a:r>
              <a:rPr lang="en-US" sz="1000" dirty="0" err="1"/>
              <a:t>jer</a:t>
            </a:r>
            <a:r>
              <a:rPr lang="en-US" sz="1000" dirty="0"/>
              <a:t> </a:t>
            </a:r>
            <a:r>
              <a:rPr lang="en-US" sz="1000" dirty="0" err="1"/>
              <a:t>neka</a:t>
            </a:r>
            <a:r>
              <a:rPr lang="en-US" sz="1000" dirty="0"/>
              <a:t> </a:t>
            </a:r>
            <a:r>
              <a:rPr lang="en-US" sz="1000" dirty="0" err="1"/>
              <a:t>transakcija</a:t>
            </a:r>
            <a:r>
              <a:rPr lang="en-US" sz="1000" dirty="0"/>
              <a:t> </a:t>
            </a:r>
            <a:r>
              <a:rPr lang="en-US" sz="1000" dirty="0" err="1"/>
              <a:t>ih</a:t>
            </a:r>
            <a:r>
              <a:rPr lang="en-US" sz="1000" dirty="0"/>
              <a:t> </a:t>
            </a:r>
            <a:r>
              <a:rPr lang="en-US" sz="1000" dirty="0" err="1"/>
              <a:t>možda</a:t>
            </a:r>
            <a:r>
              <a:rPr lang="en-US" sz="1000" dirty="0"/>
              <a:t> </a:t>
            </a:r>
            <a:r>
              <a:rPr lang="en-US" sz="1000" dirty="0" err="1"/>
              <a:t>još</a:t>
            </a:r>
            <a:r>
              <a:rPr lang="en-US" sz="1000" dirty="0"/>
              <a:t> </a:t>
            </a:r>
            <a:r>
              <a:rPr lang="en-US" sz="1000" dirty="0" err="1"/>
              <a:t>uvek</a:t>
            </a:r>
            <a:r>
              <a:rPr lang="en-US" sz="1000" dirty="0"/>
              <a:t> </a:t>
            </a:r>
            <a:r>
              <a:rPr lang="en-US" sz="1000" dirty="0" err="1"/>
              <a:t>treba</a:t>
            </a:r>
            <a:r>
              <a:rPr lang="en-US" sz="1000" dirty="0"/>
              <a:t>.</a:t>
            </a:r>
            <a:r>
              <a:rPr lang="sr-Latn-RS" sz="1000" dirty="0"/>
              <a:t> </a:t>
            </a:r>
            <a:r>
              <a:rPr lang="en-US" sz="1000" dirty="0" err="1"/>
              <a:t>Jedino</a:t>
            </a:r>
            <a:r>
              <a:rPr lang="en-US" sz="1000" dirty="0"/>
              <a:t> </a:t>
            </a:r>
            <a:r>
              <a:rPr lang="en-US" sz="1000" dirty="0" err="1"/>
              <a:t>trajno</a:t>
            </a:r>
            <a:r>
              <a:rPr lang="en-US" sz="1000" dirty="0"/>
              <a:t> </a:t>
            </a:r>
            <a:r>
              <a:rPr lang="en-US" sz="1000" dirty="0" err="1"/>
              <a:t>rešenje</a:t>
            </a:r>
            <a:r>
              <a:rPr lang="en-US" sz="1000" dirty="0"/>
              <a:t> za Index Bloat je </a:t>
            </a:r>
            <a:r>
              <a:rPr lang="en-US" sz="1000" dirty="0" err="1"/>
              <a:t>rekreacija</a:t>
            </a:r>
            <a:r>
              <a:rPr lang="en-US" sz="1000" dirty="0"/>
              <a:t> </a:t>
            </a:r>
            <a:r>
              <a:rPr lang="en-US" sz="1000" dirty="0" err="1"/>
              <a:t>indeksa</a:t>
            </a:r>
            <a:r>
              <a:rPr lang="en-US" sz="1000" dirty="0"/>
              <a:t> </a:t>
            </a:r>
            <a:r>
              <a:rPr lang="en-US" sz="1000" dirty="0" err="1"/>
              <a:t>komandom</a:t>
            </a:r>
            <a:r>
              <a:rPr lang="en-US" sz="1000" dirty="0"/>
              <a:t> </a:t>
            </a:r>
            <a:r>
              <a:rPr lang="en-US" sz="1200" kern="1200" dirty="0">
                <a:solidFill>
                  <a:schemeClr val="tx1"/>
                </a:solidFill>
                <a:latin typeface="+mn-lt"/>
                <a:ea typeface="+mn-ea"/>
                <a:cs typeface="+mn-cs"/>
              </a:rPr>
              <a:t>ALTER INDEX INACTIVE → ACTIVE</a:t>
            </a:r>
            <a:r>
              <a:rPr lang="en-US" sz="1000" dirty="0"/>
              <a:t>, </a:t>
            </a:r>
            <a:r>
              <a:rPr lang="en-US" sz="1000" dirty="0" err="1"/>
              <a:t>čime</a:t>
            </a:r>
            <a:r>
              <a:rPr lang="en-US" sz="1000" dirty="0"/>
              <a:t> se B+ </a:t>
            </a:r>
            <a:r>
              <a:rPr lang="en-US" sz="1000" dirty="0" err="1"/>
              <a:t>stablo</a:t>
            </a:r>
            <a:r>
              <a:rPr lang="en-US" sz="1000" dirty="0"/>
              <a:t> </a:t>
            </a:r>
            <a:r>
              <a:rPr lang="en-US" sz="1000" dirty="0" err="1"/>
              <a:t>gradi</a:t>
            </a:r>
            <a:r>
              <a:rPr lang="en-US" sz="1000" dirty="0"/>
              <a:t> od </a:t>
            </a:r>
            <a:r>
              <a:rPr lang="en-US" sz="1000" dirty="0" err="1"/>
              <a:t>nule</a:t>
            </a:r>
            <a:r>
              <a:rPr lang="en-US" sz="1000" dirty="0"/>
              <a:t> </a:t>
            </a:r>
            <a:r>
              <a:rPr lang="en-US" sz="1000" dirty="0" err="1"/>
              <a:t>i</a:t>
            </a:r>
            <a:r>
              <a:rPr lang="en-US" sz="1000" dirty="0"/>
              <a:t> </a:t>
            </a:r>
            <a:r>
              <a:rPr lang="en-US" sz="1000" dirty="0" err="1"/>
              <a:t>sve</a:t>
            </a:r>
            <a:r>
              <a:rPr lang="en-US" sz="1000" dirty="0"/>
              <a:t> stare </a:t>
            </a:r>
            <a:r>
              <a:rPr lang="en-US" sz="1000" dirty="0" err="1"/>
              <a:t>verzije</a:t>
            </a:r>
            <a:r>
              <a:rPr lang="en-US" sz="1000" dirty="0"/>
              <a:t> se </a:t>
            </a:r>
            <a:r>
              <a:rPr lang="en-US" sz="1000" dirty="0" err="1"/>
              <a:t>odbacuju</a:t>
            </a:r>
            <a:r>
              <a:rPr lang="en-US" sz="1000" dirty="0"/>
              <a: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Firebird </a:t>
            </a:r>
            <a:r>
              <a:rPr lang="en-US" dirty="0" err="1"/>
              <a:t>indeksi</a:t>
            </a:r>
            <a:r>
              <a:rPr lang="en-US" dirty="0"/>
              <a:t> </a:t>
            </a:r>
            <a:r>
              <a:rPr lang="en-US" dirty="0" err="1"/>
              <a:t>su</a:t>
            </a:r>
            <a:r>
              <a:rPr lang="en-US" dirty="0"/>
              <a:t> </a:t>
            </a:r>
            <a:r>
              <a:rPr lang="en-US" dirty="0" err="1"/>
              <a:t>implementirani</a:t>
            </a:r>
            <a:r>
              <a:rPr lang="en-US" dirty="0"/>
              <a:t> </a:t>
            </a:r>
            <a:r>
              <a:rPr lang="en-US" dirty="0" err="1"/>
              <a:t>kao</a:t>
            </a:r>
            <a:r>
              <a:rPr lang="en-US" dirty="0"/>
              <a:t> B+ </a:t>
            </a:r>
            <a:r>
              <a:rPr lang="en-US" dirty="0" err="1"/>
              <a:t>stabla</a:t>
            </a:r>
            <a:r>
              <a:rPr lang="en-US" dirty="0"/>
              <a:t> </a:t>
            </a:r>
            <a:r>
              <a:rPr lang="en-US" dirty="0" err="1"/>
              <a:t>koja</a:t>
            </a:r>
            <a:r>
              <a:rPr lang="en-US" dirty="0"/>
              <a:t> se </a:t>
            </a:r>
            <a:r>
              <a:rPr lang="en-US" dirty="0" err="1"/>
              <a:t>sastoje</a:t>
            </a:r>
            <a:r>
              <a:rPr lang="en-US" dirty="0"/>
              <a:t> od tri </a:t>
            </a:r>
            <a:r>
              <a:rPr lang="en-US" dirty="0" err="1"/>
              <a:t>nivoa</a:t>
            </a:r>
            <a:r>
              <a:rPr lang="en-US" dirty="0"/>
              <a:t> — </a:t>
            </a:r>
            <a:r>
              <a:rPr lang="en-US" dirty="0" err="1"/>
              <a:t>korena</a:t>
            </a:r>
            <a:r>
              <a:rPr lang="en-US" dirty="0"/>
              <a:t> (Root), grana </a:t>
            </a:r>
            <a:r>
              <a:rPr lang="en-US" dirty="0" err="1"/>
              <a:t>kao</a:t>
            </a:r>
            <a:r>
              <a:rPr lang="en-US" dirty="0"/>
              <a:t> </a:t>
            </a:r>
            <a:r>
              <a:rPr lang="en-US" dirty="0" err="1"/>
              <a:t>navigacionih</a:t>
            </a:r>
            <a:r>
              <a:rPr lang="en-US" dirty="0"/>
              <a:t> </a:t>
            </a:r>
            <a:r>
              <a:rPr lang="en-US" dirty="0" err="1"/>
              <a:t>čvorova</a:t>
            </a:r>
            <a:r>
              <a:rPr lang="en-US" dirty="0"/>
              <a:t>, </a:t>
            </a:r>
            <a:r>
              <a:rPr lang="en-US" dirty="0" err="1"/>
              <a:t>i</a:t>
            </a:r>
            <a:r>
              <a:rPr lang="en-US" dirty="0"/>
              <a:t> </a:t>
            </a:r>
            <a:r>
              <a:rPr lang="en-US" dirty="0" err="1"/>
              <a:t>listova</a:t>
            </a:r>
            <a:r>
              <a:rPr lang="en-US" dirty="0"/>
              <a:t> (Leaf Pages) koji </a:t>
            </a:r>
            <a:r>
              <a:rPr lang="en-US" dirty="0" err="1"/>
              <a:t>jedini</a:t>
            </a:r>
            <a:r>
              <a:rPr lang="en-US" dirty="0"/>
              <a:t> </a:t>
            </a:r>
            <a:r>
              <a:rPr lang="en-US" dirty="0" err="1"/>
              <a:t>čuvaju</a:t>
            </a:r>
            <a:r>
              <a:rPr lang="en-US" dirty="0"/>
              <a:t> </a:t>
            </a:r>
            <a:r>
              <a:rPr lang="en-US" dirty="0" err="1"/>
              <a:t>stvarne</a:t>
            </a:r>
            <a:r>
              <a:rPr lang="en-US" dirty="0"/>
              <a:t> </a:t>
            </a:r>
            <a:r>
              <a:rPr lang="en-US" dirty="0" err="1"/>
              <a:t>ključeve</a:t>
            </a:r>
            <a:r>
              <a:rPr lang="en-US" dirty="0"/>
              <a:t> </a:t>
            </a:r>
            <a:r>
              <a:rPr lang="en-US" dirty="0" err="1"/>
              <a:t>i</a:t>
            </a:r>
            <a:r>
              <a:rPr lang="en-US" dirty="0"/>
              <a:t> RDB$DB_KEY </a:t>
            </a:r>
            <a:r>
              <a:rPr lang="en-US" dirty="0" err="1"/>
              <a:t>adrese</a:t>
            </a:r>
            <a:r>
              <a:rPr lang="en-US" dirty="0"/>
              <a:t>.</a:t>
            </a:r>
            <a:r>
              <a:rPr lang="sr-Latn-RS" dirty="0"/>
              <a:t> </a:t>
            </a:r>
            <a:r>
              <a:rPr lang="en-US" dirty="0"/>
              <a:t>Grane </a:t>
            </a:r>
            <a:r>
              <a:rPr lang="en-US" dirty="0" err="1"/>
              <a:t>služe</a:t>
            </a:r>
            <a:r>
              <a:rPr lang="en-US" dirty="0"/>
              <a:t> </a:t>
            </a:r>
            <a:r>
              <a:rPr lang="en-US" dirty="0" err="1"/>
              <a:t>isključivo</a:t>
            </a:r>
            <a:r>
              <a:rPr lang="en-US" dirty="0"/>
              <a:t> za </a:t>
            </a:r>
            <a:r>
              <a:rPr lang="en-US" dirty="0" err="1"/>
              <a:t>usmeravanje</a:t>
            </a:r>
            <a:r>
              <a:rPr lang="en-US" dirty="0"/>
              <a:t> </a:t>
            </a:r>
            <a:r>
              <a:rPr lang="en-US" dirty="0" err="1"/>
              <a:t>pretrage</a:t>
            </a:r>
            <a:r>
              <a:rPr lang="sr-Latn-RS" dirty="0"/>
              <a:t> koja </a:t>
            </a:r>
            <a:r>
              <a:rPr lang="en-US" dirty="0" err="1"/>
              <a:t>kreće</a:t>
            </a:r>
            <a:r>
              <a:rPr lang="en-US" dirty="0"/>
              <a:t> od </a:t>
            </a:r>
            <a:r>
              <a:rPr lang="en-US" dirty="0" err="1"/>
              <a:t>korena</a:t>
            </a:r>
            <a:r>
              <a:rPr lang="en-US" dirty="0"/>
              <a:t> </a:t>
            </a:r>
            <a:r>
              <a:rPr lang="en-US" dirty="0" err="1"/>
              <a:t>i</a:t>
            </a:r>
            <a:r>
              <a:rPr lang="en-US" dirty="0"/>
              <a:t> </a:t>
            </a:r>
            <a:r>
              <a:rPr lang="en-US" dirty="0" err="1"/>
              <a:t>na</a:t>
            </a:r>
            <a:r>
              <a:rPr lang="en-US" dirty="0"/>
              <a:t> </a:t>
            </a:r>
            <a:r>
              <a:rPr lang="en-US" dirty="0" err="1"/>
              <a:t>svakom</a:t>
            </a:r>
            <a:r>
              <a:rPr lang="en-US" dirty="0"/>
              <a:t> </a:t>
            </a:r>
            <a:r>
              <a:rPr lang="en-US" dirty="0" err="1"/>
              <a:t>nivou</a:t>
            </a:r>
            <a:r>
              <a:rPr lang="en-US" dirty="0"/>
              <a:t> </a:t>
            </a:r>
            <a:r>
              <a:rPr lang="en-US" dirty="0" err="1"/>
              <a:t>eliminiše</a:t>
            </a:r>
            <a:r>
              <a:rPr lang="en-US" dirty="0"/>
              <a:t> </a:t>
            </a:r>
            <a:r>
              <a:rPr lang="en-US" dirty="0" err="1"/>
              <a:t>čitave</a:t>
            </a:r>
            <a:r>
              <a:rPr lang="en-US" dirty="0"/>
              <a:t> </a:t>
            </a:r>
            <a:r>
              <a:rPr lang="en-US" dirty="0" err="1"/>
              <a:t>grane</a:t>
            </a:r>
            <a:r>
              <a:rPr lang="en-US" dirty="0"/>
              <a:t> </a:t>
            </a:r>
            <a:r>
              <a:rPr lang="en-US" dirty="0" err="1"/>
              <a:t>koje</a:t>
            </a:r>
            <a:r>
              <a:rPr lang="en-US" dirty="0"/>
              <a:t> ne </a:t>
            </a:r>
            <a:r>
              <a:rPr lang="en-US" dirty="0" err="1"/>
              <a:t>zadovoljavaju</a:t>
            </a:r>
            <a:r>
              <a:rPr lang="en-US" dirty="0"/>
              <a:t> </a:t>
            </a:r>
            <a:r>
              <a:rPr lang="en-US" dirty="0" err="1"/>
              <a:t>kriterijum</a:t>
            </a:r>
            <a:r>
              <a:rPr lang="en-US" dirty="0"/>
              <a:t> </a:t>
            </a:r>
            <a:r>
              <a:rPr lang="en-US" dirty="0" err="1"/>
              <a:t>upita</a:t>
            </a:r>
            <a:r>
              <a:rPr lang="en-US" dirty="0"/>
              <a:t>, </a:t>
            </a:r>
            <a:r>
              <a:rPr lang="en-US" dirty="0" err="1"/>
              <a:t>čime</a:t>
            </a:r>
            <a:r>
              <a:rPr lang="en-US" dirty="0"/>
              <a:t> se </a:t>
            </a:r>
            <a:r>
              <a:rPr lang="en-US" dirty="0" err="1"/>
              <a:t>broj</a:t>
            </a:r>
            <a:r>
              <a:rPr lang="en-US" dirty="0"/>
              <a:t> I/O </a:t>
            </a:r>
            <a:r>
              <a:rPr lang="en-US" dirty="0" err="1"/>
              <a:t>operacija</a:t>
            </a:r>
            <a:r>
              <a:rPr lang="en-US" dirty="0"/>
              <a:t> </a:t>
            </a:r>
            <a:r>
              <a:rPr lang="en-US" dirty="0" err="1"/>
              <a:t>svodi</a:t>
            </a:r>
            <a:r>
              <a:rPr lang="en-US" dirty="0"/>
              <a:t> </a:t>
            </a:r>
            <a:r>
              <a:rPr lang="en-US" dirty="0" err="1"/>
              <a:t>na</a:t>
            </a:r>
            <a:r>
              <a:rPr lang="en-US" dirty="0"/>
              <a:t> </a:t>
            </a:r>
            <a:r>
              <a:rPr lang="en-US" dirty="0" err="1"/>
              <a:t>logaritamsku</a:t>
            </a:r>
            <a:r>
              <a:rPr lang="en-US" dirty="0"/>
              <a:t> </a:t>
            </a:r>
            <a:r>
              <a:rPr lang="en-US" dirty="0" err="1"/>
              <a:t>zavisnost</a:t>
            </a:r>
            <a:r>
              <a:rPr lang="en-US" dirty="0"/>
              <a:t>.</a:t>
            </a:r>
            <a:r>
              <a:rPr lang="sr-Latn-RS" dirty="0"/>
              <a:t> </a:t>
            </a:r>
            <a:r>
              <a:rPr lang="en-US" dirty="0" err="1"/>
              <a:t>Listovi</a:t>
            </a:r>
            <a:r>
              <a:rPr lang="en-US" dirty="0"/>
              <a:t> </a:t>
            </a:r>
            <a:r>
              <a:rPr lang="en-US" dirty="0" err="1"/>
              <a:t>su</a:t>
            </a:r>
            <a:r>
              <a:rPr lang="en-US" dirty="0"/>
              <a:t> </a:t>
            </a:r>
            <a:r>
              <a:rPr lang="en-US" dirty="0" err="1"/>
              <a:t>horizontalno</a:t>
            </a:r>
            <a:r>
              <a:rPr lang="en-US" dirty="0"/>
              <a:t> </a:t>
            </a:r>
            <a:r>
              <a:rPr lang="en-US" dirty="0" err="1"/>
              <a:t>povezani</a:t>
            </a:r>
            <a:r>
              <a:rPr lang="en-US" dirty="0"/>
              <a:t> u </a:t>
            </a:r>
            <a:r>
              <a:rPr lang="en-US" dirty="0" err="1"/>
              <a:t>dvostruko</a:t>
            </a:r>
            <a:r>
              <a:rPr lang="en-US" dirty="0"/>
              <a:t> </a:t>
            </a:r>
            <a:r>
              <a:rPr lang="en-US" dirty="0" err="1"/>
              <a:t>povezanu</a:t>
            </a:r>
            <a:r>
              <a:rPr lang="en-US" dirty="0"/>
              <a:t> </a:t>
            </a:r>
            <a:r>
              <a:rPr lang="en-US" dirty="0" err="1"/>
              <a:t>listu</a:t>
            </a:r>
            <a:r>
              <a:rPr lang="sr-Latn-RS" dirty="0"/>
              <a:t> </a:t>
            </a:r>
            <a:r>
              <a:rPr lang="en-US" dirty="0" err="1"/>
              <a:t>što</a:t>
            </a:r>
            <a:r>
              <a:rPr lang="en-US" dirty="0"/>
              <a:t> </a:t>
            </a:r>
            <a:r>
              <a:rPr lang="en-US" dirty="0" err="1"/>
              <a:t>omogućava</a:t>
            </a:r>
            <a:r>
              <a:rPr lang="en-US" dirty="0"/>
              <a:t> </a:t>
            </a:r>
            <a:r>
              <a:rPr lang="en-US" dirty="0" err="1"/>
              <a:t>efikasan</a:t>
            </a:r>
            <a:r>
              <a:rPr lang="en-US" dirty="0"/>
              <a:t> Range Scan — engine </a:t>
            </a:r>
            <a:r>
              <a:rPr lang="en-US" dirty="0" err="1"/>
              <a:t>jednom</a:t>
            </a:r>
            <a:r>
              <a:rPr lang="en-US" dirty="0"/>
              <a:t> </a:t>
            </a:r>
            <a:r>
              <a:rPr lang="en-US" dirty="0" err="1"/>
              <a:t>navigira</a:t>
            </a:r>
            <a:r>
              <a:rPr lang="en-US" dirty="0"/>
              <a:t> </a:t>
            </a:r>
            <a:r>
              <a:rPr lang="en-US" dirty="0" err="1"/>
              <a:t>vertikalno</a:t>
            </a:r>
            <a:r>
              <a:rPr lang="en-US" dirty="0"/>
              <a:t> do </a:t>
            </a:r>
            <a:r>
              <a:rPr lang="en-US" dirty="0" err="1"/>
              <a:t>prvog</a:t>
            </a:r>
            <a:r>
              <a:rPr lang="en-US" dirty="0"/>
              <a:t> </a:t>
            </a:r>
            <a:r>
              <a:rPr lang="en-US" dirty="0" err="1"/>
              <a:t>ključa</a:t>
            </a:r>
            <a:r>
              <a:rPr lang="en-US" dirty="0"/>
              <a:t>, a </a:t>
            </a:r>
            <a:r>
              <a:rPr lang="en-US" dirty="0" err="1"/>
              <a:t>zatim</a:t>
            </a:r>
            <a:r>
              <a:rPr lang="en-US" dirty="0"/>
              <a:t> </a:t>
            </a:r>
            <a:r>
              <a:rPr lang="en-US" dirty="0" err="1"/>
              <a:t>čita</a:t>
            </a:r>
            <a:r>
              <a:rPr lang="en-US" dirty="0"/>
              <a:t> </a:t>
            </a:r>
            <a:r>
              <a:rPr lang="en-US" dirty="0" err="1"/>
              <a:t>susedne</a:t>
            </a:r>
            <a:r>
              <a:rPr lang="en-US" dirty="0"/>
              <a:t> </a:t>
            </a:r>
            <a:r>
              <a:rPr lang="en-US" dirty="0" err="1"/>
              <a:t>listove</a:t>
            </a:r>
            <a:r>
              <a:rPr lang="en-US" dirty="0"/>
              <a:t> </a:t>
            </a:r>
            <a:r>
              <a:rPr lang="en-US" dirty="0" err="1"/>
              <a:t>horizontalno</a:t>
            </a:r>
            <a:r>
              <a:rPr lang="en-US" dirty="0"/>
              <a:t> bez </a:t>
            </a:r>
            <a:r>
              <a:rPr lang="en-US" dirty="0" err="1"/>
              <a:t>ponovnog</a:t>
            </a:r>
            <a:r>
              <a:rPr lang="en-US" dirty="0"/>
              <a:t> </a:t>
            </a:r>
            <a:r>
              <a:rPr lang="en-US" dirty="0" err="1"/>
              <a:t>obilaska</a:t>
            </a:r>
            <a:r>
              <a:rPr lang="en-US" dirty="0"/>
              <a:t> od </a:t>
            </a:r>
            <a:r>
              <a:rPr lang="en-US" dirty="0" err="1"/>
              <a:t>korena</a:t>
            </a:r>
            <a:r>
              <a:rPr lang="en-US" dirty="0"/>
              <a:t>.</a:t>
            </a:r>
          </a:p>
          <a:p>
            <a:r>
              <a:rPr lang="en-US" dirty="0"/>
              <a:t>Kada se </a:t>
            </a:r>
            <a:r>
              <a:rPr lang="en-US" dirty="0" err="1"/>
              <a:t>stranica</a:t>
            </a:r>
            <a:r>
              <a:rPr lang="en-US" dirty="0"/>
              <a:t> </a:t>
            </a:r>
            <a:r>
              <a:rPr lang="en-US" dirty="0" err="1"/>
              <a:t>popuni</a:t>
            </a:r>
            <a:r>
              <a:rPr lang="en-US" dirty="0"/>
              <a:t>, </a:t>
            </a:r>
            <a:r>
              <a:rPr lang="en-US" dirty="0" err="1"/>
              <a:t>aktivira</a:t>
            </a:r>
            <a:r>
              <a:rPr lang="en-US" dirty="0"/>
              <a:t> se </a:t>
            </a:r>
            <a:r>
              <a:rPr lang="en-US" b="1" dirty="0"/>
              <a:t>Page Split</a:t>
            </a:r>
            <a:r>
              <a:rPr lang="en-US" dirty="0"/>
              <a:t> — </a:t>
            </a:r>
            <a:r>
              <a:rPr lang="en-US" dirty="0" err="1"/>
              <a:t>stranica</a:t>
            </a:r>
            <a:r>
              <a:rPr lang="en-US" dirty="0"/>
              <a:t> se deli </a:t>
            </a:r>
            <a:r>
              <a:rPr lang="en-US" dirty="0" err="1"/>
              <a:t>na</a:t>
            </a:r>
            <a:r>
              <a:rPr lang="en-US" dirty="0"/>
              <a:t> </a:t>
            </a:r>
            <a:r>
              <a:rPr lang="en-US" dirty="0" err="1"/>
              <a:t>dve</a:t>
            </a:r>
            <a:r>
              <a:rPr lang="en-US" dirty="0"/>
              <a:t>, </a:t>
            </a:r>
            <a:r>
              <a:rPr lang="en-US" dirty="0" err="1"/>
              <a:t>polovina</a:t>
            </a:r>
            <a:r>
              <a:rPr lang="en-US" dirty="0"/>
              <a:t> </a:t>
            </a:r>
            <a:r>
              <a:rPr lang="en-US" dirty="0" err="1"/>
              <a:t>ključeva</a:t>
            </a:r>
            <a:r>
              <a:rPr lang="en-US" dirty="0"/>
              <a:t> se </a:t>
            </a:r>
            <a:r>
              <a:rPr lang="en-US" dirty="0" err="1"/>
              <a:t>premešta</a:t>
            </a:r>
            <a:r>
              <a:rPr lang="en-US" dirty="0"/>
              <a:t>, a </a:t>
            </a:r>
            <a:r>
              <a:rPr lang="en-US" dirty="0" err="1"/>
              <a:t>roditeljski</a:t>
            </a:r>
            <a:r>
              <a:rPr lang="en-US" dirty="0"/>
              <a:t> </a:t>
            </a:r>
            <a:r>
              <a:rPr lang="en-US" dirty="0" err="1"/>
              <a:t>čvor</a:t>
            </a:r>
            <a:r>
              <a:rPr lang="en-US" dirty="0"/>
              <a:t> </a:t>
            </a:r>
            <a:r>
              <a:rPr lang="en-US" dirty="0" err="1"/>
              <a:t>dobija</a:t>
            </a:r>
            <a:r>
              <a:rPr lang="en-US" dirty="0"/>
              <a:t> novi </a:t>
            </a:r>
            <a:r>
              <a:rPr lang="en-US" dirty="0" err="1"/>
              <a:t>pokazivač</a:t>
            </a:r>
            <a:r>
              <a:rPr lang="en-US" dirty="0"/>
              <a:t>, </a:t>
            </a:r>
            <a:r>
              <a:rPr lang="en-US" dirty="0" err="1"/>
              <a:t>čime</a:t>
            </a:r>
            <a:r>
              <a:rPr lang="en-US" dirty="0"/>
              <a:t> </a:t>
            </a:r>
            <a:r>
              <a:rPr lang="en-US" dirty="0" err="1"/>
              <a:t>stablo</a:t>
            </a:r>
            <a:r>
              <a:rPr lang="en-US" dirty="0"/>
              <a:t> </a:t>
            </a:r>
            <a:r>
              <a:rPr lang="en-US" dirty="0" err="1"/>
              <a:t>raste</a:t>
            </a:r>
            <a:r>
              <a:rPr lang="en-US" dirty="0"/>
              <a:t> </a:t>
            </a:r>
            <a:r>
              <a:rPr lang="en-US" dirty="0" err="1"/>
              <a:t>vertikalno</a:t>
            </a:r>
            <a:r>
              <a:rPr lang="en-US" dirty="0"/>
              <a:t> </a:t>
            </a:r>
            <a:r>
              <a:rPr lang="en-US" dirty="0" err="1"/>
              <a:t>i</a:t>
            </a:r>
            <a:r>
              <a:rPr lang="en-US" dirty="0"/>
              <a:t> </a:t>
            </a:r>
            <a:r>
              <a:rPr lang="en-US" dirty="0" err="1"/>
              <a:t>povećava</a:t>
            </a:r>
            <a:r>
              <a:rPr lang="en-US" dirty="0"/>
              <a:t> se </a:t>
            </a:r>
            <a:r>
              <a:rPr lang="en-US" dirty="0" err="1"/>
              <a:t>njegova</a:t>
            </a:r>
            <a:r>
              <a:rPr lang="en-US" dirty="0"/>
              <a:t> </a:t>
            </a:r>
            <a:r>
              <a:rPr lang="en-US" dirty="0" err="1"/>
              <a:t>dubina</a:t>
            </a:r>
            <a:r>
              <a:rPr lang="en-US" dirty="0"/>
              <a:t>.</a:t>
            </a:r>
            <a:r>
              <a:rPr lang="sr-Latn-RS" dirty="0"/>
              <a:t> </a:t>
            </a:r>
            <a:r>
              <a:rPr lang="en-US" dirty="0"/>
              <a:t>Da bi se </a:t>
            </a:r>
            <a:r>
              <a:rPr lang="en-US" dirty="0" err="1"/>
              <a:t>odložio</a:t>
            </a:r>
            <a:r>
              <a:rPr lang="en-US" dirty="0"/>
              <a:t> Page Split, Firebird </a:t>
            </a:r>
            <a:r>
              <a:rPr lang="en-US" dirty="0" err="1"/>
              <a:t>koristi</a:t>
            </a:r>
            <a:r>
              <a:rPr lang="en-US" dirty="0"/>
              <a:t> </a:t>
            </a:r>
            <a:r>
              <a:rPr lang="en-US" b="1" dirty="0"/>
              <a:t>Fill Factor</a:t>
            </a:r>
            <a:r>
              <a:rPr lang="en-US" dirty="0"/>
              <a:t> — </a:t>
            </a:r>
            <a:r>
              <a:rPr lang="en-US" dirty="0" err="1"/>
              <a:t>stranice</a:t>
            </a:r>
            <a:r>
              <a:rPr lang="en-US" dirty="0"/>
              <a:t> se </a:t>
            </a:r>
            <a:r>
              <a:rPr lang="en-US" dirty="0" err="1"/>
              <a:t>pune</a:t>
            </a:r>
            <a:r>
              <a:rPr lang="en-US" dirty="0"/>
              <a:t> </a:t>
            </a:r>
            <a:r>
              <a:rPr lang="en-US" dirty="0" err="1"/>
              <a:t>samo</a:t>
            </a:r>
            <a:r>
              <a:rPr lang="en-US" dirty="0"/>
              <a:t> 80-90%, </a:t>
            </a:r>
            <a:r>
              <a:rPr lang="en-US" dirty="0" err="1"/>
              <a:t>ostavljajući</a:t>
            </a:r>
            <a:r>
              <a:rPr lang="en-US" dirty="0"/>
              <a:t> </a:t>
            </a:r>
            <a:r>
              <a:rPr lang="en-US" dirty="0" err="1"/>
              <a:t>rezervni</a:t>
            </a:r>
            <a:r>
              <a:rPr lang="en-US" dirty="0"/>
              <a:t> </a:t>
            </a:r>
            <a:r>
              <a:rPr lang="en-US" dirty="0" err="1"/>
              <a:t>prostor</a:t>
            </a:r>
            <a:r>
              <a:rPr lang="en-US" dirty="0"/>
              <a:t> za </a:t>
            </a:r>
            <a:r>
              <a:rPr lang="en-US" dirty="0" err="1"/>
              <a:t>nove</a:t>
            </a:r>
            <a:r>
              <a:rPr lang="en-US" dirty="0"/>
              <a:t> </a:t>
            </a:r>
            <a:r>
              <a:rPr lang="en-US" dirty="0" err="1"/>
              <a:t>ključeve</a:t>
            </a:r>
            <a:r>
              <a:rPr lang="en-US" dirty="0"/>
              <a:t> </a:t>
            </a:r>
            <a:r>
              <a:rPr lang="en-US" dirty="0" err="1"/>
              <a:t>i</a:t>
            </a:r>
            <a:r>
              <a:rPr lang="en-US" dirty="0"/>
              <a:t> </a:t>
            </a:r>
            <a:r>
              <a:rPr lang="en-US" dirty="0" err="1"/>
              <a:t>sprečavajući</a:t>
            </a:r>
            <a:r>
              <a:rPr lang="en-US" dirty="0"/>
              <a:t> </a:t>
            </a:r>
            <a:r>
              <a:rPr lang="en-US" dirty="0" err="1"/>
              <a:t>preuranjenu</a:t>
            </a:r>
            <a:r>
              <a:rPr lang="en-US" dirty="0"/>
              <a:t> </a:t>
            </a:r>
            <a:r>
              <a:rPr lang="en-US" dirty="0" err="1"/>
              <a:t>fragmentaciju</a:t>
            </a:r>
            <a:r>
              <a:rPr lang="en-US" dirty="0"/>
              <a:t>.</a:t>
            </a:r>
            <a:r>
              <a:rPr lang="sr-Latn-RS" dirty="0"/>
              <a:t> </a:t>
            </a:r>
            <a:r>
              <a:rPr lang="en-US" dirty="0" err="1"/>
              <a:t>Ključna</a:t>
            </a:r>
            <a:r>
              <a:rPr lang="en-US" dirty="0"/>
              <a:t> </a:t>
            </a:r>
            <a:r>
              <a:rPr lang="en-US" dirty="0" err="1"/>
              <a:t>prednost</a:t>
            </a:r>
            <a:r>
              <a:rPr lang="en-US" dirty="0"/>
              <a:t> B+ </a:t>
            </a:r>
            <a:r>
              <a:rPr lang="en-US" dirty="0" err="1"/>
              <a:t>stabla</a:t>
            </a:r>
            <a:r>
              <a:rPr lang="en-US" dirty="0"/>
              <a:t> je </a:t>
            </a:r>
            <a:r>
              <a:rPr lang="en-US" b="1" dirty="0" err="1"/>
              <a:t>konstantna</a:t>
            </a:r>
            <a:r>
              <a:rPr lang="en-US" b="1" dirty="0"/>
              <a:t> </a:t>
            </a:r>
            <a:r>
              <a:rPr lang="en-US" b="1" dirty="0" err="1"/>
              <a:t>dubina</a:t>
            </a:r>
            <a:r>
              <a:rPr lang="en-US" dirty="0"/>
              <a:t> — put od </a:t>
            </a:r>
            <a:r>
              <a:rPr lang="en-US" dirty="0" err="1"/>
              <a:t>korena</a:t>
            </a:r>
            <a:r>
              <a:rPr lang="en-US" dirty="0"/>
              <a:t> do </a:t>
            </a:r>
            <a:r>
              <a:rPr lang="en-US" dirty="0" err="1"/>
              <a:t>bilo</a:t>
            </a:r>
            <a:r>
              <a:rPr lang="en-US" dirty="0"/>
              <a:t> </a:t>
            </a:r>
            <a:r>
              <a:rPr lang="en-US" dirty="0" err="1"/>
              <a:t>kog</a:t>
            </a:r>
            <a:r>
              <a:rPr lang="en-US" dirty="0"/>
              <a:t> </a:t>
            </a:r>
            <a:r>
              <a:rPr lang="en-US" dirty="0" err="1"/>
              <a:t>lista</a:t>
            </a:r>
            <a:r>
              <a:rPr lang="en-US" dirty="0"/>
              <a:t> je </a:t>
            </a:r>
            <a:r>
              <a:rPr lang="en-US" dirty="0" err="1"/>
              <a:t>uvek</a:t>
            </a:r>
            <a:r>
              <a:rPr lang="en-US" dirty="0"/>
              <a:t> </a:t>
            </a:r>
            <a:r>
              <a:rPr lang="en-US" dirty="0" err="1"/>
              <a:t>iste</a:t>
            </a:r>
            <a:r>
              <a:rPr lang="en-US" dirty="0"/>
              <a:t> </a:t>
            </a:r>
            <a:r>
              <a:rPr lang="en-US" dirty="0" err="1"/>
              <a:t>dužine</a:t>
            </a:r>
            <a:r>
              <a:rPr lang="en-US" dirty="0"/>
              <a:t>, </a:t>
            </a:r>
            <a:r>
              <a:rPr lang="en-US" dirty="0" err="1"/>
              <a:t>što</a:t>
            </a:r>
            <a:r>
              <a:rPr lang="en-US" dirty="0"/>
              <a:t> </a:t>
            </a:r>
            <a:r>
              <a:rPr lang="en-US" dirty="0" err="1"/>
              <a:t>garantuje</a:t>
            </a:r>
            <a:r>
              <a:rPr lang="en-US" dirty="0"/>
              <a:t> </a:t>
            </a:r>
            <a:r>
              <a:rPr lang="en-US" dirty="0" err="1"/>
              <a:t>predvidiv</a:t>
            </a:r>
            <a:r>
              <a:rPr lang="en-US" dirty="0"/>
              <a:t> </a:t>
            </a:r>
            <a:r>
              <a:rPr lang="en-US" dirty="0" err="1"/>
              <a:t>i</a:t>
            </a:r>
            <a:r>
              <a:rPr lang="en-US" dirty="0"/>
              <a:t> </a:t>
            </a:r>
            <a:r>
              <a:rPr lang="en-US" dirty="0" err="1"/>
              <a:t>konstantan</a:t>
            </a:r>
            <a:r>
              <a:rPr lang="en-US" dirty="0"/>
              <a:t> </a:t>
            </a:r>
            <a:r>
              <a:rPr lang="en-US" dirty="0" err="1"/>
              <a:t>broj</a:t>
            </a:r>
            <a:r>
              <a:rPr lang="en-US" dirty="0"/>
              <a:t> I/O </a:t>
            </a:r>
            <a:r>
              <a:rPr lang="en-US" dirty="0" err="1"/>
              <a:t>operacija</a:t>
            </a:r>
            <a:r>
              <a:rPr lang="en-US" dirty="0"/>
              <a:t> bez </a:t>
            </a:r>
            <a:r>
              <a:rPr lang="en-US" dirty="0" err="1"/>
              <a:t>obzira</a:t>
            </a:r>
            <a:r>
              <a:rPr lang="en-US" dirty="0"/>
              <a:t> </a:t>
            </a:r>
            <a:r>
              <a:rPr lang="en-US" dirty="0" err="1"/>
              <a:t>na</a:t>
            </a:r>
            <a:r>
              <a:rPr lang="en-US" dirty="0"/>
              <a:t> </a:t>
            </a:r>
            <a:r>
              <a:rPr lang="en-US" dirty="0" err="1"/>
              <a:t>veličinu</a:t>
            </a:r>
            <a:r>
              <a:rPr lang="en-US" dirty="0"/>
              <a:t> </a:t>
            </a:r>
            <a:r>
              <a:rPr lang="en-US" dirty="0" err="1"/>
              <a:t>tabele</a:t>
            </a:r>
            <a:r>
              <a:rPr lang="en-US" dirty="0"/>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Prefiksna</a:t>
            </a:r>
            <a:r>
              <a:rPr lang="en-US" dirty="0"/>
              <a:t> </a:t>
            </a:r>
            <a:r>
              <a:rPr lang="en-US" dirty="0" err="1"/>
              <a:t>kompresija</a:t>
            </a:r>
            <a:r>
              <a:rPr lang="en-US" dirty="0"/>
              <a:t> je </a:t>
            </a:r>
            <a:r>
              <a:rPr lang="en-US" dirty="0" err="1"/>
              <a:t>tehnika</a:t>
            </a:r>
            <a:r>
              <a:rPr lang="en-US" dirty="0"/>
              <a:t> </a:t>
            </a:r>
            <a:r>
              <a:rPr lang="en-US" dirty="0" err="1"/>
              <a:t>kojom</a:t>
            </a:r>
            <a:r>
              <a:rPr lang="en-US" dirty="0"/>
              <a:t> Firebird </a:t>
            </a:r>
            <a:r>
              <a:rPr lang="en-US" dirty="0" err="1"/>
              <a:t>smanjuje</a:t>
            </a:r>
            <a:r>
              <a:rPr lang="en-US" dirty="0"/>
              <a:t> </a:t>
            </a:r>
            <a:r>
              <a:rPr lang="en-US" dirty="0" err="1"/>
              <a:t>prostor</a:t>
            </a:r>
            <a:r>
              <a:rPr lang="en-US" dirty="0"/>
              <a:t> koji </a:t>
            </a:r>
            <a:r>
              <a:rPr lang="en-US" dirty="0" err="1"/>
              <a:t>indeksi</a:t>
            </a:r>
            <a:r>
              <a:rPr lang="en-US" dirty="0"/>
              <a:t> </a:t>
            </a:r>
            <a:r>
              <a:rPr lang="en-US" dirty="0" err="1"/>
              <a:t>zauzimaju</a:t>
            </a:r>
            <a:r>
              <a:rPr lang="en-US" dirty="0"/>
              <a:t> — </a:t>
            </a:r>
            <a:r>
              <a:rPr lang="en-US" dirty="0" err="1"/>
              <a:t>umesto</a:t>
            </a:r>
            <a:r>
              <a:rPr lang="en-US" dirty="0"/>
              <a:t> da </a:t>
            </a:r>
            <a:r>
              <a:rPr lang="en-US" dirty="0" err="1"/>
              <a:t>čuva</a:t>
            </a:r>
            <a:r>
              <a:rPr lang="en-US" dirty="0"/>
              <a:t> </a:t>
            </a:r>
            <a:r>
              <a:rPr lang="en-US" dirty="0" err="1"/>
              <a:t>svaki</a:t>
            </a:r>
            <a:r>
              <a:rPr lang="en-US" dirty="0"/>
              <a:t> </a:t>
            </a:r>
            <a:r>
              <a:rPr lang="en-US" dirty="0" err="1"/>
              <a:t>ključ</a:t>
            </a:r>
            <a:r>
              <a:rPr lang="en-US" dirty="0"/>
              <a:t> u </a:t>
            </a:r>
            <a:r>
              <a:rPr lang="en-US" dirty="0" err="1"/>
              <a:t>celosti</a:t>
            </a:r>
            <a:r>
              <a:rPr lang="en-US" dirty="0"/>
              <a:t>, </a:t>
            </a:r>
            <a:r>
              <a:rPr lang="en-US" dirty="0" err="1"/>
              <a:t>čuva</a:t>
            </a:r>
            <a:r>
              <a:rPr lang="en-US" dirty="0"/>
              <a:t> </a:t>
            </a:r>
            <a:r>
              <a:rPr lang="en-US" dirty="0" err="1"/>
              <a:t>samo</a:t>
            </a:r>
            <a:r>
              <a:rPr lang="en-US" dirty="0"/>
              <a:t> deo koji se </a:t>
            </a:r>
            <a:r>
              <a:rPr lang="en-US" dirty="0" err="1"/>
              <a:t>razlikuje</a:t>
            </a:r>
            <a:r>
              <a:rPr lang="en-US" dirty="0"/>
              <a:t> od </a:t>
            </a:r>
            <a:r>
              <a:rPr lang="en-US" dirty="0" err="1"/>
              <a:t>prethodnog</a:t>
            </a:r>
            <a:r>
              <a:rPr lang="en-US" dirty="0"/>
              <a:t> </a:t>
            </a:r>
            <a:r>
              <a:rPr lang="en-US" dirty="0" err="1"/>
              <a:t>ključa</a:t>
            </a:r>
            <a:r>
              <a:rPr lang="en-US" dirty="0"/>
              <a:t>.</a:t>
            </a:r>
          </a:p>
          <a:p>
            <a:r>
              <a:rPr lang="en-US" dirty="0"/>
              <a:t>Na </a:t>
            </a:r>
            <a:r>
              <a:rPr lang="en-US" dirty="0" err="1"/>
              <a:t>primeru</a:t>
            </a:r>
            <a:r>
              <a:rPr lang="en-US" dirty="0"/>
              <a:t> </a:t>
            </a:r>
            <a:r>
              <a:rPr lang="en-US" dirty="0" err="1"/>
              <a:t>prezimena</a:t>
            </a:r>
            <a:r>
              <a:rPr lang="en-US" dirty="0"/>
              <a:t> — "Petrov" se </a:t>
            </a:r>
            <a:r>
              <a:rPr lang="en-US" dirty="0" err="1"/>
              <a:t>čuva</a:t>
            </a:r>
            <a:r>
              <a:rPr lang="en-US" dirty="0"/>
              <a:t> </a:t>
            </a:r>
            <a:r>
              <a:rPr lang="en-US" dirty="0" err="1"/>
              <a:t>ceo</a:t>
            </a:r>
            <a:r>
              <a:rPr lang="en-US" dirty="0"/>
              <a:t>, "Petrović" </a:t>
            </a:r>
            <a:r>
              <a:rPr lang="en-US" dirty="0" err="1"/>
              <a:t>čuva</a:t>
            </a:r>
            <a:r>
              <a:rPr lang="en-US" dirty="0"/>
              <a:t> </a:t>
            </a:r>
            <a:r>
              <a:rPr lang="en-US" dirty="0" err="1"/>
              <a:t>samo</a:t>
            </a:r>
            <a:r>
              <a:rPr lang="en-US" dirty="0"/>
              <a:t> "</a:t>
            </a:r>
            <a:r>
              <a:rPr lang="en-US" dirty="0" err="1"/>
              <a:t>ić</a:t>
            </a:r>
            <a:r>
              <a:rPr lang="en-US" dirty="0"/>
              <a:t>" </a:t>
            </a:r>
            <a:r>
              <a:rPr lang="en-US" dirty="0" err="1"/>
              <a:t>jer</a:t>
            </a:r>
            <a:r>
              <a:rPr lang="en-US" dirty="0"/>
              <a:t> </a:t>
            </a:r>
            <a:r>
              <a:rPr lang="en-US" dirty="0" err="1"/>
              <a:t>prvih</a:t>
            </a:r>
            <a:r>
              <a:rPr lang="en-US" dirty="0"/>
              <a:t> 6 </a:t>
            </a:r>
            <a:r>
              <a:rPr lang="en-US" dirty="0" err="1"/>
              <a:t>slova</a:t>
            </a:r>
            <a:r>
              <a:rPr lang="en-US" dirty="0"/>
              <a:t> </a:t>
            </a:r>
            <a:r>
              <a:rPr lang="en-US" dirty="0" err="1"/>
              <a:t>su</a:t>
            </a:r>
            <a:r>
              <a:rPr lang="en-US" dirty="0"/>
              <a:t> </a:t>
            </a:r>
            <a:r>
              <a:rPr lang="en-US" dirty="0" err="1"/>
              <a:t>ista</a:t>
            </a:r>
            <a:r>
              <a:rPr lang="en-US" dirty="0"/>
              <a:t> </a:t>
            </a:r>
            <a:r>
              <a:rPr lang="en-US" dirty="0" err="1"/>
              <a:t>kao</a:t>
            </a:r>
            <a:r>
              <a:rPr lang="en-US" dirty="0"/>
              <a:t> </a:t>
            </a:r>
            <a:r>
              <a:rPr lang="en-US" dirty="0" err="1"/>
              <a:t>kod</a:t>
            </a:r>
            <a:r>
              <a:rPr lang="en-US" dirty="0"/>
              <a:t> "Petrov", a "</a:t>
            </a:r>
            <a:r>
              <a:rPr lang="en-US" dirty="0" err="1"/>
              <a:t>Petronijević</a:t>
            </a:r>
            <a:r>
              <a:rPr lang="en-US" dirty="0"/>
              <a:t>" </a:t>
            </a:r>
            <a:r>
              <a:rPr lang="en-US" dirty="0" err="1"/>
              <a:t>čuva</a:t>
            </a:r>
            <a:r>
              <a:rPr lang="en-US" dirty="0"/>
              <a:t> </a:t>
            </a:r>
            <a:r>
              <a:rPr lang="en-US" dirty="0" err="1"/>
              <a:t>samo</a:t>
            </a:r>
            <a:r>
              <a:rPr lang="en-US" dirty="0"/>
              <a:t> "</a:t>
            </a:r>
            <a:r>
              <a:rPr lang="en-US" dirty="0" err="1"/>
              <a:t>nijević</a:t>
            </a:r>
            <a:r>
              <a:rPr lang="en-US" dirty="0"/>
              <a:t>" </a:t>
            </a:r>
            <a:r>
              <a:rPr lang="en-US" dirty="0" err="1"/>
              <a:t>jer</a:t>
            </a:r>
            <a:r>
              <a:rPr lang="en-US" dirty="0"/>
              <a:t> </a:t>
            </a:r>
            <a:r>
              <a:rPr lang="en-US" dirty="0" err="1"/>
              <a:t>prvih</a:t>
            </a:r>
            <a:r>
              <a:rPr lang="en-US" dirty="0"/>
              <a:t> 5 </a:t>
            </a:r>
            <a:r>
              <a:rPr lang="en-US" dirty="0" err="1"/>
              <a:t>slova</a:t>
            </a:r>
            <a:r>
              <a:rPr lang="en-US" dirty="0"/>
              <a:t> deli </a:t>
            </a:r>
            <a:r>
              <a:rPr lang="en-US" dirty="0" err="1"/>
              <a:t>sa</a:t>
            </a:r>
            <a:r>
              <a:rPr lang="en-US" dirty="0"/>
              <a:t> "Petrov".</a:t>
            </a:r>
          </a:p>
          <a:p>
            <a:r>
              <a:rPr lang="en-US" dirty="0"/>
              <a:t>Ova </a:t>
            </a:r>
            <a:r>
              <a:rPr lang="en-US" dirty="0" err="1"/>
              <a:t>tehnika</a:t>
            </a:r>
            <a:r>
              <a:rPr lang="en-US" dirty="0"/>
              <a:t> </a:t>
            </a:r>
            <a:r>
              <a:rPr lang="en-US" dirty="0" err="1"/>
              <a:t>može</a:t>
            </a:r>
            <a:r>
              <a:rPr lang="en-US" dirty="0"/>
              <a:t> </a:t>
            </a:r>
            <a:r>
              <a:rPr lang="en-US" dirty="0" err="1"/>
              <a:t>smanjiti</a:t>
            </a:r>
            <a:r>
              <a:rPr lang="en-US" dirty="0"/>
              <a:t> </a:t>
            </a:r>
            <a:r>
              <a:rPr lang="en-US" dirty="0" err="1"/>
              <a:t>ukupnu</a:t>
            </a:r>
            <a:r>
              <a:rPr lang="en-US" dirty="0"/>
              <a:t> </a:t>
            </a:r>
            <a:r>
              <a:rPr lang="en-US" dirty="0" err="1"/>
              <a:t>veličinu</a:t>
            </a:r>
            <a:r>
              <a:rPr lang="en-US" dirty="0"/>
              <a:t> </a:t>
            </a:r>
            <a:r>
              <a:rPr lang="en-US" dirty="0" err="1"/>
              <a:t>indeksa</a:t>
            </a:r>
            <a:r>
              <a:rPr lang="en-US" dirty="0"/>
              <a:t> za </a:t>
            </a:r>
            <a:r>
              <a:rPr lang="en-US" dirty="0" err="1"/>
              <a:t>više</a:t>
            </a:r>
            <a:r>
              <a:rPr lang="en-US" dirty="0"/>
              <a:t> od 50%, </a:t>
            </a:r>
            <a:r>
              <a:rPr lang="en-US" dirty="0" err="1"/>
              <a:t>naročito</a:t>
            </a:r>
            <a:r>
              <a:rPr lang="en-US" dirty="0"/>
              <a:t> </a:t>
            </a:r>
            <a:r>
              <a:rPr lang="en-US" dirty="0" err="1"/>
              <a:t>kod</a:t>
            </a:r>
            <a:r>
              <a:rPr lang="en-US" dirty="0"/>
              <a:t> </a:t>
            </a:r>
            <a:r>
              <a:rPr lang="en-US" dirty="0" err="1"/>
              <a:t>kompozitnih</a:t>
            </a:r>
            <a:r>
              <a:rPr lang="en-US" dirty="0"/>
              <a:t> </a:t>
            </a:r>
            <a:r>
              <a:rPr lang="en-US" dirty="0" err="1"/>
              <a:t>indeksa</a:t>
            </a:r>
            <a:r>
              <a:rPr lang="en-US" dirty="0"/>
              <a:t> </a:t>
            </a:r>
            <a:r>
              <a:rPr lang="en-US" dirty="0" err="1"/>
              <a:t>gde</a:t>
            </a:r>
            <a:r>
              <a:rPr lang="en-US" dirty="0"/>
              <a:t> se </a:t>
            </a:r>
            <a:r>
              <a:rPr lang="en-US" dirty="0" err="1"/>
              <a:t>vodeći</a:t>
            </a:r>
            <a:r>
              <a:rPr lang="en-US" dirty="0"/>
              <a:t> </a:t>
            </a:r>
            <a:r>
              <a:rPr lang="en-US" dirty="0" err="1"/>
              <a:t>segmenti</a:t>
            </a:r>
            <a:r>
              <a:rPr lang="en-US" dirty="0"/>
              <a:t> </a:t>
            </a:r>
            <a:r>
              <a:rPr lang="en-US" dirty="0" err="1"/>
              <a:t>ponavljaju</a:t>
            </a:r>
            <a:r>
              <a:rPr lang="en-US" dirty="0"/>
              <a:t> u </a:t>
            </a:r>
            <a:r>
              <a:rPr lang="en-US" dirty="0" err="1"/>
              <a:t>hiljadama</a:t>
            </a:r>
            <a:r>
              <a:rPr lang="en-US" dirty="0"/>
              <a:t> </a:t>
            </a:r>
            <a:r>
              <a:rPr lang="en-US" dirty="0" err="1"/>
              <a:t>redova</a:t>
            </a:r>
            <a:r>
              <a:rPr lang="en-US" dirty="0"/>
              <a:t>.</a:t>
            </a:r>
          </a:p>
          <a:p>
            <a:r>
              <a:rPr lang="en-US" dirty="0" err="1"/>
              <a:t>Kod</a:t>
            </a:r>
            <a:r>
              <a:rPr lang="en-US" dirty="0"/>
              <a:t> non-unique </a:t>
            </a:r>
            <a:r>
              <a:rPr lang="en-US" dirty="0" err="1"/>
              <a:t>indeksa</a:t>
            </a:r>
            <a:r>
              <a:rPr lang="en-US" dirty="0"/>
              <a:t> koji </a:t>
            </a:r>
            <a:r>
              <a:rPr lang="en-US" dirty="0" err="1"/>
              <a:t>dozvoljavaju</a:t>
            </a:r>
            <a:r>
              <a:rPr lang="en-US" dirty="0"/>
              <a:t> </a:t>
            </a:r>
            <a:r>
              <a:rPr lang="en-US" dirty="0" err="1"/>
              <a:t>duplikate</a:t>
            </a:r>
            <a:r>
              <a:rPr lang="en-US" dirty="0"/>
              <a:t>, Firebird ne </a:t>
            </a:r>
            <a:r>
              <a:rPr lang="en-US" dirty="0" err="1"/>
              <a:t>ponavlja</a:t>
            </a:r>
            <a:r>
              <a:rPr lang="en-US" dirty="0"/>
              <a:t> </a:t>
            </a:r>
            <a:r>
              <a:rPr lang="en-US" dirty="0" err="1"/>
              <a:t>isti</a:t>
            </a:r>
            <a:r>
              <a:rPr lang="en-US" dirty="0"/>
              <a:t> </a:t>
            </a:r>
            <a:r>
              <a:rPr lang="en-US" dirty="0" err="1"/>
              <a:t>ključ</a:t>
            </a:r>
            <a:r>
              <a:rPr lang="en-US" dirty="0"/>
              <a:t> za </a:t>
            </a:r>
            <a:r>
              <a:rPr lang="en-US" dirty="0" err="1"/>
              <a:t>svaki</a:t>
            </a:r>
            <a:r>
              <a:rPr lang="en-US" dirty="0"/>
              <a:t> red — </a:t>
            </a:r>
            <a:r>
              <a:rPr lang="en-US" dirty="0" err="1"/>
              <a:t>umesto</a:t>
            </a:r>
            <a:r>
              <a:rPr lang="en-US" dirty="0"/>
              <a:t> toga </a:t>
            </a:r>
            <a:r>
              <a:rPr lang="en-US" dirty="0" err="1"/>
              <a:t>grupiše</a:t>
            </a:r>
            <a:r>
              <a:rPr lang="en-US" dirty="0"/>
              <a:t> </a:t>
            </a:r>
            <a:r>
              <a:rPr lang="en-US" dirty="0" err="1"/>
              <a:t>sve</a:t>
            </a:r>
            <a:r>
              <a:rPr lang="en-US" dirty="0"/>
              <a:t> RDB$DB_KEY </a:t>
            </a:r>
            <a:r>
              <a:rPr lang="en-US" dirty="0" err="1"/>
              <a:t>adrese</a:t>
            </a:r>
            <a:r>
              <a:rPr lang="en-US" dirty="0"/>
              <a:t> pod </a:t>
            </a:r>
            <a:r>
              <a:rPr lang="en-US" dirty="0" err="1"/>
              <a:t>jednom</a:t>
            </a:r>
            <a:r>
              <a:rPr lang="en-US" dirty="0"/>
              <a:t> </a:t>
            </a:r>
            <a:r>
              <a:rPr lang="en-US" dirty="0" err="1"/>
              <a:t>binarnom</a:t>
            </a:r>
            <a:r>
              <a:rPr lang="en-US" dirty="0"/>
              <a:t> </a:t>
            </a:r>
            <a:r>
              <a:rPr lang="en-US" dirty="0" err="1"/>
              <a:t>reprezentacijom</a:t>
            </a:r>
            <a:r>
              <a:rPr lang="en-US" dirty="0"/>
              <a:t> </a:t>
            </a:r>
            <a:r>
              <a:rPr lang="en-US" dirty="0" err="1"/>
              <a:t>ključa</a:t>
            </a:r>
            <a:r>
              <a:rPr lang="en-US" dirty="0"/>
              <a:t>, </a:t>
            </a:r>
            <a:r>
              <a:rPr lang="en-US" dirty="0" err="1"/>
              <a:t>što</a:t>
            </a:r>
            <a:r>
              <a:rPr lang="en-US" dirty="0"/>
              <a:t> </a:t>
            </a:r>
            <a:r>
              <a:rPr lang="en-US" dirty="0" err="1"/>
              <a:t>štedi</a:t>
            </a:r>
            <a:r>
              <a:rPr lang="en-US" dirty="0"/>
              <a:t> </a:t>
            </a:r>
            <a:r>
              <a:rPr lang="en-US" dirty="0" err="1"/>
              <a:t>prostor</a:t>
            </a:r>
            <a:r>
              <a:rPr lang="en-US" dirty="0"/>
              <a:t> u Buffer Pool-u.</a:t>
            </a:r>
          </a:p>
          <a:p>
            <a:r>
              <a:rPr lang="en-US" dirty="0"/>
              <a:t>NULL </a:t>
            </a:r>
            <a:r>
              <a:rPr lang="en-US" dirty="0" err="1"/>
              <a:t>vrednosti</a:t>
            </a:r>
            <a:r>
              <a:rPr lang="en-US" dirty="0"/>
              <a:t> Firebird </a:t>
            </a:r>
            <a:r>
              <a:rPr lang="en-US" dirty="0" err="1"/>
              <a:t>tretira</a:t>
            </a:r>
            <a:r>
              <a:rPr lang="en-US" dirty="0"/>
              <a:t> </a:t>
            </a:r>
            <a:r>
              <a:rPr lang="en-US" dirty="0" err="1"/>
              <a:t>kao</a:t>
            </a:r>
            <a:r>
              <a:rPr lang="en-US" dirty="0"/>
              <a:t> </a:t>
            </a:r>
            <a:r>
              <a:rPr lang="en-US" dirty="0" err="1"/>
              <a:t>ravnopravne</a:t>
            </a:r>
            <a:r>
              <a:rPr lang="en-US" dirty="0"/>
              <a:t> </a:t>
            </a:r>
            <a:r>
              <a:rPr lang="en-US" dirty="0" err="1"/>
              <a:t>elemente</a:t>
            </a:r>
            <a:r>
              <a:rPr lang="en-US" dirty="0"/>
              <a:t> </a:t>
            </a:r>
            <a:r>
              <a:rPr lang="en-US" dirty="0" err="1"/>
              <a:t>indeksa</a:t>
            </a:r>
            <a:r>
              <a:rPr lang="en-US" dirty="0"/>
              <a:t> — </a:t>
            </a:r>
            <a:r>
              <a:rPr lang="en-US" dirty="0" err="1"/>
              <a:t>pozicionira</a:t>
            </a:r>
            <a:r>
              <a:rPr lang="en-US" dirty="0"/>
              <a:t> </a:t>
            </a:r>
            <a:r>
              <a:rPr lang="en-US" dirty="0" err="1"/>
              <a:t>ih</a:t>
            </a:r>
            <a:r>
              <a:rPr lang="en-US" dirty="0"/>
              <a:t> </a:t>
            </a:r>
            <a:r>
              <a:rPr lang="en-US" dirty="0" err="1"/>
              <a:t>kao</a:t>
            </a:r>
            <a:r>
              <a:rPr lang="en-US" dirty="0"/>
              <a:t> </a:t>
            </a:r>
            <a:r>
              <a:rPr lang="en-US" dirty="0" err="1"/>
              <a:t>najmanje</a:t>
            </a:r>
            <a:r>
              <a:rPr lang="en-US" dirty="0"/>
              <a:t> </a:t>
            </a:r>
            <a:r>
              <a:rPr lang="en-US" dirty="0" err="1"/>
              <a:t>moguće</a:t>
            </a:r>
            <a:r>
              <a:rPr lang="en-US" dirty="0"/>
              <a:t> </a:t>
            </a:r>
            <a:r>
              <a:rPr lang="en-US" dirty="0" err="1"/>
              <a:t>vrednosti</a:t>
            </a:r>
            <a:r>
              <a:rPr lang="en-US" dirty="0"/>
              <a:t> </a:t>
            </a:r>
            <a:r>
              <a:rPr lang="en-US" dirty="0" err="1"/>
              <a:t>na</a:t>
            </a:r>
            <a:r>
              <a:rPr lang="en-US" dirty="0"/>
              <a:t> </a:t>
            </a:r>
            <a:r>
              <a:rPr lang="en-US" dirty="0" err="1"/>
              <a:t>samom</a:t>
            </a:r>
            <a:r>
              <a:rPr lang="en-US" dirty="0"/>
              <a:t> </a:t>
            </a:r>
            <a:r>
              <a:rPr lang="en-US" dirty="0" err="1"/>
              <a:t>početku</a:t>
            </a:r>
            <a:r>
              <a:rPr lang="en-US" dirty="0"/>
              <a:t> B+ </a:t>
            </a:r>
            <a:r>
              <a:rPr lang="en-US" dirty="0" err="1"/>
              <a:t>stabla</a:t>
            </a:r>
            <a:r>
              <a:rPr lang="en-US" dirty="0"/>
              <a:t>, </a:t>
            </a:r>
            <a:r>
              <a:rPr lang="en-US" dirty="0" err="1"/>
              <a:t>što</a:t>
            </a:r>
            <a:r>
              <a:rPr lang="en-US" dirty="0"/>
              <a:t> </a:t>
            </a:r>
            <a:r>
              <a:rPr lang="en-US" dirty="0" err="1"/>
              <a:t>znači</a:t>
            </a:r>
            <a:r>
              <a:rPr lang="en-US" dirty="0"/>
              <a:t> da </a:t>
            </a:r>
            <a:r>
              <a:rPr lang="en-US" dirty="0" err="1"/>
              <a:t>upiti</a:t>
            </a:r>
            <a:r>
              <a:rPr lang="en-US" dirty="0"/>
              <a:t> </a:t>
            </a:r>
            <a:r>
              <a:rPr lang="en-US" dirty="0" err="1"/>
              <a:t>sa</a:t>
            </a:r>
            <a:r>
              <a:rPr lang="en-US" dirty="0"/>
              <a:t> IS NULL </a:t>
            </a:r>
            <a:r>
              <a:rPr lang="en-US" dirty="0" err="1"/>
              <a:t>koriste</a:t>
            </a:r>
            <a:r>
              <a:rPr lang="en-US" dirty="0"/>
              <a:t> </a:t>
            </a:r>
            <a:r>
              <a:rPr lang="en-US" dirty="0" err="1"/>
              <a:t>indeksnu</a:t>
            </a:r>
            <a:r>
              <a:rPr lang="en-US" dirty="0"/>
              <a:t> </a:t>
            </a:r>
            <a:r>
              <a:rPr lang="en-US" dirty="0" err="1"/>
              <a:t>navigaciju</a:t>
            </a:r>
            <a:r>
              <a:rPr lang="en-US" dirty="0"/>
              <a:t> bez </a:t>
            </a:r>
            <a:r>
              <a:rPr lang="en-US" dirty="0" err="1"/>
              <a:t>skupog</a:t>
            </a:r>
            <a:r>
              <a:rPr lang="en-US" dirty="0"/>
              <a:t> Full Table Scan-a.</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 </a:t>
            </a:r>
            <a:r>
              <a:rPr lang="en-US" dirty="0" err="1"/>
              <a:t>Firebirdu</a:t>
            </a:r>
            <a:r>
              <a:rPr lang="en-US" dirty="0"/>
              <a:t> </a:t>
            </a:r>
            <a:r>
              <a:rPr lang="en-US" dirty="0" err="1"/>
              <a:t>postoje</a:t>
            </a:r>
            <a:r>
              <a:rPr lang="en-US" dirty="0"/>
              <a:t> </a:t>
            </a:r>
            <a:r>
              <a:rPr lang="en-US" dirty="0" err="1"/>
              <a:t>četiri</a:t>
            </a:r>
            <a:r>
              <a:rPr lang="en-US" dirty="0"/>
              <a:t> </a:t>
            </a:r>
            <a:r>
              <a:rPr lang="en-US" dirty="0" err="1"/>
              <a:t>tipa</a:t>
            </a:r>
            <a:r>
              <a:rPr lang="en-US" dirty="0"/>
              <a:t> </a:t>
            </a:r>
            <a:r>
              <a:rPr lang="en-US" dirty="0" err="1"/>
              <a:t>indeksa</a:t>
            </a:r>
            <a:r>
              <a:rPr lang="en-US" dirty="0"/>
              <a:t>, a </a:t>
            </a:r>
            <a:r>
              <a:rPr lang="en-US" dirty="0" err="1"/>
              <a:t>svaki</a:t>
            </a:r>
            <a:r>
              <a:rPr lang="en-US" dirty="0"/>
              <a:t> </a:t>
            </a:r>
            <a:r>
              <a:rPr lang="en-US" dirty="0" err="1"/>
              <a:t>ima</a:t>
            </a:r>
            <a:r>
              <a:rPr lang="en-US" dirty="0"/>
              <a:t> </a:t>
            </a:r>
            <a:r>
              <a:rPr lang="en-US" dirty="0" err="1"/>
              <a:t>specifičnu</a:t>
            </a:r>
            <a:r>
              <a:rPr lang="en-US" dirty="0"/>
              <a:t> </a:t>
            </a:r>
            <a:r>
              <a:rPr lang="en-US" dirty="0" err="1"/>
              <a:t>ulogu</a:t>
            </a:r>
            <a:r>
              <a:rPr lang="en-US" dirty="0"/>
              <a:t> u </a:t>
            </a:r>
            <a:r>
              <a:rPr lang="en-US" dirty="0" err="1"/>
              <a:t>održavanju</a:t>
            </a:r>
            <a:r>
              <a:rPr lang="en-US" dirty="0"/>
              <a:t> </a:t>
            </a:r>
            <a:r>
              <a:rPr lang="en-US" dirty="0" err="1"/>
              <a:t>performansi</a:t>
            </a:r>
            <a:r>
              <a:rPr lang="en-US" dirty="0"/>
              <a:t> </a:t>
            </a:r>
            <a:r>
              <a:rPr lang="en-US" dirty="0" err="1"/>
              <a:t>i</a:t>
            </a:r>
            <a:r>
              <a:rPr lang="en-US" dirty="0"/>
              <a:t> </a:t>
            </a:r>
            <a:r>
              <a:rPr lang="en-US" dirty="0" err="1"/>
              <a:t>integriteta</a:t>
            </a:r>
            <a:r>
              <a:rPr lang="en-US" dirty="0"/>
              <a:t> </a:t>
            </a:r>
            <a:r>
              <a:rPr lang="en-US" dirty="0" err="1"/>
              <a:t>baze</a:t>
            </a:r>
            <a:r>
              <a:rPr lang="en-US" dirty="0"/>
              <a:t>.</a:t>
            </a:r>
          </a:p>
          <a:p>
            <a:r>
              <a:rPr lang="en-US" dirty="0" err="1"/>
              <a:t>Primarni</a:t>
            </a:r>
            <a:r>
              <a:rPr lang="en-US" dirty="0"/>
              <a:t> </a:t>
            </a:r>
            <a:r>
              <a:rPr lang="en-US" dirty="0" err="1"/>
              <a:t>ključ</a:t>
            </a:r>
            <a:r>
              <a:rPr lang="en-US" dirty="0"/>
              <a:t> se </a:t>
            </a:r>
            <a:r>
              <a:rPr lang="en-US" dirty="0" err="1"/>
              <a:t>automatski</a:t>
            </a:r>
            <a:r>
              <a:rPr lang="en-US" dirty="0"/>
              <a:t> </a:t>
            </a:r>
            <a:r>
              <a:rPr lang="en-US" dirty="0" err="1"/>
              <a:t>kreira</a:t>
            </a:r>
            <a:r>
              <a:rPr lang="en-US" dirty="0"/>
              <a:t> </a:t>
            </a:r>
            <a:r>
              <a:rPr lang="en-US" dirty="0" err="1"/>
              <a:t>pri</a:t>
            </a:r>
            <a:r>
              <a:rPr lang="en-US" dirty="0"/>
              <a:t> </a:t>
            </a:r>
            <a:r>
              <a:rPr lang="en-US" dirty="0" err="1"/>
              <a:t>definisanju</a:t>
            </a:r>
            <a:r>
              <a:rPr lang="en-US" dirty="0"/>
              <a:t> PRIMARY KEY </a:t>
            </a:r>
            <a:r>
              <a:rPr lang="en-US" dirty="0" err="1"/>
              <a:t>ograničenja</a:t>
            </a:r>
            <a:r>
              <a:rPr lang="en-US" dirty="0"/>
              <a:t> </a:t>
            </a:r>
            <a:r>
              <a:rPr lang="en-US" dirty="0" err="1"/>
              <a:t>i</a:t>
            </a:r>
            <a:r>
              <a:rPr lang="en-US" dirty="0"/>
              <a:t> </a:t>
            </a:r>
            <a:r>
              <a:rPr lang="en-US" dirty="0" err="1"/>
              <a:t>ima</a:t>
            </a:r>
            <a:r>
              <a:rPr lang="en-US" dirty="0"/>
              <a:t> </a:t>
            </a:r>
            <a:r>
              <a:rPr lang="en-US" dirty="0" err="1"/>
              <a:t>najnižu</a:t>
            </a:r>
            <a:r>
              <a:rPr lang="en-US" dirty="0"/>
              <a:t> </a:t>
            </a:r>
            <a:r>
              <a:rPr lang="en-US" dirty="0" err="1"/>
              <a:t>moguću</a:t>
            </a:r>
            <a:r>
              <a:rPr lang="en-US" dirty="0"/>
              <a:t> </a:t>
            </a:r>
            <a:r>
              <a:rPr lang="en-US" dirty="0" err="1"/>
              <a:t>selektivnost</a:t>
            </a:r>
            <a:r>
              <a:rPr lang="en-US" dirty="0"/>
              <a:t> </a:t>
            </a:r>
            <a:r>
              <a:rPr lang="en-US" dirty="0" err="1"/>
              <a:t>jer</a:t>
            </a:r>
            <a:r>
              <a:rPr lang="en-US" dirty="0"/>
              <a:t> je </a:t>
            </a:r>
            <a:r>
              <a:rPr lang="en-US" dirty="0" err="1"/>
              <a:t>svaki</a:t>
            </a:r>
            <a:r>
              <a:rPr lang="en-US" dirty="0"/>
              <a:t> red </a:t>
            </a:r>
            <a:r>
              <a:rPr lang="en-US" dirty="0" err="1"/>
              <a:t>jedinstven</a:t>
            </a:r>
            <a:r>
              <a:rPr lang="en-US" dirty="0"/>
              <a:t> — </a:t>
            </a:r>
            <a:r>
              <a:rPr lang="en-US" dirty="0" err="1"/>
              <a:t>preporučuje</a:t>
            </a:r>
            <a:r>
              <a:rPr lang="en-US" dirty="0"/>
              <a:t> se </a:t>
            </a:r>
            <a:r>
              <a:rPr lang="en-US" dirty="0" err="1"/>
              <a:t>uski</a:t>
            </a:r>
            <a:r>
              <a:rPr lang="en-US" dirty="0"/>
              <a:t> tip </a:t>
            </a:r>
            <a:r>
              <a:rPr lang="en-US" dirty="0" err="1"/>
              <a:t>podatka</a:t>
            </a:r>
            <a:r>
              <a:rPr lang="en-US" dirty="0"/>
              <a:t> </a:t>
            </a:r>
            <a:r>
              <a:rPr lang="en-US" dirty="0" err="1"/>
              <a:t>poput</a:t>
            </a:r>
            <a:r>
              <a:rPr lang="en-US" dirty="0"/>
              <a:t> BIGINT </a:t>
            </a:r>
            <a:r>
              <a:rPr lang="en-US" dirty="0" err="1"/>
              <a:t>kako</a:t>
            </a:r>
            <a:r>
              <a:rPr lang="en-US" dirty="0"/>
              <a:t> bi </a:t>
            </a:r>
            <a:r>
              <a:rPr lang="en-US" dirty="0" err="1"/>
              <a:t>stablo</a:t>
            </a:r>
            <a:r>
              <a:rPr lang="en-US" dirty="0"/>
              <a:t> </a:t>
            </a:r>
            <a:r>
              <a:rPr lang="en-US" dirty="0" err="1"/>
              <a:t>bilo</a:t>
            </a:r>
            <a:r>
              <a:rPr lang="en-US" dirty="0"/>
              <a:t> </a:t>
            </a:r>
            <a:r>
              <a:rPr lang="en-US" dirty="0" err="1"/>
              <a:t>što</a:t>
            </a:r>
            <a:r>
              <a:rPr lang="en-US" dirty="0"/>
              <a:t> </a:t>
            </a:r>
            <a:r>
              <a:rPr lang="en-US" dirty="0" err="1"/>
              <a:t>pliće</a:t>
            </a:r>
            <a:r>
              <a:rPr lang="en-US" dirty="0"/>
              <a:t>.</a:t>
            </a:r>
          </a:p>
          <a:p>
            <a:r>
              <a:rPr lang="en-US" dirty="0" err="1"/>
              <a:t>Unikatni</a:t>
            </a:r>
            <a:r>
              <a:rPr lang="en-US" dirty="0"/>
              <a:t> </a:t>
            </a:r>
            <a:r>
              <a:rPr lang="en-US" dirty="0" err="1"/>
              <a:t>indeks</a:t>
            </a:r>
            <a:r>
              <a:rPr lang="en-US" dirty="0"/>
              <a:t> </a:t>
            </a:r>
            <a:r>
              <a:rPr lang="en-US" dirty="0" err="1"/>
              <a:t>koristi</a:t>
            </a:r>
            <a:r>
              <a:rPr lang="en-US" dirty="0"/>
              <a:t> </a:t>
            </a:r>
            <a:r>
              <a:rPr lang="en-US" dirty="0" err="1"/>
              <a:t>samo</a:t>
            </a:r>
            <a:r>
              <a:rPr lang="en-US" dirty="0"/>
              <a:t> B+ </a:t>
            </a:r>
            <a:r>
              <a:rPr lang="en-US" dirty="0" err="1"/>
              <a:t>stablo</a:t>
            </a:r>
            <a:r>
              <a:rPr lang="en-US" dirty="0"/>
              <a:t> </a:t>
            </a:r>
            <a:r>
              <a:rPr lang="en-US" dirty="0" err="1"/>
              <a:t>kao</a:t>
            </a:r>
            <a:r>
              <a:rPr lang="en-US" dirty="0"/>
              <a:t> </a:t>
            </a:r>
            <a:r>
              <a:rPr lang="en-US" dirty="0" err="1"/>
              <a:t>zaštitnu</a:t>
            </a:r>
            <a:r>
              <a:rPr lang="en-US" dirty="0"/>
              <a:t> </a:t>
            </a:r>
            <a:r>
              <a:rPr lang="en-US" dirty="0" err="1"/>
              <a:t>barijeru</a:t>
            </a:r>
            <a:r>
              <a:rPr lang="en-US" dirty="0"/>
              <a:t> </a:t>
            </a:r>
            <a:r>
              <a:rPr lang="en-US" dirty="0" err="1"/>
              <a:t>integriteta</a:t>
            </a:r>
            <a:r>
              <a:rPr lang="en-US" dirty="0"/>
              <a:t> — </a:t>
            </a:r>
            <a:r>
              <a:rPr lang="en-US" dirty="0" err="1"/>
              <a:t>pri</a:t>
            </a:r>
            <a:r>
              <a:rPr lang="en-US" dirty="0"/>
              <a:t> </a:t>
            </a:r>
            <a:r>
              <a:rPr lang="en-US" dirty="0" err="1"/>
              <a:t>svakom</a:t>
            </a:r>
            <a:r>
              <a:rPr lang="en-US" dirty="0"/>
              <a:t> INSERT-u engine </a:t>
            </a:r>
            <a:r>
              <a:rPr lang="en-US" dirty="0" err="1"/>
              <a:t>navigira</a:t>
            </a:r>
            <a:r>
              <a:rPr lang="en-US" dirty="0"/>
              <a:t> do </a:t>
            </a:r>
            <a:r>
              <a:rPr lang="en-US" dirty="0" err="1"/>
              <a:t>odgovarajućeg</a:t>
            </a:r>
            <a:r>
              <a:rPr lang="en-US" dirty="0"/>
              <a:t> </a:t>
            </a:r>
            <a:r>
              <a:rPr lang="en-US" dirty="0" err="1"/>
              <a:t>lista</a:t>
            </a:r>
            <a:r>
              <a:rPr lang="en-US" dirty="0"/>
              <a:t> </a:t>
            </a:r>
            <a:r>
              <a:rPr lang="en-US" dirty="0" err="1"/>
              <a:t>i</a:t>
            </a:r>
            <a:r>
              <a:rPr lang="en-US" dirty="0"/>
              <a:t> </a:t>
            </a:r>
            <a:r>
              <a:rPr lang="en-US" dirty="0" err="1"/>
              <a:t>ako</a:t>
            </a:r>
            <a:r>
              <a:rPr lang="en-US" dirty="0"/>
              <a:t> </a:t>
            </a:r>
            <a:r>
              <a:rPr lang="en-US" dirty="0" err="1"/>
              <a:t>pronađe</a:t>
            </a:r>
            <a:r>
              <a:rPr lang="en-US" dirty="0"/>
              <a:t> </a:t>
            </a:r>
            <a:r>
              <a:rPr lang="en-US" dirty="0" err="1"/>
              <a:t>identičan</a:t>
            </a:r>
            <a:r>
              <a:rPr lang="en-US" dirty="0"/>
              <a:t> </a:t>
            </a:r>
            <a:r>
              <a:rPr lang="en-US" dirty="0" err="1"/>
              <a:t>ključ</a:t>
            </a:r>
            <a:r>
              <a:rPr lang="en-US" dirty="0"/>
              <a:t>, </a:t>
            </a:r>
            <a:r>
              <a:rPr lang="en-US" dirty="0" err="1"/>
              <a:t>transakcija</a:t>
            </a:r>
            <a:r>
              <a:rPr lang="en-US" dirty="0"/>
              <a:t> se </a:t>
            </a:r>
            <a:r>
              <a:rPr lang="en-US" dirty="0" err="1"/>
              <a:t>odbija</a:t>
            </a:r>
            <a:r>
              <a:rPr lang="en-US" dirty="0"/>
              <a:t> pre </a:t>
            </a:r>
            <a:r>
              <a:rPr lang="en-US" dirty="0" err="1"/>
              <a:t>nego</a:t>
            </a:r>
            <a:r>
              <a:rPr lang="en-US" dirty="0"/>
              <a:t> </a:t>
            </a:r>
            <a:r>
              <a:rPr lang="en-US" dirty="0" err="1"/>
              <a:t>što</a:t>
            </a:r>
            <a:r>
              <a:rPr lang="en-US" dirty="0"/>
              <a:t> se </a:t>
            </a:r>
            <a:r>
              <a:rPr lang="en-US" dirty="0" err="1"/>
              <a:t>išta</a:t>
            </a:r>
            <a:r>
              <a:rPr lang="en-US" dirty="0"/>
              <a:t> </a:t>
            </a:r>
            <a:r>
              <a:rPr lang="en-US" dirty="0" err="1"/>
              <a:t>upiše</a:t>
            </a:r>
            <a:r>
              <a:rPr lang="en-US" dirty="0"/>
              <a:t> </a:t>
            </a:r>
            <a:r>
              <a:rPr lang="en-US" dirty="0" err="1"/>
              <a:t>na</a:t>
            </a:r>
            <a:r>
              <a:rPr lang="en-US" dirty="0"/>
              <a:t> disk.</a:t>
            </a:r>
          </a:p>
          <a:p>
            <a:r>
              <a:rPr lang="en-US" dirty="0" err="1"/>
              <a:t>Strani</a:t>
            </a:r>
            <a:r>
              <a:rPr lang="en-US" dirty="0"/>
              <a:t> </a:t>
            </a:r>
            <a:r>
              <a:rPr lang="en-US" dirty="0" err="1"/>
              <a:t>ključ</a:t>
            </a:r>
            <a:r>
              <a:rPr lang="en-US" dirty="0"/>
              <a:t> se </a:t>
            </a:r>
            <a:r>
              <a:rPr lang="en-US" dirty="0" err="1"/>
              <a:t>automatski</a:t>
            </a:r>
            <a:r>
              <a:rPr lang="en-US" dirty="0"/>
              <a:t> </a:t>
            </a:r>
            <a:r>
              <a:rPr lang="en-US" dirty="0" err="1"/>
              <a:t>kreira</a:t>
            </a:r>
            <a:r>
              <a:rPr lang="en-US" dirty="0"/>
              <a:t> </a:t>
            </a:r>
            <a:r>
              <a:rPr lang="en-US" dirty="0" err="1"/>
              <a:t>na</a:t>
            </a:r>
            <a:r>
              <a:rPr lang="en-US" dirty="0"/>
              <a:t> </a:t>
            </a:r>
            <a:r>
              <a:rPr lang="en-US" dirty="0" err="1"/>
              <a:t>strani</a:t>
            </a:r>
            <a:r>
              <a:rPr lang="en-US" dirty="0"/>
              <a:t> "</a:t>
            </a:r>
            <a:r>
              <a:rPr lang="en-US" dirty="0" err="1"/>
              <a:t>deteta</a:t>
            </a:r>
            <a:r>
              <a:rPr lang="en-US" dirty="0"/>
              <a:t>" </a:t>
            </a:r>
            <a:r>
              <a:rPr lang="en-US" dirty="0" err="1"/>
              <a:t>i</a:t>
            </a:r>
            <a:r>
              <a:rPr lang="en-US" dirty="0"/>
              <a:t> </a:t>
            </a:r>
            <a:r>
              <a:rPr lang="en-US" dirty="0" err="1"/>
              <a:t>omogućava</a:t>
            </a:r>
            <a:r>
              <a:rPr lang="en-US" dirty="0"/>
              <a:t> da engine </a:t>
            </a:r>
            <a:r>
              <a:rPr lang="en-US" dirty="0" err="1"/>
              <a:t>pri</a:t>
            </a:r>
            <a:r>
              <a:rPr lang="en-US" dirty="0"/>
              <a:t> </a:t>
            </a:r>
            <a:r>
              <a:rPr lang="en-US" dirty="0" err="1"/>
              <a:t>brisanju</a:t>
            </a:r>
            <a:r>
              <a:rPr lang="en-US" dirty="0"/>
              <a:t> </a:t>
            </a:r>
            <a:r>
              <a:rPr lang="en-US" dirty="0" err="1"/>
              <a:t>roditelja</a:t>
            </a:r>
            <a:r>
              <a:rPr lang="en-US" dirty="0"/>
              <a:t> </a:t>
            </a:r>
            <a:r>
              <a:rPr lang="en-US" dirty="0" err="1"/>
              <a:t>trenutno</a:t>
            </a:r>
            <a:r>
              <a:rPr lang="en-US" dirty="0"/>
              <a:t> </a:t>
            </a:r>
            <a:r>
              <a:rPr lang="en-US" dirty="0" err="1"/>
              <a:t>proveri</a:t>
            </a:r>
            <a:r>
              <a:rPr lang="en-US" dirty="0"/>
              <a:t> </a:t>
            </a:r>
            <a:r>
              <a:rPr lang="en-US" dirty="0" err="1"/>
              <a:t>postojanje</a:t>
            </a:r>
            <a:r>
              <a:rPr lang="en-US" dirty="0"/>
              <a:t> </a:t>
            </a:r>
            <a:r>
              <a:rPr lang="en-US" dirty="0" err="1"/>
              <a:t>zavisnih</a:t>
            </a:r>
            <a:r>
              <a:rPr lang="en-US" dirty="0"/>
              <a:t> </a:t>
            </a:r>
            <a:r>
              <a:rPr lang="en-US" dirty="0" err="1"/>
              <a:t>zapisa</a:t>
            </a:r>
            <a:r>
              <a:rPr lang="en-US" dirty="0"/>
              <a:t> bez </a:t>
            </a:r>
            <a:r>
              <a:rPr lang="en-US" dirty="0" err="1"/>
              <a:t>skeniranja</a:t>
            </a:r>
            <a:r>
              <a:rPr lang="en-US" dirty="0"/>
              <a:t> </a:t>
            </a:r>
            <a:r>
              <a:rPr lang="en-US" dirty="0" err="1"/>
              <a:t>cele</a:t>
            </a:r>
            <a:r>
              <a:rPr lang="en-US" dirty="0"/>
              <a:t> </a:t>
            </a:r>
            <a:r>
              <a:rPr lang="en-US" dirty="0" err="1"/>
              <a:t>tabele</a:t>
            </a:r>
            <a:r>
              <a:rPr lang="en-US" dirty="0"/>
              <a:t> — bez </a:t>
            </a:r>
            <a:r>
              <a:rPr lang="en-US" dirty="0" err="1"/>
              <a:t>ovog</a:t>
            </a:r>
            <a:r>
              <a:rPr lang="en-US" dirty="0"/>
              <a:t> </a:t>
            </a:r>
            <a:r>
              <a:rPr lang="en-US" dirty="0" err="1"/>
              <a:t>indeksa</a:t>
            </a:r>
            <a:r>
              <a:rPr lang="en-US" dirty="0"/>
              <a:t> </a:t>
            </a:r>
            <a:r>
              <a:rPr lang="en-US" dirty="0" err="1"/>
              <a:t>svaka</a:t>
            </a:r>
            <a:r>
              <a:rPr lang="en-US" dirty="0"/>
              <a:t> </a:t>
            </a:r>
            <a:r>
              <a:rPr lang="en-US" dirty="0" err="1"/>
              <a:t>provera</a:t>
            </a:r>
            <a:r>
              <a:rPr lang="en-US" dirty="0"/>
              <a:t> </a:t>
            </a:r>
            <a:r>
              <a:rPr lang="en-US" dirty="0" err="1"/>
              <a:t>integriteta</a:t>
            </a:r>
            <a:r>
              <a:rPr lang="en-US" dirty="0"/>
              <a:t> </a:t>
            </a:r>
            <a:r>
              <a:rPr lang="en-US" dirty="0" err="1"/>
              <a:t>bila</a:t>
            </a:r>
            <a:r>
              <a:rPr lang="en-US" dirty="0"/>
              <a:t> bi Full Table Scan.</a:t>
            </a:r>
          </a:p>
          <a:p>
            <a:r>
              <a:rPr lang="en-US" dirty="0"/>
              <a:t>Expression </a:t>
            </a:r>
            <a:r>
              <a:rPr lang="en-US" dirty="0" err="1"/>
              <a:t>indeks</a:t>
            </a:r>
            <a:r>
              <a:rPr lang="en-US" dirty="0"/>
              <a:t> se </a:t>
            </a:r>
            <a:r>
              <a:rPr lang="en-US" dirty="0" err="1"/>
              <a:t>razlikuje</a:t>
            </a:r>
            <a:r>
              <a:rPr lang="en-US" dirty="0"/>
              <a:t> od </a:t>
            </a:r>
            <a:r>
              <a:rPr lang="en-US" dirty="0" err="1"/>
              <a:t>ostalih</a:t>
            </a:r>
            <a:r>
              <a:rPr lang="en-US" dirty="0"/>
              <a:t> po tome </a:t>
            </a:r>
            <a:r>
              <a:rPr lang="en-US" dirty="0" err="1"/>
              <a:t>što</a:t>
            </a:r>
            <a:r>
              <a:rPr lang="en-US" dirty="0"/>
              <a:t> se </a:t>
            </a:r>
            <a:r>
              <a:rPr lang="en-US" dirty="0" err="1"/>
              <a:t>izraz</a:t>
            </a:r>
            <a:r>
              <a:rPr lang="en-US" dirty="0"/>
              <a:t> (</a:t>
            </a:r>
            <a:r>
              <a:rPr lang="en-US" dirty="0" err="1"/>
              <a:t>npr</a:t>
            </a:r>
            <a:r>
              <a:rPr lang="en-US" dirty="0"/>
              <a:t>. UPPER(LAST_NAME) </a:t>
            </a:r>
            <a:r>
              <a:rPr lang="en-US" dirty="0" err="1"/>
              <a:t>ili</a:t>
            </a:r>
            <a:r>
              <a:rPr lang="en-US" dirty="0"/>
              <a:t> CASE) </a:t>
            </a:r>
            <a:r>
              <a:rPr lang="en-US" dirty="0" err="1"/>
              <a:t>izračunava</a:t>
            </a:r>
            <a:r>
              <a:rPr lang="en-US" dirty="0"/>
              <a:t> </a:t>
            </a:r>
            <a:r>
              <a:rPr lang="en-US" dirty="0" err="1"/>
              <a:t>jednom</a:t>
            </a:r>
            <a:r>
              <a:rPr lang="en-US" dirty="0"/>
              <a:t> </a:t>
            </a:r>
            <a:r>
              <a:rPr lang="en-US" dirty="0" err="1"/>
              <a:t>pri</a:t>
            </a:r>
            <a:r>
              <a:rPr lang="en-US" dirty="0"/>
              <a:t> </a:t>
            </a:r>
            <a:r>
              <a:rPr lang="en-US" dirty="0" err="1"/>
              <a:t>upisu</a:t>
            </a:r>
            <a:r>
              <a:rPr lang="en-US" dirty="0"/>
              <a:t> </a:t>
            </a:r>
            <a:r>
              <a:rPr lang="en-US" dirty="0" err="1"/>
              <a:t>i</a:t>
            </a:r>
            <a:r>
              <a:rPr lang="en-US" dirty="0"/>
              <a:t> </a:t>
            </a:r>
            <a:r>
              <a:rPr lang="en-US" dirty="0" err="1"/>
              <a:t>trajno</a:t>
            </a:r>
            <a:r>
              <a:rPr lang="en-US" dirty="0"/>
              <a:t> </a:t>
            </a:r>
            <a:r>
              <a:rPr lang="en-US" dirty="0" err="1"/>
              <a:t>čuva</a:t>
            </a:r>
            <a:r>
              <a:rPr lang="en-US" dirty="0"/>
              <a:t> u B+ </a:t>
            </a:r>
            <a:r>
              <a:rPr lang="en-US" dirty="0" err="1"/>
              <a:t>stablu</a:t>
            </a:r>
            <a:r>
              <a:rPr lang="en-US" dirty="0"/>
              <a:t> — </a:t>
            </a:r>
            <a:r>
              <a:rPr lang="en-US" dirty="0" err="1"/>
              <a:t>pri</a:t>
            </a:r>
            <a:r>
              <a:rPr lang="en-US" dirty="0"/>
              <a:t> </a:t>
            </a:r>
            <a:r>
              <a:rPr lang="en-US" dirty="0" err="1"/>
              <a:t>pretrazi</a:t>
            </a:r>
            <a:r>
              <a:rPr lang="en-US" dirty="0"/>
              <a:t> optimizer </a:t>
            </a:r>
            <a:r>
              <a:rPr lang="en-US" dirty="0" err="1"/>
              <a:t>direktno</a:t>
            </a:r>
            <a:r>
              <a:rPr lang="en-US" dirty="0"/>
              <a:t> </a:t>
            </a:r>
            <a:r>
              <a:rPr lang="en-US" dirty="0" err="1"/>
              <a:t>poredi</a:t>
            </a:r>
            <a:r>
              <a:rPr lang="en-US" dirty="0"/>
              <a:t> </a:t>
            </a:r>
            <a:r>
              <a:rPr lang="en-US" dirty="0" err="1"/>
              <a:t>vrednosti</a:t>
            </a:r>
            <a:r>
              <a:rPr lang="en-US" dirty="0"/>
              <a:t> </a:t>
            </a:r>
            <a:r>
              <a:rPr lang="en-US" dirty="0" err="1"/>
              <a:t>sa</a:t>
            </a:r>
            <a:r>
              <a:rPr lang="en-US" dirty="0"/>
              <a:t> </a:t>
            </a:r>
            <a:r>
              <a:rPr lang="en-US" dirty="0" err="1"/>
              <a:t>već</a:t>
            </a:r>
            <a:r>
              <a:rPr lang="en-US" dirty="0"/>
              <a:t> </a:t>
            </a:r>
            <a:r>
              <a:rPr lang="en-US" dirty="0" err="1"/>
              <a:t>izračunatim</a:t>
            </a:r>
            <a:r>
              <a:rPr lang="en-US" dirty="0"/>
              <a:t> </a:t>
            </a:r>
            <a:r>
              <a:rPr lang="en-US" dirty="0" err="1"/>
              <a:t>ključevima</a:t>
            </a:r>
            <a:r>
              <a:rPr lang="en-US" dirty="0"/>
              <a:t>, </a:t>
            </a:r>
            <a:r>
              <a:rPr lang="en-US" dirty="0" err="1"/>
              <a:t>čime</a:t>
            </a:r>
            <a:r>
              <a:rPr lang="en-US" dirty="0"/>
              <a:t> se </a:t>
            </a:r>
            <a:r>
              <a:rPr lang="en-US" dirty="0" err="1"/>
              <a:t>potpuno</a:t>
            </a:r>
            <a:r>
              <a:rPr lang="en-US" dirty="0"/>
              <a:t> </a:t>
            </a:r>
            <a:r>
              <a:rPr lang="en-US" dirty="0" err="1"/>
              <a:t>eliminiše</a:t>
            </a:r>
            <a:r>
              <a:rPr lang="en-US" dirty="0"/>
              <a:t> </a:t>
            </a:r>
            <a:r>
              <a:rPr lang="en-US" dirty="0" err="1"/>
              <a:t>potreba</a:t>
            </a:r>
            <a:r>
              <a:rPr lang="en-US" dirty="0"/>
              <a:t> za Full Table Scan-</a:t>
            </a:r>
            <a:r>
              <a:rPr lang="en-US" dirty="0" err="1"/>
              <a:t>om.</a:t>
            </a:r>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Selektivnost</a:t>
            </a:r>
            <a:r>
              <a:rPr lang="en-US" dirty="0"/>
              <a:t> je </a:t>
            </a:r>
            <a:r>
              <a:rPr lang="en-US" dirty="0" err="1"/>
              <a:t>numerička</a:t>
            </a:r>
            <a:r>
              <a:rPr lang="en-US" dirty="0"/>
              <a:t> </a:t>
            </a:r>
            <a:r>
              <a:rPr lang="en-US" dirty="0" err="1"/>
              <a:t>vrednost</a:t>
            </a:r>
            <a:r>
              <a:rPr lang="en-US" dirty="0"/>
              <a:t> </a:t>
            </a:r>
            <a:r>
              <a:rPr lang="en-US" dirty="0" err="1"/>
              <a:t>između</a:t>
            </a:r>
            <a:r>
              <a:rPr lang="en-US" dirty="0"/>
              <a:t> 0 </a:t>
            </a:r>
            <a:r>
              <a:rPr lang="en-US" dirty="0" err="1"/>
              <a:t>i</a:t>
            </a:r>
            <a:r>
              <a:rPr lang="en-US" dirty="0"/>
              <a:t> 1 </a:t>
            </a:r>
            <a:r>
              <a:rPr lang="en-US" dirty="0" err="1"/>
              <a:t>koja</a:t>
            </a:r>
            <a:r>
              <a:rPr lang="en-US" dirty="0"/>
              <a:t> </a:t>
            </a:r>
            <a:r>
              <a:rPr lang="en-US" dirty="0" err="1"/>
              <a:t>govori</a:t>
            </a:r>
            <a:r>
              <a:rPr lang="en-US" dirty="0"/>
              <a:t> </a:t>
            </a:r>
            <a:r>
              <a:rPr lang="en-US" dirty="0" err="1"/>
              <a:t>optimizatoru</a:t>
            </a:r>
            <a:r>
              <a:rPr lang="en-US" dirty="0"/>
              <a:t> </a:t>
            </a:r>
            <a:r>
              <a:rPr lang="en-US" dirty="0" err="1"/>
              <a:t>koliko</a:t>
            </a:r>
            <a:r>
              <a:rPr lang="en-US" dirty="0"/>
              <a:t> je </a:t>
            </a:r>
            <a:r>
              <a:rPr lang="en-US" dirty="0" err="1"/>
              <a:t>indeks</a:t>
            </a:r>
            <a:r>
              <a:rPr lang="en-US" dirty="0"/>
              <a:t> "</a:t>
            </a:r>
            <a:r>
              <a:rPr lang="en-US" dirty="0" err="1"/>
              <a:t>jedinstven</a:t>
            </a:r>
            <a:r>
              <a:rPr lang="en-US" dirty="0"/>
              <a:t>" — </a:t>
            </a:r>
            <a:r>
              <a:rPr lang="en-US" dirty="0" err="1"/>
              <a:t>izračunava</a:t>
            </a:r>
            <a:r>
              <a:rPr lang="en-US" dirty="0"/>
              <a:t> se </a:t>
            </a:r>
            <a:r>
              <a:rPr lang="en-US" dirty="0" err="1"/>
              <a:t>kao</a:t>
            </a:r>
            <a:r>
              <a:rPr lang="en-US" dirty="0"/>
              <a:t> 1 </a:t>
            </a:r>
            <a:r>
              <a:rPr lang="en-US" dirty="0" err="1"/>
              <a:t>podeljen</a:t>
            </a:r>
            <a:r>
              <a:rPr lang="en-US" dirty="0"/>
              <a:t> </a:t>
            </a:r>
            <a:r>
              <a:rPr lang="en-US" dirty="0" err="1"/>
              <a:t>brojem</a:t>
            </a:r>
            <a:r>
              <a:rPr lang="en-US" dirty="0"/>
              <a:t> </a:t>
            </a:r>
            <a:r>
              <a:rPr lang="en-US" dirty="0" err="1"/>
              <a:t>unikatnih</a:t>
            </a:r>
            <a:r>
              <a:rPr lang="en-US" dirty="0"/>
              <a:t> </a:t>
            </a:r>
            <a:r>
              <a:rPr lang="en-US" dirty="0" err="1"/>
              <a:t>ključeva</a:t>
            </a:r>
            <a:r>
              <a:rPr lang="en-US" dirty="0"/>
              <a:t>.</a:t>
            </a:r>
          </a:p>
          <a:p>
            <a:r>
              <a:rPr lang="en-US" dirty="0" err="1"/>
              <a:t>Vrednost</a:t>
            </a:r>
            <a:r>
              <a:rPr lang="en-US" dirty="0"/>
              <a:t> </a:t>
            </a:r>
            <a:r>
              <a:rPr lang="en-US" dirty="0" err="1"/>
              <a:t>blizu</a:t>
            </a:r>
            <a:r>
              <a:rPr lang="en-US" dirty="0"/>
              <a:t> 0 </a:t>
            </a:r>
            <a:r>
              <a:rPr lang="en-US" dirty="0" err="1"/>
              <a:t>znači</a:t>
            </a:r>
            <a:r>
              <a:rPr lang="en-US" dirty="0"/>
              <a:t> </a:t>
            </a:r>
            <a:r>
              <a:rPr lang="en-US" dirty="0" err="1"/>
              <a:t>odličan</a:t>
            </a:r>
            <a:r>
              <a:rPr lang="en-US" dirty="0"/>
              <a:t> </a:t>
            </a:r>
            <a:r>
              <a:rPr lang="en-US" dirty="0" err="1"/>
              <a:t>indeks</a:t>
            </a:r>
            <a:r>
              <a:rPr lang="en-US" dirty="0"/>
              <a:t> — </a:t>
            </a:r>
            <a:r>
              <a:rPr lang="en-US" dirty="0" err="1"/>
              <a:t>kao</a:t>
            </a:r>
            <a:r>
              <a:rPr lang="en-US" dirty="0"/>
              <a:t> </a:t>
            </a:r>
            <a:r>
              <a:rPr lang="en-US" dirty="0" err="1"/>
              <a:t>kod</a:t>
            </a:r>
            <a:r>
              <a:rPr lang="en-US" dirty="0"/>
              <a:t> </a:t>
            </a:r>
            <a:r>
              <a:rPr lang="en-US" dirty="0" err="1"/>
              <a:t>primarnog</a:t>
            </a:r>
            <a:r>
              <a:rPr lang="en-US" dirty="0"/>
              <a:t> </a:t>
            </a:r>
            <a:r>
              <a:rPr lang="en-US" dirty="0" err="1"/>
              <a:t>ključa</a:t>
            </a:r>
            <a:r>
              <a:rPr lang="en-US" dirty="0"/>
              <a:t> </a:t>
            </a:r>
            <a:r>
              <a:rPr lang="en-US" dirty="0" err="1"/>
              <a:t>gde</a:t>
            </a:r>
            <a:r>
              <a:rPr lang="en-US" dirty="0"/>
              <a:t> je </a:t>
            </a:r>
            <a:r>
              <a:rPr lang="en-US" dirty="0" err="1"/>
              <a:t>svaki</a:t>
            </a:r>
            <a:r>
              <a:rPr lang="en-US" dirty="0"/>
              <a:t> red </a:t>
            </a:r>
            <a:r>
              <a:rPr lang="en-US" dirty="0" err="1"/>
              <a:t>jedinstven</a:t>
            </a:r>
            <a:r>
              <a:rPr lang="en-US" dirty="0"/>
              <a:t>, pa ga optimizer </a:t>
            </a:r>
            <a:r>
              <a:rPr lang="en-US" dirty="0" err="1"/>
              <a:t>uvek</a:t>
            </a:r>
            <a:r>
              <a:rPr lang="en-US" dirty="0"/>
              <a:t> </a:t>
            </a:r>
            <a:r>
              <a:rPr lang="en-US" dirty="0" err="1"/>
              <a:t>koristi</a:t>
            </a:r>
            <a:r>
              <a:rPr lang="en-US" dirty="0"/>
              <a:t> za </a:t>
            </a:r>
            <a:r>
              <a:rPr lang="en-US" dirty="0" err="1"/>
              <a:t>pretragu</a:t>
            </a:r>
            <a:r>
              <a:rPr lang="en-US" dirty="0"/>
              <a:t>.</a:t>
            </a:r>
            <a:r>
              <a:rPr lang="sr-Latn-RS" dirty="0"/>
              <a:t> </a:t>
            </a:r>
            <a:r>
              <a:rPr lang="en-US" dirty="0" err="1"/>
              <a:t>Vrednost</a:t>
            </a:r>
            <a:r>
              <a:rPr lang="en-US" dirty="0"/>
              <a:t> </a:t>
            </a:r>
            <a:r>
              <a:rPr lang="en-US" dirty="0" err="1"/>
              <a:t>blizu</a:t>
            </a:r>
            <a:r>
              <a:rPr lang="en-US" dirty="0"/>
              <a:t> 1 </a:t>
            </a:r>
            <a:r>
              <a:rPr lang="en-US" dirty="0" err="1"/>
              <a:t>znači</a:t>
            </a:r>
            <a:r>
              <a:rPr lang="en-US" dirty="0"/>
              <a:t> </a:t>
            </a:r>
            <a:r>
              <a:rPr lang="en-US" dirty="0" err="1"/>
              <a:t>loš</a:t>
            </a:r>
            <a:r>
              <a:rPr lang="en-US" dirty="0"/>
              <a:t> </a:t>
            </a:r>
            <a:r>
              <a:rPr lang="en-US" dirty="0" err="1"/>
              <a:t>indeks</a:t>
            </a:r>
            <a:r>
              <a:rPr lang="en-US" dirty="0"/>
              <a:t> </a:t>
            </a:r>
            <a:r>
              <a:rPr lang="en-US" dirty="0" err="1"/>
              <a:t>sa</a:t>
            </a:r>
            <a:r>
              <a:rPr lang="en-US" dirty="0"/>
              <a:t> </a:t>
            </a:r>
            <a:r>
              <a:rPr lang="en-US" dirty="0" err="1"/>
              <a:t>mnogo</a:t>
            </a:r>
            <a:r>
              <a:rPr lang="en-US" dirty="0"/>
              <a:t> </a:t>
            </a:r>
            <a:r>
              <a:rPr lang="en-US" dirty="0" err="1"/>
              <a:t>duplikata</a:t>
            </a:r>
            <a:r>
              <a:rPr lang="en-US" dirty="0"/>
              <a:t> — optimizer ga </a:t>
            </a:r>
            <a:r>
              <a:rPr lang="en-US" dirty="0" err="1"/>
              <a:t>svesno</a:t>
            </a:r>
            <a:r>
              <a:rPr lang="en-US" dirty="0"/>
              <a:t> </a:t>
            </a:r>
            <a:r>
              <a:rPr lang="en-US" dirty="0" err="1"/>
              <a:t>ignoriše</a:t>
            </a:r>
            <a:r>
              <a:rPr lang="en-US" dirty="0"/>
              <a:t> </a:t>
            </a:r>
            <a:r>
              <a:rPr lang="en-US" dirty="0" err="1"/>
              <a:t>jer</a:t>
            </a:r>
            <a:r>
              <a:rPr lang="en-US" dirty="0"/>
              <a:t> </a:t>
            </a:r>
            <a:r>
              <a:rPr lang="en-US" dirty="0" err="1"/>
              <a:t>procenjuje</a:t>
            </a:r>
            <a:r>
              <a:rPr lang="en-US" dirty="0"/>
              <a:t> da je Full Table Scan </a:t>
            </a:r>
            <a:r>
              <a:rPr lang="en-US" dirty="0" err="1"/>
              <a:t>brži</a:t>
            </a:r>
            <a:r>
              <a:rPr lang="en-US" dirty="0"/>
              <a:t> od </a:t>
            </a:r>
            <a:r>
              <a:rPr lang="en-US" dirty="0" err="1"/>
              <a:t>skakanja</a:t>
            </a:r>
            <a:r>
              <a:rPr lang="en-US" dirty="0"/>
              <a:t> po </a:t>
            </a:r>
            <a:r>
              <a:rPr lang="en-US" dirty="0" err="1"/>
              <a:t>indeksu</a:t>
            </a:r>
            <a:r>
              <a:rPr lang="en-US" dirty="0"/>
              <a:t>.</a:t>
            </a:r>
            <a:r>
              <a:rPr lang="sr-Latn-RS" dirty="0"/>
              <a:t> </a:t>
            </a:r>
            <a:r>
              <a:rPr lang="en-US" dirty="0"/>
              <a:t>Problem </a:t>
            </a:r>
            <a:r>
              <a:rPr lang="en-US" dirty="0" err="1"/>
              <a:t>nastaje</a:t>
            </a:r>
            <a:r>
              <a:rPr lang="en-US" dirty="0"/>
              <a:t> </a:t>
            </a:r>
            <a:r>
              <a:rPr lang="en-US" dirty="0" err="1"/>
              <a:t>jer</a:t>
            </a:r>
            <a:r>
              <a:rPr lang="en-US" dirty="0"/>
              <a:t> se </a:t>
            </a:r>
            <a:r>
              <a:rPr lang="en-US" dirty="0" err="1"/>
              <a:t>selektivnost</a:t>
            </a:r>
            <a:r>
              <a:rPr lang="en-US" dirty="0"/>
              <a:t> ne </a:t>
            </a:r>
            <a:r>
              <a:rPr lang="en-US" dirty="0" err="1"/>
              <a:t>ažurira</a:t>
            </a:r>
            <a:r>
              <a:rPr lang="en-US" dirty="0"/>
              <a:t> </a:t>
            </a:r>
            <a:r>
              <a:rPr lang="en-US" dirty="0" err="1"/>
              <a:t>automatski</a:t>
            </a:r>
            <a:r>
              <a:rPr lang="en-US" dirty="0"/>
              <a:t> </a:t>
            </a:r>
            <a:r>
              <a:rPr lang="en-US" dirty="0" err="1"/>
              <a:t>pri</a:t>
            </a:r>
            <a:r>
              <a:rPr lang="en-US" dirty="0"/>
              <a:t> </a:t>
            </a:r>
            <a:r>
              <a:rPr lang="en-US" dirty="0" err="1"/>
              <a:t>svakom</a:t>
            </a:r>
            <a:r>
              <a:rPr lang="en-US" dirty="0"/>
              <a:t> INSERT, UPDATE </a:t>
            </a:r>
            <a:r>
              <a:rPr lang="en-US" dirty="0" err="1"/>
              <a:t>ili</a:t>
            </a:r>
            <a:r>
              <a:rPr lang="en-US" dirty="0"/>
              <a:t> DELETE — to bi </a:t>
            </a:r>
            <a:r>
              <a:rPr lang="en-US" dirty="0" err="1"/>
              <a:t>drastično</a:t>
            </a:r>
            <a:r>
              <a:rPr lang="en-US" dirty="0"/>
              <a:t> </a:t>
            </a:r>
            <a:r>
              <a:rPr lang="en-US" dirty="0" err="1"/>
              <a:t>usporilo</a:t>
            </a:r>
            <a:r>
              <a:rPr lang="en-US" dirty="0"/>
              <a:t> </a:t>
            </a:r>
            <a:r>
              <a:rPr lang="en-US" dirty="0" err="1"/>
              <a:t>upis</a:t>
            </a:r>
            <a:r>
              <a:rPr lang="en-US" dirty="0"/>
              <a:t>, pa </a:t>
            </a:r>
            <a:r>
              <a:rPr lang="en-US" dirty="0" err="1"/>
              <a:t>tokom</a:t>
            </a:r>
            <a:r>
              <a:rPr lang="en-US" dirty="0"/>
              <a:t> </a:t>
            </a:r>
            <a:r>
              <a:rPr lang="en-US" dirty="0" err="1"/>
              <a:t>vremena</a:t>
            </a:r>
            <a:r>
              <a:rPr lang="en-US" dirty="0"/>
              <a:t> </a:t>
            </a:r>
            <a:r>
              <a:rPr lang="en-US" dirty="0" err="1"/>
              <a:t>statistika</a:t>
            </a:r>
            <a:r>
              <a:rPr lang="en-US" dirty="0"/>
              <a:t> u RDB$INDICES </a:t>
            </a:r>
            <a:r>
              <a:rPr lang="en-US" dirty="0" err="1"/>
              <a:t>prestaje</a:t>
            </a:r>
            <a:r>
              <a:rPr lang="en-US" dirty="0"/>
              <a:t> da </a:t>
            </a:r>
            <a:r>
              <a:rPr lang="en-US" dirty="0" err="1"/>
              <a:t>odgovara</a:t>
            </a:r>
            <a:r>
              <a:rPr lang="en-US" dirty="0"/>
              <a:t> </a:t>
            </a:r>
            <a:r>
              <a:rPr lang="en-US" dirty="0" err="1"/>
              <a:t>stvarnom</a:t>
            </a:r>
            <a:r>
              <a:rPr lang="en-US" dirty="0"/>
              <a:t> </a:t>
            </a:r>
            <a:r>
              <a:rPr lang="en-US" dirty="0" err="1"/>
              <a:t>stanju</a:t>
            </a:r>
            <a:r>
              <a:rPr lang="en-US" dirty="0"/>
              <a:t> </a:t>
            </a:r>
            <a:r>
              <a:rPr lang="en-US" dirty="0" err="1"/>
              <a:t>podataka</a:t>
            </a:r>
            <a:r>
              <a:rPr lang="en-US" dirty="0"/>
              <a:t>.</a:t>
            </a:r>
            <a:r>
              <a:rPr lang="sr-Latn-RS" dirty="0"/>
              <a:t> </a:t>
            </a:r>
            <a:r>
              <a:rPr lang="en-US" dirty="0" err="1"/>
              <a:t>Posledica</a:t>
            </a:r>
            <a:r>
              <a:rPr lang="en-US" dirty="0"/>
              <a:t> je da optimizer </a:t>
            </a:r>
            <a:r>
              <a:rPr lang="en-US" dirty="0" err="1"/>
              <a:t>donosi</a:t>
            </a:r>
            <a:r>
              <a:rPr lang="en-US" dirty="0"/>
              <a:t> </a:t>
            </a:r>
            <a:r>
              <a:rPr lang="en-US" dirty="0" err="1"/>
              <a:t>pogrešne</a:t>
            </a:r>
            <a:r>
              <a:rPr lang="en-US" dirty="0"/>
              <a:t> </a:t>
            </a:r>
            <a:r>
              <a:rPr lang="en-US" dirty="0" err="1"/>
              <a:t>odluke</a:t>
            </a:r>
            <a:r>
              <a:rPr lang="en-US" dirty="0"/>
              <a:t> — </a:t>
            </a:r>
            <a:r>
              <a:rPr lang="en-US" dirty="0" err="1"/>
              <a:t>bira</a:t>
            </a:r>
            <a:r>
              <a:rPr lang="en-US" dirty="0"/>
              <a:t> Full Table Scan </a:t>
            </a:r>
            <a:r>
              <a:rPr lang="en-US" dirty="0" err="1"/>
              <a:t>tamo</a:t>
            </a:r>
            <a:r>
              <a:rPr lang="en-US" dirty="0"/>
              <a:t> </a:t>
            </a:r>
            <a:r>
              <a:rPr lang="en-US" dirty="0" err="1"/>
              <a:t>gde</a:t>
            </a:r>
            <a:r>
              <a:rPr lang="en-US" dirty="0"/>
              <a:t> bi Index Scan bio </a:t>
            </a:r>
            <a:r>
              <a:rPr lang="en-US" dirty="0" err="1"/>
              <a:t>brži</a:t>
            </a:r>
            <a:r>
              <a:rPr lang="en-US" dirty="0"/>
              <a:t>, </a:t>
            </a:r>
            <a:r>
              <a:rPr lang="en-US" dirty="0" err="1"/>
              <a:t>ili</a:t>
            </a:r>
            <a:r>
              <a:rPr lang="en-US" dirty="0"/>
              <a:t> </a:t>
            </a:r>
            <a:r>
              <a:rPr lang="en-US" dirty="0" err="1"/>
              <a:t>koristi</a:t>
            </a:r>
            <a:r>
              <a:rPr lang="en-US" dirty="0"/>
              <a:t> </a:t>
            </a:r>
            <a:r>
              <a:rPr lang="en-US" dirty="0" err="1"/>
              <a:t>loš</a:t>
            </a:r>
            <a:r>
              <a:rPr lang="en-US" dirty="0"/>
              <a:t> </a:t>
            </a:r>
            <a:r>
              <a:rPr lang="en-US" dirty="0" err="1"/>
              <a:t>indeks</a:t>
            </a:r>
            <a:r>
              <a:rPr lang="en-US" dirty="0"/>
              <a:t> </a:t>
            </a:r>
            <a:r>
              <a:rPr lang="en-US" dirty="0" err="1"/>
              <a:t>umesto</a:t>
            </a:r>
            <a:r>
              <a:rPr lang="en-US" dirty="0"/>
              <a:t> da ga </a:t>
            </a:r>
            <a:r>
              <a:rPr lang="en-US" dirty="0" err="1"/>
              <a:t>ignoriše</a:t>
            </a:r>
            <a:r>
              <a:rPr lang="en-US" dirty="0"/>
              <a:t>.</a:t>
            </a:r>
            <a:r>
              <a:rPr lang="sr-Latn-RS" dirty="0"/>
              <a:t> </a:t>
            </a:r>
            <a:r>
              <a:rPr lang="en-US" dirty="0" err="1"/>
              <a:t>Rešenje</a:t>
            </a:r>
            <a:r>
              <a:rPr lang="en-US" dirty="0"/>
              <a:t> je </a:t>
            </a:r>
            <a:r>
              <a:rPr lang="en-US" dirty="0" err="1"/>
              <a:t>redovno</a:t>
            </a:r>
            <a:r>
              <a:rPr lang="en-US" dirty="0"/>
              <a:t> </a:t>
            </a:r>
            <a:r>
              <a:rPr lang="en-US" dirty="0" err="1"/>
              <a:t>pokretanje</a:t>
            </a:r>
            <a:r>
              <a:rPr lang="en-US" dirty="0"/>
              <a:t> </a:t>
            </a:r>
            <a:r>
              <a:rPr lang="en-US" dirty="0" err="1"/>
              <a:t>komande</a:t>
            </a:r>
            <a:r>
              <a:rPr lang="en-US" dirty="0"/>
              <a:t> SET STATISTICS INDEX, </a:t>
            </a:r>
            <a:r>
              <a:rPr lang="en-US" dirty="0" err="1"/>
              <a:t>koja</a:t>
            </a:r>
            <a:r>
              <a:rPr lang="en-US" dirty="0"/>
              <a:t> </a:t>
            </a:r>
            <a:r>
              <a:rPr lang="en-US" dirty="0" err="1"/>
              <a:t>prolazi</a:t>
            </a:r>
            <a:r>
              <a:rPr lang="en-US" dirty="0"/>
              <a:t> </a:t>
            </a:r>
            <a:r>
              <a:rPr lang="en-US" dirty="0" err="1"/>
              <a:t>kroz</a:t>
            </a:r>
            <a:r>
              <a:rPr lang="en-US" dirty="0"/>
              <a:t> </a:t>
            </a:r>
            <a:r>
              <a:rPr lang="en-US" dirty="0" err="1"/>
              <a:t>celokupno</a:t>
            </a:r>
            <a:r>
              <a:rPr lang="en-US" dirty="0"/>
              <a:t> B+ </a:t>
            </a:r>
            <a:r>
              <a:rPr lang="en-US" dirty="0" err="1"/>
              <a:t>stablo</a:t>
            </a:r>
            <a:r>
              <a:rPr lang="en-US" dirty="0"/>
              <a:t>, </a:t>
            </a:r>
            <a:r>
              <a:rPr lang="en-US" dirty="0" err="1"/>
              <a:t>prebroji</a:t>
            </a:r>
            <a:r>
              <a:rPr lang="en-US" dirty="0"/>
              <a:t> </a:t>
            </a:r>
            <a:r>
              <a:rPr lang="en-US" dirty="0" err="1"/>
              <a:t>unikatne</a:t>
            </a:r>
            <a:r>
              <a:rPr lang="en-US" dirty="0"/>
              <a:t> </a:t>
            </a:r>
            <a:r>
              <a:rPr lang="en-US" dirty="0" err="1"/>
              <a:t>ključeve</a:t>
            </a:r>
            <a:r>
              <a:rPr lang="en-US" dirty="0"/>
              <a:t> </a:t>
            </a:r>
            <a:r>
              <a:rPr lang="en-US" dirty="0" err="1"/>
              <a:t>i</a:t>
            </a:r>
            <a:r>
              <a:rPr lang="en-US" dirty="0"/>
              <a:t> </a:t>
            </a:r>
            <a:r>
              <a:rPr lang="en-US" dirty="0" err="1"/>
              <a:t>upiše</a:t>
            </a:r>
            <a:r>
              <a:rPr lang="en-US" dirty="0"/>
              <a:t> </a:t>
            </a:r>
            <a:r>
              <a:rPr lang="en-US" dirty="0" err="1"/>
              <a:t>osveženu</a:t>
            </a:r>
            <a:r>
              <a:rPr lang="en-US" dirty="0"/>
              <a:t> </a:t>
            </a:r>
            <a:r>
              <a:rPr lang="en-US" dirty="0" err="1"/>
              <a:t>vrednost</a:t>
            </a:r>
            <a:r>
              <a:rPr lang="en-US" dirty="0"/>
              <a:t> </a:t>
            </a:r>
            <a:r>
              <a:rPr lang="en-US" dirty="0" err="1"/>
              <a:t>selektivnosti</a:t>
            </a:r>
            <a:r>
              <a:rPr lang="en-US" dirty="0"/>
              <a:t>.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Firebird optimizer </a:t>
            </a:r>
            <a:r>
              <a:rPr lang="en-US" dirty="0" err="1"/>
              <a:t>generiše</a:t>
            </a:r>
            <a:r>
              <a:rPr lang="en-US" dirty="0"/>
              <a:t> plan </a:t>
            </a:r>
            <a:r>
              <a:rPr lang="en-US" dirty="0" err="1"/>
              <a:t>izvršavanja</a:t>
            </a:r>
            <a:r>
              <a:rPr lang="en-US" dirty="0"/>
              <a:t> za </a:t>
            </a:r>
            <a:r>
              <a:rPr lang="en-US" dirty="0" err="1"/>
              <a:t>svaki</a:t>
            </a:r>
            <a:r>
              <a:rPr lang="en-US" dirty="0"/>
              <a:t> SQL </a:t>
            </a:r>
            <a:r>
              <a:rPr lang="en-US" dirty="0" err="1"/>
              <a:t>upit</a:t>
            </a:r>
            <a:r>
              <a:rPr lang="en-US" dirty="0"/>
              <a:t> — taj plan </a:t>
            </a:r>
            <a:r>
              <a:rPr lang="en-US" dirty="0" err="1"/>
              <a:t>nam</a:t>
            </a:r>
            <a:r>
              <a:rPr lang="en-US" dirty="0"/>
              <a:t> </a:t>
            </a:r>
            <a:r>
              <a:rPr lang="en-US" dirty="0" err="1"/>
              <a:t>tačno</a:t>
            </a:r>
            <a:r>
              <a:rPr lang="en-US" dirty="0"/>
              <a:t> </a:t>
            </a:r>
            <a:r>
              <a:rPr lang="en-US" dirty="0" err="1"/>
              <a:t>govori</a:t>
            </a:r>
            <a:r>
              <a:rPr lang="en-US" dirty="0"/>
              <a:t> </a:t>
            </a:r>
            <a:r>
              <a:rPr lang="en-US" dirty="0" err="1"/>
              <a:t>koju</a:t>
            </a:r>
            <a:r>
              <a:rPr lang="en-US" dirty="0"/>
              <a:t> </a:t>
            </a:r>
            <a:r>
              <a:rPr lang="en-US" dirty="0" err="1"/>
              <a:t>strategiju</a:t>
            </a:r>
            <a:r>
              <a:rPr lang="en-US" dirty="0"/>
              <a:t> </a:t>
            </a:r>
            <a:r>
              <a:rPr lang="en-US" dirty="0" err="1"/>
              <a:t>pristupa</a:t>
            </a:r>
            <a:r>
              <a:rPr lang="en-US" dirty="0"/>
              <a:t> </a:t>
            </a:r>
            <a:r>
              <a:rPr lang="en-US" dirty="0" err="1"/>
              <a:t>podacima</a:t>
            </a:r>
            <a:r>
              <a:rPr lang="en-US" dirty="0"/>
              <a:t> je optimizer </a:t>
            </a:r>
            <a:r>
              <a:rPr lang="en-US" dirty="0" err="1"/>
              <a:t>izabrao</a:t>
            </a:r>
            <a:r>
              <a:rPr lang="en-US" dirty="0"/>
              <a:t>.</a:t>
            </a:r>
          </a:p>
          <a:p>
            <a:r>
              <a:rPr lang="en-US" b="1" dirty="0"/>
              <a:t>Index Seek</a:t>
            </a:r>
            <a:r>
              <a:rPr lang="en-US" dirty="0"/>
              <a:t> je </a:t>
            </a:r>
            <a:r>
              <a:rPr lang="en-US" dirty="0" err="1"/>
              <a:t>najbrža</a:t>
            </a:r>
            <a:r>
              <a:rPr lang="en-US" dirty="0"/>
              <a:t> </a:t>
            </a:r>
            <a:r>
              <a:rPr lang="en-US" dirty="0" err="1"/>
              <a:t>strategija</a:t>
            </a:r>
            <a:r>
              <a:rPr lang="en-US" dirty="0"/>
              <a:t> — </a:t>
            </a:r>
            <a:r>
              <a:rPr lang="en-US" dirty="0" err="1"/>
              <a:t>koristi</a:t>
            </a:r>
            <a:r>
              <a:rPr lang="en-US" dirty="0"/>
              <a:t> se </a:t>
            </a:r>
            <a:r>
              <a:rPr lang="en-US" dirty="0" err="1"/>
              <a:t>kada</a:t>
            </a:r>
            <a:r>
              <a:rPr lang="en-US" dirty="0"/>
              <a:t> </a:t>
            </a:r>
            <a:r>
              <a:rPr lang="en-US" dirty="0" err="1"/>
              <a:t>upit</a:t>
            </a:r>
            <a:r>
              <a:rPr lang="en-US" dirty="0"/>
              <a:t> </a:t>
            </a:r>
            <a:r>
              <a:rPr lang="en-US" dirty="0" err="1"/>
              <a:t>traži</a:t>
            </a:r>
            <a:r>
              <a:rPr lang="en-US" dirty="0"/>
              <a:t> </a:t>
            </a:r>
            <a:r>
              <a:rPr lang="en-US" dirty="0" err="1"/>
              <a:t>konkretnu</a:t>
            </a:r>
            <a:r>
              <a:rPr lang="en-US" dirty="0"/>
              <a:t>, </a:t>
            </a:r>
            <a:r>
              <a:rPr lang="en-US" dirty="0" err="1"/>
              <a:t>unikatnu</a:t>
            </a:r>
            <a:r>
              <a:rPr lang="en-US" dirty="0"/>
              <a:t> </a:t>
            </a:r>
            <a:r>
              <a:rPr lang="en-US" dirty="0" err="1"/>
              <a:t>vrednost</a:t>
            </a:r>
            <a:r>
              <a:rPr lang="en-US" dirty="0"/>
              <a:t> </a:t>
            </a:r>
            <a:r>
              <a:rPr lang="en-US" dirty="0" err="1"/>
              <a:t>poput</a:t>
            </a:r>
            <a:r>
              <a:rPr lang="en-US" dirty="0"/>
              <a:t> </a:t>
            </a:r>
            <a:r>
              <a:rPr lang="en-US" dirty="0" err="1"/>
              <a:t>primarnog</a:t>
            </a:r>
            <a:r>
              <a:rPr lang="en-US" dirty="0"/>
              <a:t> </a:t>
            </a:r>
            <a:r>
              <a:rPr lang="en-US" dirty="0" err="1"/>
              <a:t>ključa</a:t>
            </a:r>
            <a:r>
              <a:rPr lang="en-US" dirty="0"/>
              <a:t>. Engine </a:t>
            </a:r>
            <a:r>
              <a:rPr lang="en-US" dirty="0" err="1"/>
              <a:t>vertikalno</a:t>
            </a:r>
            <a:r>
              <a:rPr lang="en-US" dirty="0"/>
              <a:t> </a:t>
            </a:r>
            <a:r>
              <a:rPr lang="en-US" dirty="0" err="1"/>
              <a:t>navigira</a:t>
            </a:r>
            <a:r>
              <a:rPr lang="en-US" dirty="0"/>
              <a:t> </a:t>
            </a:r>
            <a:r>
              <a:rPr lang="en-US" dirty="0" err="1"/>
              <a:t>kroz</a:t>
            </a:r>
            <a:r>
              <a:rPr lang="en-US" dirty="0"/>
              <a:t> B+ </a:t>
            </a:r>
            <a:r>
              <a:rPr lang="en-US" dirty="0" err="1"/>
              <a:t>stablo</a:t>
            </a:r>
            <a:r>
              <a:rPr lang="en-US" dirty="0"/>
              <a:t> od </a:t>
            </a:r>
            <a:r>
              <a:rPr lang="en-US" dirty="0" err="1"/>
              <a:t>korena</a:t>
            </a:r>
            <a:r>
              <a:rPr lang="en-US" dirty="0"/>
              <a:t> do </a:t>
            </a:r>
            <a:r>
              <a:rPr lang="en-US" dirty="0" err="1"/>
              <a:t>lista</a:t>
            </a:r>
            <a:r>
              <a:rPr lang="en-US" dirty="0"/>
              <a:t> </a:t>
            </a:r>
            <a:r>
              <a:rPr lang="en-US" dirty="0" err="1"/>
              <a:t>i</a:t>
            </a:r>
            <a:r>
              <a:rPr lang="en-US" dirty="0"/>
              <a:t> </a:t>
            </a:r>
            <a:r>
              <a:rPr lang="en-US" dirty="0" err="1"/>
              <a:t>direktno</a:t>
            </a:r>
            <a:r>
              <a:rPr lang="en-US" dirty="0"/>
              <a:t> </a:t>
            </a:r>
            <a:r>
              <a:rPr lang="en-US" dirty="0" err="1"/>
              <a:t>pristupa</a:t>
            </a:r>
            <a:r>
              <a:rPr lang="en-US" dirty="0"/>
              <a:t> </a:t>
            </a:r>
            <a:r>
              <a:rPr lang="en-US" dirty="0" err="1"/>
              <a:t>tačno</a:t>
            </a:r>
            <a:r>
              <a:rPr lang="en-US" dirty="0"/>
              <a:t> </a:t>
            </a:r>
            <a:r>
              <a:rPr lang="en-US" dirty="0" err="1"/>
              <a:t>jednom</a:t>
            </a:r>
            <a:r>
              <a:rPr lang="en-US" dirty="0"/>
              <a:t> </a:t>
            </a:r>
            <a:r>
              <a:rPr lang="en-US" dirty="0" err="1"/>
              <a:t>zapisu</a:t>
            </a:r>
            <a:r>
              <a:rPr lang="en-US" dirty="0"/>
              <a:t>, </a:t>
            </a:r>
            <a:r>
              <a:rPr lang="en-US" dirty="0" err="1"/>
              <a:t>sa</a:t>
            </a:r>
            <a:r>
              <a:rPr lang="en-US" dirty="0"/>
              <a:t> </a:t>
            </a:r>
            <a:r>
              <a:rPr lang="en-US" dirty="0" err="1"/>
              <a:t>logaritamskom</a:t>
            </a:r>
            <a:r>
              <a:rPr lang="en-US" dirty="0"/>
              <a:t> </a:t>
            </a:r>
            <a:r>
              <a:rPr lang="en-US" dirty="0" err="1"/>
              <a:t>brzinom</a:t>
            </a:r>
            <a:r>
              <a:rPr lang="en-US" dirty="0"/>
              <a:t> O(log n).</a:t>
            </a:r>
          </a:p>
          <a:p>
            <a:r>
              <a:rPr lang="en-US" b="1" dirty="0"/>
              <a:t>Index Scan</a:t>
            </a:r>
            <a:r>
              <a:rPr lang="en-US" dirty="0"/>
              <a:t> se </a:t>
            </a:r>
            <a:r>
              <a:rPr lang="en-US" dirty="0" err="1"/>
              <a:t>koristi</a:t>
            </a:r>
            <a:r>
              <a:rPr lang="en-US" dirty="0"/>
              <a:t> </a:t>
            </a:r>
            <a:r>
              <a:rPr lang="en-US" dirty="0" err="1"/>
              <a:t>kada</a:t>
            </a:r>
            <a:r>
              <a:rPr lang="en-US" dirty="0"/>
              <a:t> </a:t>
            </a:r>
            <a:r>
              <a:rPr lang="en-US" dirty="0" err="1"/>
              <a:t>upit</a:t>
            </a:r>
            <a:r>
              <a:rPr lang="en-US" dirty="0"/>
              <a:t> </a:t>
            </a:r>
            <a:r>
              <a:rPr lang="en-US" dirty="0" err="1"/>
              <a:t>traži</a:t>
            </a:r>
            <a:r>
              <a:rPr lang="en-US" dirty="0"/>
              <a:t> </a:t>
            </a:r>
            <a:r>
              <a:rPr lang="en-US" dirty="0" err="1"/>
              <a:t>opseg</a:t>
            </a:r>
            <a:r>
              <a:rPr lang="en-US" dirty="0"/>
              <a:t> </a:t>
            </a:r>
            <a:r>
              <a:rPr lang="en-US" dirty="0" err="1"/>
              <a:t>vrednosti</a:t>
            </a:r>
            <a:r>
              <a:rPr lang="en-US" dirty="0"/>
              <a:t> — engine </a:t>
            </a:r>
            <a:r>
              <a:rPr lang="en-US" dirty="0" err="1"/>
              <a:t>pronađe</a:t>
            </a:r>
            <a:r>
              <a:rPr lang="en-US" dirty="0"/>
              <a:t> </a:t>
            </a:r>
            <a:r>
              <a:rPr lang="en-US" dirty="0" err="1"/>
              <a:t>prvi</a:t>
            </a:r>
            <a:r>
              <a:rPr lang="en-US" dirty="0"/>
              <a:t> </a:t>
            </a:r>
            <a:r>
              <a:rPr lang="en-US" dirty="0" err="1"/>
              <a:t>ključ</a:t>
            </a:r>
            <a:r>
              <a:rPr lang="en-US" dirty="0"/>
              <a:t> u </a:t>
            </a:r>
            <a:r>
              <a:rPr lang="en-US" dirty="0" err="1"/>
              <a:t>opsegu</a:t>
            </a:r>
            <a:r>
              <a:rPr lang="en-US" dirty="0"/>
              <a:t>, a </a:t>
            </a:r>
            <a:r>
              <a:rPr lang="en-US" dirty="0" err="1"/>
              <a:t>zatim</a:t>
            </a:r>
            <a:r>
              <a:rPr lang="en-US" dirty="0"/>
              <a:t> </a:t>
            </a:r>
            <a:r>
              <a:rPr lang="en-US" dirty="0" err="1"/>
              <a:t>horizontalno</a:t>
            </a:r>
            <a:r>
              <a:rPr lang="en-US" dirty="0"/>
              <a:t> </a:t>
            </a:r>
            <a:r>
              <a:rPr lang="en-US" dirty="0" err="1"/>
              <a:t>čita</a:t>
            </a:r>
            <a:r>
              <a:rPr lang="en-US" dirty="0"/>
              <a:t> </a:t>
            </a:r>
            <a:r>
              <a:rPr lang="en-US" dirty="0" err="1"/>
              <a:t>susedne</a:t>
            </a:r>
            <a:r>
              <a:rPr lang="en-US" dirty="0"/>
              <a:t> </a:t>
            </a:r>
            <a:r>
              <a:rPr lang="en-US" dirty="0" err="1"/>
              <a:t>listove</a:t>
            </a:r>
            <a:r>
              <a:rPr lang="en-US" dirty="0"/>
              <a:t> B+ </a:t>
            </a:r>
            <a:r>
              <a:rPr lang="en-US" dirty="0" err="1"/>
              <a:t>stabla</a:t>
            </a:r>
            <a:r>
              <a:rPr lang="en-US" dirty="0"/>
              <a:t> </a:t>
            </a:r>
            <a:r>
              <a:rPr lang="en-US" dirty="0" err="1"/>
              <a:t>dok</a:t>
            </a:r>
            <a:r>
              <a:rPr lang="en-US" dirty="0"/>
              <a:t> ne </a:t>
            </a:r>
            <a:r>
              <a:rPr lang="en-US" dirty="0" err="1"/>
              <a:t>dođe</a:t>
            </a:r>
            <a:r>
              <a:rPr lang="en-US" dirty="0"/>
              <a:t> do </a:t>
            </a:r>
            <a:r>
              <a:rPr lang="en-US" dirty="0" err="1"/>
              <a:t>kraja</a:t>
            </a:r>
            <a:r>
              <a:rPr lang="en-US" dirty="0"/>
              <a:t> </a:t>
            </a:r>
            <a:r>
              <a:rPr lang="en-US" dirty="0" err="1"/>
              <a:t>opsega</a:t>
            </a:r>
            <a:r>
              <a:rPr lang="en-US" dirty="0"/>
              <a:t>, bez </a:t>
            </a:r>
            <a:r>
              <a:rPr lang="en-US" dirty="0" err="1"/>
              <a:t>ponovnog</a:t>
            </a:r>
            <a:r>
              <a:rPr lang="en-US" dirty="0"/>
              <a:t> </a:t>
            </a:r>
            <a:r>
              <a:rPr lang="en-US" dirty="0" err="1"/>
              <a:t>obilaska</a:t>
            </a:r>
            <a:r>
              <a:rPr lang="en-US" dirty="0"/>
              <a:t> od </a:t>
            </a:r>
            <a:r>
              <a:rPr lang="en-US" dirty="0" err="1"/>
              <a:t>korena</a:t>
            </a:r>
            <a:r>
              <a:rPr lang="en-US" dirty="0"/>
              <a:t>.</a:t>
            </a:r>
          </a:p>
          <a:p>
            <a:r>
              <a:rPr lang="en-US" b="1" dirty="0"/>
              <a:t>NATURAL</a:t>
            </a:r>
            <a:r>
              <a:rPr lang="en-US" dirty="0"/>
              <a:t> </a:t>
            </a:r>
            <a:r>
              <a:rPr lang="en-US" dirty="0" err="1"/>
              <a:t>znači</a:t>
            </a:r>
            <a:r>
              <a:rPr lang="en-US" dirty="0"/>
              <a:t> da optimizer </a:t>
            </a:r>
            <a:r>
              <a:rPr lang="en-US" dirty="0" err="1"/>
              <a:t>nije</a:t>
            </a:r>
            <a:r>
              <a:rPr lang="en-US" dirty="0"/>
              <a:t> </a:t>
            </a:r>
            <a:r>
              <a:rPr lang="en-US" dirty="0" err="1"/>
              <a:t>pronašao</a:t>
            </a:r>
            <a:r>
              <a:rPr lang="en-US" dirty="0"/>
              <a:t> </a:t>
            </a:r>
            <a:r>
              <a:rPr lang="en-US" dirty="0" err="1"/>
              <a:t>adekvatan</a:t>
            </a:r>
            <a:r>
              <a:rPr lang="en-US" dirty="0"/>
              <a:t> </a:t>
            </a:r>
            <a:r>
              <a:rPr lang="en-US" dirty="0" err="1"/>
              <a:t>indeks</a:t>
            </a:r>
            <a:r>
              <a:rPr lang="en-US" dirty="0"/>
              <a:t> </a:t>
            </a:r>
            <a:r>
              <a:rPr lang="en-US" dirty="0" err="1"/>
              <a:t>ili</a:t>
            </a:r>
            <a:r>
              <a:rPr lang="en-US" dirty="0"/>
              <a:t> je </a:t>
            </a:r>
            <a:r>
              <a:rPr lang="en-US" dirty="0" err="1"/>
              <a:t>selektivnost</a:t>
            </a:r>
            <a:r>
              <a:rPr lang="en-US" dirty="0"/>
              <a:t> </a:t>
            </a:r>
            <a:r>
              <a:rPr lang="en-US" dirty="0" err="1"/>
              <a:t>toliko</a:t>
            </a:r>
            <a:r>
              <a:rPr lang="en-US" dirty="0"/>
              <a:t> </a:t>
            </a:r>
            <a:r>
              <a:rPr lang="en-US" dirty="0" err="1"/>
              <a:t>loša</a:t>
            </a:r>
            <a:r>
              <a:rPr lang="en-US" dirty="0"/>
              <a:t> da je </a:t>
            </a:r>
            <a:r>
              <a:rPr lang="en-US" dirty="0" err="1"/>
              <a:t>procenio</a:t>
            </a:r>
            <a:r>
              <a:rPr lang="en-US" dirty="0"/>
              <a:t> </a:t>
            </a:r>
            <a:r>
              <a:rPr lang="en-US" dirty="0" err="1"/>
              <a:t>kako</a:t>
            </a:r>
            <a:r>
              <a:rPr lang="en-US" dirty="0"/>
              <a:t> je </a:t>
            </a:r>
            <a:r>
              <a:rPr lang="en-US" dirty="0" err="1"/>
              <a:t>brže</a:t>
            </a:r>
            <a:r>
              <a:rPr lang="en-US" dirty="0"/>
              <a:t> </a:t>
            </a:r>
            <a:r>
              <a:rPr lang="en-US" dirty="0" err="1"/>
              <a:t>čitati</a:t>
            </a:r>
            <a:r>
              <a:rPr lang="en-US" dirty="0"/>
              <a:t> </a:t>
            </a:r>
            <a:r>
              <a:rPr lang="en-US" dirty="0" err="1"/>
              <a:t>celu</a:t>
            </a:r>
            <a:r>
              <a:rPr lang="en-US" dirty="0"/>
              <a:t> </a:t>
            </a:r>
            <a:r>
              <a:rPr lang="en-US" dirty="0" err="1"/>
              <a:t>tabelu</a:t>
            </a:r>
            <a:r>
              <a:rPr lang="en-US" dirty="0"/>
              <a:t> — engine </a:t>
            </a:r>
            <a:r>
              <a:rPr lang="en-US" dirty="0" err="1"/>
              <a:t>učitava</a:t>
            </a:r>
            <a:r>
              <a:rPr lang="en-US" dirty="0"/>
              <a:t> </a:t>
            </a:r>
            <a:r>
              <a:rPr lang="en-US" dirty="0" err="1"/>
              <a:t>svaku</a:t>
            </a:r>
            <a:r>
              <a:rPr lang="en-US" dirty="0"/>
              <a:t> </a:t>
            </a:r>
            <a:r>
              <a:rPr lang="en-US" dirty="0" err="1"/>
              <a:t>stranicu</a:t>
            </a:r>
            <a:r>
              <a:rPr lang="en-US" dirty="0"/>
              <a:t> </a:t>
            </a:r>
            <a:r>
              <a:rPr lang="en-US" dirty="0" err="1"/>
              <a:t>tabele</a:t>
            </a:r>
            <a:r>
              <a:rPr lang="en-US" dirty="0"/>
              <a:t> </a:t>
            </a:r>
            <a:r>
              <a:rPr lang="en-US" dirty="0" err="1"/>
              <a:t>redom</a:t>
            </a:r>
            <a:r>
              <a:rPr lang="en-US" dirty="0"/>
              <a:t> </a:t>
            </a:r>
            <a:r>
              <a:rPr lang="en-US" dirty="0" err="1"/>
              <a:t>i</a:t>
            </a:r>
            <a:r>
              <a:rPr lang="en-US" dirty="0"/>
              <a:t> </a:t>
            </a:r>
            <a:r>
              <a:rPr lang="en-US" dirty="0" err="1"/>
              <a:t>proverava</a:t>
            </a:r>
            <a:r>
              <a:rPr lang="en-US" dirty="0"/>
              <a:t> </a:t>
            </a:r>
            <a:r>
              <a:rPr lang="en-US" dirty="0" err="1"/>
              <a:t>svaki</a:t>
            </a:r>
            <a:r>
              <a:rPr lang="en-US" dirty="0"/>
              <a:t> red, </a:t>
            </a:r>
            <a:r>
              <a:rPr lang="en-US" dirty="0" err="1"/>
              <a:t>što</a:t>
            </a:r>
            <a:r>
              <a:rPr lang="en-US" dirty="0"/>
              <a:t> je </a:t>
            </a:r>
            <a:r>
              <a:rPr lang="en-US" dirty="0" err="1"/>
              <a:t>linearna</a:t>
            </a:r>
            <a:r>
              <a:rPr lang="en-US" dirty="0"/>
              <a:t> </a:t>
            </a:r>
            <a:r>
              <a:rPr lang="en-US" dirty="0" err="1"/>
              <a:t>složenost</a:t>
            </a:r>
            <a:r>
              <a:rPr lang="en-US" dirty="0"/>
              <a:t> O(n).</a:t>
            </a:r>
          </a:p>
          <a:p>
            <a:r>
              <a:rPr lang="en-US" dirty="0"/>
              <a:t>Na </a:t>
            </a:r>
            <a:r>
              <a:rPr lang="en-US" dirty="0" err="1"/>
              <a:t>malim</a:t>
            </a:r>
            <a:r>
              <a:rPr lang="en-US" dirty="0"/>
              <a:t> </a:t>
            </a:r>
            <a:r>
              <a:rPr lang="en-US" dirty="0" err="1"/>
              <a:t>tabelama</a:t>
            </a:r>
            <a:r>
              <a:rPr lang="en-US" dirty="0"/>
              <a:t> NATURAL </a:t>
            </a:r>
            <a:r>
              <a:rPr lang="en-US" dirty="0" err="1"/>
              <a:t>nije</a:t>
            </a:r>
            <a:r>
              <a:rPr lang="en-US" dirty="0"/>
              <a:t> problem, </a:t>
            </a:r>
            <a:r>
              <a:rPr lang="en-US" dirty="0" err="1"/>
              <a:t>ali</a:t>
            </a:r>
            <a:r>
              <a:rPr lang="en-US" dirty="0"/>
              <a:t> </a:t>
            </a:r>
            <a:r>
              <a:rPr lang="en-US" dirty="0" err="1"/>
              <a:t>na</a:t>
            </a:r>
            <a:r>
              <a:rPr lang="en-US" dirty="0"/>
              <a:t> </a:t>
            </a:r>
            <a:r>
              <a:rPr lang="en-US" dirty="0" err="1"/>
              <a:t>tabelama</a:t>
            </a:r>
            <a:r>
              <a:rPr lang="en-US" dirty="0"/>
              <a:t> </a:t>
            </a:r>
            <a:r>
              <a:rPr lang="en-US" dirty="0" err="1"/>
              <a:t>sa</a:t>
            </a:r>
            <a:r>
              <a:rPr lang="en-US" dirty="0"/>
              <a:t> </a:t>
            </a:r>
            <a:r>
              <a:rPr lang="en-US" dirty="0" err="1"/>
              <a:t>milionima</a:t>
            </a:r>
            <a:r>
              <a:rPr lang="en-US" dirty="0"/>
              <a:t> </a:t>
            </a:r>
            <a:r>
              <a:rPr lang="en-US" dirty="0" err="1"/>
              <a:t>redova</a:t>
            </a:r>
            <a:r>
              <a:rPr lang="en-US" dirty="0"/>
              <a:t> </a:t>
            </a:r>
            <a:r>
              <a:rPr lang="en-US" dirty="0" err="1"/>
              <a:t>predstavlja</a:t>
            </a:r>
            <a:r>
              <a:rPr lang="en-US" dirty="0"/>
              <a:t> </a:t>
            </a:r>
            <a:r>
              <a:rPr lang="en-US" dirty="0" err="1"/>
              <a:t>glavni</a:t>
            </a:r>
            <a:r>
              <a:rPr lang="en-US" dirty="0"/>
              <a:t> </a:t>
            </a:r>
            <a:r>
              <a:rPr lang="en-US" dirty="0" err="1"/>
              <a:t>uzrok</a:t>
            </a:r>
            <a:r>
              <a:rPr lang="en-US" dirty="0"/>
              <a:t> </a:t>
            </a:r>
            <a:r>
              <a:rPr lang="en-US" dirty="0" err="1"/>
              <a:t>zagušenja</a:t>
            </a:r>
            <a:r>
              <a:rPr lang="en-US" dirty="0"/>
              <a:t> </a:t>
            </a:r>
            <a:r>
              <a:rPr lang="en-US" dirty="0" err="1"/>
              <a:t>sistema</a:t>
            </a:r>
            <a:r>
              <a:rPr lang="en-US" dirty="0"/>
              <a:t> — </a:t>
            </a:r>
            <a:r>
              <a:rPr lang="en-US" dirty="0" err="1"/>
              <a:t>svaki</a:t>
            </a:r>
            <a:r>
              <a:rPr lang="en-US" dirty="0"/>
              <a:t> red se </a:t>
            </a:r>
            <a:r>
              <a:rPr lang="en-US" dirty="0" err="1"/>
              <a:t>proverava</a:t>
            </a:r>
            <a:r>
              <a:rPr lang="en-US" dirty="0"/>
              <a:t> bez </a:t>
            </a:r>
            <a:r>
              <a:rPr lang="en-US" dirty="0" err="1"/>
              <a:t>obzira</a:t>
            </a:r>
            <a:r>
              <a:rPr lang="en-US" dirty="0"/>
              <a:t> </a:t>
            </a:r>
            <a:r>
              <a:rPr lang="en-US" dirty="0" err="1"/>
              <a:t>na</a:t>
            </a:r>
            <a:r>
              <a:rPr lang="en-US" dirty="0"/>
              <a:t> to da li </a:t>
            </a:r>
            <a:r>
              <a:rPr lang="en-US" dirty="0" err="1"/>
              <a:t>zadovoljava</a:t>
            </a:r>
            <a:r>
              <a:rPr lang="en-US" dirty="0"/>
              <a:t> </a:t>
            </a:r>
            <a:r>
              <a:rPr lang="en-US" dirty="0" err="1"/>
              <a:t>uslov</a:t>
            </a:r>
            <a:r>
              <a:rPr lang="en-US" dirty="0"/>
              <a:t> </a:t>
            </a:r>
            <a:r>
              <a:rPr lang="en-US" dirty="0" err="1"/>
              <a:t>upita</a:t>
            </a:r>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Firebird </a:t>
            </a:r>
            <a:r>
              <a:rPr lang="en-US" dirty="0" err="1"/>
              <a:t>indeksi</a:t>
            </a:r>
            <a:r>
              <a:rPr lang="en-US" dirty="0"/>
              <a:t> </a:t>
            </a:r>
            <a:r>
              <a:rPr lang="en-US" dirty="0" err="1"/>
              <a:t>su</a:t>
            </a:r>
            <a:r>
              <a:rPr lang="en-US" dirty="0"/>
              <a:t> </a:t>
            </a:r>
            <a:r>
              <a:rPr lang="en-US" dirty="0" err="1"/>
              <a:t>implementirani</a:t>
            </a:r>
            <a:r>
              <a:rPr lang="en-US" dirty="0"/>
              <a:t> </a:t>
            </a:r>
            <a:r>
              <a:rPr lang="en-US" dirty="0" err="1"/>
              <a:t>kao</a:t>
            </a:r>
            <a:r>
              <a:rPr lang="en-US" dirty="0"/>
              <a:t> B+ </a:t>
            </a:r>
            <a:r>
              <a:rPr lang="en-US" dirty="0" err="1"/>
              <a:t>stabla</a:t>
            </a:r>
            <a:r>
              <a:rPr lang="en-US" dirty="0"/>
              <a:t> </a:t>
            </a:r>
            <a:r>
              <a:rPr lang="en-US" dirty="0" err="1"/>
              <a:t>čija</a:t>
            </a:r>
            <a:r>
              <a:rPr lang="en-US" dirty="0"/>
              <a:t> </a:t>
            </a:r>
            <a:r>
              <a:rPr lang="en-US" dirty="0" err="1"/>
              <a:t>dubina</a:t>
            </a:r>
            <a:r>
              <a:rPr lang="en-US" dirty="0"/>
              <a:t> </a:t>
            </a:r>
            <a:r>
              <a:rPr lang="en-US" dirty="0" err="1"/>
              <a:t>direktno</a:t>
            </a:r>
            <a:r>
              <a:rPr lang="en-US" dirty="0"/>
              <a:t> </a:t>
            </a:r>
            <a:r>
              <a:rPr lang="en-US" dirty="0" err="1"/>
              <a:t>određuje</a:t>
            </a:r>
            <a:r>
              <a:rPr lang="en-US" dirty="0"/>
              <a:t> </a:t>
            </a:r>
            <a:r>
              <a:rPr lang="en-US" dirty="0" err="1"/>
              <a:t>broj</a:t>
            </a:r>
            <a:r>
              <a:rPr lang="en-US" dirty="0"/>
              <a:t> I/O </a:t>
            </a:r>
            <a:r>
              <a:rPr lang="en-US" dirty="0" err="1"/>
              <a:t>operacija</a:t>
            </a:r>
            <a:r>
              <a:rPr lang="en-US" dirty="0"/>
              <a:t> — </a:t>
            </a:r>
            <a:r>
              <a:rPr lang="en-US" dirty="0" err="1"/>
              <a:t>što</a:t>
            </a:r>
            <a:r>
              <a:rPr lang="en-US" dirty="0"/>
              <a:t> je </a:t>
            </a:r>
            <a:r>
              <a:rPr lang="en-US" dirty="0" err="1"/>
              <a:t>stablo</a:t>
            </a:r>
            <a:r>
              <a:rPr lang="en-US" dirty="0"/>
              <a:t> </a:t>
            </a:r>
            <a:r>
              <a:rPr lang="en-US" dirty="0" err="1"/>
              <a:t>pliće</a:t>
            </a:r>
            <a:r>
              <a:rPr lang="en-US" dirty="0"/>
              <a:t>, to je </a:t>
            </a:r>
            <a:r>
              <a:rPr lang="en-US" dirty="0" err="1"/>
              <a:t>pretraga</a:t>
            </a:r>
            <a:r>
              <a:rPr lang="en-US" dirty="0"/>
              <a:t> </a:t>
            </a:r>
            <a:r>
              <a:rPr lang="en-US" dirty="0" err="1"/>
              <a:t>brža</a:t>
            </a:r>
            <a:r>
              <a:rPr lang="en-US" dirty="0"/>
              <a:t>, bez </a:t>
            </a:r>
            <a:r>
              <a:rPr lang="en-US" dirty="0" err="1"/>
              <a:t>obzira</a:t>
            </a:r>
            <a:r>
              <a:rPr lang="en-US" dirty="0"/>
              <a:t> </a:t>
            </a:r>
            <a:r>
              <a:rPr lang="en-US" dirty="0" err="1"/>
              <a:t>na</a:t>
            </a:r>
            <a:r>
              <a:rPr lang="en-US" dirty="0"/>
              <a:t> </a:t>
            </a:r>
            <a:r>
              <a:rPr lang="en-US" dirty="0" err="1"/>
              <a:t>veličinu</a:t>
            </a:r>
            <a:r>
              <a:rPr lang="en-US" dirty="0"/>
              <a:t> </a:t>
            </a:r>
            <a:r>
              <a:rPr lang="en-US" dirty="0" err="1"/>
              <a:t>tabele</a:t>
            </a:r>
            <a:r>
              <a:rPr lang="en-US" dirty="0"/>
              <a:t>.</a:t>
            </a:r>
          </a:p>
          <a:p>
            <a:r>
              <a:rPr lang="en-US" dirty="0"/>
              <a:t>MGA </a:t>
            </a:r>
            <a:r>
              <a:rPr lang="en-US" dirty="0" err="1"/>
              <a:t>arhitektura</a:t>
            </a:r>
            <a:r>
              <a:rPr lang="en-US" dirty="0"/>
              <a:t>, </a:t>
            </a:r>
            <a:r>
              <a:rPr lang="en-US" dirty="0" err="1"/>
              <a:t>iako</a:t>
            </a:r>
            <a:r>
              <a:rPr lang="en-US" dirty="0"/>
              <a:t> </a:t>
            </a:r>
            <a:r>
              <a:rPr lang="en-US" dirty="0" err="1"/>
              <a:t>omogućava</a:t>
            </a:r>
            <a:r>
              <a:rPr lang="en-US" dirty="0"/>
              <a:t> </a:t>
            </a:r>
            <a:r>
              <a:rPr lang="en-US" dirty="0" err="1"/>
              <a:t>istovremeni</a:t>
            </a:r>
            <a:r>
              <a:rPr lang="en-US" dirty="0"/>
              <a:t> rad </a:t>
            </a:r>
            <a:r>
              <a:rPr lang="en-US" dirty="0" err="1"/>
              <a:t>više</a:t>
            </a:r>
            <a:r>
              <a:rPr lang="en-US" dirty="0"/>
              <a:t> </a:t>
            </a:r>
            <a:r>
              <a:rPr lang="en-US" dirty="0" err="1"/>
              <a:t>korisnika</a:t>
            </a:r>
            <a:r>
              <a:rPr lang="en-US" dirty="0"/>
              <a:t> bez </a:t>
            </a:r>
            <a:r>
              <a:rPr lang="en-US" dirty="0" err="1"/>
              <a:t>zaključavanja</a:t>
            </a:r>
            <a:r>
              <a:rPr lang="en-US" dirty="0"/>
              <a:t>, </a:t>
            </a:r>
            <a:r>
              <a:rPr lang="en-US" dirty="0" err="1"/>
              <a:t>ima</a:t>
            </a:r>
            <a:r>
              <a:rPr lang="en-US" dirty="0"/>
              <a:t> </a:t>
            </a:r>
            <a:r>
              <a:rPr lang="en-US" dirty="0" err="1"/>
              <a:t>svoju</a:t>
            </a:r>
            <a:r>
              <a:rPr lang="en-US" dirty="0"/>
              <a:t> </a:t>
            </a:r>
            <a:r>
              <a:rPr lang="en-US" dirty="0" err="1"/>
              <a:t>cenu</a:t>
            </a:r>
            <a:r>
              <a:rPr lang="en-US" dirty="0"/>
              <a:t> — </a:t>
            </a:r>
            <a:r>
              <a:rPr lang="en-US" dirty="0" err="1"/>
              <a:t>svaki</a:t>
            </a:r>
            <a:r>
              <a:rPr lang="en-US" dirty="0"/>
              <a:t> UPDATE </a:t>
            </a:r>
            <a:r>
              <a:rPr lang="en-US" dirty="0" err="1"/>
              <a:t>kreira</a:t>
            </a:r>
            <a:r>
              <a:rPr lang="en-US" dirty="0"/>
              <a:t> </a:t>
            </a:r>
            <a:r>
              <a:rPr lang="en-US" dirty="0" err="1"/>
              <a:t>novu</a:t>
            </a:r>
            <a:r>
              <a:rPr lang="en-US" dirty="0"/>
              <a:t> </a:t>
            </a:r>
            <a:r>
              <a:rPr lang="en-US" dirty="0" err="1"/>
              <a:t>verziju</a:t>
            </a:r>
            <a:r>
              <a:rPr lang="en-US" dirty="0"/>
              <a:t> </a:t>
            </a:r>
            <a:r>
              <a:rPr lang="en-US" dirty="0" err="1"/>
              <a:t>zapisa</a:t>
            </a:r>
            <a:r>
              <a:rPr lang="en-US" dirty="0"/>
              <a:t>, </a:t>
            </a:r>
            <a:r>
              <a:rPr lang="en-US" dirty="0" err="1"/>
              <a:t>što</a:t>
            </a:r>
            <a:r>
              <a:rPr lang="en-US" dirty="0"/>
              <a:t> </a:t>
            </a:r>
            <a:r>
              <a:rPr lang="en-US" dirty="0" err="1"/>
              <a:t>tokom</a:t>
            </a:r>
            <a:r>
              <a:rPr lang="en-US" dirty="0"/>
              <a:t> </a:t>
            </a:r>
            <a:r>
              <a:rPr lang="en-US" dirty="0" err="1"/>
              <a:t>vremena</a:t>
            </a:r>
            <a:r>
              <a:rPr lang="en-US" dirty="0"/>
              <a:t> </a:t>
            </a:r>
            <a:r>
              <a:rPr lang="en-US" dirty="0" err="1"/>
              <a:t>dovodi</a:t>
            </a:r>
            <a:r>
              <a:rPr lang="en-US" dirty="0"/>
              <a:t> do Index Bloat-a </a:t>
            </a:r>
            <a:r>
              <a:rPr lang="en-US" dirty="0" err="1"/>
              <a:t>i</a:t>
            </a:r>
            <a:r>
              <a:rPr lang="en-US" dirty="0"/>
              <a:t> </a:t>
            </a:r>
            <a:r>
              <a:rPr lang="en-US" dirty="0" err="1"/>
              <a:t>degradacije</a:t>
            </a:r>
            <a:r>
              <a:rPr lang="en-US" dirty="0"/>
              <a:t> </a:t>
            </a:r>
            <a:r>
              <a:rPr lang="en-US" dirty="0" err="1"/>
              <a:t>performansi</a:t>
            </a:r>
            <a:r>
              <a:rPr lang="en-US" dirty="0"/>
              <a:t>.</a:t>
            </a:r>
          </a:p>
          <a:p>
            <a:r>
              <a:rPr lang="en-US" dirty="0"/>
              <a:t>Garbage Collector </a:t>
            </a:r>
            <a:r>
              <a:rPr lang="en-US" dirty="0" err="1"/>
              <a:t>čisti</a:t>
            </a:r>
            <a:r>
              <a:rPr lang="en-US" dirty="0"/>
              <a:t> </a:t>
            </a:r>
            <a:r>
              <a:rPr lang="en-US" dirty="0" err="1"/>
              <a:t>zastarele</a:t>
            </a:r>
            <a:r>
              <a:rPr lang="en-US" dirty="0"/>
              <a:t> </a:t>
            </a:r>
            <a:r>
              <a:rPr lang="en-US" dirty="0" err="1"/>
              <a:t>verzije</a:t>
            </a:r>
            <a:r>
              <a:rPr lang="en-US" dirty="0"/>
              <a:t>, </a:t>
            </a:r>
            <a:r>
              <a:rPr lang="en-US" dirty="0" err="1"/>
              <a:t>ali</a:t>
            </a:r>
            <a:r>
              <a:rPr lang="en-US" dirty="0"/>
              <a:t> ga </a:t>
            </a:r>
            <a:r>
              <a:rPr lang="en-US" dirty="0" err="1"/>
              <a:t>blokira</a:t>
            </a:r>
            <a:r>
              <a:rPr lang="en-US" dirty="0"/>
              <a:t> OAT (Oldest Active Transaction) — </a:t>
            </a:r>
            <a:r>
              <a:rPr lang="en-US" dirty="0" err="1"/>
              <a:t>dugačke</a:t>
            </a:r>
            <a:r>
              <a:rPr lang="en-US" dirty="0"/>
              <a:t> </a:t>
            </a:r>
            <a:r>
              <a:rPr lang="en-US" dirty="0" err="1"/>
              <a:t>otvorene</a:t>
            </a:r>
            <a:r>
              <a:rPr lang="en-US" dirty="0"/>
              <a:t> </a:t>
            </a:r>
            <a:r>
              <a:rPr lang="en-US" dirty="0" err="1"/>
              <a:t>transakcije</a:t>
            </a:r>
            <a:r>
              <a:rPr lang="en-US" dirty="0"/>
              <a:t> </a:t>
            </a:r>
            <a:r>
              <a:rPr lang="en-US" dirty="0" err="1"/>
              <a:t>su</a:t>
            </a:r>
            <a:r>
              <a:rPr lang="en-US" dirty="0"/>
              <a:t> </a:t>
            </a:r>
            <a:r>
              <a:rPr lang="en-US" dirty="0" err="1"/>
              <a:t>najveći</a:t>
            </a:r>
            <a:r>
              <a:rPr lang="en-US" dirty="0"/>
              <a:t> </a:t>
            </a:r>
            <a:r>
              <a:rPr lang="en-US" dirty="0" err="1"/>
              <a:t>neprijatelj</a:t>
            </a:r>
            <a:r>
              <a:rPr lang="en-US" dirty="0"/>
              <a:t> </a:t>
            </a:r>
            <a:r>
              <a:rPr lang="en-US" dirty="0" err="1"/>
              <a:t>performansi</a:t>
            </a:r>
            <a:r>
              <a:rPr lang="en-US" dirty="0"/>
              <a:t> </a:t>
            </a:r>
            <a:r>
              <a:rPr lang="en-US" dirty="0" err="1"/>
              <a:t>jer</a:t>
            </a:r>
            <a:r>
              <a:rPr lang="en-US" dirty="0"/>
              <a:t> </a:t>
            </a:r>
            <a:r>
              <a:rPr lang="en-US" dirty="0" err="1"/>
              <a:t>sprečavaju</a:t>
            </a:r>
            <a:r>
              <a:rPr lang="en-US" dirty="0"/>
              <a:t> </a:t>
            </a:r>
            <a:r>
              <a:rPr lang="en-US" dirty="0" err="1"/>
              <a:t>čišćenje</a:t>
            </a:r>
            <a:r>
              <a:rPr lang="en-US" dirty="0"/>
              <a:t> </a:t>
            </a:r>
            <a:r>
              <a:rPr lang="en-US" dirty="0" err="1"/>
              <a:t>i</a:t>
            </a:r>
            <a:r>
              <a:rPr lang="en-US" dirty="0"/>
              <a:t> </a:t>
            </a:r>
            <a:r>
              <a:rPr lang="en-US" dirty="0" err="1"/>
              <a:t>dozvoljavaju</a:t>
            </a:r>
            <a:r>
              <a:rPr lang="en-US" dirty="0"/>
              <a:t> </a:t>
            </a:r>
            <a:r>
              <a:rPr lang="en-US" dirty="0" err="1"/>
              <a:t>nekontrolisano</a:t>
            </a:r>
            <a:r>
              <a:rPr lang="en-US" dirty="0"/>
              <a:t> </a:t>
            </a:r>
            <a:r>
              <a:rPr lang="en-US" dirty="0" err="1"/>
              <a:t>rast</a:t>
            </a:r>
            <a:r>
              <a:rPr lang="en-US" dirty="0"/>
              <a:t> </a:t>
            </a:r>
            <a:r>
              <a:rPr lang="en-US" dirty="0" err="1"/>
              <a:t>lanca</a:t>
            </a:r>
            <a:r>
              <a:rPr lang="en-US" dirty="0"/>
              <a:t> </a:t>
            </a:r>
            <a:r>
              <a:rPr lang="en-US" dirty="0" err="1"/>
              <a:t>verzija</a:t>
            </a:r>
            <a:r>
              <a:rPr lang="en-US" dirty="0"/>
              <a:t>.</a:t>
            </a:r>
          </a:p>
          <a:p>
            <a:r>
              <a:rPr lang="en-US" dirty="0" err="1"/>
              <a:t>Selektivnost</a:t>
            </a:r>
            <a:r>
              <a:rPr lang="en-US" dirty="0"/>
              <a:t> je </a:t>
            </a:r>
            <a:r>
              <a:rPr lang="en-US" dirty="0" err="1"/>
              <a:t>parametar</a:t>
            </a:r>
            <a:r>
              <a:rPr lang="en-US" dirty="0"/>
              <a:t> koji optimizer </a:t>
            </a:r>
            <a:r>
              <a:rPr lang="en-US" dirty="0" err="1"/>
              <a:t>koristi</a:t>
            </a:r>
            <a:r>
              <a:rPr lang="en-US" dirty="0"/>
              <a:t> za </a:t>
            </a:r>
            <a:r>
              <a:rPr lang="en-US" dirty="0" err="1"/>
              <a:t>donošenje</a:t>
            </a:r>
            <a:r>
              <a:rPr lang="en-US" dirty="0"/>
              <a:t> </a:t>
            </a:r>
            <a:r>
              <a:rPr lang="en-US" dirty="0" err="1"/>
              <a:t>odluka</a:t>
            </a:r>
            <a:r>
              <a:rPr lang="en-US" dirty="0"/>
              <a:t>, </a:t>
            </a:r>
            <a:r>
              <a:rPr lang="en-US" dirty="0" err="1"/>
              <a:t>ali</a:t>
            </a:r>
            <a:r>
              <a:rPr lang="en-US" dirty="0"/>
              <a:t> </a:t>
            </a:r>
            <a:r>
              <a:rPr lang="en-US" dirty="0" err="1"/>
              <a:t>kako</a:t>
            </a:r>
            <a:r>
              <a:rPr lang="en-US" dirty="0"/>
              <a:t> se ne </a:t>
            </a:r>
            <a:r>
              <a:rPr lang="en-US" dirty="0" err="1"/>
              <a:t>ažurira</a:t>
            </a:r>
            <a:r>
              <a:rPr lang="en-US" dirty="0"/>
              <a:t> </a:t>
            </a:r>
            <a:r>
              <a:rPr lang="en-US" dirty="0" err="1"/>
              <a:t>automatski</a:t>
            </a:r>
            <a:r>
              <a:rPr lang="en-US" dirty="0"/>
              <a:t>, </a:t>
            </a:r>
            <a:r>
              <a:rPr lang="en-US" dirty="0" err="1"/>
              <a:t>zastarela</a:t>
            </a:r>
            <a:r>
              <a:rPr lang="en-US" dirty="0"/>
              <a:t> </a:t>
            </a:r>
            <a:r>
              <a:rPr lang="en-US" dirty="0" err="1"/>
              <a:t>statistika</a:t>
            </a:r>
            <a:r>
              <a:rPr lang="en-US" dirty="0"/>
              <a:t> </a:t>
            </a:r>
            <a:r>
              <a:rPr lang="en-US" dirty="0" err="1"/>
              <a:t>vodi</a:t>
            </a:r>
            <a:r>
              <a:rPr lang="en-US" dirty="0"/>
              <a:t> do </a:t>
            </a:r>
            <a:r>
              <a:rPr lang="en-US" dirty="0" err="1"/>
              <a:t>pogrešnih</a:t>
            </a:r>
            <a:r>
              <a:rPr lang="en-US" dirty="0"/>
              <a:t> </a:t>
            </a:r>
            <a:r>
              <a:rPr lang="en-US" dirty="0" err="1"/>
              <a:t>planova</a:t>
            </a:r>
            <a:r>
              <a:rPr lang="en-US" dirty="0"/>
              <a:t> </a:t>
            </a:r>
            <a:r>
              <a:rPr lang="en-US" dirty="0" err="1"/>
              <a:t>izvršavanja</a:t>
            </a:r>
            <a:r>
              <a:rPr lang="en-US" dirty="0"/>
              <a:t> — </a:t>
            </a:r>
            <a:r>
              <a:rPr lang="en-US" dirty="0" err="1"/>
              <a:t>redovno</a:t>
            </a:r>
            <a:r>
              <a:rPr lang="en-US" dirty="0"/>
              <a:t> </a:t>
            </a:r>
            <a:r>
              <a:rPr lang="en-US" dirty="0" err="1"/>
              <a:t>pokretanje</a:t>
            </a:r>
            <a:r>
              <a:rPr lang="en-US" dirty="0"/>
              <a:t> SET STATISTICS INDEX je </a:t>
            </a:r>
            <a:r>
              <a:rPr lang="en-US" dirty="0" err="1"/>
              <a:t>obaveza</a:t>
            </a:r>
            <a:r>
              <a:rPr lang="en-US" dirty="0"/>
              <a:t> </a:t>
            </a:r>
            <a:r>
              <a:rPr lang="en-US" dirty="0" err="1"/>
              <a:t>svakog</a:t>
            </a:r>
            <a:r>
              <a:rPr lang="en-US" dirty="0"/>
              <a:t> </a:t>
            </a:r>
            <a:r>
              <a:rPr lang="en-US" dirty="0" err="1"/>
              <a:t>administratora</a:t>
            </a:r>
            <a:r>
              <a:rPr lang="en-US" dirty="0"/>
              <a:t>.</a:t>
            </a:r>
          </a:p>
          <a:p>
            <a:r>
              <a:rPr lang="en-US" dirty="0"/>
              <a:t>Expression </a:t>
            </a:r>
            <a:r>
              <a:rPr lang="en-US" dirty="0" err="1"/>
              <a:t>indeksi</a:t>
            </a:r>
            <a:r>
              <a:rPr lang="en-US" dirty="0"/>
              <a:t> </a:t>
            </a:r>
            <a:r>
              <a:rPr lang="en-US" dirty="0" err="1"/>
              <a:t>su</a:t>
            </a:r>
            <a:r>
              <a:rPr lang="en-US" dirty="0"/>
              <a:t> </a:t>
            </a:r>
            <a:r>
              <a:rPr lang="en-US" dirty="0" err="1"/>
              <a:t>moćan</a:t>
            </a:r>
            <a:r>
              <a:rPr lang="en-US" dirty="0"/>
              <a:t> </a:t>
            </a:r>
            <a:r>
              <a:rPr lang="en-US" dirty="0" err="1"/>
              <a:t>alat</a:t>
            </a:r>
            <a:r>
              <a:rPr lang="en-US" dirty="0"/>
              <a:t> </a:t>
            </a:r>
            <a:r>
              <a:rPr lang="en-US" dirty="0" err="1"/>
              <a:t>jer</a:t>
            </a:r>
            <a:r>
              <a:rPr lang="en-US" dirty="0"/>
              <a:t> se </a:t>
            </a:r>
            <a:r>
              <a:rPr lang="en-US" dirty="0" err="1"/>
              <a:t>izraz</a:t>
            </a:r>
            <a:r>
              <a:rPr lang="en-US" dirty="0"/>
              <a:t> </a:t>
            </a:r>
            <a:r>
              <a:rPr lang="en-US" dirty="0" err="1"/>
              <a:t>izračunava</a:t>
            </a:r>
            <a:r>
              <a:rPr lang="en-US" dirty="0"/>
              <a:t> </a:t>
            </a:r>
            <a:r>
              <a:rPr lang="en-US" dirty="0" err="1"/>
              <a:t>jednom</a:t>
            </a:r>
            <a:r>
              <a:rPr lang="en-US" dirty="0"/>
              <a:t> </a:t>
            </a:r>
            <a:r>
              <a:rPr lang="en-US" dirty="0" err="1"/>
              <a:t>pri</a:t>
            </a:r>
            <a:r>
              <a:rPr lang="en-US" dirty="0"/>
              <a:t> </a:t>
            </a:r>
            <a:r>
              <a:rPr lang="en-US" dirty="0" err="1"/>
              <a:t>upisu</a:t>
            </a:r>
            <a:r>
              <a:rPr lang="en-US" dirty="0"/>
              <a:t> </a:t>
            </a:r>
            <a:r>
              <a:rPr lang="en-US" dirty="0" err="1"/>
              <a:t>i</a:t>
            </a:r>
            <a:r>
              <a:rPr lang="en-US" dirty="0"/>
              <a:t> </a:t>
            </a:r>
            <a:r>
              <a:rPr lang="en-US" dirty="0" err="1"/>
              <a:t>trajno</a:t>
            </a:r>
            <a:r>
              <a:rPr lang="en-US" dirty="0"/>
              <a:t> </a:t>
            </a:r>
            <a:r>
              <a:rPr lang="en-US" dirty="0" err="1"/>
              <a:t>čuva</a:t>
            </a:r>
            <a:r>
              <a:rPr lang="en-US" dirty="0"/>
              <a:t> u B+ </a:t>
            </a:r>
            <a:r>
              <a:rPr lang="en-US" dirty="0" err="1"/>
              <a:t>stablu</a:t>
            </a:r>
            <a:r>
              <a:rPr lang="en-US" dirty="0"/>
              <a:t>, </a:t>
            </a:r>
            <a:r>
              <a:rPr lang="en-US" dirty="0" err="1"/>
              <a:t>čime</a:t>
            </a:r>
            <a:r>
              <a:rPr lang="en-US" dirty="0"/>
              <a:t> se </a:t>
            </a:r>
            <a:r>
              <a:rPr lang="en-US" dirty="0" err="1"/>
              <a:t>pri</a:t>
            </a:r>
            <a:r>
              <a:rPr lang="en-US" dirty="0"/>
              <a:t> </a:t>
            </a:r>
            <a:r>
              <a:rPr lang="en-US" dirty="0" err="1"/>
              <a:t>pretrazi</a:t>
            </a:r>
            <a:r>
              <a:rPr lang="en-US" dirty="0"/>
              <a:t> </a:t>
            </a:r>
            <a:r>
              <a:rPr lang="en-US" dirty="0" err="1"/>
              <a:t>potpuno</a:t>
            </a:r>
            <a:r>
              <a:rPr lang="en-US" dirty="0"/>
              <a:t> </a:t>
            </a:r>
            <a:r>
              <a:rPr lang="en-US" dirty="0" err="1"/>
              <a:t>eliminiše</a:t>
            </a:r>
            <a:r>
              <a:rPr lang="en-US" dirty="0"/>
              <a:t> </a:t>
            </a:r>
            <a:r>
              <a:rPr lang="en-US" dirty="0" err="1"/>
              <a:t>potreba</a:t>
            </a:r>
            <a:r>
              <a:rPr lang="en-US" dirty="0"/>
              <a:t> za </a:t>
            </a:r>
            <a:r>
              <a:rPr lang="en-US" dirty="0" err="1"/>
              <a:t>ponovnim</a:t>
            </a:r>
            <a:r>
              <a:rPr lang="en-US" dirty="0"/>
              <a:t> </a:t>
            </a:r>
            <a:r>
              <a:rPr lang="en-US" dirty="0" err="1"/>
              <a:t>izračunavanjem</a:t>
            </a:r>
            <a:r>
              <a:rPr lang="en-US" dirty="0"/>
              <a:t> </a:t>
            </a:r>
            <a:r>
              <a:rPr lang="en-US" dirty="0" err="1"/>
              <a:t>i</a:t>
            </a:r>
            <a:r>
              <a:rPr lang="en-US" dirty="0"/>
              <a:t> Full Table Scan-om</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chemeClr val="tx2">
              <a:lumMod val="40000"/>
              <a:lumOff val="60000"/>
            </a:schemeClr>
          </a:solidFill>
          <a:ln/>
        </p:spPr>
        <p:txBody>
          <a:bodyPr/>
          <a:lstStyle/>
          <a:p>
            <a:endParaRPr lang="en-US"/>
          </a:p>
        </p:txBody>
      </p:sp>
      <p:sp>
        <p:nvSpPr>
          <p:cNvPr id="3" name="Shape 1"/>
          <p:cNvSpPr/>
          <p:nvPr/>
        </p:nvSpPr>
        <p:spPr>
          <a:xfrm>
            <a:off x="201168" y="0"/>
            <a:ext cx="8942832" cy="54864"/>
          </a:xfrm>
          <a:prstGeom prst="rect">
            <a:avLst/>
          </a:prstGeom>
          <a:solidFill>
            <a:schemeClr val="bg1">
              <a:lumMod val="50000"/>
            </a:schemeClr>
          </a:solidFill>
          <a:ln/>
        </p:spPr>
        <p:txBody>
          <a:bodyPr/>
          <a:lstStyle/>
          <a:p>
            <a:endParaRPr lang="en-US"/>
          </a:p>
        </p:txBody>
      </p:sp>
      <p:sp>
        <p:nvSpPr>
          <p:cNvPr id="4" name="Text 2"/>
          <p:cNvSpPr/>
          <p:nvPr/>
        </p:nvSpPr>
        <p:spPr>
          <a:xfrm>
            <a:off x="457200" y="1097280"/>
            <a:ext cx="8229600" cy="640080"/>
          </a:xfrm>
          <a:prstGeom prst="rect">
            <a:avLst/>
          </a:prstGeom>
          <a:noFill/>
          <a:ln/>
        </p:spPr>
        <p:txBody>
          <a:bodyPr wrap="square" lIns="0" tIns="0" rIns="0" bIns="0" rtlCol="0" anchor="ctr"/>
          <a:lstStyle/>
          <a:p>
            <a:pPr marL="0" indent="0" algn="ctr">
              <a:buNone/>
            </a:pPr>
            <a:r>
              <a:rPr lang="en-US" sz="4400" b="1" dirty="0">
                <a:solidFill>
                  <a:srgbClr val="FFFFFF"/>
                </a:solidFill>
                <a:latin typeface="Calibri" pitchFamily="34" charset="0"/>
                <a:ea typeface="Calibri" pitchFamily="34" charset="-122"/>
                <a:cs typeface="Calibri" pitchFamily="34" charset="-120"/>
              </a:rPr>
              <a:t>Interna struktura i organizacija</a:t>
            </a:r>
            <a:endParaRPr lang="en-US" sz="4400" dirty="0"/>
          </a:p>
        </p:txBody>
      </p:sp>
      <p:sp>
        <p:nvSpPr>
          <p:cNvPr id="5" name="Text 3"/>
          <p:cNvSpPr/>
          <p:nvPr/>
        </p:nvSpPr>
        <p:spPr>
          <a:xfrm>
            <a:off x="457200" y="1691640"/>
            <a:ext cx="8229600" cy="640080"/>
          </a:xfrm>
          <a:prstGeom prst="rect">
            <a:avLst/>
          </a:prstGeom>
          <a:noFill/>
          <a:ln/>
        </p:spPr>
        <p:txBody>
          <a:bodyPr wrap="square" lIns="0" tIns="0" rIns="0" bIns="0" rtlCol="0" anchor="ctr"/>
          <a:lstStyle/>
          <a:p>
            <a:pPr marL="0" indent="0" algn="ctr">
              <a:buNone/>
            </a:pPr>
            <a:r>
              <a:rPr lang="en-US" sz="4400" b="1" dirty="0">
                <a:solidFill>
                  <a:schemeClr val="tx2">
                    <a:lumMod val="40000"/>
                    <a:lumOff val="60000"/>
                  </a:schemeClr>
                </a:solidFill>
                <a:latin typeface="Calibri" pitchFamily="34" charset="0"/>
                <a:ea typeface="Calibri" pitchFamily="34" charset="-122"/>
                <a:cs typeface="Calibri" pitchFamily="34" charset="-120"/>
              </a:rPr>
              <a:t>indeksa u Firebird bazi podataka</a:t>
            </a:r>
            <a:endParaRPr lang="en-US" sz="4400" dirty="0">
              <a:solidFill>
                <a:schemeClr val="tx2">
                  <a:lumMod val="40000"/>
                  <a:lumOff val="60000"/>
                </a:schemeClr>
              </a:solidFill>
            </a:endParaRPr>
          </a:p>
        </p:txBody>
      </p:sp>
      <p:sp>
        <p:nvSpPr>
          <p:cNvPr id="6" name="Text 4"/>
          <p:cNvSpPr/>
          <p:nvPr/>
        </p:nvSpPr>
        <p:spPr>
          <a:xfrm>
            <a:off x="660399" y="3510643"/>
            <a:ext cx="3563257" cy="365760"/>
          </a:xfrm>
          <a:prstGeom prst="rect">
            <a:avLst/>
          </a:prstGeom>
          <a:noFill/>
          <a:ln/>
        </p:spPr>
        <p:txBody>
          <a:bodyPr wrap="square" lIns="0" tIns="0" rIns="0" bIns="0" rtlCol="0" anchor="ctr"/>
          <a:lstStyle/>
          <a:p>
            <a:pPr marL="0" indent="0">
              <a:buNone/>
            </a:pPr>
            <a:r>
              <a:rPr lang="sr-Latn-RS" sz="1400" i="1" dirty="0">
                <a:solidFill>
                  <a:schemeClr val="bg1"/>
                </a:solidFill>
                <a:latin typeface="Calibri" pitchFamily="34" charset="0"/>
                <a:ea typeface="Calibri" pitchFamily="34" charset="-122"/>
                <a:cs typeface="Calibri" pitchFamily="34" charset="-120"/>
              </a:rPr>
              <a:t>Student:  </a:t>
            </a:r>
            <a:r>
              <a:rPr lang="en-US" sz="1400" i="1" dirty="0">
                <a:solidFill>
                  <a:schemeClr val="bg1"/>
                </a:solidFill>
                <a:latin typeface="Calibri" pitchFamily="34" charset="0"/>
                <a:ea typeface="Calibri" pitchFamily="34" charset="-122"/>
                <a:cs typeface="Calibri" pitchFamily="34" charset="-120"/>
              </a:rPr>
              <a:t>Jefimija </a:t>
            </a:r>
            <a:r>
              <a:rPr lang="en-US" sz="1400" i="1" dirty="0" err="1">
                <a:solidFill>
                  <a:schemeClr val="bg1"/>
                </a:solidFill>
                <a:latin typeface="Calibri" pitchFamily="34" charset="0"/>
                <a:ea typeface="Calibri" pitchFamily="34" charset="-122"/>
                <a:cs typeface="Calibri" pitchFamily="34" charset="-120"/>
              </a:rPr>
              <a:t>Stamenovi</a:t>
            </a:r>
            <a:r>
              <a:rPr lang="sr-Latn-RS" sz="1400" i="1" dirty="0">
                <a:solidFill>
                  <a:schemeClr val="bg1"/>
                </a:solidFill>
                <a:latin typeface="Calibri" pitchFamily="34" charset="0"/>
                <a:ea typeface="Calibri" pitchFamily="34" charset="-122"/>
                <a:cs typeface="Calibri" pitchFamily="34" charset="-120"/>
              </a:rPr>
              <a:t>ć 1820/2024</a:t>
            </a:r>
            <a:endParaRPr lang="en-US" sz="1400" i="1" dirty="0">
              <a:solidFill>
                <a:schemeClr val="bg1"/>
              </a:solidFill>
            </a:endParaRPr>
          </a:p>
        </p:txBody>
      </p:sp>
      <p:sp>
        <p:nvSpPr>
          <p:cNvPr id="7" name="Text 5"/>
          <p:cNvSpPr/>
          <p:nvPr/>
        </p:nvSpPr>
        <p:spPr>
          <a:xfrm>
            <a:off x="660399" y="3863340"/>
            <a:ext cx="3526971" cy="365760"/>
          </a:xfrm>
          <a:prstGeom prst="rect">
            <a:avLst/>
          </a:prstGeom>
          <a:noFill/>
          <a:ln/>
        </p:spPr>
        <p:txBody>
          <a:bodyPr wrap="square" lIns="0" tIns="0" rIns="0" bIns="0" rtlCol="0" anchor="ctr"/>
          <a:lstStyle/>
          <a:p>
            <a:pPr marL="0" indent="0">
              <a:buNone/>
            </a:pPr>
            <a:r>
              <a:rPr lang="en-US" sz="1400" i="1" dirty="0">
                <a:solidFill>
                  <a:schemeClr val="bg1"/>
                </a:solidFill>
                <a:latin typeface="Calibri" pitchFamily="34" charset="0"/>
                <a:ea typeface="Calibri" pitchFamily="34" charset="-122"/>
                <a:cs typeface="Calibri" pitchFamily="34" charset="-120"/>
              </a:rPr>
              <a:t>Mentor: dr Aleksandar S. Stanimirović</a:t>
            </a:r>
            <a:endParaRPr lang="en-US" sz="1400" dirty="0">
              <a:solidFill>
                <a:schemeClr val="bg1"/>
              </a:solidFill>
            </a:endParaRPr>
          </a:p>
        </p:txBody>
      </p:sp>
      <p:sp>
        <p:nvSpPr>
          <p:cNvPr id="8" name="Shape 6"/>
          <p:cNvSpPr/>
          <p:nvPr/>
        </p:nvSpPr>
        <p:spPr>
          <a:xfrm>
            <a:off x="0" y="4800600"/>
            <a:ext cx="9144000" cy="342900"/>
          </a:xfrm>
          <a:prstGeom prst="rect">
            <a:avLst/>
          </a:prstGeom>
          <a:solidFill>
            <a:schemeClr val="tx2">
              <a:lumMod val="75000"/>
            </a:schemeClr>
          </a:solidFill>
          <a:ln>
            <a:solidFill>
              <a:schemeClr val="tx2">
                <a:lumMod val="50000"/>
              </a:schemeClr>
            </a:solidFill>
          </a:ln>
        </p:spPr>
        <p:txBody>
          <a:bodyPr/>
          <a:lstStyle/>
          <a:p>
            <a:endParaRPr lang="en-US"/>
          </a:p>
        </p:txBody>
      </p:sp>
      <p:sp>
        <p:nvSpPr>
          <p:cNvPr id="9" name="Text 7"/>
          <p:cNvSpPr/>
          <p:nvPr/>
        </p:nvSpPr>
        <p:spPr>
          <a:xfrm>
            <a:off x="274320" y="4818888"/>
            <a:ext cx="8595360" cy="301752"/>
          </a:xfrm>
          <a:prstGeom prst="rect">
            <a:avLst/>
          </a:prstGeom>
          <a:noFill/>
          <a:ln/>
        </p:spPr>
        <p:txBody>
          <a:bodyPr wrap="square" lIns="0" tIns="0" rIns="0" bIns="0" rtlCol="0" anchor="ctr"/>
          <a:lstStyle/>
          <a:p>
            <a:pPr algn="ctr"/>
            <a:r>
              <a:rPr lang="en-US" sz="1000" b="1" dirty="0">
                <a:solidFill>
                  <a:schemeClr val="bg1"/>
                </a:solidFill>
                <a:latin typeface="Calibri" pitchFamily="34" charset="0"/>
                <a:ea typeface="Calibri" pitchFamily="34" charset="-122"/>
                <a:cs typeface="Calibri" pitchFamily="34" charset="-120"/>
              </a:rPr>
              <a:t>Elektronski fakultet u </a:t>
            </a:r>
            <a:r>
              <a:rPr lang="en-US" sz="1000" b="1" dirty="0" err="1">
                <a:solidFill>
                  <a:schemeClr val="bg1"/>
                </a:solidFill>
                <a:latin typeface="Calibri" pitchFamily="34" charset="0"/>
                <a:ea typeface="Calibri" pitchFamily="34" charset="-122"/>
                <a:cs typeface="Calibri" pitchFamily="34" charset="-120"/>
              </a:rPr>
              <a:t>Nišu</a:t>
            </a:r>
            <a:r>
              <a:rPr lang="sr-Latn-RS" sz="1000" b="1" dirty="0">
                <a:solidFill>
                  <a:schemeClr val="bg1"/>
                </a:solidFill>
                <a:latin typeface="Calibri" pitchFamily="34" charset="0"/>
                <a:ea typeface="Calibri" pitchFamily="34" charset="-122"/>
                <a:cs typeface="Calibri" pitchFamily="34" charset="-120"/>
              </a:rPr>
              <a:t> </a:t>
            </a:r>
            <a:r>
              <a:rPr lang="en-US" sz="1000" b="1" dirty="0">
                <a:solidFill>
                  <a:schemeClr val="bg1"/>
                </a:solidFill>
                <a:latin typeface="Calibri" pitchFamily="34" charset="0"/>
                <a:ea typeface="Calibri" pitchFamily="34" charset="-122"/>
                <a:cs typeface="Calibri" pitchFamily="34" charset="-120"/>
              </a:rPr>
              <a:t>·</a:t>
            </a:r>
            <a:r>
              <a:rPr lang="sr-Latn-RS" sz="1000" b="1" dirty="0">
                <a:solidFill>
                  <a:schemeClr val="bg1"/>
                </a:solidFill>
                <a:latin typeface="Calibri" pitchFamily="34" charset="0"/>
                <a:ea typeface="Calibri" pitchFamily="34" charset="-122"/>
                <a:cs typeface="Calibri" pitchFamily="34" charset="-120"/>
              </a:rPr>
              <a:t> </a:t>
            </a:r>
            <a:r>
              <a:rPr lang="en-US" sz="1000" b="1" dirty="0">
                <a:solidFill>
                  <a:schemeClr val="bg1"/>
                </a:solidFill>
                <a:latin typeface="Calibri" pitchFamily="34" charset="0"/>
                <a:ea typeface="Calibri" pitchFamily="34" charset="-122"/>
                <a:cs typeface="Calibri" pitchFamily="34" charset="-120"/>
              </a:rPr>
              <a:t>Master </a:t>
            </a:r>
            <a:r>
              <a:rPr lang="en-US" sz="1000" b="1" dirty="0" err="1">
                <a:solidFill>
                  <a:schemeClr val="bg1"/>
                </a:solidFill>
                <a:latin typeface="Calibri" pitchFamily="34" charset="0"/>
                <a:ea typeface="Calibri" pitchFamily="34" charset="-122"/>
                <a:cs typeface="Calibri" pitchFamily="34" charset="-120"/>
              </a:rPr>
              <a:t>akademske</a:t>
            </a:r>
            <a:r>
              <a:rPr lang="en-US" sz="1000" b="1" dirty="0">
                <a:solidFill>
                  <a:schemeClr val="bg1"/>
                </a:solidFill>
                <a:latin typeface="Calibri" pitchFamily="34" charset="0"/>
                <a:ea typeface="Calibri" pitchFamily="34" charset="-122"/>
                <a:cs typeface="Calibri" pitchFamily="34" charset="-120"/>
              </a:rPr>
              <a:t> </a:t>
            </a:r>
            <a:r>
              <a:rPr lang="en-US" sz="1000" b="1" dirty="0" err="1">
                <a:solidFill>
                  <a:schemeClr val="bg1"/>
                </a:solidFill>
                <a:latin typeface="Calibri" pitchFamily="34" charset="0"/>
                <a:ea typeface="Calibri" pitchFamily="34" charset="-122"/>
                <a:cs typeface="Calibri" pitchFamily="34" charset="-120"/>
              </a:rPr>
              <a:t>studije</a:t>
            </a:r>
            <a:r>
              <a:rPr lang="en-US" sz="1000" b="1" dirty="0">
                <a:solidFill>
                  <a:schemeClr val="bg1"/>
                </a:solidFill>
                <a:latin typeface="Calibri" pitchFamily="34" charset="0"/>
                <a:ea typeface="Calibri" pitchFamily="34" charset="-122"/>
                <a:cs typeface="Calibri" pitchFamily="34" charset="-120"/>
              </a:rPr>
              <a:t>  ·  Sistemi za upravljanje </a:t>
            </a:r>
            <a:r>
              <a:rPr lang="en-US" sz="1000" b="1" dirty="0" err="1">
                <a:solidFill>
                  <a:schemeClr val="bg1"/>
                </a:solidFill>
                <a:latin typeface="Calibri" pitchFamily="34" charset="0"/>
                <a:ea typeface="Calibri" pitchFamily="34" charset="-122"/>
                <a:cs typeface="Calibri" pitchFamily="34" charset="-120"/>
              </a:rPr>
              <a:t>bazama</a:t>
            </a:r>
            <a:r>
              <a:rPr lang="en-US" sz="1000" b="1" dirty="0">
                <a:solidFill>
                  <a:schemeClr val="bg1"/>
                </a:solidFill>
                <a:latin typeface="Calibri" pitchFamily="34" charset="0"/>
                <a:ea typeface="Calibri" pitchFamily="34" charset="-122"/>
                <a:cs typeface="Calibri" pitchFamily="34" charset="-120"/>
              </a:rPr>
              <a:t> </a:t>
            </a:r>
            <a:r>
              <a:rPr lang="en-US" sz="1000" b="1" dirty="0" err="1">
                <a:solidFill>
                  <a:schemeClr val="bg1"/>
                </a:solidFill>
                <a:latin typeface="Calibri" pitchFamily="34" charset="0"/>
                <a:ea typeface="Calibri" pitchFamily="34" charset="-122"/>
                <a:cs typeface="Calibri" pitchFamily="34" charset="-120"/>
              </a:rPr>
              <a:t>podataka</a:t>
            </a:r>
            <a:r>
              <a:rPr lang="sr-Latn-RS" sz="1000" b="1" dirty="0">
                <a:solidFill>
                  <a:schemeClr val="bg1"/>
                </a:solidFill>
                <a:latin typeface="Calibri" pitchFamily="34" charset="0"/>
                <a:ea typeface="Calibri" pitchFamily="34" charset="-122"/>
                <a:cs typeface="Calibri" pitchFamily="34" charset="-120"/>
              </a:rPr>
              <a:t> </a:t>
            </a:r>
            <a:r>
              <a:rPr lang="en-US" sz="1000" b="1" dirty="0">
                <a:solidFill>
                  <a:schemeClr val="bg1"/>
                </a:solidFill>
                <a:latin typeface="Calibri" pitchFamily="34" charset="0"/>
                <a:ea typeface="Calibri" pitchFamily="34" charset="-122"/>
                <a:cs typeface="Calibri" pitchFamily="34" charset="-120"/>
              </a:rPr>
              <a:t>·  Mart 2026. </a:t>
            </a:r>
            <a:endParaRPr lang="en-US" sz="1000" b="1" dirty="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chemeClr val="tx2">
              <a:lumMod val="40000"/>
              <a:lumOff val="60000"/>
            </a:schemeClr>
          </a:solidFill>
          <a:ln>
            <a:solidFill>
              <a:schemeClr val="tx2">
                <a:lumMod val="40000"/>
                <a:lumOff val="60000"/>
              </a:schemeClr>
            </a:solidFill>
          </a:ln>
        </p:spPr>
        <p:txBody>
          <a:bodyPr/>
          <a:lstStyle/>
          <a:p>
            <a:endParaRPr lang="en-US"/>
          </a:p>
        </p:txBody>
      </p:sp>
      <p:sp>
        <p:nvSpPr>
          <p:cNvPr id="3" name="Shape 1"/>
          <p:cNvSpPr/>
          <p:nvPr/>
        </p:nvSpPr>
        <p:spPr>
          <a:xfrm>
            <a:off x="137160" y="0"/>
            <a:ext cx="9006840" cy="658368"/>
          </a:xfrm>
          <a:prstGeom prst="rect">
            <a:avLst/>
          </a:prstGeom>
          <a:solidFill>
            <a:srgbClr val="1B2A4A"/>
          </a:solidFill>
          <a:ln/>
        </p:spPr>
        <p:txBody>
          <a:bodyPr/>
          <a:lstStyle/>
          <a:p>
            <a:endParaRPr lang="en-US"/>
          </a:p>
        </p:txBody>
      </p:sp>
      <p:sp>
        <p:nvSpPr>
          <p:cNvPr id="4" name="Text 2"/>
          <p:cNvSpPr/>
          <p:nvPr/>
        </p:nvSpPr>
        <p:spPr>
          <a:xfrm>
            <a:off x="274320" y="64008"/>
            <a:ext cx="859536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Sadržaj prezentacije</a:t>
            </a:r>
            <a:endParaRPr lang="en-US" sz="2800" dirty="0"/>
          </a:p>
        </p:txBody>
      </p:sp>
      <p:sp>
        <p:nvSpPr>
          <p:cNvPr id="5" name="Shape 3"/>
          <p:cNvSpPr/>
          <p:nvPr/>
        </p:nvSpPr>
        <p:spPr>
          <a:xfrm>
            <a:off x="228600" y="941144"/>
            <a:ext cx="4297680" cy="804672"/>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6" name="Shape 4"/>
          <p:cNvSpPr/>
          <p:nvPr/>
        </p:nvSpPr>
        <p:spPr>
          <a:xfrm>
            <a:off x="228600" y="941144"/>
            <a:ext cx="502920" cy="804672"/>
          </a:xfrm>
          <a:prstGeom prst="rect">
            <a:avLst/>
          </a:prstGeom>
          <a:solidFill>
            <a:srgbClr val="1B2A4A"/>
          </a:solidFill>
          <a:ln>
            <a:solidFill>
              <a:schemeClr val="bg1"/>
            </a:solidFill>
          </a:ln>
        </p:spPr>
        <p:txBody>
          <a:bodyPr/>
          <a:lstStyle/>
          <a:p>
            <a:endParaRPr lang="en-US"/>
          </a:p>
        </p:txBody>
      </p:sp>
      <p:sp>
        <p:nvSpPr>
          <p:cNvPr id="7" name="Text 5"/>
          <p:cNvSpPr/>
          <p:nvPr/>
        </p:nvSpPr>
        <p:spPr>
          <a:xfrm>
            <a:off x="246888" y="1105736"/>
            <a:ext cx="475488" cy="475488"/>
          </a:xfrm>
          <a:prstGeom prst="rect">
            <a:avLst/>
          </a:prstGeom>
          <a:noFill/>
          <a:ln/>
        </p:spPr>
        <p:txBody>
          <a:bodyPr wrap="square" lIns="0" tIns="0" rIns="0" bIns="0" rtlCol="0" anchor="ctr"/>
          <a:lstStyle/>
          <a:p>
            <a:pPr marL="0" indent="0" algn="ctr">
              <a:buNone/>
            </a:pPr>
            <a:r>
              <a:rPr lang="en-US" sz="2400" b="1" dirty="0">
                <a:solidFill>
                  <a:schemeClr val="bg1"/>
                </a:solidFill>
                <a:latin typeface="Calibri" pitchFamily="34" charset="0"/>
                <a:ea typeface="Calibri" pitchFamily="34" charset="-122"/>
                <a:cs typeface="Calibri" pitchFamily="34" charset="-120"/>
              </a:rPr>
              <a:t>01</a:t>
            </a:r>
            <a:endParaRPr lang="en-US" sz="2400" dirty="0">
              <a:solidFill>
                <a:schemeClr val="bg1"/>
              </a:solidFill>
            </a:endParaRPr>
          </a:p>
        </p:txBody>
      </p:sp>
      <p:sp>
        <p:nvSpPr>
          <p:cNvPr id="8" name="Text 6"/>
          <p:cNvSpPr/>
          <p:nvPr/>
        </p:nvSpPr>
        <p:spPr>
          <a:xfrm>
            <a:off x="822960" y="1005152"/>
            <a:ext cx="3611880" cy="292608"/>
          </a:xfrm>
          <a:prstGeom prst="rect">
            <a:avLst/>
          </a:prstGeom>
          <a:noFill/>
          <a:ln/>
        </p:spPr>
        <p:txBody>
          <a:bodyPr wrap="square" lIns="0" tIns="0" rIns="0" bIns="0" rtlCol="0" anchor="ctr"/>
          <a:lstStyle/>
          <a:p>
            <a:pPr marL="0" indent="0">
              <a:buNone/>
            </a:pPr>
            <a:r>
              <a:rPr lang="en-US" b="1" dirty="0">
                <a:solidFill>
                  <a:srgbClr val="1B2A4A"/>
                </a:solidFill>
                <a:latin typeface="Calibri" pitchFamily="34" charset="0"/>
                <a:ea typeface="Calibri" pitchFamily="34" charset="-122"/>
                <a:cs typeface="Calibri" pitchFamily="34" charset="-120"/>
              </a:rPr>
              <a:t>Kontekst i motivacija</a:t>
            </a:r>
            <a:endParaRPr lang="en-US" dirty="0"/>
          </a:p>
        </p:txBody>
      </p:sp>
      <p:sp>
        <p:nvSpPr>
          <p:cNvPr id="9" name="Text 7"/>
          <p:cNvSpPr/>
          <p:nvPr/>
        </p:nvSpPr>
        <p:spPr>
          <a:xfrm>
            <a:off x="822960" y="1380056"/>
            <a:ext cx="3611880" cy="292608"/>
          </a:xfrm>
          <a:prstGeom prst="rect">
            <a:avLst/>
          </a:prstGeom>
          <a:noFill/>
          <a:ln/>
        </p:spPr>
        <p:txBody>
          <a:bodyPr wrap="square" lIns="0" tIns="0" rIns="0" bIns="0" rtlCol="0" anchor="ctr"/>
          <a:lstStyle/>
          <a:p>
            <a:pPr marL="0" indent="0">
              <a:buNone/>
            </a:pPr>
            <a:r>
              <a:rPr lang="en-US" sz="1200" dirty="0">
                <a:solidFill>
                  <a:srgbClr val="475569"/>
                </a:solidFill>
                <a:latin typeface="Calibri" pitchFamily="34" charset="0"/>
                <a:ea typeface="Calibri" pitchFamily="34" charset="-122"/>
                <a:cs typeface="Calibri" pitchFamily="34" charset="-120"/>
              </a:rPr>
              <a:t>Zašto su indeksi kritični za skalabilnost?</a:t>
            </a:r>
            <a:endParaRPr lang="en-US" sz="1200" dirty="0"/>
          </a:p>
        </p:txBody>
      </p:sp>
      <p:sp>
        <p:nvSpPr>
          <p:cNvPr id="10" name="Shape 8"/>
          <p:cNvSpPr/>
          <p:nvPr/>
        </p:nvSpPr>
        <p:spPr>
          <a:xfrm>
            <a:off x="228600" y="1901264"/>
            <a:ext cx="4297680" cy="804672"/>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11" name="Shape 9"/>
          <p:cNvSpPr/>
          <p:nvPr/>
        </p:nvSpPr>
        <p:spPr>
          <a:xfrm>
            <a:off x="228600" y="1901264"/>
            <a:ext cx="502920" cy="804672"/>
          </a:xfrm>
          <a:prstGeom prst="rect">
            <a:avLst/>
          </a:prstGeom>
          <a:solidFill>
            <a:srgbClr val="1B2A4A"/>
          </a:solidFill>
          <a:ln>
            <a:solidFill>
              <a:schemeClr val="bg1"/>
            </a:solidFill>
          </a:ln>
        </p:spPr>
        <p:txBody>
          <a:bodyPr/>
          <a:lstStyle/>
          <a:p>
            <a:endParaRPr lang="en-US"/>
          </a:p>
        </p:txBody>
      </p:sp>
      <p:sp>
        <p:nvSpPr>
          <p:cNvPr id="12" name="Text 10"/>
          <p:cNvSpPr/>
          <p:nvPr/>
        </p:nvSpPr>
        <p:spPr>
          <a:xfrm>
            <a:off x="246888" y="2065856"/>
            <a:ext cx="475488" cy="475488"/>
          </a:xfrm>
          <a:prstGeom prst="rect">
            <a:avLst/>
          </a:prstGeom>
          <a:noFill/>
          <a:ln/>
        </p:spPr>
        <p:txBody>
          <a:bodyPr wrap="square" lIns="0" tIns="0" rIns="0" bIns="0" rtlCol="0" anchor="ctr"/>
          <a:lstStyle/>
          <a:p>
            <a:pPr marL="0" indent="0" algn="ctr">
              <a:buNone/>
            </a:pPr>
            <a:r>
              <a:rPr lang="en-US" sz="2400" b="1" dirty="0">
                <a:solidFill>
                  <a:schemeClr val="bg1"/>
                </a:solidFill>
                <a:latin typeface="Calibri" pitchFamily="34" charset="0"/>
                <a:ea typeface="Calibri" pitchFamily="34" charset="-122"/>
                <a:cs typeface="Calibri" pitchFamily="34" charset="-120"/>
              </a:rPr>
              <a:t>02</a:t>
            </a:r>
            <a:endParaRPr lang="en-US" sz="2400" dirty="0">
              <a:solidFill>
                <a:schemeClr val="bg1"/>
              </a:solidFill>
            </a:endParaRPr>
          </a:p>
        </p:txBody>
      </p:sp>
      <p:sp>
        <p:nvSpPr>
          <p:cNvPr id="13" name="Text 11"/>
          <p:cNvSpPr/>
          <p:nvPr/>
        </p:nvSpPr>
        <p:spPr>
          <a:xfrm>
            <a:off x="822960" y="1965272"/>
            <a:ext cx="3611880" cy="292608"/>
          </a:xfrm>
          <a:prstGeom prst="rect">
            <a:avLst/>
          </a:prstGeom>
          <a:noFill/>
          <a:ln/>
        </p:spPr>
        <p:txBody>
          <a:bodyPr wrap="square" lIns="0" tIns="0" rIns="0" bIns="0" rtlCol="0" anchor="ctr"/>
          <a:lstStyle/>
          <a:p>
            <a:pPr marL="0" indent="0">
              <a:buNone/>
            </a:pPr>
            <a:r>
              <a:rPr lang="en-US" b="1" dirty="0">
                <a:solidFill>
                  <a:srgbClr val="1B2A4A"/>
                </a:solidFill>
                <a:latin typeface="Calibri" pitchFamily="34" charset="0"/>
                <a:ea typeface="Calibri" pitchFamily="34" charset="-122"/>
                <a:cs typeface="Calibri" pitchFamily="34" charset="-120"/>
              </a:rPr>
              <a:t>Fizička arhitektura (ODS)</a:t>
            </a:r>
            <a:endParaRPr lang="en-US" dirty="0"/>
          </a:p>
        </p:txBody>
      </p:sp>
      <p:sp>
        <p:nvSpPr>
          <p:cNvPr id="14" name="Text 12"/>
          <p:cNvSpPr/>
          <p:nvPr/>
        </p:nvSpPr>
        <p:spPr>
          <a:xfrm>
            <a:off x="822960" y="2340176"/>
            <a:ext cx="3611880" cy="292608"/>
          </a:xfrm>
          <a:prstGeom prst="rect">
            <a:avLst/>
          </a:prstGeom>
          <a:noFill/>
          <a:ln/>
        </p:spPr>
        <p:txBody>
          <a:bodyPr wrap="square" lIns="0" tIns="0" rIns="0" bIns="0" rtlCol="0" anchor="ctr"/>
          <a:lstStyle/>
          <a:p>
            <a:pPr marL="0" indent="0">
              <a:buNone/>
            </a:pPr>
            <a:r>
              <a:rPr lang="en-US" sz="1200" dirty="0">
                <a:solidFill>
                  <a:srgbClr val="475569"/>
                </a:solidFill>
                <a:latin typeface="Calibri" pitchFamily="34" charset="0"/>
                <a:ea typeface="Calibri" pitchFamily="34" charset="-122"/>
                <a:cs typeface="Calibri" pitchFamily="34" charset="-120"/>
              </a:rPr>
              <a:t>Stranice, slotovi i RDB$DB_KEY</a:t>
            </a:r>
            <a:endParaRPr lang="en-US" sz="1200" dirty="0"/>
          </a:p>
        </p:txBody>
      </p:sp>
      <p:sp>
        <p:nvSpPr>
          <p:cNvPr id="15" name="Shape 13"/>
          <p:cNvSpPr/>
          <p:nvPr/>
        </p:nvSpPr>
        <p:spPr>
          <a:xfrm>
            <a:off x="228600" y="2861384"/>
            <a:ext cx="4297680" cy="804672"/>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16" name="Shape 14"/>
          <p:cNvSpPr/>
          <p:nvPr/>
        </p:nvSpPr>
        <p:spPr>
          <a:xfrm>
            <a:off x="228600" y="2861384"/>
            <a:ext cx="502920" cy="804672"/>
          </a:xfrm>
          <a:prstGeom prst="rect">
            <a:avLst/>
          </a:prstGeom>
          <a:solidFill>
            <a:srgbClr val="1B2A4A"/>
          </a:solidFill>
          <a:ln>
            <a:solidFill>
              <a:schemeClr val="bg1"/>
            </a:solidFill>
          </a:ln>
        </p:spPr>
        <p:txBody>
          <a:bodyPr/>
          <a:lstStyle/>
          <a:p>
            <a:endParaRPr lang="en-US"/>
          </a:p>
        </p:txBody>
      </p:sp>
      <p:sp>
        <p:nvSpPr>
          <p:cNvPr id="17" name="Text 15"/>
          <p:cNvSpPr/>
          <p:nvPr/>
        </p:nvSpPr>
        <p:spPr>
          <a:xfrm>
            <a:off x="246888" y="3025976"/>
            <a:ext cx="475488" cy="475488"/>
          </a:xfrm>
          <a:prstGeom prst="rect">
            <a:avLst/>
          </a:prstGeom>
          <a:noFill/>
          <a:ln/>
        </p:spPr>
        <p:txBody>
          <a:bodyPr wrap="square" lIns="0" tIns="0" rIns="0" bIns="0" rtlCol="0" anchor="ctr"/>
          <a:lstStyle/>
          <a:p>
            <a:pPr marL="0" indent="0" algn="ctr">
              <a:buNone/>
            </a:pPr>
            <a:r>
              <a:rPr lang="en-US" sz="2400" b="1" dirty="0">
                <a:solidFill>
                  <a:schemeClr val="bg1"/>
                </a:solidFill>
                <a:latin typeface="Calibri" pitchFamily="34" charset="0"/>
                <a:ea typeface="Calibri" pitchFamily="34" charset="-122"/>
                <a:cs typeface="Calibri" pitchFamily="34" charset="-120"/>
              </a:rPr>
              <a:t>03</a:t>
            </a:r>
            <a:endParaRPr lang="en-US" sz="2400" dirty="0">
              <a:solidFill>
                <a:schemeClr val="bg1"/>
              </a:solidFill>
            </a:endParaRPr>
          </a:p>
        </p:txBody>
      </p:sp>
      <p:sp>
        <p:nvSpPr>
          <p:cNvPr id="18" name="Text 16"/>
          <p:cNvSpPr/>
          <p:nvPr/>
        </p:nvSpPr>
        <p:spPr>
          <a:xfrm>
            <a:off x="822960" y="2925392"/>
            <a:ext cx="3611880" cy="292608"/>
          </a:xfrm>
          <a:prstGeom prst="rect">
            <a:avLst/>
          </a:prstGeom>
          <a:noFill/>
          <a:ln/>
        </p:spPr>
        <p:txBody>
          <a:bodyPr wrap="square" lIns="0" tIns="0" rIns="0" bIns="0" rtlCol="0" anchor="ctr"/>
          <a:lstStyle/>
          <a:p>
            <a:pPr marL="0" indent="0">
              <a:buNone/>
            </a:pPr>
            <a:r>
              <a:rPr lang="en-US" b="1" dirty="0">
                <a:solidFill>
                  <a:srgbClr val="1B2A4A"/>
                </a:solidFill>
                <a:latin typeface="Calibri" pitchFamily="34" charset="0"/>
                <a:ea typeface="Calibri" pitchFamily="34" charset="-122"/>
                <a:cs typeface="Calibri" pitchFamily="34" charset="-120"/>
              </a:rPr>
              <a:t>MGA i verzije zapisa</a:t>
            </a:r>
            <a:endParaRPr lang="en-US" dirty="0"/>
          </a:p>
        </p:txBody>
      </p:sp>
      <p:sp>
        <p:nvSpPr>
          <p:cNvPr id="19" name="Text 17"/>
          <p:cNvSpPr/>
          <p:nvPr/>
        </p:nvSpPr>
        <p:spPr>
          <a:xfrm>
            <a:off x="822960" y="3300296"/>
            <a:ext cx="3611880" cy="292608"/>
          </a:xfrm>
          <a:prstGeom prst="rect">
            <a:avLst/>
          </a:prstGeom>
          <a:noFill/>
          <a:ln/>
        </p:spPr>
        <p:txBody>
          <a:bodyPr wrap="square" lIns="0" tIns="0" rIns="0" bIns="0" rtlCol="0" anchor="ctr"/>
          <a:lstStyle/>
          <a:p>
            <a:pPr marL="0" indent="0">
              <a:buNone/>
            </a:pPr>
            <a:r>
              <a:rPr lang="en-US" sz="1200" dirty="0">
                <a:solidFill>
                  <a:srgbClr val="475569"/>
                </a:solidFill>
                <a:latin typeface="Calibri" pitchFamily="34" charset="0"/>
                <a:ea typeface="Calibri" pitchFamily="34" charset="-122"/>
                <a:cs typeface="Calibri" pitchFamily="34" charset="-120"/>
              </a:rPr>
              <a:t>MVCC, Index Bloat, Garbage Collection</a:t>
            </a:r>
            <a:endParaRPr lang="en-US" sz="1200" dirty="0"/>
          </a:p>
        </p:txBody>
      </p:sp>
      <p:sp>
        <p:nvSpPr>
          <p:cNvPr id="20" name="Shape 18"/>
          <p:cNvSpPr/>
          <p:nvPr/>
        </p:nvSpPr>
        <p:spPr>
          <a:xfrm>
            <a:off x="228600" y="3821504"/>
            <a:ext cx="4297680" cy="804672"/>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21" name="Shape 19"/>
          <p:cNvSpPr/>
          <p:nvPr/>
        </p:nvSpPr>
        <p:spPr>
          <a:xfrm>
            <a:off x="228600" y="3821504"/>
            <a:ext cx="502920" cy="804672"/>
          </a:xfrm>
          <a:prstGeom prst="rect">
            <a:avLst/>
          </a:prstGeom>
          <a:solidFill>
            <a:srgbClr val="1B2A4A"/>
          </a:solidFill>
          <a:ln>
            <a:solidFill>
              <a:schemeClr val="bg1"/>
            </a:solidFill>
          </a:ln>
        </p:spPr>
        <p:txBody>
          <a:bodyPr/>
          <a:lstStyle/>
          <a:p>
            <a:endParaRPr lang="en-US"/>
          </a:p>
        </p:txBody>
      </p:sp>
      <p:sp>
        <p:nvSpPr>
          <p:cNvPr id="22" name="Text 20"/>
          <p:cNvSpPr/>
          <p:nvPr/>
        </p:nvSpPr>
        <p:spPr>
          <a:xfrm>
            <a:off x="246888" y="3986096"/>
            <a:ext cx="475488" cy="475488"/>
          </a:xfrm>
          <a:prstGeom prst="rect">
            <a:avLst/>
          </a:prstGeom>
          <a:noFill/>
          <a:ln/>
        </p:spPr>
        <p:txBody>
          <a:bodyPr wrap="square" lIns="0" tIns="0" rIns="0" bIns="0" rtlCol="0" anchor="ctr"/>
          <a:lstStyle/>
          <a:p>
            <a:pPr marL="0" indent="0" algn="ctr">
              <a:buNone/>
            </a:pPr>
            <a:r>
              <a:rPr lang="en-US" sz="2400" b="1" dirty="0">
                <a:solidFill>
                  <a:schemeClr val="bg1"/>
                </a:solidFill>
                <a:latin typeface="Calibri" pitchFamily="34" charset="0"/>
                <a:ea typeface="Calibri" pitchFamily="34" charset="-122"/>
                <a:cs typeface="Calibri" pitchFamily="34" charset="-120"/>
              </a:rPr>
              <a:t>04</a:t>
            </a:r>
            <a:endParaRPr lang="en-US" sz="2400" dirty="0">
              <a:solidFill>
                <a:schemeClr val="bg1"/>
              </a:solidFill>
            </a:endParaRPr>
          </a:p>
        </p:txBody>
      </p:sp>
      <p:sp>
        <p:nvSpPr>
          <p:cNvPr id="23" name="Text 21"/>
          <p:cNvSpPr/>
          <p:nvPr/>
        </p:nvSpPr>
        <p:spPr>
          <a:xfrm>
            <a:off x="822960" y="3885512"/>
            <a:ext cx="3611880" cy="292608"/>
          </a:xfrm>
          <a:prstGeom prst="rect">
            <a:avLst/>
          </a:prstGeom>
          <a:noFill/>
          <a:ln/>
        </p:spPr>
        <p:txBody>
          <a:bodyPr wrap="square" lIns="0" tIns="0" rIns="0" bIns="0" rtlCol="0" anchor="ctr"/>
          <a:lstStyle/>
          <a:p>
            <a:pPr marL="0" indent="0">
              <a:buNone/>
            </a:pPr>
            <a:r>
              <a:rPr lang="en-US" b="1" dirty="0">
                <a:solidFill>
                  <a:srgbClr val="1B2A4A"/>
                </a:solidFill>
                <a:latin typeface="Calibri" pitchFamily="34" charset="0"/>
                <a:ea typeface="Calibri" pitchFamily="34" charset="-122"/>
                <a:cs typeface="Calibri" pitchFamily="34" charset="-120"/>
              </a:rPr>
              <a:t>B+ stablo</a:t>
            </a:r>
            <a:endParaRPr lang="en-US" dirty="0"/>
          </a:p>
        </p:txBody>
      </p:sp>
      <p:sp>
        <p:nvSpPr>
          <p:cNvPr id="24" name="Text 22"/>
          <p:cNvSpPr/>
          <p:nvPr/>
        </p:nvSpPr>
        <p:spPr>
          <a:xfrm>
            <a:off x="822960" y="4260416"/>
            <a:ext cx="3611880" cy="292608"/>
          </a:xfrm>
          <a:prstGeom prst="rect">
            <a:avLst/>
          </a:prstGeom>
          <a:noFill/>
          <a:ln/>
        </p:spPr>
        <p:txBody>
          <a:bodyPr wrap="square" lIns="0" tIns="0" rIns="0" bIns="0" rtlCol="0" anchor="ctr"/>
          <a:lstStyle/>
          <a:p>
            <a:pPr marL="0" indent="0">
              <a:buNone/>
            </a:pPr>
            <a:r>
              <a:rPr lang="en-US" sz="1200" dirty="0">
                <a:solidFill>
                  <a:srgbClr val="475569"/>
                </a:solidFill>
                <a:latin typeface="Calibri" pitchFamily="34" charset="0"/>
                <a:ea typeface="Calibri" pitchFamily="34" charset="-122"/>
                <a:cs typeface="Calibri" pitchFamily="34" charset="-120"/>
              </a:rPr>
              <a:t>Struktura, Page Split i Fill Factor</a:t>
            </a:r>
            <a:endParaRPr lang="en-US" sz="1200" dirty="0"/>
          </a:p>
        </p:txBody>
      </p:sp>
      <p:sp>
        <p:nvSpPr>
          <p:cNvPr id="25" name="Shape 23"/>
          <p:cNvSpPr/>
          <p:nvPr/>
        </p:nvSpPr>
        <p:spPr>
          <a:xfrm>
            <a:off x="4754880" y="941144"/>
            <a:ext cx="4297680" cy="804672"/>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26" name="Shape 24"/>
          <p:cNvSpPr/>
          <p:nvPr/>
        </p:nvSpPr>
        <p:spPr>
          <a:xfrm>
            <a:off x="4754880" y="941144"/>
            <a:ext cx="502920" cy="804672"/>
          </a:xfrm>
          <a:prstGeom prst="rect">
            <a:avLst/>
          </a:prstGeom>
          <a:solidFill>
            <a:srgbClr val="1B2A4A"/>
          </a:solidFill>
          <a:ln>
            <a:solidFill>
              <a:schemeClr val="bg1"/>
            </a:solidFill>
          </a:ln>
        </p:spPr>
        <p:txBody>
          <a:bodyPr/>
          <a:lstStyle/>
          <a:p>
            <a:endParaRPr lang="en-US"/>
          </a:p>
        </p:txBody>
      </p:sp>
      <p:sp>
        <p:nvSpPr>
          <p:cNvPr id="27" name="Text 25"/>
          <p:cNvSpPr/>
          <p:nvPr/>
        </p:nvSpPr>
        <p:spPr>
          <a:xfrm>
            <a:off x="4773168" y="1105736"/>
            <a:ext cx="475488" cy="475488"/>
          </a:xfrm>
          <a:prstGeom prst="rect">
            <a:avLst/>
          </a:prstGeom>
          <a:noFill/>
          <a:ln/>
        </p:spPr>
        <p:txBody>
          <a:bodyPr wrap="square" lIns="0" tIns="0" rIns="0" bIns="0" rtlCol="0" anchor="ctr"/>
          <a:lstStyle/>
          <a:p>
            <a:pPr marL="0" indent="0" algn="ctr">
              <a:buNone/>
            </a:pPr>
            <a:r>
              <a:rPr lang="en-US" sz="2400" b="1" dirty="0">
                <a:solidFill>
                  <a:schemeClr val="bg1"/>
                </a:solidFill>
                <a:latin typeface="Calibri" pitchFamily="34" charset="0"/>
                <a:ea typeface="Calibri" pitchFamily="34" charset="-122"/>
                <a:cs typeface="Calibri" pitchFamily="34" charset="-120"/>
              </a:rPr>
              <a:t>05</a:t>
            </a:r>
            <a:endParaRPr lang="en-US" sz="2400" dirty="0">
              <a:solidFill>
                <a:schemeClr val="bg1"/>
              </a:solidFill>
            </a:endParaRPr>
          </a:p>
        </p:txBody>
      </p:sp>
      <p:sp>
        <p:nvSpPr>
          <p:cNvPr id="28" name="Text 26"/>
          <p:cNvSpPr/>
          <p:nvPr/>
        </p:nvSpPr>
        <p:spPr>
          <a:xfrm>
            <a:off x="5349240" y="1005152"/>
            <a:ext cx="3611880" cy="292608"/>
          </a:xfrm>
          <a:prstGeom prst="rect">
            <a:avLst/>
          </a:prstGeom>
          <a:noFill/>
          <a:ln/>
        </p:spPr>
        <p:txBody>
          <a:bodyPr wrap="square" lIns="0" tIns="0" rIns="0" bIns="0" rtlCol="0" anchor="ctr"/>
          <a:lstStyle/>
          <a:p>
            <a:pPr marL="0" indent="0">
              <a:buNone/>
            </a:pPr>
            <a:r>
              <a:rPr lang="en-US" b="1" dirty="0">
                <a:solidFill>
                  <a:srgbClr val="1B2A4A"/>
                </a:solidFill>
                <a:latin typeface="Calibri" pitchFamily="34" charset="0"/>
                <a:ea typeface="Calibri" pitchFamily="34" charset="-122"/>
                <a:cs typeface="Calibri" pitchFamily="34" charset="-120"/>
              </a:rPr>
              <a:t>Kompresija i optimizacija</a:t>
            </a:r>
            <a:endParaRPr lang="en-US" dirty="0"/>
          </a:p>
        </p:txBody>
      </p:sp>
      <p:sp>
        <p:nvSpPr>
          <p:cNvPr id="29" name="Text 27"/>
          <p:cNvSpPr/>
          <p:nvPr/>
        </p:nvSpPr>
        <p:spPr>
          <a:xfrm>
            <a:off x="5349240" y="1380056"/>
            <a:ext cx="3611880" cy="292608"/>
          </a:xfrm>
          <a:prstGeom prst="rect">
            <a:avLst/>
          </a:prstGeom>
          <a:noFill/>
          <a:ln/>
        </p:spPr>
        <p:txBody>
          <a:bodyPr wrap="square" lIns="0" tIns="0" rIns="0" bIns="0" rtlCol="0" anchor="ctr"/>
          <a:lstStyle/>
          <a:p>
            <a:pPr marL="0" indent="0">
              <a:buNone/>
            </a:pPr>
            <a:r>
              <a:rPr lang="en-US" sz="1200" dirty="0">
                <a:solidFill>
                  <a:srgbClr val="475569"/>
                </a:solidFill>
                <a:latin typeface="Calibri" pitchFamily="34" charset="0"/>
                <a:ea typeface="Calibri" pitchFamily="34" charset="-122"/>
                <a:cs typeface="Calibri" pitchFamily="34" charset="-120"/>
              </a:rPr>
              <a:t>Prefiksna kompresija, NULL, duplikati</a:t>
            </a:r>
            <a:endParaRPr lang="en-US" sz="1200" dirty="0"/>
          </a:p>
        </p:txBody>
      </p:sp>
      <p:sp>
        <p:nvSpPr>
          <p:cNvPr id="30" name="Shape 28"/>
          <p:cNvSpPr/>
          <p:nvPr/>
        </p:nvSpPr>
        <p:spPr>
          <a:xfrm>
            <a:off x="4754880" y="1901264"/>
            <a:ext cx="4297680" cy="804672"/>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31" name="Shape 29"/>
          <p:cNvSpPr/>
          <p:nvPr/>
        </p:nvSpPr>
        <p:spPr>
          <a:xfrm>
            <a:off x="4754880" y="1901264"/>
            <a:ext cx="502920" cy="804672"/>
          </a:xfrm>
          <a:prstGeom prst="rect">
            <a:avLst/>
          </a:prstGeom>
          <a:solidFill>
            <a:srgbClr val="1B2A4A"/>
          </a:solidFill>
          <a:ln>
            <a:solidFill>
              <a:schemeClr val="bg1"/>
            </a:solidFill>
          </a:ln>
        </p:spPr>
        <p:txBody>
          <a:bodyPr/>
          <a:lstStyle/>
          <a:p>
            <a:endParaRPr lang="en-US"/>
          </a:p>
        </p:txBody>
      </p:sp>
      <p:sp>
        <p:nvSpPr>
          <p:cNvPr id="32" name="Text 30"/>
          <p:cNvSpPr/>
          <p:nvPr/>
        </p:nvSpPr>
        <p:spPr>
          <a:xfrm>
            <a:off x="4773168" y="2065856"/>
            <a:ext cx="475488" cy="475488"/>
          </a:xfrm>
          <a:prstGeom prst="rect">
            <a:avLst/>
          </a:prstGeom>
          <a:noFill/>
          <a:ln/>
        </p:spPr>
        <p:txBody>
          <a:bodyPr wrap="square" lIns="0" tIns="0" rIns="0" bIns="0" rtlCol="0" anchor="ctr"/>
          <a:lstStyle/>
          <a:p>
            <a:pPr marL="0" indent="0" algn="ctr">
              <a:buNone/>
            </a:pPr>
            <a:r>
              <a:rPr lang="en-US" sz="2400" b="1" dirty="0">
                <a:solidFill>
                  <a:schemeClr val="bg1"/>
                </a:solidFill>
                <a:latin typeface="Calibri" pitchFamily="34" charset="0"/>
                <a:ea typeface="Calibri" pitchFamily="34" charset="-122"/>
                <a:cs typeface="Calibri" pitchFamily="34" charset="-120"/>
              </a:rPr>
              <a:t>06</a:t>
            </a:r>
            <a:endParaRPr lang="en-US" sz="2400" dirty="0">
              <a:solidFill>
                <a:schemeClr val="bg1"/>
              </a:solidFill>
            </a:endParaRPr>
          </a:p>
        </p:txBody>
      </p:sp>
      <p:sp>
        <p:nvSpPr>
          <p:cNvPr id="33" name="Text 31"/>
          <p:cNvSpPr/>
          <p:nvPr/>
        </p:nvSpPr>
        <p:spPr>
          <a:xfrm>
            <a:off x="5349240" y="1965272"/>
            <a:ext cx="3611880" cy="292608"/>
          </a:xfrm>
          <a:prstGeom prst="rect">
            <a:avLst/>
          </a:prstGeom>
          <a:noFill/>
          <a:ln/>
        </p:spPr>
        <p:txBody>
          <a:bodyPr wrap="square" lIns="0" tIns="0" rIns="0" bIns="0" rtlCol="0" anchor="ctr"/>
          <a:lstStyle/>
          <a:p>
            <a:pPr marL="0" indent="0">
              <a:buNone/>
            </a:pPr>
            <a:r>
              <a:rPr lang="en-US" b="1" dirty="0">
                <a:solidFill>
                  <a:srgbClr val="1B2A4A"/>
                </a:solidFill>
                <a:latin typeface="Calibri" pitchFamily="34" charset="0"/>
                <a:ea typeface="Calibri" pitchFamily="34" charset="-122"/>
                <a:cs typeface="Calibri" pitchFamily="34" charset="-120"/>
              </a:rPr>
              <a:t>Tipovi indeksa i statistika</a:t>
            </a:r>
            <a:endParaRPr lang="en-US" dirty="0"/>
          </a:p>
        </p:txBody>
      </p:sp>
      <p:sp>
        <p:nvSpPr>
          <p:cNvPr id="34" name="Text 32"/>
          <p:cNvSpPr/>
          <p:nvPr/>
        </p:nvSpPr>
        <p:spPr>
          <a:xfrm>
            <a:off x="5349240" y="2340176"/>
            <a:ext cx="3611880" cy="292608"/>
          </a:xfrm>
          <a:prstGeom prst="rect">
            <a:avLst/>
          </a:prstGeom>
          <a:noFill/>
          <a:ln/>
        </p:spPr>
        <p:txBody>
          <a:bodyPr wrap="square" lIns="0" tIns="0" rIns="0" bIns="0" rtlCol="0" anchor="ctr"/>
          <a:lstStyle/>
          <a:p>
            <a:pPr marL="0" indent="0">
              <a:buNone/>
            </a:pPr>
            <a:r>
              <a:rPr lang="en-US" sz="1200" dirty="0">
                <a:solidFill>
                  <a:srgbClr val="475569"/>
                </a:solidFill>
                <a:latin typeface="Calibri" pitchFamily="34" charset="0"/>
                <a:ea typeface="Calibri" pitchFamily="34" charset="-122"/>
                <a:cs typeface="Calibri" pitchFamily="34" charset="-120"/>
              </a:rPr>
              <a:t>Expression, kompozitni, selektivnost</a:t>
            </a:r>
            <a:endParaRPr lang="en-US" sz="1200" dirty="0"/>
          </a:p>
        </p:txBody>
      </p:sp>
      <p:sp>
        <p:nvSpPr>
          <p:cNvPr id="35" name="Shape 33"/>
          <p:cNvSpPr/>
          <p:nvPr/>
        </p:nvSpPr>
        <p:spPr>
          <a:xfrm>
            <a:off x="4754880" y="2861384"/>
            <a:ext cx="4297680" cy="804672"/>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36" name="Shape 34"/>
          <p:cNvSpPr/>
          <p:nvPr/>
        </p:nvSpPr>
        <p:spPr>
          <a:xfrm>
            <a:off x="4754880" y="2861384"/>
            <a:ext cx="502920" cy="804672"/>
          </a:xfrm>
          <a:prstGeom prst="rect">
            <a:avLst/>
          </a:prstGeom>
          <a:solidFill>
            <a:srgbClr val="1B2A4A"/>
          </a:solidFill>
          <a:ln>
            <a:solidFill>
              <a:schemeClr val="bg1"/>
            </a:solidFill>
          </a:ln>
        </p:spPr>
        <p:txBody>
          <a:bodyPr/>
          <a:lstStyle/>
          <a:p>
            <a:endParaRPr lang="en-US"/>
          </a:p>
        </p:txBody>
      </p:sp>
      <p:sp>
        <p:nvSpPr>
          <p:cNvPr id="37" name="Text 35"/>
          <p:cNvSpPr/>
          <p:nvPr/>
        </p:nvSpPr>
        <p:spPr>
          <a:xfrm>
            <a:off x="4773168" y="3025976"/>
            <a:ext cx="475488" cy="475488"/>
          </a:xfrm>
          <a:prstGeom prst="rect">
            <a:avLst/>
          </a:prstGeom>
          <a:noFill/>
          <a:ln/>
        </p:spPr>
        <p:txBody>
          <a:bodyPr wrap="square" lIns="0" tIns="0" rIns="0" bIns="0" rtlCol="0" anchor="ctr"/>
          <a:lstStyle/>
          <a:p>
            <a:pPr marL="0" indent="0" algn="ctr">
              <a:buNone/>
            </a:pPr>
            <a:r>
              <a:rPr lang="en-US" sz="2400" b="1" dirty="0">
                <a:solidFill>
                  <a:schemeClr val="bg1"/>
                </a:solidFill>
                <a:latin typeface="Calibri" pitchFamily="34" charset="0"/>
                <a:ea typeface="Calibri" pitchFamily="34" charset="-122"/>
                <a:cs typeface="Calibri" pitchFamily="34" charset="-120"/>
              </a:rPr>
              <a:t>07</a:t>
            </a:r>
            <a:endParaRPr lang="en-US" sz="2400" dirty="0">
              <a:solidFill>
                <a:schemeClr val="bg1"/>
              </a:solidFill>
            </a:endParaRPr>
          </a:p>
        </p:txBody>
      </p:sp>
      <p:sp>
        <p:nvSpPr>
          <p:cNvPr id="38" name="Text 36"/>
          <p:cNvSpPr/>
          <p:nvPr/>
        </p:nvSpPr>
        <p:spPr>
          <a:xfrm>
            <a:off x="5349240" y="2925392"/>
            <a:ext cx="3611880" cy="292608"/>
          </a:xfrm>
          <a:prstGeom prst="rect">
            <a:avLst/>
          </a:prstGeom>
          <a:noFill/>
          <a:ln/>
        </p:spPr>
        <p:txBody>
          <a:bodyPr wrap="square" lIns="0" tIns="0" rIns="0" bIns="0" rtlCol="0" anchor="ctr"/>
          <a:lstStyle/>
          <a:p>
            <a:pPr marL="0" indent="0">
              <a:buNone/>
            </a:pPr>
            <a:r>
              <a:rPr lang="en-US" b="1" dirty="0">
                <a:solidFill>
                  <a:srgbClr val="1B2A4A"/>
                </a:solidFill>
                <a:latin typeface="Calibri" pitchFamily="34" charset="0"/>
                <a:ea typeface="Calibri" pitchFamily="34" charset="-122"/>
                <a:cs typeface="Calibri" pitchFamily="34" charset="-120"/>
              </a:rPr>
              <a:t>Execution Plans</a:t>
            </a:r>
            <a:endParaRPr lang="en-US" dirty="0"/>
          </a:p>
        </p:txBody>
      </p:sp>
      <p:sp>
        <p:nvSpPr>
          <p:cNvPr id="39" name="Text 37"/>
          <p:cNvSpPr/>
          <p:nvPr/>
        </p:nvSpPr>
        <p:spPr>
          <a:xfrm>
            <a:off x="5349240" y="3300296"/>
            <a:ext cx="3611880" cy="292608"/>
          </a:xfrm>
          <a:prstGeom prst="rect">
            <a:avLst/>
          </a:prstGeom>
          <a:noFill/>
          <a:ln/>
        </p:spPr>
        <p:txBody>
          <a:bodyPr wrap="square" lIns="0" tIns="0" rIns="0" bIns="0" rtlCol="0" anchor="ctr"/>
          <a:lstStyle/>
          <a:p>
            <a:pPr marL="0" indent="0">
              <a:buNone/>
            </a:pPr>
            <a:r>
              <a:rPr lang="en-US" sz="1200" dirty="0">
                <a:solidFill>
                  <a:srgbClr val="475569"/>
                </a:solidFill>
                <a:latin typeface="Calibri" pitchFamily="34" charset="0"/>
                <a:ea typeface="Calibri" pitchFamily="34" charset="-122"/>
                <a:cs typeface="Calibri" pitchFamily="34" charset="-120"/>
              </a:rPr>
              <a:t>NATURAL vs INDEX — praktični primeri</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chemeClr val="tx2">
              <a:lumMod val="40000"/>
              <a:lumOff val="60000"/>
            </a:schemeClr>
          </a:solidFill>
          <a:ln/>
        </p:spPr>
        <p:txBody>
          <a:bodyPr/>
          <a:lstStyle/>
          <a:p>
            <a:endParaRPr lang="en-US"/>
          </a:p>
        </p:txBody>
      </p:sp>
      <p:sp>
        <p:nvSpPr>
          <p:cNvPr id="3" name="Shape 1"/>
          <p:cNvSpPr/>
          <p:nvPr/>
        </p:nvSpPr>
        <p:spPr>
          <a:xfrm>
            <a:off x="137160" y="0"/>
            <a:ext cx="9006840" cy="658368"/>
          </a:xfrm>
          <a:prstGeom prst="rect">
            <a:avLst/>
          </a:prstGeom>
          <a:solidFill>
            <a:srgbClr val="1B2A4A"/>
          </a:solidFill>
          <a:ln/>
        </p:spPr>
        <p:txBody>
          <a:bodyPr/>
          <a:lstStyle/>
          <a:p>
            <a:endParaRPr lang="en-US"/>
          </a:p>
        </p:txBody>
      </p:sp>
      <p:sp>
        <p:nvSpPr>
          <p:cNvPr id="4" name="Text 2"/>
          <p:cNvSpPr/>
          <p:nvPr/>
        </p:nvSpPr>
        <p:spPr>
          <a:xfrm>
            <a:off x="274320" y="64008"/>
            <a:ext cx="859536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Kontekst i motivacija</a:t>
            </a:r>
            <a:endParaRPr lang="en-US" sz="2800" dirty="0"/>
          </a:p>
        </p:txBody>
      </p:sp>
      <p:sp>
        <p:nvSpPr>
          <p:cNvPr id="5" name="Shape 3"/>
          <p:cNvSpPr/>
          <p:nvPr/>
        </p:nvSpPr>
        <p:spPr>
          <a:xfrm>
            <a:off x="228600" y="777240"/>
            <a:ext cx="2560320" cy="2309364"/>
          </a:xfrm>
          <a:prstGeom prst="rect">
            <a:avLst/>
          </a:prstGeom>
          <a:solidFill>
            <a:srgbClr val="1B2A4A"/>
          </a:solidFill>
          <a:ln>
            <a:solidFill>
              <a:schemeClr val="bg1"/>
            </a:solidFill>
          </a:ln>
          <a:effectLst>
            <a:outerShdw blurRad="101600" dist="38100" dir="8100000" algn="bl" rotWithShape="0">
              <a:srgbClr val="000000">
                <a:alpha val="18000"/>
              </a:srgbClr>
            </a:outerShdw>
          </a:effectLst>
        </p:spPr>
        <p:txBody>
          <a:bodyPr/>
          <a:lstStyle/>
          <a:p>
            <a:endParaRPr lang="en-US"/>
          </a:p>
        </p:txBody>
      </p:sp>
      <p:sp>
        <p:nvSpPr>
          <p:cNvPr id="6" name="Text 4"/>
          <p:cNvSpPr/>
          <p:nvPr/>
        </p:nvSpPr>
        <p:spPr>
          <a:xfrm>
            <a:off x="210312" y="1358132"/>
            <a:ext cx="2560320" cy="731520"/>
          </a:xfrm>
          <a:prstGeom prst="rect">
            <a:avLst/>
          </a:prstGeom>
          <a:noFill/>
          <a:ln/>
        </p:spPr>
        <p:txBody>
          <a:bodyPr wrap="square" lIns="0" tIns="0" rIns="0" bIns="0" rtlCol="0" anchor="ctr"/>
          <a:lstStyle/>
          <a:p>
            <a:pPr marL="0" indent="0" algn="ctr">
              <a:buNone/>
            </a:pPr>
            <a:r>
              <a:rPr lang="en-US" sz="5200" b="1" dirty="0">
                <a:solidFill>
                  <a:schemeClr val="bg1"/>
                </a:solidFill>
                <a:latin typeface="Calibri" pitchFamily="34" charset="0"/>
                <a:ea typeface="Calibri" pitchFamily="34" charset="-122"/>
                <a:cs typeface="Calibri" pitchFamily="34" charset="-120"/>
              </a:rPr>
              <a:t>O(n)</a:t>
            </a:r>
            <a:endParaRPr lang="en-US" sz="5200" dirty="0">
              <a:solidFill>
                <a:schemeClr val="bg1"/>
              </a:solidFill>
            </a:endParaRPr>
          </a:p>
        </p:txBody>
      </p:sp>
      <p:sp>
        <p:nvSpPr>
          <p:cNvPr id="7" name="Text 5"/>
          <p:cNvSpPr/>
          <p:nvPr/>
        </p:nvSpPr>
        <p:spPr>
          <a:xfrm>
            <a:off x="210312" y="2071364"/>
            <a:ext cx="2560320" cy="320040"/>
          </a:xfrm>
          <a:prstGeom prst="rect">
            <a:avLst/>
          </a:prstGeom>
          <a:noFill/>
          <a:ln/>
        </p:spPr>
        <p:txBody>
          <a:bodyPr wrap="square" lIns="0" tIns="0" rIns="0" bIns="0" rtlCol="0" anchor="ctr"/>
          <a:lstStyle/>
          <a:p>
            <a:pPr marL="0" indent="0" algn="ctr">
              <a:buNone/>
            </a:pPr>
            <a:r>
              <a:rPr lang="en-US" sz="1400" b="1" dirty="0">
                <a:solidFill>
                  <a:schemeClr val="bg1"/>
                </a:solidFill>
                <a:latin typeface="Calibri" pitchFamily="34" charset="0"/>
                <a:ea typeface="Calibri" pitchFamily="34" charset="-122"/>
                <a:cs typeface="Calibri" pitchFamily="34" charset="-120"/>
              </a:rPr>
              <a:t>Full Table Scan</a:t>
            </a:r>
            <a:endParaRPr lang="en-US" sz="1400" b="1" dirty="0">
              <a:solidFill>
                <a:schemeClr val="bg1"/>
              </a:solidFill>
            </a:endParaRPr>
          </a:p>
        </p:txBody>
      </p:sp>
      <p:sp>
        <p:nvSpPr>
          <p:cNvPr id="8" name="Text 6"/>
          <p:cNvSpPr/>
          <p:nvPr/>
        </p:nvSpPr>
        <p:spPr>
          <a:xfrm>
            <a:off x="2807208" y="1664640"/>
            <a:ext cx="457200" cy="457200"/>
          </a:xfrm>
          <a:prstGeom prst="rect">
            <a:avLst/>
          </a:prstGeom>
          <a:noFill/>
          <a:ln/>
        </p:spPr>
        <p:txBody>
          <a:bodyPr wrap="square" lIns="0" tIns="0" rIns="0" bIns="0" rtlCol="0" anchor="ctr"/>
          <a:lstStyle/>
          <a:p>
            <a:pPr marL="0" indent="0" algn="ctr">
              <a:buNone/>
            </a:pPr>
            <a:r>
              <a:rPr lang="en-US" sz="3600" b="1" dirty="0">
                <a:solidFill>
                  <a:srgbClr val="1B2A4A"/>
                </a:solidFill>
                <a:latin typeface="Calibri" pitchFamily="34" charset="0"/>
                <a:ea typeface="Calibri" pitchFamily="34" charset="-122"/>
                <a:cs typeface="Calibri" pitchFamily="34" charset="-120"/>
              </a:rPr>
              <a:t>→</a:t>
            </a:r>
            <a:endParaRPr lang="en-US" sz="3600" dirty="0">
              <a:solidFill>
                <a:srgbClr val="1B2A4A"/>
              </a:solidFill>
            </a:endParaRPr>
          </a:p>
        </p:txBody>
      </p:sp>
      <p:sp>
        <p:nvSpPr>
          <p:cNvPr id="9" name="Shape 7"/>
          <p:cNvSpPr/>
          <p:nvPr/>
        </p:nvSpPr>
        <p:spPr>
          <a:xfrm>
            <a:off x="3337560" y="777240"/>
            <a:ext cx="2560320" cy="2309364"/>
          </a:xfrm>
          <a:prstGeom prst="rect">
            <a:avLst/>
          </a:prstGeom>
          <a:solidFill>
            <a:schemeClr val="bg1"/>
          </a:solidFill>
          <a:ln>
            <a:solidFill>
              <a:srgbClr val="1B2A4A"/>
            </a:solidFill>
          </a:ln>
          <a:effectLst>
            <a:outerShdw blurRad="101600" dist="38100" dir="8100000" algn="bl" rotWithShape="0">
              <a:srgbClr val="000000">
                <a:alpha val="18000"/>
              </a:srgbClr>
            </a:outerShdw>
          </a:effectLst>
        </p:spPr>
        <p:txBody>
          <a:bodyPr/>
          <a:lstStyle/>
          <a:p>
            <a:endParaRPr lang="en-US"/>
          </a:p>
        </p:txBody>
      </p:sp>
      <p:sp>
        <p:nvSpPr>
          <p:cNvPr id="10" name="Text 8"/>
          <p:cNvSpPr/>
          <p:nvPr/>
        </p:nvSpPr>
        <p:spPr>
          <a:xfrm>
            <a:off x="3337561" y="1358132"/>
            <a:ext cx="2560320" cy="731520"/>
          </a:xfrm>
          <a:prstGeom prst="rect">
            <a:avLst/>
          </a:prstGeom>
          <a:noFill/>
          <a:ln/>
        </p:spPr>
        <p:txBody>
          <a:bodyPr wrap="square" lIns="0" tIns="0" rIns="0" bIns="0" rtlCol="0" anchor="ctr"/>
          <a:lstStyle/>
          <a:p>
            <a:pPr marL="0" indent="0" algn="ctr">
              <a:buNone/>
            </a:pPr>
            <a:r>
              <a:rPr lang="en-US" sz="4400" b="1" dirty="0">
                <a:solidFill>
                  <a:schemeClr val="bg2">
                    <a:lumMod val="50000"/>
                  </a:schemeClr>
                </a:solidFill>
                <a:latin typeface="Calibri" pitchFamily="34" charset="0"/>
                <a:ea typeface="Calibri" pitchFamily="34" charset="-122"/>
                <a:cs typeface="Calibri" pitchFamily="34" charset="-120"/>
              </a:rPr>
              <a:t>O(log n)</a:t>
            </a:r>
            <a:endParaRPr lang="en-US" sz="4400" dirty="0">
              <a:solidFill>
                <a:schemeClr val="bg2">
                  <a:lumMod val="50000"/>
                </a:schemeClr>
              </a:solidFill>
            </a:endParaRPr>
          </a:p>
        </p:txBody>
      </p:sp>
      <p:sp>
        <p:nvSpPr>
          <p:cNvPr id="11" name="Text 9"/>
          <p:cNvSpPr/>
          <p:nvPr/>
        </p:nvSpPr>
        <p:spPr>
          <a:xfrm>
            <a:off x="3337561" y="2071364"/>
            <a:ext cx="2560320" cy="320040"/>
          </a:xfrm>
          <a:prstGeom prst="rect">
            <a:avLst/>
          </a:prstGeom>
          <a:noFill/>
          <a:ln/>
        </p:spPr>
        <p:txBody>
          <a:bodyPr wrap="square" lIns="0" tIns="0" rIns="0" bIns="0" rtlCol="0" anchor="ctr"/>
          <a:lstStyle/>
          <a:p>
            <a:pPr marL="0" indent="0" algn="ctr">
              <a:buNone/>
            </a:pPr>
            <a:r>
              <a:rPr lang="en-US" sz="1400" b="1" dirty="0">
                <a:solidFill>
                  <a:schemeClr val="bg2">
                    <a:lumMod val="50000"/>
                  </a:schemeClr>
                </a:solidFill>
                <a:latin typeface="Calibri" pitchFamily="34" charset="0"/>
                <a:ea typeface="Calibri" pitchFamily="34" charset="-122"/>
                <a:cs typeface="Calibri" pitchFamily="34" charset="-120"/>
              </a:rPr>
              <a:t>Index Scan</a:t>
            </a:r>
            <a:endParaRPr lang="en-US" sz="1400" b="1" dirty="0">
              <a:solidFill>
                <a:schemeClr val="bg2">
                  <a:lumMod val="50000"/>
                </a:schemeClr>
              </a:solidFill>
            </a:endParaRPr>
          </a:p>
        </p:txBody>
      </p:sp>
      <p:sp>
        <p:nvSpPr>
          <p:cNvPr id="12" name="Shape 10"/>
          <p:cNvSpPr/>
          <p:nvPr/>
        </p:nvSpPr>
        <p:spPr>
          <a:xfrm>
            <a:off x="6035039" y="777240"/>
            <a:ext cx="3005443" cy="111600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13" name="Shape 11"/>
          <p:cNvSpPr/>
          <p:nvPr/>
        </p:nvSpPr>
        <p:spPr>
          <a:xfrm>
            <a:off x="6035040" y="777240"/>
            <a:ext cx="64008" cy="1116000"/>
          </a:xfrm>
          <a:prstGeom prst="rect">
            <a:avLst/>
          </a:prstGeom>
          <a:solidFill>
            <a:srgbClr val="1B2A4A"/>
          </a:solidFill>
          <a:ln/>
        </p:spPr>
        <p:txBody>
          <a:bodyPr/>
          <a:lstStyle/>
          <a:p>
            <a:endParaRPr lang="en-US"/>
          </a:p>
        </p:txBody>
      </p:sp>
      <p:sp>
        <p:nvSpPr>
          <p:cNvPr id="14" name="Text 12"/>
          <p:cNvSpPr/>
          <p:nvPr/>
        </p:nvSpPr>
        <p:spPr>
          <a:xfrm>
            <a:off x="6172200" y="803040"/>
            <a:ext cx="2697480" cy="292608"/>
          </a:xfrm>
          <a:prstGeom prst="rect">
            <a:avLst/>
          </a:prstGeom>
          <a:noFill/>
          <a:ln/>
        </p:spPr>
        <p:txBody>
          <a:bodyPr wrap="square" lIns="0" tIns="0" rIns="0" bIns="0" rtlCol="0" anchor="ctr"/>
          <a:lstStyle/>
          <a:p>
            <a:pPr marL="0" indent="0">
              <a:buNone/>
            </a:pPr>
            <a:r>
              <a:rPr lang="en-US" b="1" dirty="0">
                <a:solidFill>
                  <a:srgbClr val="1B2A4A"/>
                </a:solidFill>
                <a:latin typeface="Calibri" pitchFamily="34" charset="0"/>
                <a:ea typeface="Calibri" pitchFamily="34" charset="-122"/>
                <a:cs typeface="Calibri" pitchFamily="34" charset="-120"/>
              </a:rPr>
              <a:t>Problem</a:t>
            </a:r>
            <a:endParaRPr lang="en-US" dirty="0"/>
          </a:p>
        </p:txBody>
      </p:sp>
      <p:sp>
        <p:nvSpPr>
          <p:cNvPr id="15" name="Text 13"/>
          <p:cNvSpPr/>
          <p:nvPr/>
        </p:nvSpPr>
        <p:spPr>
          <a:xfrm>
            <a:off x="6172200" y="1124712"/>
            <a:ext cx="2804274" cy="726764"/>
          </a:xfrm>
          <a:prstGeom prst="rect">
            <a:avLst/>
          </a:prstGeom>
          <a:noFill/>
          <a:ln/>
        </p:spPr>
        <p:txBody>
          <a:bodyPr wrap="square" lIns="0" tIns="0" rIns="0" bIns="0" rtlCol="0" anchor="t"/>
          <a:lstStyle/>
          <a:p>
            <a:pPr marL="0" indent="0">
              <a:buNone/>
            </a:pPr>
            <a:r>
              <a:rPr lang="en-US" sz="1200" dirty="0">
                <a:solidFill>
                  <a:srgbClr val="475569"/>
                </a:solidFill>
                <a:latin typeface="Calibri" pitchFamily="34" charset="0"/>
                <a:ea typeface="Calibri" pitchFamily="34" charset="-122"/>
                <a:cs typeface="Calibri" pitchFamily="34" charset="-120"/>
              </a:rPr>
              <a:t>Tabele sa milionima redova — Full Scan je neprihvatljiv.</a:t>
            </a:r>
            <a:endParaRPr lang="en-US" sz="1200" dirty="0"/>
          </a:p>
          <a:p>
            <a:pPr marL="0" indent="0">
              <a:buNone/>
            </a:pPr>
            <a:r>
              <a:rPr lang="en-US" sz="1200" dirty="0">
                <a:solidFill>
                  <a:srgbClr val="475569"/>
                </a:solidFill>
                <a:latin typeface="Calibri" pitchFamily="34" charset="0"/>
                <a:ea typeface="Calibri" pitchFamily="34" charset="-122"/>
                <a:cs typeface="Calibri" pitchFamily="34" charset="-120"/>
              </a:rPr>
              <a:t>Svaki indeks košta: </a:t>
            </a:r>
            <a:r>
              <a:rPr lang="en-US" sz="1200" dirty="0" err="1">
                <a:solidFill>
                  <a:srgbClr val="475569"/>
                </a:solidFill>
                <a:latin typeface="Calibri" pitchFamily="34" charset="0"/>
                <a:ea typeface="Calibri" pitchFamily="34" charset="-122"/>
                <a:cs typeface="Calibri" pitchFamily="34" charset="-120"/>
              </a:rPr>
              <a:t>prostor</a:t>
            </a:r>
            <a:r>
              <a:rPr lang="en-US" sz="1200" dirty="0">
                <a:solidFill>
                  <a:srgbClr val="475569"/>
                </a:solidFill>
                <a:latin typeface="Calibri" pitchFamily="34" charset="0"/>
                <a:ea typeface="Calibri" pitchFamily="34" charset="-122"/>
                <a:cs typeface="Calibri" pitchFamily="34" charset="-120"/>
              </a:rPr>
              <a:t>, I/O operacija pri upisu.</a:t>
            </a:r>
            <a:endParaRPr lang="en-US" sz="1200" dirty="0"/>
          </a:p>
        </p:txBody>
      </p:sp>
      <p:sp>
        <p:nvSpPr>
          <p:cNvPr id="16" name="Shape 14"/>
          <p:cNvSpPr/>
          <p:nvPr/>
        </p:nvSpPr>
        <p:spPr>
          <a:xfrm>
            <a:off x="6035039" y="1970604"/>
            <a:ext cx="3005443" cy="111600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17" name="Shape 15"/>
          <p:cNvSpPr/>
          <p:nvPr/>
        </p:nvSpPr>
        <p:spPr>
          <a:xfrm>
            <a:off x="6038886" y="1970604"/>
            <a:ext cx="60162" cy="1116000"/>
          </a:xfrm>
          <a:prstGeom prst="rect">
            <a:avLst/>
          </a:prstGeom>
          <a:solidFill>
            <a:schemeClr val="bg2">
              <a:lumMod val="75000"/>
            </a:schemeClr>
          </a:solidFill>
          <a:ln>
            <a:solidFill>
              <a:schemeClr val="bg2">
                <a:lumMod val="75000"/>
              </a:schemeClr>
            </a:solidFill>
          </a:ln>
        </p:spPr>
        <p:txBody>
          <a:bodyPr/>
          <a:lstStyle/>
          <a:p>
            <a:endParaRPr lang="en-US">
              <a:solidFill>
                <a:srgbClr val="A0C1D5"/>
              </a:solidFill>
            </a:endParaRPr>
          </a:p>
        </p:txBody>
      </p:sp>
      <p:sp>
        <p:nvSpPr>
          <p:cNvPr id="18" name="Text 16"/>
          <p:cNvSpPr/>
          <p:nvPr/>
        </p:nvSpPr>
        <p:spPr>
          <a:xfrm>
            <a:off x="6172200" y="2056530"/>
            <a:ext cx="2697480" cy="292608"/>
          </a:xfrm>
          <a:prstGeom prst="rect">
            <a:avLst/>
          </a:prstGeom>
          <a:noFill/>
          <a:ln/>
        </p:spPr>
        <p:txBody>
          <a:bodyPr wrap="square" lIns="0" tIns="0" rIns="0" bIns="0" rtlCol="0" anchor="ctr"/>
          <a:lstStyle/>
          <a:p>
            <a:pPr marL="0" indent="0">
              <a:buNone/>
            </a:pPr>
            <a:r>
              <a:rPr lang="en-US" b="1" dirty="0">
                <a:solidFill>
                  <a:srgbClr val="1B2A4A"/>
                </a:solidFill>
                <a:latin typeface="Calibri" pitchFamily="34" charset="0"/>
                <a:ea typeface="Calibri" pitchFamily="34" charset="-122"/>
                <a:cs typeface="Calibri" pitchFamily="34" charset="-120"/>
              </a:rPr>
              <a:t>Trade-off</a:t>
            </a:r>
            <a:endParaRPr lang="en-US" dirty="0"/>
          </a:p>
        </p:txBody>
      </p:sp>
      <p:sp>
        <p:nvSpPr>
          <p:cNvPr id="19" name="Text 17"/>
          <p:cNvSpPr/>
          <p:nvPr/>
        </p:nvSpPr>
        <p:spPr>
          <a:xfrm>
            <a:off x="6172200" y="2399898"/>
            <a:ext cx="2697480" cy="402336"/>
          </a:xfrm>
          <a:prstGeom prst="rect">
            <a:avLst/>
          </a:prstGeom>
          <a:noFill/>
          <a:ln/>
        </p:spPr>
        <p:txBody>
          <a:bodyPr wrap="square" lIns="0" tIns="0" rIns="0" bIns="0" rtlCol="0" anchor="t"/>
          <a:lstStyle/>
          <a:p>
            <a:pPr marL="0" indent="0">
              <a:buNone/>
            </a:pPr>
            <a:r>
              <a:rPr lang="en-US" sz="1200" dirty="0">
                <a:solidFill>
                  <a:srgbClr val="475569"/>
                </a:solidFill>
                <a:latin typeface="Calibri" pitchFamily="34" charset="0"/>
                <a:ea typeface="Calibri" pitchFamily="34" charset="-122"/>
                <a:cs typeface="Calibri" pitchFamily="34" charset="-120"/>
              </a:rPr>
              <a:t>Brzina čitanja vs. cena upisa.</a:t>
            </a:r>
            <a:endParaRPr lang="en-US" sz="1200" dirty="0"/>
          </a:p>
          <a:p>
            <a:pPr marL="0" indent="0">
              <a:buNone/>
            </a:pPr>
            <a:r>
              <a:rPr lang="en-US" sz="1200" dirty="0">
                <a:solidFill>
                  <a:srgbClr val="475569"/>
                </a:solidFill>
                <a:latin typeface="Calibri" pitchFamily="34" charset="0"/>
                <a:ea typeface="Calibri" pitchFamily="34" charset="-122"/>
                <a:cs typeface="Calibri" pitchFamily="34" charset="-120"/>
              </a:rPr>
              <a:t>Firebird: B+ stablo + MGA </a:t>
            </a:r>
            <a:r>
              <a:rPr lang="en-US" sz="1200" dirty="0" err="1">
                <a:solidFill>
                  <a:srgbClr val="475569"/>
                </a:solidFill>
                <a:latin typeface="Calibri" pitchFamily="34" charset="0"/>
                <a:ea typeface="Calibri" pitchFamily="34" charset="-122"/>
                <a:cs typeface="Calibri" pitchFamily="34" charset="-120"/>
              </a:rPr>
              <a:t>arhitektura</a:t>
            </a:r>
            <a:endParaRPr lang="en-US" sz="1200" dirty="0"/>
          </a:p>
        </p:txBody>
      </p:sp>
      <p:sp>
        <p:nvSpPr>
          <p:cNvPr id="20" name="Shape 18"/>
          <p:cNvSpPr/>
          <p:nvPr/>
        </p:nvSpPr>
        <p:spPr>
          <a:xfrm>
            <a:off x="228600" y="3378956"/>
            <a:ext cx="8811882" cy="132588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21" name="Shape 19"/>
          <p:cNvSpPr/>
          <p:nvPr/>
        </p:nvSpPr>
        <p:spPr>
          <a:xfrm>
            <a:off x="228600" y="3378956"/>
            <a:ext cx="137160" cy="1325880"/>
          </a:xfrm>
          <a:prstGeom prst="rect">
            <a:avLst/>
          </a:prstGeom>
          <a:solidFill>
            <a:schemeClr val="bg1">
              <a:lumMod val="50000"/>
            </a:schemeClr>
          </a:solidFill>
          <a:ln>
            <a:solidFill>
              <a:schemeClr val="bg1">
                <a:lumMod val="50000"/>
              </a:schemeClr>
            </a:solidFill>
          </a:ln>
        </p:spPr>
        <p:txBody>
          <a:bodyPr/>
          <a:lstStyle/>
          <a:p>
            <a:endParaRPr lang="en-US"/>
          </a:p>
        </p:txBody>
      </p:sp>
      <p:sp>
        <p:nvSpPr>
          <p:cNvPr id="22" name="Text 20"/>
          <p:cNvSpPr/>
          <p:nvPr/>
        </p:nvSpPr>
        <p:spPr>
          <a:xfrm>
            <a:off x="457200" y="3452108"/>
            <a:ext cx="8412480" cy="292608"/>
          </a:xfrm>
          <a:prstGeom prst="rect">
            <a:avLst/>
          </a:prstGeom>
          <a:noFill/>
          <a:ln/>
        </p:spPr>
        <p:txBody>
          <a:bodyPr wrap="square" lIns="0" tIns="0" rIns="0" bIns="0" rtlCol="0" anchor="ctr"/>
          <a:lstStyle/>
          <a:p>
            <a:pPr marL="0" indent="0">
              <a:buNone/>
            </a:pPr>
            <a:r>
              <a:rPr lang="en-US" b="1" dirty="0">
                <a:solidFill>
                  <a:srgbClr val="1B2A4A"/>
                </a:solidFill>
                <a:latin typeface="Calibri" pitchFamily="34" charset="0"/>
                <a:ea typeface="Calibri" pitchFamily="34" charset="-122"/>
                <a:cs typeface="Calibri" pitchFamily="34" charset="-120"/>
              </a:rPr>
              <a:t>Specifičnost Firebirda</a:t>
            </a:r>
            <a:endParaRPr lang="en-US" dirty="0"/>
          </a:p>
        </p:txBody>
      </p:sp>
      <p:sp>
        <p:nvSpPr>
          <p:cNvPr id="23" name="Text 21"/>
          <p:cNvSpPr/>
          <p:nvPr/>
        </p:nvSpPr>
        <p:spPr>
          <a:xfrm>
            <a:off x="457200" y="3816236"/>
            <a:ext cx="8519274" cy="815448"/>
          </a:xfrm>
          <a:prstGeom prst="rect">
            <a:avLst/>
          </a:prstGeom>
          <a:noFill/>
          <a:ln/>
        </p:spPr>
        <p:txBody>
          <a:bodyPr wrap="square" lIns="0" tIns="0" rIns="0" bIns="0" rtlCol="0" anchor="t"/>
          <a:lstStyle/>
          <a:p>
            <a:pPr marL="0" indent="0">
              <a:buNone/>
            </a:pPr>
            <a:r>
              <a:rPr lang="en-US" sz="1200" dirty="0">
                <a:solidFill>
                  <a:srgbClr val="475569"/>
                </a:solidFill>
                <a:latin typeface="Calibri" pitchFamily="34" charset="0"/>
                <a:ea typeface="Calibri" pitchFamily="34" charset="-122"/>
                <a:cs typeface="Calibri" pitchFamily="34" charset="-120"/>
              </a:rPr>
              <a:t>Firebird koristi Multi-Generational Architecture (MGA) — svaki UPDATE kreira novu verziju zapisa umesto prepisivanja. </a:t>
            </a:r>
            <a:endParaRPr lang="sr-Latn-RS" sz="1200" dirty="0">
              <a:solidFill>
                <a:srgbClr val="475569"/>
              </a:solidFill>
              <a:latin typeface="Calibri" pitchFamily="34" charset="0"/>
              <a:ea typeface="Calibri" pitchFamily="34" charset="-122"/>
              <a:cs typeface="Calibri" pitchFamily="34" charset="-120"/>
            </a:endParaRPr>
          </a:p>
          <a:p>
            <a:pPr marL="0" indent="0">
              <a:buNone/>
            </a:pPr>
            <a:r>
              <a:rPr lang="en-US" sz="1200" dirty="0" err="1">
                <a:solidFill>
                  <a:srgbClr val="475569"/>
                </a:solidFill>
                <a:latin typeface="Calibri" pitchFamily="34" charset="0"/>
                <a:ea typeface="Calibri" pitchFamily="34" charset="-122"/>
                <a:cs typeface="Calibri" pitchFamily="34" charset="-120"/>
              </a:rPr>
              <a:t>Indeksi</a:t>
            </a:r>
            <a:r>
              <a:rPr lang="en-US" sz="1200" dirty="0">
                <a:solidFill>
                  <a:srgbClr val="475569"/>
                </a:solidFill>
                <a:latin typeface="Calibri" pitchFamily="34" charset="0"/>
                <a:ea typeface="Calibri" pitchFamily="34" charset="-122"/>
                <a:cs typeface="Calibri" pitchFamily="34" charset="-120"/>
              </a:rPr>
              <a:t> moraju pratiti </a:t>
            </a:r>
            <a:r>
              <a:rPr lang="en-US" sz="1200" dirty="0" err="1">
                <a:solidFill>
                  <a:srgbClr val="475569"/>
                </a:solidFill>
                <a:latin typeface="Calibri" pitchFamily="34" charset="0"/>
                <a:ea typeface="Calibri" pitchFamily="34" charset="-122"/>
                <a:cs typeface="Calibri" pitchFamily="34" charset="-120"/>
              </a:rPr>
              <a:t>ove</a:t>
            </a:r>
            <a:r>
              <a:rPr lang="en-US" sz="1200" dirty="0">
                <a:solidFill>
                  <a:srgbClr val="475569"/>
                </a:solidFill>
                <a:latin typeface="Calibri" pitchFamily="34" charset="0"/>
                <a:ea typeface="Calibri" pitchFamily="34" charset="-122"/>
                <a:cs typeface="Calibri" pitchFamily="34" charset="-120"/>
              </a:rPr>
              <a:t> </a:t>
            </a:r>
            <a:r>
              <a:rPr lang="en-US" sz="1200" dirty="0" err="1">
                <a:solidFill>
                  <a:srgbClr val="475569"/>
                </a:solidFill>
                <a:latin typeface="Calibri" pitchFamily="34" charset="0"/>
                <a:ea typeface="Calibri" pitchFamily="34" charset="-122"/>
                <a:cs typeface="Calibri" pitchFamily="34" charset="-120"/>
              </a:rPr>
              <a:t>verzije</a:t>
            </a:r>
            <a:r>
              <a:rPr lang="en-US" sz="1200" dirty="0">
                <a:solidFill>
                  <a:srgbClr val="475569"/>
                </a:solidFill>
                <a:latin typeface="Calibri" pitchFamily="34" charset="0"/>
                <a:ea typeface="Calibri" pitchFamily="34" charset="-122"/>
                <a:cs typeface="Calibri" pitchFamily="34" charset="-120"/>
              </a:rPr>
              <a:t> što dovodi do fenomena </a:t>
            </a:r>
            <a:r>
              <a:rPr lang="en-US" sz="1200" b="1" dirty="0">
                <a:solidFill>
                  <a:srgbClr val="475569"/>
                </a:solidFill>
                <a:latin typeface="Calibri" pitchFamily="34" charset="0"/>
                <a:ea typeface="Calibri" pitchFamily="34" charset="-122"/>
                <a:cs typeface="Calibri" pitchFamily="34" charset="-120"/>
              </a:rPr>
              <a:t>Index Bloat</a:t>
            </a:r>
            <a:r>
              <a:rPr lang="en-US" sz="1200" dirty="0">
                <a:solidFill>
                  <a:srgbClr val="475569"/>
                </a:solidFill>
                <a:latin typeface="Calibri" pitchFamily="34" charset="0"/>
                <a:ea typeface="Calibri" pitchFamily="34" charset="-122"/>
                <a:cs typeface="Calibri" pitchFamily="34" charset="-120"/>
              </a:rPr>
              <a:t>. Razumevanje fizičke strukture indeksa je preduslov za optimizaciju.</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chemeClr val="tx2">
              <a:lumMod val="40000"/>
              <a:lumOff val="60000"/>
            </a:schemeClr>
          </a:solidFill>
          <a:ln/>
        </p:spPr>
        <p:txBody>
          <a:bodyPr/>
          <a:lstStyle/>
          <a:p>
            <a:endParaRPr lang="en-US">
              <a:solidFill>
                <a:schemeClr val="accent2">
                  <a:lumMod val="40000"/>
                  <a:lumOff val="60000"/>
                </a:schemeClr>
              </a:solidFill>
            </a:endParaRPr>
          </a:p>
        </p:txBody>
      </p:sp>
      <p:sp>
        <p:nvSpPr>
          <p:cNvPr id="3" name="Shape 1"/>
          <p:cNvSpPr/>
          <p:nvPr/>
        </p:nvSpPr>
        <p:spPr>
          <a:xfrm>
            <a:off x="137160" y="0"/>
            <a:ext cx="9006840" cy="658368"/>
          </a:xfrm>
          <a:prstGeom prst="rect">
            <a:avLst/>
          </a:prstGeom>
          <a:solidFill>
            <a:srgbClr val="1B2A4A"/>
          </a:solidFill>
          <a:ln/>
        </p:spPr>
        <p:txBody>
          <a:bodyPr/>
          <a:lstStyle/>
          <a:p>
            <a:endParaRPr lang="en-US"/>
          </a:p>
        </p:txBody>
      </p:sp>
      <p:sp>
        <p:nvSpPr>
          <p:cNvPr id="4" name="Text 2"/>
          <p:cNvSpPr/>
          <p:nvPr/>
        </p:nvSpPr>
        <p:spPr>
          <a:xfrm>
            <a:off x="274320" y="64008"/>
            <a:ext cx="859536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Fizička arhitektura — On-Disk Structure (ODS)</a:t>
            </a:r>
            <a:endParaRPr lang="en-US" sz="2800" dirty="0"/>
          </a:p>
        </p:txBody>
      </p:sp>
      <p:sp>
        <p:nvSpPr>
          <p:cNvPr id="5" name="Shape 3"/>
          <p:cNvSpPr/>
          <p:nvPr/>
        </p:nvSpPr>
        <p:spPr>
          <a:xfrm>
            <a:off x="228600" y="777240"/>
            <a:ext cx="8686800" cy="82296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6" name="Shape 4"/>
          <p:cNvSpPr/>
          <p:nvPr/>
        </p:nvSpPr>
        <p:spPr>
          <a:xfrm>
            <a:off x="228600" y="777240"/>
            <a:ext cx="1005840" cy="822960"/>
          </a:xfrm>
          <a:prstGeom prst="rect">
            <a:avLst/>
          </a:prstGeom>
          <a:solidFill>
            <a:srgbClr val="1B2A4A"/>
          </a:solidFill>
          <a:ln/>
        </p:spPr>
        <p:txBody>
          <a:bodyPr/>
          <a:lstStyle/>
          <a:p>
            <a:endParaRPr lang="en-US"/>
          </a:p>
        </p:txBody>
      </p:sp>
      <p:sp>
        <p:nvSpPr>
          <p:cNvPr id="7" name="Text 5"/>
          <p:cNvSpPr/>
          <p:nvPr/>
        </p:nvSpPr>
        <p:spPr>
          <a:xfrm>
            <a:off x="246888" y="960120"/>
            <a:ext cx="969264" cy="457200"/>
          </a:xfrm>
          <a:prstGeom prst="rect">
            <a:avLst/>
          </a:prstGeom>
          <a:noFill/>
          <a:ln/>
        </p:spPr>
        <p:txBody>
          <a:bodyPr wrap="square" lIns="0" tIns="0" rIns="0" bIns="0" rtlCol="0" anchor="ctr"/>
          <a:lstStyle/>
          <a:p>
            <a:pPr marL="0" indent="0" algn="ctr">
              <a:buNone/>
            </a:pPr>
            <a:r>
              <a:rPr lang="en-US" sz="2000" b="1" dirty="0">
                <a:solidFill>
                  <a:srgbClr val="FFFFFF"/>
                </a:solidFill>
                <a:latin typeface="Consolas" pitchFamily="34" charset="0"/>
                <a:ea typeface="Consolas" pitchFamily="34" charset="-122"/>
                <a:cs typeface="Consolas" pitchFamily="34" charset="-120"/>
              </a:rPr>
              <a:t>0x01</a:t>
            </a:r>
            <a:endParaRPr lang="en-US" sz="2000" dirty="0"/>
          </a:p>
        </p:txBody>
      </p:sp>
      <p:sp>
        <p:nvSpPr>
          <p:cNvPr id="8" name="Text 6"/>
          <p:cNvSpPr/>
          <p:nvPr/>
        </p:nvSpPr>
        <p:spPr>
          <a:xfrm>
            <a:off x="1371600" y="868680"/>
            <a:ext cx="3200400" cy="320040"/>
          </a:xfrm>
          <a:prstGeom prst="rect">
            <a:avLst/>
          </a:prstGeom>
          <a:noFill/>
          <a:ln/>
        </p:spPr>
        <p:txBody>
          <a:bodyPr wrap="square" lIns="0" tIns="0" rIns="0" bIns="0" rtlCol="0" anchor="ctr"/>
          <a:lstStyle/>
          <a:p>
            <a:pPr marL="0" indent="0">
              <a:buNone/>
            </a:pPr>
            <a:r>
              <a:rPr lang="en-US" b="1" dirty="0">
                <a:solidFill>
                  <a:srgbClr val="1B2A4A"/>
                </a:solidFill>
                <a:latin typeface="Calibri" pitchFamily="34" charset="0"/>
                <a:ea typeface="Calibri" pitchFamily="34" charset="-122"/>
                <a:cs typeface="Calibri" pitchFamily="34" charset="-120"/>
              </a:rPr>
              <a:t>Header Page</a:t>
            </a:r>
            <a:endParaRPr lang="en-US" dirty="0"/>
          </a:p>
        </p:txBody>
      </p:sp>
      <p:sp>
        <p:nvSpPr>
          <p:cNvPr id="9" name="Text 7"/>
          <p:cNvSpPr/>
          <p:nvPr/>
        </p:nvSpPr>
        <p:spPr>
          <a:xfrm>
            <a:off x="1371600" y="1197864"/>
            <a:ext cx="7406640" cy="320040"/>
          </a:xfrm>
          <a:prstGeom prst="rect">
            <a:avLst/>
          </a:prstGeom>
          <a:noFill/>
          <a:ln/>
        </p:spPr>
        <p:txBody>
          <a:bodyPr wrap="square" lIns="0" tIns="0" rIns="0" bIns="0" rtlCol="0" anchor="ctr"/>
          <a:lstStyle/>
          <a:p>
            <a:pPr marL="0" indent="0">
              <a:buNone/>
            </a:pPr>
            <a:r>
              <a:rPr lang="en-US" sz="1200" dirty="0">
                <a:solidFill>
                  <a:srgbClr val="475569"/>
                </a:solidFill>
                <a:latin typeface="Calibri" pitchFamily="34" charset="0"/>
                <a:ea typeface="Calibri" pitchFamily="34" charset="-122"/>
                <a:cs typeface="Calibri" pitchFamily="34" charset="-120"/>
              </a:rPr>
              <a:t>ODS verzija, Page Size, poslednja transakcija</a:t>
            </a:r>
            <a:endParaRPr lang="en-US" sz="1200" dirty="0"/>
          </a:p>
        </p:txBody>
      </p:sp>
      <p:sp>
        <p:nvSpPr>
          <p:cNvPr id="10" name="Shape 8"/>
          <p:cNvSpPr/>
          <p:nvPr/>
        </p:nvSpPr>
        <p:spPr>
          <a:xfrm>
            <a:off x="228600" y="1755648"/>
            <a:ext cx="8686800" cy="82296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11" name="Shape 9"/>
          <p:cNvSpPr/>
          <p:nvPr/>
        </p:nvSpPr>
        <p:spPr>
          <a:xfrm>
            <a:off x="228600" y="1755648"/>
            <a:ext cx="1005840" cy="822960"/>
          </a:xfrm>
          <a:prstGeom prst="rect">
            <a:avLst/>
          </a:prstGeom>
          <a:solidFill>
            <a:srgbClr val="1B2A4A"/>
          </a:solidFill>
          <a:ln/>
        </p:spPr>
        <p:txBody>
          <a:bodyPr/>
          <a:lstStyle/>
          <a:p>
            <a:endParaRPr lang="en-US"/>
          </a:p>
        </p:txBody>
      </p:sp>
      <p:sp>
        <p:nvSpPr>
          <p:cNvPr id="12" name="Text 10"/>
          <p:cNvSpPr/>
          <p:nvPr/>
        </p:nvSpPr>
        <p:spPr>
          <a:xfrm>
            <a:off x="246888" y="1938528"/>
            <a:ext cx="969264" cy="457200"/>
          </a:xfrm>
          <a:prstGeom prst="rect">
            <a:avLst/>
          </a:prstGeom>
          <a:noFill/>
          <a:ln/>
        </p:spPr>
        <p:txBody>
          <a:bodyPr wrap="square" lIns="0" tIns="0" rIns="0" bIns="0" rtlCol="0" anchor="ctr"/>
          <a:lstStyle/>
          <a:p>
            <a:pPr marL="0" indent="0" algn="ctr">
              <a:buNone/>
            </a:pPr>
            <a:r>
              <a:rPr lang="en-US" sz="2000" b="1" dirty="0">
                <a:solidFill>
                  <a:srgbClr val="FFFFFF"/>
                </a:solidFill>
                <a:latin typeface="Consolas" pitchFamily="34" charset="0"/>
                <a:ea typeface="Consolas" pitchFamily="34" charset="-122"/>
                <a:cs typeface="Consolas" pitchFamily="34" charset="-120"/>
              </a:rPr>
              <a:t>0x05</a:t>
            </a:r>
            <a:endParaRPr lang="en-US" sz="2000" dirty="0"/>
          </a:p>
        </p:txBody>
      </p:sp>
      <p:sp>
        <p:nvSpPr>
          <p:cNvPr id="13" name="Text 11"/>
          <p:cNvSpPr/>
          <p:nvPr/>
        </p:nvSpPr>
        <p:spPr>
          <a:xfrm>
            <a:off x="1371600" y="1847088"/>
            <a:ext cx="3200400" cy="320040"/>
          </a:xfrm>
          <a:prstGeom prst="rect">
            <a:avLst/>
          </a:prstGeom>
          <a:noFill/>
          <a:ln/>
        </p:spPr>
        <p:txBody>
          <a:bodyPr wrap="square" lIns="0" tIns="0" rIns="0" bIns="0" rtlCol="0" anchor="ctr"/>
          <a:lstStyle/>
          <a:p>
            <a:pPr marL="0" indent="0">
              <a:buNone/>
            </a:pPr>
            <a:r>
              <a:rPr lang="en-US" b="1" dirty="0">
                <a:solidFill>
                  <a:srgbClr val="1B2A4A"/>
                </a:solidFill>
                <a:latin typeface="Calibri" pitchFamily="34" charset="0"/>
                <a:ea typeface="Calibri" pitchFamily="34" charset="-122"/>
                <a:cs typeface="Calibri" pitchFamily="34" charset="-120"/>
              </a:rPr>
              <a:t>Data Page</a:t>
            </a:r>
            <a:endParaRPr lang="en-US" dirty="0"/>
          </a:p>
        </p:txBody>
      </p:sp>
      <p:sp>
        <p:nvSpPr>
          <p:cNvPr id="14" name="Text 12"/>
          <p:cNvSpPr/>
          <p:nvPr/>
        </p:nvSpPr>
        <p:spPr>
          <a:xfrm>
            <a:off x="1371600" y="2176272"/>
            <a:ext cx="7406640" cy="320040"/>
          </a:xfrm>
          <a:prstGeom prst="rect">
            <a:avLst/>
          </a:prstGeom>
          <a:noFill/>
          <a:ln/>
        </p:spPr>
        <p:txBody>
          <a:bodyPr wrap="square" lIns="0" tIns="0" rIns="0" bIns="0" rtlCol="0" anchor="ctr"/>
          <a:lstStyle/>
          <a:p>
            <a:pPr marL="0" indent="0">
              <a:buNone/>
            </a:pPr>
            <a:r>
              <a:rPr lang="en-US" sz="1200" dirty="0">
                <a:solidFill>
                  <a:srgbClr val="475569"/>
                </a:solidFill>
                <a:latin typeface="Calibri" pitchFamily="34" charset="0"/>
                <a:ea typeface="Calibri" pitchFamily="34" charset="-122"/>
                <a:cs typeface="Calibri" pitchFamily="34" charset="-120"/>
              </a:rPr>
              <a:t>Stvarni podaci — redovi tabela</a:t>
            </a:r>
            <a:endParaRPr lang="en-US" sz="1200" dirty="0"/>
          </a:p>
        </p:txBody>
      </p:sp>
      <p:sp>
        <p:nvSpPr>
          <p:cNvPr id="15" name="Shape 13"/>
          <p:cNvSpPr/>
          <p:nvPr/>
        </p:nvSpPr>
        <p:spPr>
          <a:xfrm>
            <a:off x="228600" y="2734056"/>
            <a:ext cx="8686800" cy="82296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16" name="Shape 14"/>
          <p:cNvSpPr/>
          <p:nvPr/>
        </p:nvSpPr>
        <p:spPr>
          <a:xfrm>
            <a:off x="228600" y="2734056"/>
            <a:ext cx="1005840" cy="822960"/>
          </a:xfrm>
          <a:prstGeom prst="rect">
            <a:avLst/>
          </a:prstGeom>
          <a:solidFill>
            <a:schemeClr val="bg2">
              <a:lumMod val="75000"/>
            </a:schemeClr>
          </a:solidFill>
          <a:ln/>
        </p:spPr>
        <p:txBody>
          <a:bodyPr/>
          <a:lstStyle/>
          <a:p>
            <a:endParaRPr lang="en-US"/>
          </a:p>
        </p:txBody>
      </p:sp>
      <p:sp>
        <p:nvSpPr>
          <p:cNvPr id="17" name="Text 15"/>
          <p:cNvSpPr/>
          <p:nvPr/>
        </p:nvSpPr>
        <p:spPr>
          <a:xfrm>
            <a:off x="246888" y="2916936"/>
            <a:ext cx="969264" cy="457200"/>
          </a:xfrm>
          <a:prstGeom prst="rect">
            <a:avLst/>
          </a:prstGeom>
          <a:noFill/>
          <a:ln/>
        </p:spPr>
        <p:txBody>
          <a:bodyPr wrap="square" lIns="0" tIns="0" rIns="0" bIns="0" rtlCol="0" anchor="ctr"/>
          <a:lstStyle/>
          <a:p>
            <a:pPr marL="0" indent="0" algn="ctr">
              <a:buNone/>
            </a:pPr>
            <a:r>
              <a:rPr lang="en-US" sz="2000" b="1" dirty="0">
                <a:solidFill>
                  <a:srgbClr val="FFFFFF"/>
                </a:solidFill>
                <a:latin typeface="Consolas" pitchFamily="34" charset="0"/>
                <a:ea typeface="Consolas" pitchFamily="34" charset="-122"/>
                <a:cs typeface="Consolas" pitchFamily="34" charset="-120"/>
              </a:rPr>
              <a:t>0x06</a:t>
            </a:r>
            <a:endParaRPr lang="en-US" sz="2000" dirty="0"/>
          </a:p>
        </p:txBody>
      </p:sp>
      <p:sp>
        <p:nvSpPr>
          <p:cNvPr id="18" name="Text 16"/>
          <p:cNvSpPr/>
          <p:nvPr/>
        </p:nvSpPr>
        <p:spPr>
          <a:xfrm>
            <a:off x="1371600" y="2825496"/>
            <a:ext cx="3200400" cy="320040"/>
          </a:xfrm>
          <a:prstGeom prst="rect">
            <a:avLst/>
          </a:prstGeom>
          <a:noFill/>
          <a:ln/>
        </p:spPr>
        <p:txBody>
          <a:bodyPr wrap="square" lIns="0" tIns="0" rIns="0" bIns="0" rtlCol="0" anchor="ctr"/>
          <a:lstStyle/>
          <a:p>
            <a:pPr marL="0" indent="0">
              <a:buNone/>
            </a:pPr>
            <a:r>
              <a:rPr lang="en-US" b="1" dirty="0">
                <a:solidFill>
                  <a:srgbClr val="1B2A4A"/>
                </a:solidFill>
                <a:latin typeface="Calibri" pitchFamily="34" charset="0"/>
                <a:ea typeface="Calibri" pitchFamily="34" charset="-122"/>
                <a:cs typeface="Calibri" pitchFamily="34" charset="-120"/>
              </a:rPr>
              <a:t>Index Root Page</a:t>
            </a:r>
            <a:endParaRPr lang="en-US" dirty="0"/>
          </a:p>
        </p:txBody>
      </p:sp>
      <p:sp>
        <p:nvSpPr>
          <p:cNvPr id="19" name="Text 17"/>
          <p:cNvSpPr/>
          <p:nvPr/>
        </p:nvSpPr>
        <p:spPr>
          <a:xfrm>
            <a:off x="1371600" y="3154680"/>
            <a:ext cx="7406640" cy="320040"/>
          </a:xfrm>
          <a:prstGeom prst="rect">
            <a:avLst/>
          </a:prstGeom>
          <a:noFill/>
          <a:ln/>
        </p:spPr>
        <p:txBody>
          <a:bodyPr wrap="square" lIns="0" tIns="0" rIns="0" bIns="0" rtlCol="0" anchor="ctr"/>
          <a:lstStyle/>
          <a:p>
            <a:pPr marL="0" indent="0">
              <a:buNone/>
            </a:pPr>
            <a:r>
              <a:rPr lang="en-US" sz="1200" dirty="0">
                <a:solidFill>
                  <a:srgbClr val="475569"/>
                </a:solidFill>
                <a:latin typeface="Calibri" pitchFamily="34" charset="0"/>
                <a:ea typeface="Calibri" pitchFamily="34" charset="-122"/>
                <a:cs typeface="Calibri" pitchFamily="34" charset="-120"/>
              </a:rPr>
              <a:t>Katalog svih indeksa i pokazivači na B+ stabla</a:t>
            </a:r>
            <a:endParaRPr lang="en-US" sz="1200" dirty="0"/>
          </a:p>
        </p:txBody>
      </p:sp>
      <p:sp>
        <p:nvSpPr>
          <p:cNvPr id="20" name="Shape 18"/>
          <p:cNvSpPr/>
          <p:nvPr/>
        </p:nvSpPr>
        <p:spPr>
          <a:xfrm>
            <a:off x="228600" y="3712464"/>
            <a:ext cx="8686800" cy="82296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21" name="Shape 19"/>
          <p:cNvSpPr/>
          <p:nvPr/>
        </p:nvSpPr>
        <p:spPr>
          <a:xfrm>
            <a:off x="228600" y="3712464"/>
            <a:ext cx="1005840" cy="822960"/>
          </a:xfrm>
          <a:prstGeom prst="rect">
            <a:avLst/>
          </a:prstGeom>
          <a:solidFill>
            <a:schemeClr val="bg2">
              <a:lumMod val="75000"/>
            </a:schemeClr>
          </a:solidFill>
          <a:ln/>
        </p:spPr>
        <p:txBody>
          <a:bodyPr/>
          <a:lstStyle/>
          <a:p>
            <a:endParaRPr lang="en-US"/>
          </a:p>
        </p:txBody>
      </p:sp>
      <p:sp>
        <p:nvSpPr>
          <p:cNvPr id="22" name="Text 20"/>
          <p:cNvSpPr/>
          <p:nvPr/>
        </p:nvSpPr>
        <p:spPr>
          <a:xfrm>
            <a:off x="246888" y="3895344"/>
            <a:ext cx="969264" cy="457200"/>
          </a:xfrm>
          <a:prstGeom prst="rect">
            <a:avLst/>
          </a:prstGeom>
          <a:noFill/>
          <a:ln/>
        </p:spPr>
        <p:txBody>
          <a:bodyPr wrap="square" lIns="0" tIns="0" rIns="0" bIns="0" rtlCol="0" anchor="ctr"/>
          <a:lstStyle/>
          <a:p>
            <a:pPr marL="0" indent="0" algn="ctr">
              <a:buNone/>
            </a:pPr>
            <a:r>
              <a:rPr lang="en-US" sz="2000" b="1" dirty="0">
                <a:solidFill>
                  <a:srgbClr val="FFFFFF"/>
                </a:solidFill>
                <a:latin typeface="Consolas" pitchFamily="34" charset="0"/>
                <a:ea typeface="Consolas" pitchFamily="34" charset="-122"/>
                <a:cs typeface="Consolas" pitchFamily="34" charset="-120"/>
              </a:rPr>
              <a:t>0x07</a:t>
            </a:r>
            <a:endParaRPr lang="en-US" sz="2000" dirty="0"/>
          </a:p>
        </p:txBody>
      </p:sp>
      <p:sp>
        <p:nvSpPr>
          <p:cNvPr id="23" name="Text 21"/>
          <p:cNvSpPr/>
          <p:nvPr/>
        </p:nvSpPr>
        <p:spPr>
          <a:xfrm>
            <a:off x="1371600" y="3803904"/>
            <a:ext cx="3200400" cy="320040"/>
          </a:xfrm>
          <a:prstGeom prst="rect">
            <a:avLst/>
          </a:prstGeom>
          <a:noFill/>
          <a:ln/>
        </p:spPr>
        <p:txBody>
          <a:bodyPr wrap="square" lIns="0" tIns="0" rIns="0" bIns="0" rtlCol="0" anchor="ctr"/>
          <a:lstStyle/>
          <a:p>
            <a:pPr marL="0" indent="0">
              <a:buNone/>
            </a:pPr>
            <a:r>
              <a:rPr lang="en-US" b="1" dirty="0">
                <a:solidFill>
                  <a:srgbClr val="1B2A4A"/>
                </a:solidFill>
                <a:latin typeface="Calibri" pitchFamily="34" charset="0"/>
                <a:ea typeface="Calibri" pitchFamily="34" charset="-122"/>
                <a:cs typeface="Calibri" pitchFamily="34" charset="-120"/>
              </a:rPr>
              <a:t>Index B-Tree</a:t>
            </a:r>
            <a:r>
              <a:rPr lang="sr-Latn-RS" b="1" dirty="0">
                <a:solidFill>
                  <a:srgbClr val="1B2A4A"/>
                </a:solidFill>
                <a:latin typeface="Calibri" pitchFamily="34" charset="0"/>
                <a:ea typeface="Calibri" pitchFamily="34" charset="-122"/>
                <a:cs typeface="Calibri" pitchFamily="34" charset="-120"/>
              </a:rPr>
              <a:t> Page</a:t>
            </a:r>
            <a:endParaRPr lang="en-US" dirty="0"/>
          </a:p>
        </p:txBody>
      </p:sp>
      <p:sp>
        <p:nvSpPr>
          <p:cNvPr id="24" name="Text 22"/>
          <p:cNvSpPr/>
          <p:nvPr/>
        </p:nvSpPr>
        <p:spPr>
          <a:xfrm>
            <a:off x="1371600" y="4133088"/>
            <a:ext cx="7406640" cy="320040"/>
          </a:xfrm>
          <a:prstGeom prst="rect">
            <a:avLst/>
          </a:prstGeom>
          <a:noFill/>
          <a:ln/>
        </p:spPr>
        <p:txBody>
          <a:bodyPr wrap="square" lIns="0" tIns="0" rIns="0" bIns="0" rtlCol="0" anchor="ctr"/>
          <a:lstStyle/>
          <a:p>
            <a:pPr marL="0" indent="0">
              <a:buNone/>
            </a:pPr>
            <a:r>
              <a:rPr lang="en-US" sz="1200" dirty="0">
                <a:solidFill>
                  <a:srgbClr val="475569"/>
                </a:solidFill>
                <a:latin typeface="Calibri" pitchFamily="34" charset="0"/>
                <a:ea typeface="Calibri" pitchFamily="34" charset="-122"/>
                <a:cs typeface="Calibri" pitchFamily="34" charset="-120"/>
              </a:rPr>
              <a:t>Sortirani ključevi i navigacioni pokazivači</a:t>
            </a:r>
            <a:endParaRPr lang="en-US" sz="1200" dirty="0"/>
          </a:p>
        </p:txBody>
      </p:sp>
      <p:sp>
        <p:nvSpPr>
          <p:cNvPr id="25" name="Text 23"/>
          <p:cNvSpPr/>
          <p:nvPr/>
        </p:nvSpPr>
        <p:spPr>
          <a:xfrm>
            <a:off x="228600" y="4709160"/>
            <a:ext cx="8686800" cy="320040"/>
          </a:xfrm>
          <a:prstGeom prst="rect">
            <a:avLst/>
          </a:prstGeom>
          <a:noFill/>
          <a:ln/>
        </p:spPr>
        <p:txBody>
          <a:bodyPr wrap="square" lIns="0" tIns="0" rIns="0" bIns="0" rtlCol="0" anchor="ctr"/>
          <a:lstStyle/>
          <a:p>
            <a:pPr marL="0" indent="0" algn="ctr">
              <a:buNone/>
            </a:pPr>
            <a:r>
              <a:rPr lang="en-US" sz="1600" b="1" dirty="0">
                <a:solidFill>
                  <a:srgbClr val="1B2A4A"/>
                </a:solidFill>
                <a:latin typeface="Calibri" pitchFamily="34" charset="0"/>
                <a:ea typeface="Calibri" pitchFamily="34" charset="-122"/>
                <a:cs typeface="Calibri" pitchFamily="34" charset="-120"/>
              </a:rPr>
              <a:t>Fizička adresa = Broj stranice × Page Size  →  direktno adresiranje bez pretraživanja</a:t>
            </a:r>
            <a:endParaRPr lang="en-US" sz="1600" b="1" dirty="0">
              <a:solidFill>
                <a:srgbClr val="1B2A4A"/>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chemeClr val="tx2">
              <a:lumMod val="40000"/>
              <a:lumOff val="60000"/>
            </a:schemeClr>
          </a:solidFill>
          <a:ln/>
        </p:spPr>
        <p:txBody>
          <a:bodyPr/>
          <a:lstStyle/>
          <a:p>
            <a:endParaRPr lang="en-US"/>
          </a:p>
        </p:txBody>
      </p:sp>
      <p:sp>
        <p:nvSpPr>
          <p:cNvPr id="3" name="Shape 1"/>
          <p:cNvSpPr/>
          <p:nvPr/>
        </p:nvSpPr>
        <p:spPr>
          <a:xfrm>
            <a:off x="137160" y="0"/>
            <a:ext cx="9006840" cy="658368"/>
          </a:xfrm>
          <a:prstGeom prst="rect">
            <a:avLst/>
          </a:prstGeom>
          <a:solidFill>
            <a:srgbClr val="1B2A4A"/>
          </a:solidFill>
          <a:ln/>
        </p:spPr>
        <p:txBody>
          <a:bodyPr/>
          <a:lstStyle/>
          <a:p>
            <a:endParaRPr lang="en-US"/>
          </a:p>
        </p:txBody>
      </p:sp>
      <p:sp>
        <p:nvSpPr>
          <p:cNvPr id="4" name="Text 2"/>
          <p:cNvSpPr/>
          <p:nvPr/>
        </p:nvSpPr>
        <p:spPr>
          <a:xfrm>
            <a:off x="274320" y="64008"/>
            <a:ext cx="859536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RDB$DB_KEY — fizička adresa svakog zapisa</a:t>
            </a:r>
            <a:endParaRPr lang="en-US" sz="2800" dirty="0"/>
          </a:p>
        </p:txBody>
      </p:sp>
      <p:sp>
        <p:nvSpPr>
          <p:cNvPr id="5" name="Shape 3"/>
          <p:cNvSpPr/>
          <p:nvPr/>
        </p:nvSpPr>
        <p:spPr>
          <a:xfrm>
            <a:off x="228600" y="777240"/>
            <a:ext cx="8686800" cy="1234440"/>
          </a:xfrm>
          <a:prstGeom prst="rect">
            <a:avLst/>
          </a:prstGeom>
          <a:solidFill>
            <a:srgbClr val="1B2A4A"/>
          </a:solidFill>
          <a:ln>
            <a:noFill/>
          </a:ln>
          <a:effectLst>
            <a:outerShdw blurRad="50800" dist="38100" dir="5400000" algn="t" rotWithShape="0">
              <a:prstClr val="black">
                <a:alpha val="40000"/>
              </a:prstClr>
            </a:outerShdw>
          </a:effectLst>
        </p:spPr>
        <p:txBody>
          <a:bodyPr/>
          <a:lstStyle/>
          <a:p>
            <a:endParaRPr lang="en-US">
              <a:solidFill>
                <a:schemeClr val="bg1"/>
              </a:solidFill>
            </a:endParaRPr>
          </a:p>
        </p:txBody>
      </p:sp>
      <p:sp>
        <p:nvSpPr>
          <p:cNvPr id="6" name="Text 4"/>
          <p:cNvSpPr/>
          <p:nvPr/>
        </p:nvSpPr>
        <p:spPr>
          <a:xfrm>
            <a:off x="320040" y="868680"/>
            <a:ext cx="8412480"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Calibri" pitchFamily="34" charset="0"/>
                <a:ea typeface="Calibri" pitchFamily="34" charset="-122"/>
                <a:cs typeface="Calibri" pitchFamily="34" charset="-120"/>
              </a:rPr>
              <a:t>8 bajtova = Page Number (4B) + Slot Index (4B)</a:t>
            </a:r>
            <a:endParaRPr lang="en-US" sz="2000" dirty="0">
              <a:solidFill>
                <a:schemeClr val="bg1"/>
              </a:solidFill>
            </a:endParaRPr>
          </a:p>
        </p:txBody>
      </p:sp>
      <p:sp>
        <p:nvSpPr>
          <p:cNvPr id="7" name="Text 5"/>
          <p:cNvSpPr/>
          <p:nvPr/>
        </p:nvSpPr>
        <p:spPr>
          <a:xfrm>
            <a:off x="320040" y="1353312"/>
            <a:ext cx="8412480" cy="457200"/>
          </a:xfrm>
          <a:prstGeom prst="rect">
            <a:avLst/>
          </a:prstGeom>
          <a:noFill/>
          <a:ln/>
        </p:spPr>
        <p:txBody>
          <a:bodyPr wrap="square" lIns="0" tIns="0" rIns="0" bIns="0" rtlCol="0" anchor="ctr"/>
          <a:lstStyle/>
          <a:p>
            <a:pPr marL="0" indent="0" algn="ctr">
              <a:buNone/>
            </a:pPr>
            <a:r>
              <a:rPr lang="en-US" sz="1400" b="1" dirty="0">
                <a:solidFill>
                  <a:schemeClr val="bg1"/>
                </a:solidFill>
                <a:latin typeface="Calibri" pitchFamily="34" charset="0"/>
                <a:ea typeface="Calibri" pitchFamily="34" charset="-122"/>
                <a:cs typeface="Calibri" pitchFamily="34" charset="-120"/>
              </a:rPr>
              <a:t>Indeksi u listovima B+ stabla čuvaju RDB$DB_KEY — ne vrednosti podataka.</a:t>
            </a:r>
            <a:endParaRPr lang="en-US" sz="1400" b="1" dirty="0">
              <a:solidFill>
                <a:schemeClr val="bg1"/>
              </a:solidFill>
            </a:endParaRPr>
          </a:p>
        </p:txBody>
      </p:sp>
      <p:sp>
        <p:nvSpPr>
          <p:cNvPr id="8" name="Shape 6"/>
          <p:cNvSpPr/>
          <p:nvPr/>
        </p:nvSpPr>
        <p:spPr>
          <a:xfrm>
            <a:off x="228600" y="2148840"/>
            <a:ext cx="4206240" cy="118872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9" name="Shape 7"/>
          <p:cNvSpPr/>
          <p:nvPr/>
        </p:nvSpPr>
        <p:spPr>
          <a:xfrm>
            <a:off x="228600" y="2148840"/>
            <a:ext cx="64008" cy="1188720"/>
          </a:xfrm>
          <a:prstGeom prst="rect">
            <a:avLst/>
          </a:prstGeom>
          <a:solidFill>
            <a:schemeClr val="bg2">
              <a:lumMod val="75000"/>
            </a:schemeClr>
          </a:solidFill>
          <a:ln/>
        </p:spPr>
        <p:txBody>
          <a:bodyPr/>
          <a:lstStyle/>
          <a:p>
            <a:endParaRPr lang="en-US"/>
          </a:p>
        </p:txBody>
      </p:sp>
      <p:sp>
        <p:nvSpPr>
          <p:cNvPr id="10" name="Text 8"/>
          <p:cNvSpPr/>
          <p:nvPr/>
        </p:nvSpPr>
        <p:spPr>
          <a:xfrm>
            <a:off x="365760" y="2221992"/>
            <a:ext cx="4023360" cy="292608"/>
          </a:xfrm>
          <a:prstGeom prst="rect">
            <a:avLst/>
          </a:prstGeom>
          <a:noFill/>
          <a:ln/>
        </p:spPr>
        <p:txBody>
          <a:bodyPr wrap="square" lIns="0" tIns="0" rIns="0" bIns="0" rtlCol="0" anchor="ctr"/>
          <a:lstStyle/>
          <a:p>
            <a:pPr marL="0" indent="0">
              <a:buNone/>
            </a:pPr>
            <a:r>
              <a:rPr lang="en-US" b="1" dirty="0">
                <a:solidFill>
                  <a:srgbClr val="1B2A4A"/>
                </a:solidFill>
                <a:latin typeface="Calibri" pitchFamily="34" charset="0"/>
                <a:ea typeface="Calibri" pitchFamily="34" charset="-122"/>
                <a:cs typeface="Calibri" pitchFamily="34" charset="-120"/>
              </a:rPr>
              <a:t>Page Number (4 bajta)</a:t>
            </a:r>
            <a:endParaRPr lang="en-US" dirty="0"/>
          </a:p>
        </p:txBody>
      </p:sp>
      <p:sp>
        <p:nvSpPr>
          <p:cNvPr id="11" name="Text 9"/>
          <p:cNvSpPr/>
          <p:nvPr/>
        </p:nvSpPr>
        <p:spPr>
          <a:xfrm>
            <a:off x="365760" y="2628900"/>
            <a:ext cx="4023360" cy="635507"/>
          </a:xfrm>
          <a:prstGeom prst="rect">
            <a:avLst/>
          </a:prstGeom>
          <a:noFill/>
          <a:ln/>
        </p:spPr>
        <p:txBody>
          <a:bodyPr wrap="square" lIns="0" tIns="0" rIns="0" bIns="0" rtlCol="0" anchor="t"/>
          <a:lstStyle/>
          <a:p>
            <a:pPr marL="0" indent="0">
              <a:buNone/>
            </a:pPr>
            <a:r>
              <a:rPr lang="en-US" sz="1400" dirty="0">
                <a:solidFill>
                  <a:srgbClr val="475569"/>
                </a:solidFill>
                <a:latin typeface="Calibri" pitchFamily="34" charset="0"/>
                <a:ea typeface="Calibri" pitchFamily="34" charset="-122"/>
                <a:cs typeface="Calibri" pitchFamily="34" charset="-120"/>
              </a:rPr>
              <a:t>Direktan skok na fizičku lokaciju u .fdb fajlu.</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Baza ne pretražuje — izračunava </a:t>
            </a:r>
            <a:r>
              <a:rPr lang="en-US" sz="1400" dirty="0" err="1">
                <a:solidFill>
                  <a:srgbClr val="475569"/>
                </a:solidFill>
                <a:latin typeface="Calibri" pitchFamily="34" charset="0"/>
                <a:ea typeface="Calibri" pitchFamily="34" charset="-122"/>
                <a:cs typeface="Calibri" pitchFamily="34" charset="-120"/>
              </a:rPr>
              <a:t>adresu</a:t>
            </a:r>
            <a:r>
              <a:rPr lang="en-US" sz="1400" dirty="0">
                <a:solidFill>
                  <a:srgbClr val="475569"/>
                </a:solidFill>
                <a:latin typeface="Calibri" pitchFamily="34" charset="0"/>
                <a:ea typeface="Calibri" pitchFamily="34" charset="-122"/>
                <a:cs typeface="Calibri" pitchFamily="34" charset="-120"/>
              </a:rPr>
              <a:t> </a:t>
            </a:r>
            <a:r>
              <a:rPr lang="en-US" sz="1400" dirty="0" err="1">
                <a:solidFill>
                  <a:srgbClr val="475569"/>
                </a:solidFill>
                <a:latin typeface="Calibri" pitchFamily="34" charset="0"/>
                <a:ea typeface="Calibri" pitchFamily="34" charset="-122"/>
                <a:cs typeface="Calibri" pitchFamily="34" charset="-120"/>
              </a:rPr>
              <a:t>trenutno</a:t>
            </a:r>
            <a:endParaRPr lang="en-US" sz="1400" dirty="0"/>
          </a:p>
        </p:txBody>
      </p:sp>
      <p:sp>
        <p:nvSpPr>
          <p:cNvPr id="12" name="Shape 10"/>
          <p:cNvSpPr/>
          <p:nvPr/>
        </p:nvSpPr>
        <p:spPr>
          <a:xfrm>
            <a:off x="4709160" y="2148840"/>
            <a:ext cx="4206240" cy="118872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13" name="Shape 11"/>
          <p:cNvSpPr/>
          <p:nvPr/>
        </p:nvSpPr>
        <p:spPr>
          <a:xfrm>
            <a:off x="4709160" y="2148840"/>
            <a:ext cx="64008" cy="1188720"/>
          </a:xfrm>
          <a:prstGeom prst="rect">
            <a:avLst/>
          </a:prstGeom>
          <a:solidFill>
            <a:schemeClr val="bg1">
              <a:lumMod val="50000"/>
            </a:schemeClr>
          </a:solidFill>
          <a:ln/>
        </p:spPr>
        <p:txBody>
          <a:bodyPr/>
          <a:lstStyle/>
          <a:p>
            <a:endParaRPr lang="en-US"/>
          </a:p>
        </p:txBody>
      </p:sp>
      <p:sp>
        <p:nvSpPr>
          <p:cNvPr id="14" name="Text 12"/>
          <p:cNvSpPr/>
          <p:nvPr/>
        </p:nvSpPr>
        <p:spPr>
          <a:xfrm>
            <a:off x="4846320" y="2221992"/>
            <a:ext cx="4023360" cy="292608"/>
          </a:xfrm>
          <a:prstGeom prst="rect">
            <a:avLst/>
          </a:prstGeom>
          <a:noFill/>
          <a:ln/>
        </p:spPr>
        <p:txBody>
          <a:bodyPr wrap="square" lIns="0" tIns="0" rIns="0" bIns="0" rtlCol="0" anchor="ctr"/>
          <a:lstStyle/>
          <a:p>
            <a:pPr marL="0" indent="0">
              <a:buNone/>
            </a:pPr>
            <a:r>
              <a:rPr lang="en-US" b="1" dirty="0">
                <a:solidFill>
                  <a:srgbClr val="1B2A4A"/>
                </a:solidFill>
                <a:latin typeface="Calibri" pitchFamily="34" charset="0"/>
                <a:ea typeface="Calibri" pitchFamily="34" charset="-122"/>
                <a:cs typeface="Calibri" pitchFamily="34" charset="-120"/>
              </a:rPr>
              <a:t>Slot Index (4 bajta)</a:t>
            </a:r>
            <a:endParaRPr lang="en-US" dirty="0"/>
          </a:p>
        </p:txBody>
      </p:sp>
      <p:sp>
        <p:nvSpPr>
          <p:cNvPr id="15" name="Text 13"/>
          <p:cNvSpPr/>
          <p:nvPr/>
        </p:nvSpPr>
        <p:spPr>
          <a:xfrm>
            <a:off x="4846320" y="2628900"/>
            <a:ext cx="4023360" cy="635508"/>
          </a:xfrm>
          <a:prstGeom prst="rect">
            <a:avLst/>
          </a:prstGeom>
          <a:noFill/>
          <a:ln/>
        </p:spPr>
        <p:txBody>
          <a:bodyPr wrap="square" lIns="0" tIns="0" rIns="0" bIns="0" rtlCol="0" anchor="t"/>
          <a:lstStyle/>
          <a:p>
            <a:pPr marL="0" indent="0">
              <a:buNone/>
            </a:pPr>
            <a:r>
              <a:rPr lang="sr-Latn-RS" sz="1400" dirty="0">
                <a:solidFill>
                  <a:srgbClr val="475569"/>
                </a:solidFill>
                <a:latin typeface="Calibri" pitchFamily="34" charset="0"/>
                <a:ea typeface="Calibri" pitchFamily="34" charset="-122"/>
                <a:cs typeface="Calibri" pitchFamily="34" charset="-120"/>
              </a:rPr>
              <a:t>Pozicija</a:t>
            </a:r>
            <a:r>
              <a:rPr lang="en-US" sz="1400" dirty="0">
                <a:solidFill>
                  <a:srgbClr val="475569"/>
                </a:solidFill>
                <a:latin typeface="Calibri" pitchFamily="34" charset="0"/>
                <a:ea typeface="Calibri" pitchFamily="34" charset="-122"/>
                <a:cs typeface="Calibri" pitchFamily="34" charset="-120"/>
              </a:rPr>
              <a:t> u tabeli slotova na dnu Data Page</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Omogućava pomeranje zapisa bez </a:t>
            </a:r>
            <a:r>
              <a:rPr lang="en-US" sz="1400" dirty="0" err="1">
                <a:solidFill>
                  <a:srgbClr val="475569"/>
                </a:solidFill>
                <a:latin typeface="Calibri" pitchFamily="34" charset="0"/>
                <a:ea typeface="Calibri" pitchFamily="34" charset="-122"/>
                <a:cs typeface="Calibri" pitchFamily="34" charset="-120"/>
              </a:rPr>
              <a:t>ažuriranja</a:t>
            </a:r>
            <a:r>
              <a:rPr lang="en-US" sz="1400" dirty="0">
                <a:solidFill>
                  <a:srgbClr val="475569"/>
                </a:solidFill>
                <a:latin typeface="Calibri" pitchFamily="34" charset="0"/>
                <a:ea typeface="Calibri" pitchFamily="34" charset="-122"/>
                <a:cs typeface="Calibri" pitchFamily="34" charset="-120"/>
              </a:rPr>
              <a:t> </a:t>
            </a:r>
            <a:r>
              <a:rPr lang="en-US" sz="1400" dirty="0" err="1">
                <a:solidFill>
                  <a:srgbClr val="475569"/>
                </a:solidFill>
                <a:latin typeface="Calibri" pitchFamily="34" charset="0"/>
                <a:ea typeface="Calibri" pitchFamily="34" charset="-122"/>
                <a:cs typeface="Calibri" pitchFamily="34" charset="-120"/>
              </a:rPr>
              <a:t>indeksa</a:t>
            </a:r>
            <a:endParaRPr lang="en-US" sz="1400" dirty="0"/>
          </a:p>
        </p:txBody>
      </p:sp>
      <p:sp>
        <p:nvSpPr>
          <p:cNvPr id="16" name="Shape 14"/>
          <p:cNvSpPr/>
          <p:nvPr/>
        </p:nvSpPr>
        <p:spPr>
          <a:xfrm>
            <a:off x="228600" y="3474720"/>
            <a:ext cx="8686800" cy="118872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17" name="Shape 15"/>
          <p:cNvSpPr/>
          <p:nvPr/>
        </p:nvSpPr>
        <p:spPr>
          <a:xfrm>
            <a:off x="228600" y="3474720"/>
            <a:ext cx="64008" cy="1188720"/>
          </a:xfrm>
          <a:prstGeom prst="rect">
            <a:avLst/>
          </a:prstGeom>
          <a:solidFill>
            <a:srgbClr val="1B2A4A"/>
          </a:solidFill>
          <a:ln/>
        </p:spPr>
        <p:txBody>
          <a:bodyPr/>
          <a:lstStyle/>
          <a:p>
            <a:endParaRPr lang="en-US"/>
          </a:p>
        </p:txBody>
      </p:sp>
      <p:sp>
        <p:nvSpPr>
          <p:cNvPr id="18" name="Text 16"/>
          <p:cNvSpPr/>
          <p:nvPr/>
        </p:nvSpPr>
        <p:spPr>
          <a:xfrm>
            <a:off x="365760" y="3547872"/>
            <a:ext cx="8503920" cy="292608"/>
          </a:xfrm>
          <a:prstGeom prst="rect">
            <a:avLst/>
          </a:prstGeom>
          <a:noFill/>
          <a:ln/>
        </p:spPr>
        <p:txBody>
          <a:bodyPr wrap="square" lIns="0" tIns="0" rIns="0" bIns="0" rtlCol="0" anchor="ctr"/>
          <a:lstStyle/>
          <a:p>
            <a:pPr marL="0" indent="0">
              <a:buNone/>
            </a:pPr>
            <a:r>
              <a:rPr lang="en-US" b="1" dirty="0">
                <a:solidFill>
                  <a:srgbClr val="1B2A4A"/>
                </a:solidFill>
                <a:latin typeface="Calibri" pitchFamily="34" charset="0"/>
                <a:ea typeface="Calibri" pitchFamily="34" charset="-122"/>
                <a:cs typeface="Calibri" pitchFamily="34" charset="-120"/>
              </a:rPr>
              <a:t>Zašto je ovo važno?</a:t>
            </a:r>
            <a:endParaRPr lang="en-US" dirty="0"/>
          </a:p>
        </p:txBody>
      </p:sp>
      <p:sp>
        <p:nvSpPr>
          <p:cNvPr id="19" name="Text 17"/>
          <p:cNvSpPr/>
          <p:nvPr/>
        </p:nvSpPr>
        <p:spPr>
          <a:xfrm>
            <a:off x="365760" y="3977640"/>
            <a:ext cx="8503920" cy="612648"/>
          </a:xfrm>
          <a:prstGeom prst="rect">
            <a:avLst/>
          </a:prstGeom>
          <a:noFill/>
          <a:ln/>
        </p:spPr>
        <p:txBody>
          <a:bodyPr wrap="square" lIns="0" tIns="0" rIns="0" bIns="0" rtlCol="0" anchor="t"/>
          <a:lstStyle/>
          <a:p>
            <a:pPr marL="0" indent="0">
              <a:buNone/>
            </a:pPr>
            <a:r>
              <a:rPr lang="en-US" sz="1400" dirty="0">
                <a:solidFill>
                  <a:srgbClr val="475569"/>
                </a:solidFill>
                <a:latin typeface="Calibri" pitchFamily="34" charset="0"/>
                <a:ea typeface="Calibri" pitchFamily="34" charset="-122"/>
                <a:cs typeface="Calibri" pitchFamily="34" charset="-120"/>
              </a:rPr>
              <a:t>Tabela slotova omogućava da se zapis fizički premesti unutar stranice (zbog MGA), a da svi indeksi koji na njega pokazuju ostanu validni — broj slota se ne menja. Bez ovog sistema, svaka promena dužine zapisa zahtevala bi hitno ažuriranje SVIH </a:t>
            </a:r>
            <a:r>
              <a:rPr lang="en-US" sz="1400" dirty="0" err="1">
                <a:solidFill>
                  <a:srgbClr val="475569"/>
                </a:solidFill>
                <a:latin typeface="Calibri" pitchFamily="34" charset="0"/>
                <a:ea typeface="Calibri" pitchFamily="34" charset="-122"/>
                <a:cs typeface="Calibri" pitchFamily="34" charset="-120"/>
              </a:rPr>
              <a:t>indeksa</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chemeClr val="tx2">
              <a:lumMod val="40000"/>
              <a:lumOff val="60000"/>
            </a:schemeClr>
          </a:solidFill>
          <a:ln/>
        </p:spPr>
        <p:txBody>
          <a:bodyPr/>
          <a:lstStyle/>
          <a:p>
            <a:endParaRPr lang="en-US"/>
          </a:p>
        </p:txBody>
      </p:sp>
      <p:sp>
        <p:nvSpPr>
          <p:cNvPr id="3" name="Shape 1"/>
          <p:cNvSpPr/>
          <p:nvPr/>
        </p:nvSpPr>
        <p:spPr>
          <a:xfrm>
            <a:off x="137160" y="0"/>
            <a:ext cx="9006840" cy="658368"/>
          </a:xfrm>
          <a:prstGeom prst="rect">
            <a:avLst/>
          </a:prstGeom>
          <a:solidFill>
            <a:srgbClr val="1B2A4A"/>
          </a:solidFill>
          <a:ln/>
        </p:spPr>
        <p:txBody>
          <a:bodyPr/>
          <a:lstStyle/>
          <a:p>
            <a:endParaRPr lang="en-US"/>
          </a:p>
        </p:txBody>
      </p:sp>
      <p:sp>
        <p:nvSpPr>
          <p:cNvPr id="4" name="Text 2"/>
          <p:cNvSpPr/>
          <p:nvPr/>
        </p:nvSpPr>
        <p:spPr>
          <a:xfrm>
            <a:off x="274320" y="64008"/>
            <a:ext cx="859536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MGA arhitektura — verzije zapisa i Index Bloat</a:t>
            </a:r>
            <a:endParaRPr lang="en-US" sz="2800" dirty="0"/>
          </a:p>
        </p:txBody>
      </p:sp>
      <p:sp>
        <p:nvSpPr>
          <p:cNvPr id="5" name="Shape 3"/>
          <p:cNvSpPr/>
          <p:nvPr/>
        </p:nvSpPr>
        <p:spPr>
          <a:xfrm>
            <a:off x="274320" y="777240"/>
            <a:ext cx="1828800" cy="1005840"/>
          </a:xfrm>
          <a:prstGeom prst="rect">
            <a:avLst/>
          </a:prstGeom>
          <a:solidFill>
            <a:srgbClr val="1B2A4A"/>
          </a:solidFill>
          <a:ln>
            <a:solidFill>
              <a:schemeClr val="bg2"/>
            </a:solidFill>
          </a:ln>
          <a:effectLst>
            <a:outerShdw blurRad="101600" dist="38100" dir="8100000" algn="bl" rotWithShape="0">
              <a:srgbClr val="000000">
                <a:alpha val="18000"/>
              </a:srgbClr>
            </a:outerShdw>
          </a:effectLst>
        </p:spPr>
        <p:txBody>
          <a:bodyPr/>
          <a:lstStyle/>
          <a:p>
            <a:endParaRPr lang="en-US"/>
          </a:p>
        </p:txBody>
      </p:sp>
      <p:sp>
        <p:nvSpPr>
          <p:cNvPr id="6" name="Text 4"/>
          <p:cNvSpPr/>
          <p:nvPr/>
        </p:nvSpPr>
        <p:spPr>
          <a:xfrm>
            <a:off x="274320" y="868680"/>
            <a:ext cx="1828800" cy="8229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INSERT</a:t>
            </a:r>
            <a:endParaRPr lang="en-US" sz="1600" dirty="0"/>
          </a:p>
          <a:p>
            <a:pPr marL="0" indent="0" algn="ctr">
              <a:buNone/>
            </a:pPr>
            <a:r>
              <a:rPr lang="en-US" sz="1600" b="1" dirty="0">
                <a:solidFill>
                  <a:srgbClr val="FFFFFF"/>
                </a:solidFill>
                <a:latin typeface="Calibri" pitchFamily="34" charset="0"/>
                <a:ea typeface="Calibri" pitchFamily="34" charset="-122"/>
                <a:cs typeface="Calibri" pitchFamily="34" charset="-120"/>
              </a:rPr>
              <a:t>original</a:t>
            </a:r>
            <a:endParaRPr lang="en-US" sz="1600" dirty="0"/>
          </a:p>
        </p:txBody>
      </p:sp>
      <p:sp>
        <p:nvSpPr>
          <p:cNvPr id="7" name="Text 5"/>
          <p:cNvSpPr/>
          <p:nvPr/>
        </p:nvSpPr>
        <p:spPr>
          <a:xfrm>
            <a:off x="2121408" y="1097280"/>
            <a:ext cx="274320" cy="457200"/>
          </a:xfrm>
          <a:prstGeom prst="rect">
            <a:avLst/>
          </a:prstGeom>
          <a:noFill/>
          <a:ln/>
        </p:spPr>
        <p:txBody>
          <a:bodyPr wrap="square" lIns="0" tIns="0" rIns="0" bIns="0" rtlCol="0" anchor="ctr"/>
          <a:lstStyle/>
          <a:p>
            <a:pPr marL="0" indent="0" algn="ctr">
              <a:buNone/>
            </a:pPr>
            <a:r>
              <a:rPr lang="en-US" sz="2400" b="1" dirty="0">
                <a:solidFill>
                  <a:srgbClr val="1B2A4A"/>
                </a:solidFill>
                <a:latin typeface="Calibri" pitchFamily="34" charset="0"/>
                <a:ea typeface="Calibri" pitchFamily="34" charset="-122"/>
                <a:cs typeface="Calibri" pitchFamily="34" charset="-120"/>
              </a:rPr>
              <a:t>→</a:t>
            </a:r>
            <a:endParaRPr lang="en-US" sz="2400" dirty="0">
              <a:solidFill>
                <a:srgbClr val="1B2A4A"/>
              </a:solidFill>
            </a:endParaRPr>
          </a:p>
        </p:txBody>
      </p:sp>
      <p:sp>
        <p:nvSpPr>
          <p:cNvPr id="8" name="Shape 6"/>
          <p:cNvSpPr/>
          <p:nvPr/>
        </p:nvSpPr>
        <p:spPr>
          <a:xfrm>
            <a:off x="2423160" y="777240"/>
            <a:ext cx="1828800" cy="1005840"/>
          </a:xfrm>
          <a:prstGeom prst="rect">
            <a:avLst/>
          </a:prstGeom>
          <a:solidFill>
            <a:schemeClr val="accent2">
              <a:lumMod val="50000"/>
            </a:schemeClr>
          </a:solidFill>
          <a:ln>
            <a:solidFill>
              <a:schemeClr val="bg2"/>
            </a:solidFill>
          </a:ln>
          <a:effectLst>
            <a:outerShdw blurRad="101600" dist="38100" dir="8100000" algn="bl" rotWithShape="0">
              <a:srgbClr val="000000">
                <a:alpha val="18000"/>
              </a:srgbClr>
            </a:outerShdw>
          </a:effectLst>
        </p:spPr>
        <p:txBody>
          <a:bodyPr/>
          <a:lstStyle/>
          <a:p>
            <a:endParaRPr lang="en-US"/>
          </a:p>
        </p:txBody>
      </p:sp>
      <p:sp>
        <p:nvSpPr>
          <p:cNvPr id="9" name="Text 7"/>
          <p:cNvSpPr/>
          <p:nvPr/>
        </p:nvSpPr>
        <p:spPr>
          <a:xfrm>
            <a:off x="2423160" y="868680"/>
            <a:ext cx="1828800" cy="8229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UPDATE</a:t>
            </a:r>
            <a:endParaRPr lang="en-US" sz="1600" dirty="0"/>
          </a:p>
          <a:p>
            <a:pPr marL="0" indent="0" algn="ctr">
              <a:buNone/>
            </a:pPr>
            <a:r>
              <a:rPr lang="en-US" sz="1600" b="1" dirty="0">
                <a:solidFill>
                  <a:srgbClr val="FFFFFF"/>
                </a:solidFill>
                <a:latin typeface="Calibri" pitchFamily="34" charset="0"/>
                <a:ea typeface="Calibri" pitchFamily="34" charset="-122"/>
                <a:cs typeface="Calibri" pitchFamily="34" charset="-120"/>
              </a:rPr>
              <a:t>v2 (nova)</a:t>
            </a:r>
            <a:endParaRPr lang="en-US" sz="1600" dirty="0"/>
          </a:p>
        </p:txBody>
      </p:sp>
      <p:sp>
        <p:nvSpPr>
          <p:cNvPr id="10" name="Text 8"/>
          <p:cNvSpPr/>
          <p:nvPr/>
        </p:nvSpPr>
        <p:spPr>
          <a:xfrm>
            <a:off x="4270248" y="1097280"/>
            <a:ext cx="274320" cy="457200"/>
          </a:xfrm>
          <a:prstGeom prst="rect">
            <a:avLst/>
          </a:prstGeom>
          <a:noFill/>
          <a:ln/>
        </p:spPr>
        <p:txBody>
          <a:bodyPr wrap="square" lIns="0" tIns="0" rIns="0" bIns="0" rtlCol="0" anchor="ctr"/>
          <a:lstStyle/>
          <a:p>
            <a:pPr marL="0" indent="0" algn="ctr">
              <a:buNone/>
            </a:pPr>
            <a:r>
              <a:rPr lang="en-US" sz="2400" b="1" dirty="0">
                <a:solidFill>
                  <a:srgbClr val="1B2A4A"/>
                </a:solidFill>
                <a:latin typeface="Calibri" pitchFamily="34" charset="0"/>
                <a:ea typeface="Calibri" pitchFamily="34" charset="-122"/>
                <a:cs typeface="Calibri" pitchFamily="34" charset="-120"/>
              </a:rPr>
              <a:t>→</a:t>
            </a:r>
            <a:endParaRPr lang="en-US" sz="2400" dirty="0">
              <a:solidFill>
                <a:srgbClr val="1B2A4A"/>
              </a:solidFill>
            </a:endParaRPr>
          </a:p>
        </p:txBody>
      </p:sp>
      <p:sp>
        <p:nvSpPr>
          <p:cNvPr id="11" name="Shape 9"/>
          <p:cNvSpPr/>
          <p:nvPr/>
        </p:nvSpPr>
        <p:spPr>
          <a:xfrm>
            <a:off x="4572000" y="777240"/>
            <a:ext cx="1828800" cy="1005840"/>
          </a:xfrm>
          <a:prstGeom prst="rect">
            <a:avLst/>
          </a:prstGeom>
          <a:solidFill>
            <a:schemeClr val="tx1">
              <a:lumMod val="65000"/>
              <a:lumOff val="35000"/>
            </a:schemeClr>
          </a:solidFill>
          <a:ln>
            <a:solidFill>
              <a:schemeClr val="bg2"/>
            </a:solidFill>
          </a:ln>
          <a:effectLst>
            <a:outerShdw blurRad="101600" dist="38100" dir="8100000" algn="bl" rotWithShape="0">
              <a:srgbClr val="000000">
                <a:alpha val="18000"/>
              </a:srgbClr>
            </a:outerShdw>
          </a:effectLst>
        </p:spPr>
        <p:txBody>
          <a:bodyPr/>
          <a:lstStyle/>
          <a:p>
            <a:endParaRPr lang="en-US"/>
          </a:p>
        </p:txBody>
      </p:sp>
      <p:sp>
        <p:nvSpPr>
          <p:cNvPr id="12" name="Text 10"/>
          <p:cNvSpPr/>
          <p:nvPr/>
        </p:nvSpPr>
        <p:spPr>
          <a:xfrm>
            <a:off x="4572000" y="868680"/>
            <a:ext cx="1828800" cy="8229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UPDATE</a:t>
            </a:r>
            <a:endParaRPr lang="en-US" sz="1600" dirty="0"/>
          </a:p>
          <a:p>
            <a:pPr marL="0" indent="0" algn="ctr">
              <a:buNone/>
            </a:pPr>
            <a:r>
              <a:rPr lang="en-US" sz="1600" b="1" dirty="0">
                <a:solidFill>
                  <a:srgbClr val="FFFFFF"/>
                </a:solidFill>
                <a:latin typeface="Calibri" pitchFamily="34" charset="0"/>
                <a:ea typeface="Calibri" pitchFamily="34" charset="-122"/>
                <a:cs typeface="Calibri" pitchFamily="34" charset="-120"/>
              </a:rPr>
              <a:t>v3 (nova)</a:t>
            </a:r>
            <a:endParaRPr lang="en-US" sz="1600" dirty="0"/>
          </a:p>
        </p:txBody>
      </p:sp>
      <p:sp>
        <p:nvSpPr>
          <p:cNvPr id="13" name="Text 11"/>
          <p:cNvSpPr/>
          <p:nvPr/>
        </p:nvSpPr>
        <p:spPr>
          <a:xfrm>
            <a:off x="6419088" y="1097280"/>
            <a:ext cx="274320" cy="457200"/>
          </a:xfrm>
          <a:prstGeom prst="rect">
            <a:avLst/>
          </a:prstGeom>
          <a:noFill/>
          <a:ln/>
        </p:spPr>
        <p:txBody>
          <a:bodyPr wrap="square" lIns="0" tIns="0" rIns="0" bIns="0" rtlCol="0" anchor="ctr"/>
          <a:lstStyle/>
          <a:p>
            <a:pPr marL="0" indent="0" algn="ctr">
              <a:buNone/>
            </a:pPr>
            <a:r>
              <a:rPr lang="en-US" sz="2400" b="1" dirty="0">
                <a:solidFill>
                  <a:srgbClr val="1B2A4A"/>
                </a:solidFill>
                <a:latin typeface="Calibri" pitchFamily="34" charset="0"/>
                <a:ea typeface="Calibri" pitchFamily="34" charset="-122"/>
                <a:cs typeface="Calibri" pitchFamily="34" charset="-120"/>
              </a:rPr>
              <a:t>→</a:t>
            </a:r>
            <a:endParaRPr lang="en-US" sz="2400" dirty="0">
              <a:solidFill>
                <a:srgbClr val="1B2A4A"/>
              </a:solidFill>
            </a:endParaRPr>
          </a:p>
        </p:txBody>
      </p:sp>
      <p:sp>
        <p:nvSpPr>
          <p:cNvPr id="14" name="Shape 12"/>
          <p:cNvSpPr/>
          <p:nvPr/>
        </p:nvSpPr>
        <p:spPr>
          <a:xfrm>
            <a:off x="6720840" y="777240"/>
            <a:ext cx="1828800" cy="1005840"/>
          </a:xfrm>
          <a:prstGeom prst="rect">
            <a:avLst/>
          </a:prstGeom>
          <a:solidFill>
            <a:schemeClr val="tx1">
              <a:lumMod val="50000"/>
              <a:lumOff val="50000"/>
            </a:schemeClr>
          </a:solidFill>
          <a:ln>
            <a:solidFill>
              <a:schemeClr val="bg2"/>
            </a:solidFill>
          </a:ln>
          <a:effectLst>
            <a:outerShdw blurRad="101600" dist="38100" dir="8100000" algn="bl" rotWithShape="0">
              <a:srgbClr val="000000">
                <a:alpha val="18000"/>
              </a:srgbClr>
            </a:outerShdw>
          </a:effectLst>
        </p:spPr>
        <p:txBody>
          <a:bodyPr/>
          <a:lstStyle/>
          <a:p>
            <a:endParaRPr lang="en-US"/>
          </a:p>
        </p:txBody>
      </p:sp>
      <p:sp>
        <p:nvSpPr>
          <p:cNvPr id="15" name="Text 13"/>
          <p:cNvSpPr/>
          <p:nvPr/>
        </p:nvSpPr>
        <p:spPr>
          <a:xfrm>
            <a:off x="6720840" y="868680"/>
            <a:ext cx="1828800" cy="8229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GC čisti</a:t>
            </a:r>
            <a:endParaRPr lang="en-US" sz="1600" dirty="0"/>
          </a:p>
          <a:p>
            <a:pPr marL="0" indent="0" algn="ctr">
              <a:buNone/>
            </a:pPr>
            <a:r>
              <a:rPr lang="en-US" sz="1600" b="1" dirty="0">
                <a:solidFill>
                  <a:srgbClr val="FFFFFF"/>
                </a:solidFill>
                <a:latin typeface="Calibri" pitchFamily="34" charset="0"/>
                <a:ea typeface="Calibri" pitchFamily="34" charset="-122"/>
                <a:cs typeface="Calibri" pitchFamily="34" charset="-120"/>
              </a:rPr>
              <a:t>stare</a:t>
            </a:r>
            <a:endParaRPr lang="en-US" sz="1600" dirty="0"/>
          </a:p>
        </p:txBody>
      </p:sp>
      <p:sp>
        <p:nvSpPr>
          <p:cNvPr id="16" name="Shape 14"/>
          <p:cNvSpPr/>
          <p:nvPr/>
        </p:nvSpPr>
        <p:spPr>
          <a:xfrm>
            <a:off x="228600" y="1965960"/>
            <a:ext cx="4160520" cy="123444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17" name="Shape 15"/>
          <p:cNvSpPr/>
          <p:nvPr/>
        </p:nvSpPr>
        <p:spPr>
          <a:xfrm>
            <a:off x="228600" y="1965960"/>
            <a:ext cx="64008" cy="1234440"/>
          </a:xfrm>
          <a:prstGeom prst="rect">
            <a:avLst/>
          </a:prstGeom>
          <a:solidFill>
            <a:schemeClr val="bg2">
              <a:lumMod val="75000"/>
            </a:schemeClr>
          </a:solidFill>
          <a:ln/>
        </p:spPr>
        <p:txBody>
          <a:bodyPr/>
          <a:lstStyle/>
          <a:p>
            <a:endParaRPr lang="en-US"/>
          </a:p>
        </p:txBody>
      </p:sp>
      <p:sp>
        <p:nvSpPr>
          <p:cNvPr id="18" name="Text 16"/>
          <p:cNvSpPr/>
          <p:nvPr/>
        </p:nvSpPr>
        <p:spPr>
          <a:xfrm>
            <a:off x="365760" y="2039112"/>
            <a:ext cx="3977640" cy="292608"/>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Posledica: Index Bloat</a:t>
            </a:r>
            <a:endParaRPr lang="en-US" sz="1600" dirty="0"/>
          </a:p>
        </p:txBody>
      </p:sp>
      <p:sp>
        <p:nvSpPr>
          <p:cNvPr id="19" name="Text 17"/>
          <p:cNvSpPr/>
          <p:nvPr/>
        </p:nvSpPr>
        <p:spPr>
          <a:xfrm>
            <a:off x="365760" y="2377440"/>
            <a:ext cx="3977640" cy="749808"/>
          </a:xfrm>
          <a:prstGeom prst="rect">
            <a:avLst/>
          </a:prstGeom>
          <a:noFill/>
          <a:ln/>
        </p:spPr>
        <p:txBody>
          <a:bodyPr wrap="square" lIns="0" tIns="0" rIns="0" bIns="0" rtlCol="0" anchor="t"/>
          <a:lstStyle/>
          <a:p>
            <a:pPr marL="0" indent="0">
              <a:buNone/>
            </a:pPr>
            <a:r>
              <a:rPr lang="en-US" sz="1200" dirty="0">
                <a:solidFill>
                  <a:srgbClr val="475569"/>
                </a:solidFill>
                <a:latin typeface="Calibri" pitchFamily="34" charset="0"/>
                <a:ea typeface="Calibri" pitchFamily="34" charset="-122"/>
                <a:cs typeface="Calibri" pitchFamily="34" charset="-120"/>
              </a:rPr>
              <a:t>Indeksne stranice pune se pokazivačima na stare verzije.</a:t>
            </a:r>
            <a:endParaRPr lang="en-US" sz="1200" dirty="0"/>
          </a:p>
          <a:p>
            <a:pPr marL="0" indent="0">
              <a:buNone/>
            </a:pPr>
            <a:r>
              <a:rPr lang="en-US" sz="1200" dirty="0">
                <a:solidFill>
                  <a:srgbClr val="475569"/>
                </a:solidFill>
                <a:latin typeface="Calibri" pitchFamily="34" charset="0"/>
                <a:ea typeface="Calibri" pitchFamily="34" charset="-122"/>
                <a:cs typeface="Calibri" pitchFamily="34" charset="-120"/>
              </a:rPr>
              <a:t>B+ stablo raste i postaje dublje — više I/O operacija.</a:t>
            </a:r>
            <a:endParaRPr lang="en-US" sz="1200" dirty="0"/>
          </a:p>
        </p:txBody>
      </p:sp>
      <p:sp>
        <p:nvSpPr>
          <p:cNvPr id="20" name="Shape 18"/>
          <p:cNvSpPr/>
          <p:nvPr/>
        </p:nvSpPr>
        <p:spPr>
          <a:xfrm>
            <a:off x="4572000" y="1965960"/>
            <a:ext cx="4343400" cy="123444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21" name="Shape 19"/>
          <p:cNvSpPr/>
          <p:nvPr/>
        </p:nvSpPr>
        <p:spPr>
          <a:xfrm>
            <a:off x="4572000" y="1965960"/>
            <a:ext cx="64008" cy="1234440"/>
          </a:xfrm>
          <a:prstGeom prst="rect">
            <a:avLst/>
          </a:prstGeom>
          <a:solidFill>
            <a:schemeClr val="tx1">
              <a:lumMod val="50000"/>
              <a:lumOff val="50000"/>
            </a:schemeClr>
          </a:solidFill>
          <a:ln/>
        </p:spPr>
        <p:txBody>
          <a:bodyPr/>
          <a:lstStyle/>
          <a:p>
            <a:endParaRPr lang="en-US"/>
          </a:p>
        </p:txBody>
      </p:sp>
      <p:sp>
        <p:nvSpPr>
          <p:cNvPr id="22" name="Text 20"/>
          <p:cNvSpPr/>
          <p:nvPr/>
        </p:nvSpPr>
        <p:spPr>
          <a:xfrm>
            <a:off x="4709160" y="2039112"/>
            <a:ext cx="4160520" cy="292608"/>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Rešenje: Rekreacija indeksa</a:t>
            </a:r>
            <a:endParaRPr lang="en-US" sz="1600" dirty="0"/>
          </a:p>
        </p:txBody>
      </p:sp>
      <p:sp>
        <p:nvSpPr>
          <p:cNvPr id="23" name="Text 21"/>
          <p:cNvSpPr/>
          <p:nvPr/>
        </p:nvSpPr>
        <p:spPr>
          <a:xfrm>
            <a:off x="4709160" y="2377440"/>
            <a:ext cx="4160520" cy="749808"/>
          </a:xfrm>
          <a:prstGeom prst="rect">
            <a:avLst/>
          </a:prstGeom>
          <a:noFill/>
          <a:ln/>
        </p:spPr>
        <p:txBody>
          <a:bodyPr wrap="square" lIns="0" tIns="0" rIns="0" bIns="0" rtlCol="0" anchor="t"/>
          <a:lstStyle/>
          <a:p>
            <a:pPr marL="0" indent="0">
              <a:buNone/>
            </a:pPr>
            <a:r>
              <a:rPr lang="en-US" sz="1200" dirty="0">
                <a:solidFill>
                  <a:srgbClr val="475569"/>
                </a:solidFill>
                <a:latin typeface="Calibri" pitchFamily="34" charset="0"/>
                <a:ea typeface="Calibri" pitchFamily="34" charset="-122"/>
                <a:cs typeface="Calibri" pitchFamily="34" charset="-120"/>
              </a:rPr>
              <a:t>ALTER INDEX ... INACTIVE → ACTIVE</a:t>
            </a:r>
            <a:endParaRPr lang="en-US" sz="1200" dirty="0"/>
          </a:p>
          <a:p>
            <a:pPr marL="0" indent="0">
              <a:buNone/>
            </a:pPr>
            <a:r>
              <a:rPr lang="en-US" sz="1200" dirty="0">
                <a:solidFill>
                  <a:srgbClr val="475569"/>
                </a:solidFill>
                <a:latin typeface="Calibri" pitchFamily="34" charset="0"/>
                <a:ea typeface="Calibri" pitchFamily="34" charset="-122"/>
                <a:cs typeface="Calibri" pitchFamily="34" charset="-120"/>
              </a:rPr>
              <a:t>Gradi novo stablo od nule, odbacuje sve stare </a:t>
            </a:r>
            <a:r>
              <a:rPr lang="en-US" sz="1200" dirty="0" err="1">
                <a:solidFill>
                  <a:srgbClr val="475569"/>
                </a:solidFill>
                <a:latin typeface="Calibri" pitchFamily="34" charset="0"/>
                <a:ea typeface="Calibri" pitchFamily="34" charset="-122"/>
                <a:cs typeface="Calibri" pitchFamily="34" charset="-120"/>
              </a:rPr>
              <a:t>verzije</a:t>
            </a:r>
            <a:r>
              <a:rPr lang="sr-Latn-RS" sz="1200" dirty="0">
                <a:solidFill>
                  <a:srgbClr val="475569"/>
                </a:solidFill>
                <a:latin typeface="Calibri" pitchFamily="34" charset="0"/>
                <a:ea typeface="Calibri" pitchFamily="34" charset="-122"/>
                <a:cs typeface="Calibri" pitchFamily="34" charset="-120"/>
              </a:rPr>
              <a:t>.</a:t>
            </a:r>
            <a:endParaRPr lang="en-US" sz="1200" dirty="0"/>
          </a:p>
        </p:txBody>
      </p:sp>
      <p:sp>
        <p:nvSpPr>
          <p:cNvPr id="24" name="Shape 22"/>
          <p:cNvSpPr/>
          <p:nvPr/>
        </p:nvSpPr>
        <p:spPr>
          <a:xfrm>
            <a:off x="228600" y="3337560"/>
            <a:ext cx="8686800" cy="1441474"/>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25" name="Shape 23"/>
          <p:cNvSpPr/>
          <p:nvPr/>
        </p:nvSpPr>
        <p:spPr>
          <a:xfrm>
            <a:off x="228600" y="3337560"/>
            <a:ext cx="64008" cy="1440000"/>
          </a:xfrm>
          <a:prstGeom prst="rect">
            <a:avLst/>
          </a:prstGeom>
          <a:solidFill>
            <a:srgbClr val="1B2A4A"/>
          </a:solidFill>
          <a:ln/>
        </p:spPr>
        <p:txBody>
          <a:bodyPr/>
          <a:lstStyle/>
          <a:p>
            <a:endParaRPr lang="en-US"/>
          </a:p>
        </p:txBody>
      </p:sp>
      <p:sp>
        <p:nvSpPr>
          <p:cNvPr id="26" name="Text 24"/>
          <p:cNvSpPr/>
          <p:nvPr/>
        </p:nvSpPr>
        <p:spPr>
          <a:xfrm>
            <a:off x="365760" y="3410712"/>
            <a:ext cx="8503920" cy="292608"/>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Garbage Collection (GC)</a:t>
            </a:r>
            <a:endParaRPr lang="en-US" sz="1600" dirty="0"/>
          </a:p>
        </p:txBody>
      </p:sp>
      <p:sp>
        <p:nvSpPr>
          <p:cNvPr id="27" name="Text 25"/>
          <p:cNvSpPr/>
          <p:nvPr/>
        </p:nvSpPr>
        <p:spPr>
          <a:xfrm>
            <a:off x="365760" y="3776472"/>
            <a:ext cx="8503920" cy="996696"/>
          </a:xfrm>
          <a:prstGeom prst="rect">
            <a:avLst/>
          </a:prstGeom>
          <a:noFill/>
          <a:ln/>
        </p:spPr>
        <p:txBody>
          <a:bodyPr wrap="square" lIns="0" tIns="0" rIns="0" bIns="0" rtlCol="0" anchor="t"/>
          <a:lstStyle/>
          <a:p>
            <a:pPr marL="171450" indent="-171450">
              <a:buSzPct val="15000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Cooperative GC: SELECT upiti čiste stare verzije usput</a:t>
            </a:r>
            <a:endParaRPr lang="en-US" sz="1200" dirty="0"/>
          </a:p>
          <a:p>
            <a:pPr marL="171450" indent="-171450">
              <a:buSzPct val="15000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Background GC: posebna nit u </a:t>
            </a:r>
            <a:r>
              <a:rPr lang="en-US" sz="1200" dirty="0" err="1">
                <a:solidFill>
                  <a:srgbClr val="475569"/>
                </a:solidFill>
                <a:latin typeface="Calibri" pitchFamily="34" charset="0"/>
                <a:ea typeface="Calibri" pitchFamily="34" charset="-122"/>
                <a:cs typeface="Calibri" pitchFamily="34" charset="-120"/>
              </a:rPr>
              <a:t>SuperServer</a:t>
            </a:r>
            <a:r>
              <a:rPr lang="en-US" sz="1200" dirty="0">
                <a:solidFill>
                  <a:srgbClr val="475569"/>
                </a:solidFill>
                <a:latin typeface="Calibri" pitchFamily="34" charset="0"/>
                <a:ea typeface="Calibri" pitchFamily="34" charset="-122"/>
                <a:cs typeface="Calibri" pitchFamily="34" charset="-120"/>
              </a:rPr>
              <a:t> </a:t>
            </a:r>
            <a:r>
              <a:rPr lang="en-US" sz="1200" dirty="0" err="1">
                <a:solidFill>
                  <a:srgbClr val="475569"/>
                </a:solidFill>
                <a:latin typeface="Calibri" pitchFamily="34" charset="0"/>
                <a:ea typeface="Calibri" pitchFamily="34" charset="-122"/>
                <a:cs typeface="Calibri" pitchFamily="34" charset="-120"/>
              </a:rPr>
              <a:t>modelu</a:t>
            </a:r>
            <a:endParaRPr lang="sr-Latn-RS" sz="1200" dirty="0"/>
          </a:p>
          <a:p>
            <a:pPr marL="171450" indent="-171450">
              <a:buSzPct val="15000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Sweeping: sistematsko skeniranje cele baze (gfix -sweep)</a:t>
            </a:r>
            <a:endParaRPr lang="en-US" sz="1200" dirty="0"/>
          </a:p>
          <a:p>
            <a:pPr marL="0" indent="0">
              <a:buNone/>
            </a:pPr>
            <a:endParaRPr lang="en-US" sz="1200" dirty="0"/>
          </a:p>
          <a:p>
            <a:pPr marL="0" indent="0">
              <a:buNone/>
            </a:pPr>
            <a:r>
              <a:rPr lang="en-US" sz="1400" b="1" dirty="0">
                <a:solidFill>
                  <a:srgbClr val="475569"/>
                </a:solidFill>
                <a:latin typeface="Calibri" pitchFamily="34" charset="0"/>
                <a:ea typeface="Calibri" pitchFamily="34" charset="-122"/>
                <a:cs typeface="Calibri" pitchFamily="34" charset="-120"/>
              </a:rPr>
              <a:t>Oldest Active Transaction (OAT) blokira GC — sve verzije nastale posle OAT-a moraju ostati netaknute!</a:t>
            </a:r>
            <a:endParaRPr lang="en-US" sz="1400" b="1"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chemeClr val="tx2">
              <a:lumMod val="40000"/>
              <a:lumOff val="60000"/>
            </a:schemeClr>
          </a:solidFill>
          <a:ln/>
        </p:spPr>
        <p:txBody>
          <a:bodyPr/>
          <a:lstStyle/>
          <a:p>
            <a:endParaRPr lang="en-US"/>
          </a:p>
        </p:txBody>
      </p:sp>
      <p:sp>
        <p:nvSpPr>
          <p:cNvPr id="3" name="Shape 1"/>
          <p:cNvSpPr/>
          <p:nvPr/>
        </p:nvSpPr>
        <p:spPr>
          <a:xfrm>
            <a:off x="137160" y="0"/>
            <a:ext cx="9006840" cy="658368"/>
          </a:xfrm>
          <a:prstGeom prst="rect">
            <a:avLst/>
          </a:prstGeom>
          <a:solidFill>
            <a:srgbClr val="1B2A4A"/>
          </a:solidFill>
          <a:ln/>
        </p:spPr>
        <p:txBody>
          <a:bodyPr/>
          <a:lstStyle/>
          <a:p>
            <a:endParaRPr lang="en-US"/>
          </a:p>
        </p:txBody>
      </p:sp>
      <p:sp>
        <p:nvSpPr>
          <p:cNvPr id="4" name="Text 2"/>
          <p:cNvSpPr/>
          <p:nvPr/>
        </p:nvSpPr>
        <p:spPr>
          <a:xfrm>
            <a:off x="274320" y="64008"/>
            <a:ext cx="859536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B+ stablo — struktura indeksa u Firebirdu</a:t>
            </a:r>
            <a:endParaRPr lang="en-US" sz="2800" dirty="0"/>
          </a:p>
        </p:txBody>
      </p:sp>
      <p:sp>
        <p:nvSpPr>
          <p:cNvPr id="5" name="Shape 3"/>
          <p:cNvSpPr/>
          <p:nvPr/>
        </p:nvSpPr>
        <p:spPr>
          <a:xfrm>
            <a:off x="3657600" y="822960"/>
            <a:ext cx="1828800" cy="685800"/>
          </a:xfrm>
          <a:prstGeom prst="rect">
            <a:avLst/>
          </a:prstGeom>
          <a:solidFill>
            <a:srgbClr val="1B2A4A"/>
          </a:solidFill>
          <a:ln>
            <a:solidFill>
              <a:schemeClr val="bg2">
                <a:lumMod val="90000"/>
              </a:schemeClr>
            </a:solidFill>
          </a:ln>
          <a:effectLst>
            <a:outerShdw blurRad="101600" dist="38100" dir="8100000" algn="bl" rotWithShape="0">
              <a:srgbClr val="000000">
                <a:alpha val="18000"/>
              </a:srgbClr>
            </a:outerShdw>
          </a:effectLst>
        </p:spPr>
        <p:txBody>
          <a:bodyPr/>
          <a:lstStyle/>
          <a:p>
            <a:endParaRPr lang="en-US"/>
          </a:p>
        </p:txBody>
      </p:sp>
      <p:sp>
        <p:nvSpPr>
          <p:cNvPr id="6" name="Text 4"/>
          <p:cNvSpPr/>
          <p:nvPr/>
        </p:nvSpPr>
        <p:spPr>
          <a:xfrm>
            <a:off x="3749040" y="896112"/>
            <a:ext cx="1452688" cy="3200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Koren (Root)</a:t>
            </a:r>
            <a:endParaRPr lang="en-US" sz="1600" dirty="0"/>
          </a:p>
        </p:txBody>
      </p:sp>
      <p:sp>
        <p:nvSpPr>
          <p:cNvPr id="7" name="Text 5"/>
          <p:cNvSpPr/>
          <p:nvPr/>
        </p:nvSpPr>
        <p:spPr>
          <a:xfrm>
            <a:off x="3749040" y="1207008"/>
            <a:ext cx="1645920" cy="256032"/>
          </a:xfrm>
          <a:prstGeom prst="rect">
            <a:avLst/>
          </a:prstGeom>
          <a:noFill/>
          <a:ln/>
        </p:spPr>
        <p:txBody>
          <a:bodyPr wrap="square" lIns="0" tIns="0" rIns="0" bIns="0" rtlCol="0" anchor="ctr"/>
          <a:lstStyle/>
          <a:p>
            <a:pPr marL="0" indent="0">
              <a:buNone/>
            </a:pPr>
            <a:r>
              <a:rPr lang="en-US" sz="1400" dirty="0">
                <a:solidFill>
                  <a:schemeClr val="bg1">
                    <a:lumMod val="95000"/>
                  </a:schemeClr>
                </a:solidFill>
                <a:latin typeface="Calibri" pitchFamily="34" charset="0"/>
                <a:ea typeface="Calibri" pitchFamily="34" charset="-122"/>
                <a:cs typeface="Calibri" pitchFamily="34" charset="-120"/>
              </a:rPr>
              <a:t>1 čvor</a:t>
            </a:r>
            <a:endParaRPr lang="en-US" sz="1400" dirty="0">
              <a:solidFill>
                <a:schemeClr val="bg1">
                  <a:lumMod val="95000"/>
                </a:schemeClr>
              </a:solidFill>
            </a:endParaRPr>
          </a:p>
        </p:txBody>
      </p:sp>
      <p:sp>
        <p:nvSpPr>
          <p:cNvPr id="8" name="Shape 6"/>
          <p:cNvSpPr/>
          <p:nvPr/>
        </p:nvSpPr>
        <p:spPr>
          <a:xfrm>
            <a:off x="2057400" y="1737360"/>
            <a:ext cx="5029200" cy="685800"/>
          </a:xfrm>
          <a:prstGeom prst="rect">
            <a:avLst/>
          </a:prstGeom>
          <a:solidFill>
            <a:srgbClr val="243660"/>
          </a:solidFill>
          <a:ln>
            <a:solidFill>
              <a:schemeClr val="bg2">
                <a:lumMod val="90000"/>
              </a:schemeClr>
            </a:solidFill>
          </a:ln>
          <a:effectLst>
            <a:outerShdw blurRad="101600" dist="38100" dir="8100000" algn="bl" rotWithShape="0">
              <a:srgbClr val="000000">
                <a:alpha val="18000"/>
              </a:srgbClr>
            </a:outerShdw>
          </a:effectLst>
        </p:spPr>
        <p:txBody>
          <a:bodyPr/>
          <a:lstStyle/>
          <a:p>
            <a:endParaRPr lang="en-US"/>
          </a:p>
        </p:txBody>
      </p:sp>
      <p:sp>
        <p:nvSpPr>
          <p:cNvPr id="9" name="Text 7"/>
          <p:cNvSpPr/>
          <p:nvPr/>
        </p:nvSpPr>
        <p:spPr>
          <a:xfrm>
            <a:off x="2148840" y="1810512"/>
            <a:ext cx="2766060" cy="3200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Grane</a:t>
            </a:r>
            <a:endParaRPr lang="en-US" sz="1600" dirty="0"/>
          </a:p>
        </p:txBody>
      </p:sp>
      <p:sp>
        <p:nvSpPr>
          <p:cNvPr id="10" name="Text 8"/>
          <p:cNvSpPr/>
          <p:nvPr/>
        </p:nvSpPr>
        <p:spPr>
          <a:xfrm>
            <a:off x="2148840" y="2121408"/>
            <a:ext cx="4846320" cy="256032"/>
          </a:xfrm>
          <a:prstGeom prst="rect">
            <a:avLst/>
          </a:prstGeom>
          <a:noFill/>
          <a:ln/>
        </p:spPr>
        <p:txBody>
          <a:bodyPr wrap="square" lIns="0" tIns="0" rIns="0" bIns="0" rtlCol="0" anchor="ctr"/>
          <a:lstStyle/>
          <a:p>
            <a:pPr marL="0" indent="0">
              <a:buNone/>
            </a:pPr>
            <a:r>
              <a:rPr lang="en-US" sz="1400" dirty="0">
                <a:solidFill>
                  <a:schemeClr val="bg1">
                    <a:lumMod val="95000"/>
                  </a:schemeClr>
                </a:solidFill>
                <a:latin typeface="Calibri" pitchFamily="34" charset="0"/>
                <a:ea typeface="Calibri" pitchFamily="34" charset="-122"/>
                <a:cs typeface="Calibri" pitchFamily="34" charset="-120"/>
              </a:rPr>
              <a:t>navigacioni čvorovi</a:t>
            </a:r>
            <a:endParaRPr lang="en-US" sz="1400" dirty="0">
              <a:solidFill>
                <a:schemeClr val="bg1">
                  <a:lumMod val="95000"/>
                </a:schemeClr>
              </a:solidFill>
            </a:endParaRPr>
          </a:p>
        </p:txBody>
      </p:sp>
      <p:sp>
        <p:nvSpPr>
          <p:cNvPr id="11" name="Shape 9"/>
          <p:cNvSpPr/>
          <p:nvPr/>
        </p:nvSpPr>
        <p:spPr>
          <a:xfrm>
            <a:off x="457200" y="2651760"/>
            <a:ext cx="8229600" cy="685800"/>
          </a:xfrm>
          <a:prstGeom prst="rect">
            <a:avLst/>
          </a:prstGeom>
          <a:solidFill>
            <a:schemeClr val="accent2">
              <a:lumMod val="75000"/>
            </a:schemeClr>
          </a:solidFill>
          <a:ln>
            <a:solidFill>
              <a:schemeClr val="bg2">
                <a:lumMod val="90000"/>
              </a:schemeClr>
            </a:solidFill>
          </a:ln>
          <a:effectLst>
            <a:outerShdw blurRad="101600" dist="38100" dir="8100000" algn="bl" rotWithShape="0">
              <a:srgbClr val="000000">
                <a:alpha val="18000"/>
              </a:srgbClr>
            </a:outerShdw>
          </a:effectLst>
        </p:spPr>
        <p:txBody>
          <a:bodyPr/>
          <a:lstStyle/>
          <a:p>
            <a:endParaRPr lang="en-US"/>
          </a:p>
        </p:txBody>
      </p:sp>
      <p:sp>
        <p:nvSpPr>
          <p:cNvPr id="12" name="Text 10"/>
          <p:cNvSpPr/>
          <p:nvPr/>
        </p:nvSpPr>
        <p:spPr>
          <a:xfrm>
            <a:off x="548640" y="2724912"/>
            <a:ext cx="4526280" cy="3200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Listovi (Leaf Pages)</a:t>
            </a:r>
            <a:endParaRPr lang="en-US" sz="1600" dirty="0"/>
          </a:p>
        </p:txBody>
      </p:sp>
      <p:sp>
        <p:nvSpPr>
          <p:cNvPr id="13" name="Text 11"/>
          <p:cNvSpPr/>
          <p:nvPr/>
        </p:nvSpPr>
        <p:spPr>
          <a:xfrm>
            <a:off x="548640" y="3035808"/>
            <a:ext cx="8046720" cy="256032"/>
          </a:xfrm>
          <a:prstGeom prst="rect">
            <a:avLst/>
          </a:prstGeom>
          <a:noFill/>
          <a:ln/>
        </p:spPr>
        <p:txBody>
          <a:bodyPr wrap="square" lIns="0" tIns="0" rIns="0" bIns="0" rtlCol="0" anchor="ctr"/>
          <a:lstStyle/>
          <a:p>
            <a:r>
              <a:rPr lang="en-US" sz="1400" dirty="0" err="1">
                <a:solidFill>
                  <a:schemeClr val="bg1">
                    <a:lumMod val="95000"/>
                  </a:schemeClr>
                </a:solidFill>
                <a:latin typeface="Calibri" pitchFamily="34" charset="0"/>
                <a:ea typeface="Calibri" pitchFamily="34" charset="-122"/>
                <a:cs typeface="Calibri" pitchFamily="34" charset="-120"/>
              </a:rPr>
              <a:t>dvostruko</a:t>
            </a:r>
            <a:r>
              <a:rPr lang="en-US" sz="1400" dirty="0">
                <a:solidFill>
                  <a:schemeClr val="bg1">
                    <a:lumMod val="95000"/>
                  </a:schemeClr>
                </a:solidFill>
                <a:latin typeface="Calibri" pitchFamily="34" charset="0"/>
                <a:ea typeface="Calibri" pitchFamily="34" charset="-122"/>
                <a:cs typeface="Calibri" pitchFamily="34" charset="-120"/>
              </a:rPr>
              <a:t> </a:t>
            </a:r>
            <a:r>
              <a:rPr lang="en-US" sz="1400" dirty="0" err="1">
                <a:solidFill>
                  <a:schemeClr val="bg1">
                    <a:lumMod val="95000"/>
                  </a:schemeClr>
                </a:solidFill>
                <a:latin typeface="Calibri" pitchFamily="34" charset="0"/>
                <a:ea typeface="Calibri" pitchFamily="34" charset="-122"/>
                <a:cs typeface="Calibri" pitchFamily="34" charset="-120"/>
              </a:rPr>
              <a:t>povezana</a:t>
            </a:r>
            <a:r>
              <a:rPr lang="en-US" sz="1400" dirty="0">
                <a:solidFill>
                  <a:schemeClr val="bg1">
                    <a:lumMod val="95000"/>
                  </a:schemeClr>
                </a:solidFill>
                <a:latin typeface="Calibri" pitchFamily="34" charset="0"/>
                <a:ea typeface="Calibri" pitchFamily="34" charset="-122"/>
                <a:cs typeface="Calibri" pitchFamily="34" charset="-120"/>
              </a:rPr>
              <a:t> </a:t>
            </a:r>
            <a:r>
              <a:rPr lang="en-US" sz="1400" dirty="0" err="1">
                <a:solidFill>
                  <a:schemeClr val="bg1">
                    <a:lumMod val="95000"/>
                  </a:schemeClr>
                </a:solidFill>
                <a:latin typeface="Calibri" pitchFamily="34" charset="0"/>
                <a:ea typeface="Calibri" pitchFamily="34" charset="-122"/>
                <a:cs typeface="Calibri" pitchFamily="34" charset="-120"/>
              </a:rPr>
              <a:t>lista</a:t>
            </a:r>
            <a:r>
              <a:rPr lang="sr-Latn-RS" sz="1400" dirty="0">
                <a:solidFill>
                  <a:schemeClr val="bg1">
                    <a:lumMod val="95000"/>
                  </a:schemeClr>
                </a:solidFill>
                <a:latin typeface="Calibri" pitchFamily="34" charset="0"/>
                <a:ea typeface="Calibri" pitchFamily="34" charset="-122"/>
                <a:cs typeface="Calibri" pitchFamily="34" charset="-120"/>
              </a:rPr>
              <a:t> → </a:t>
            </a:r>
            <a:r>
              <a:rPr lang="en-US" sz="1400" dirty="0" err="1">
                <a:solidFill>
                  <a:schemeClr val="bg1">
                    <a:lumMod val="95000"/>
                  </a:schemeClr>
                </a:solidFill>
                <a:latin typeface="Calibri" pitchFamily="34" charset="0"/>
                <a:ea typeface="Calibri" pitchFamily="34" charset="-122"/>
                <a:cs typeface="Calibri" pitchFamily="34" charset="-120"/>
              </a:rPr>
              <a:t>ključ</a:t>
            </a:r>
            <a:r>
              <a:rPr lang="en-US" sz="1400" dirty="0">
                <a:solidFill>
                  <a:schemeClr val="bg1">
                    <a:lumMod val="95000"/>
                  </a:schemeClr>
                </a:solidFill>
                <a:latin typeface="Calibri" pitchFamily="34" charset="0"/>
                <a:ea typeface="Calibri" pitchFamily="34" charset="-122"/>
                <a:cs typeface="Calibri" pitchFamily="34" charset="-120"/>
              </a:rPr>
              <a:t> + RDB$DB_KEY </a:t>
            </a:r>
            <a:endParaRPr lang="en-US" sz="1400" dirty="0">
              <a:solidFill>
                <a:schemeClr val="bg1">
                  <a:lumMod val="95000"/>
                </a:schemeClr>
              </a:solidFill>
            </a:endParaRPr>
          </a:p>
        </p:txBody>
      </p:sp>
      <p:sp>
        <p:nvSpPr>
          <p:cNvPr id="14" name="Shape 12"/>
          <p:cNvSpPr/>
          <p:nvPr/>
        </p:nvSpPr>
        <p:spPr>
          <a:xfrm>
            <a:off x="228600" y="3520440"/>
            <a:ext cx="2743200" cy="1417320"/>
          </a:xfrm>
          <a:prstGeom prst="rect">
            <a:avLst/>
          </a:prstGeom>
          <a:solidFill>
            <a:srgbClr val="FFFFFF"/>
          </a:solidFill>
          <a:ln w="12700">
            <a:solidFill>
              <a:schemeClr val="bg2">
                <a:lumMod val="90000"/>
              </a:schemeClr>
            </a:solidFill>
            <a:prstDash val="solid"/>
          </a:ln>
          <a:effectLst>
            <a:outerShdw blurRad="101600" dist="38100" dir="8100000" algn="bl" rotWithShape="0">
              <a:srgbClr val="000000">
                <a:alpha val="18000"/>
              </a:srgbClr>
            </a:outerShdw>
          </a:effectLst>
        </p:spPr>
        <p:txBody>
          <a:bodyPr/>
          <a:lstStyle/>
          <a:p>
            <a:endParaRPr lang="en-US"/>
          </a:p>
        </p:txBody>
      </p:sp>
      <p:sp>
        <p:nvSpPr>
          <p:cNvPr id="15" name="Shape 13"/>
          <p:cNvSpPr/>
          <p:nvPr/>
        </p:nvSpPr>
        <p:spPr>
          <a:xfrm>
            <a:off x="228600" y="3520440"/>
            <a:ext cx="64008" cy="1417320"/>
          </a:xfrm>
          <a:prstGeom prst="rect">
            <a:avLst/>
          </a:prstGeom>
          <a:solidFill>
            <a:schemeClr val="bg2">
              <a:lumMod val="75000"/>
            </a:schemeClr>
          </a:solidFill>
          <a:ln/>
        </p:spPr>
        <p:txBody>
          <a:bodyPr/>
          <a:lstStyle/>
          <a:p>
            <a:endParaRPr lang="en-US"/>
          </a:p>
        </p:txBody>
      </p:sp>
      <p:sp>
        <p:nvSpPr>
          <p:cNvPr id="16" name="Text 14"/>
          <p:cNvSpPr/>
          <p:nvPr/>
        </p:nvSpPr>
        <p:spPr>
          <a:xfrm>
            <a:off x="365760" y="3593592"/>
            <a:ext cx="2560320" cy="292608"/>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Page Split</a:t>
            </a:r>
            <a:endParaRPr lang="en-US" sz="1600" dirty="0"/>
          </a:p>
        </p:txBody>
      </p:sp>
      <p:sp>
        <p:nvSpPr>
          <p:cNvPr id="17" name="Text 15"/>
          <p:cNvSpPr/>
          <p:nvPr/>
        </p:nvSpPr>
        <p:spPr>
          <a:xfrm>
            <a:off x="365760" y="3959352"/>
            <a:ext cx="2560320" cy="905256"/>
          </a:xfrm>
          <a:prstGeom prst="rect">
            <a:avLst/>
          </a:prstGeom>
          <a:noFill/>
          <a:ln/>
        </p:spPr>
        <p:txBody>
          <a:bodyPr wrap="square" lIns="0" tIns="0" rIns="0" bIns="0" rtlCol="0" anchor="t"/>
          <a:lstStyle/>
          <a:p>
            <a:r>
              <a:rPr lang="en-US" sz="1400" dirty="0">
                <a:solidFill>
                  <a:srgbClr val="475569"/>
                </a:solidFill>
                <a:latin typeface="Calibri" pitchFamily="34" charset="0"/>
                <a:ea typeface="Calibri" pitchFamily="34" charset="-122"/>
                <a:cs typeface="Calibri" pitchFamily="34" charset="-120"/>
              </a:rPr>
              <a:t>Kad je stranica puna → deli se na 2.</a:t>
            </a:r>
            <a:endParaRPr lang="en-US" sz="1400" dirty="0"/>
          </a:p>
          <a:p>
            <a:r>
              <a:rPr lang="en-US" sz="1400" dirty="0">
                <a:solidFill>
                  <a:srgbClr val="475569"/>
                </a:solidFill>
                <a:latin typeface="Calibri" pitchFamily="34" charset="0"/>
                <a:ea typeface="Calibri" pitchFamily="34" charset="-122"/>
                <a:cs typeface="Calibri" pitchFamily="34" charset="-120"/>
              </a:rPr>
              <a:t>Roditeljski čvor dobija novi </a:t>
            </a:r>
            <a:r>
              <a:rPr lang="en-US" sz="1400" dirty="0" err="1">
                <a:solidFill>
                  <a:srgbClr val="475569"/>
                </a:solidFill>
                <a:latin typeface="Calibri" pitchFamily="34" charset="0"/>
                <a:ea typeface="Calibri" pitchFamily="34" charset="-122"/>
                <a:cs typeface="Calibri" pitchFamily="34" charset="-120"/>
              </a:rPr>
              <a:t>pokazivač</a:t>
            </a:r>
            <a:r>
              <a:rPr lang="sr-Latn-RS" sz="1400" dirty="0">
                <a:solidFill>
                  <a:srgbClr val="475569"/>
                </a:solidFill>
                <a:latin typeface="Calibri" pitchFamily="34" charset="0"/>
                <a:ea typeface="Calibri" pitchFamily="34" charset="-122"/>
                <a:cs typeface="Calibri" pitchFamily="34" charset="-120"/>
              </a:rPr>
              <a:t>.</a:t>
            </a:r>
            <a:endParaRPr lang="en-US" sz="1400" dirty="0"/>
          </a:p>
          <a:p>
            <a:r>
              <a:rPr lang="en-US" sz="1400" dirty="0">
                <a:solidFill>
                  <a:srgbClr val="475569"/>
                </a:solidFill>
                <a:latin typeface="Calibri" pitchFamily="34" charset="0"/>
                <a:ea typeface="Calibri" pitchFamily="34" charset="-122"/>
                <a:cs typeface="Calibri" pitchFamily="34" charset="-120"/>
              </a:rPr>
              <a:t>Stablo </a:t>
            </a:r>
            <a:r>
              <a:rPr lang="en-US" sz="1400" dirty="0" err="1">
                <a:solidFill>
                  <a:srgbClr val="475569"/>
                </a:solidFill>
                <a:latin typeface="Calibri" pitchFamily="34" charset="0"/>
                <a:ea typeface="Calibri" pitchFamily="34" charset="-122"/>
                <a:cs typeface="Calibri" pitchFamily="34" charset="-120"/>
              </a:rPr>
              <a:t>raste</a:t>
            </a:r>
            <a:r>
              <a:rPr lang="en-US" sz="1400" dirty="0">
                <a:solidFill>
                  <a:srgbClr val="475569"/>
                </a:solidFill>
                <a:latin typeface="Calibri" pitchFamily="34" charset="0"/>
                <a:ea typeface="Calibri" pitchFamily="34" charset="-122"/>
                <a:cs typeface="Calibri" pitchFamily="34" charset="-120"/>
              </a:rPr>
              <a:t> </a:t>
            </a:r>
            <a:r>
              <a:rPr lang="en-US" sz="1400" dirty="0" err="1">
                <a:solidFill>
                  <a:srgbClr val="475569"/>
                </a:solidFill>
                <a:latin typeface="Calibri" pitchFamily="34" charset="0"/>
                <a:ea typeface="Calibri" pitchFamily="34" charset="-122"/>
                <a:cs typeface="Calibri" pitchFamily="34" charset="-120"/>
              </a:rPr>
              <a:t>vertikalno</a:t>
            </a:r>
            <a:r>
              <a:rPr lang="sr-Latn-RS" sz="1400" dirty="0">
                <a:solidFill>
                  <a:srgbClr val="475569"/>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3154680" y="3520440"/>
            <a:ext cx="2834640" cy="1417320"/>
          </a:xfrm>
          <a:prstGeom prst="rect">
            <a:avLst/>
          </a:prstGeom>
          <a:solidFill>
            <a:srgbClr val="FFFFFF"/>
          </a:solidFill>
          <a:ln w="12700">
            <a:solidFill>
              <a:schemeClr val="bg2">
                <a:lumMod val="90000"/>
              </a:schemeClr>
            </a:solidFill>
            <a:prstDash val="solid"/>
          </a:ln>
          <a:effectLst>
            <a:outerShdw blurRad="101600" dist="38100" dir="8100000" algn="bl" rotWithShape="0">
              <a:srgbClr val="000000">
                <a:alpha val="18000"/>
              </a:srgbClr>
            </a:outerShdw>
          </a:effectLst>
        </p:spPr>
        <p:txBody>
          <a:bodyPr/>
          <a:lstStyle/>
          <a:p>
            <a:endParaRPr lang="en-US"/>
          </a:p>
        </p:txBody>
      </p:sp>
      <p:sp>
        <p:nvSpPr>
          <p:cNvPr id="19" name="Shape 17"/>
          <p:cNvSpPr/>
          <p:nvPr/>
        </p:nvSpPr>
        <p:spPr>
          <a:xfrm>
            <a:off x="3154680" y="3520440"/>
            <a:ext cx="64008" cy="1417320"/>
          </a:xfrm>
          <a:prstGeom prst="rect">
            <a:avLst/>
          </a:prstGeom>
          <a:solidFill>
            <a:schemeClr val="bg1">
              <a:lumMod val="50000"/>
            </a:schemeClr>
          </a:solidFill>
          <a:ln/>
        </p:spPr>
        <p:txBody>
          <a:bodyPr/>
          <a:lstStyle/>
          <a:p>
            <a:endParaRPr lang="en-US"/>
          </a:p>
        </p:txBody>
      </p:sp>
      <p:sp>
        <p:nvSpPr>
          <p:cNvPr id="20" name="Text 18"/>
          <p:cNvSpPr/>
          <p:nvPr/>
        </p:nvSpPr>
        <p:spPr>
          <a:xfrm>
            <a:off x="3291840" y="3593592"/>
            <a:ext cx="2651760" cy="292608"/>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Fill Factor</a:t>
            </a:r>
            <a:endParaRPr lang="en-US" sz="1600" dirty="0"/>
          </a:p>
        </p:txBody>
      </p:sp>
      <p:sp>
        <p:nvSpPr>
          <p:cNvPr id="21" name="Text 19"/>
          <p:cNvSpPr/>
          <p:nvPr/>
        </p:nvSpPr>
        <p:spPr>
          <a:xfrm>
            <a:off x="3291840" y="3959352"/>
            <a:ext cx="2651760" cy="905256"/>
          </a:xfrm>
          <a:prstGeom prst="rect">
            <a:avLst/>
          </a:prstGeom>
          <a:noFill/>
          <a:ln/>
        </p:spPr>
        <p:txBody>
          <a:bodyPr wrap="square" lIns="0" tIns="0" rIns="0" bIns="0" rtlCol="0" anchor="t"/>
          <a:lstStyle/>
          <a:p>
            <a:pPr marL="0" indent="0">
              <a:buNone/>
            </a:pPr>
            <a:r>
              <a:rPr lang="en-US" sz="1400" dirty="0">
                <a:solidFill>
                  <a:srgbClr val="475569"/>
                </a:solidFill>
                <a:latin typeface="Calibri" pitchFamily="34" charset="0"/>
                <a:ea typeface="Calibri" pitchFamily="34" charset="-122"/>
                <a:cs typeface="Calibri" pitchFamily="34" charset="-120"/>
              </a:rPr>
              <a:t>Firebird puni stranicu 80–90%.</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Ostavlja bafer za </a:t>
            </a:r>
            <a:r>
              <a:rPr lang="en-US" sz="1400" dirty="0" err="1">
                <a:solidFill>
                  <a:srgbClr val="475569"/>
                </a:solidFill>
                <a:latin typeface="Calibri" pitchFamily="34" charset="0"/>
                <a:ea typeface="Calibri" pitchFamily="34" charset="-122"/>
                <a:cs typeface="Calibri" pitchFamily="34" charset="-120"/>
              </a:rPr>
              <a:t>nove</a:t>
            </a:r>
            <a:r>
              <a:rPr lang="en-US" sz="1400" dirty="0">
                <a:solidFill>
                  <a:srgbClr val="475569"/>
                </a:solidFill>
                <a:latin typeface="Calibri" pitchFamily="34" charset="0"/>
                <a:ea typeface="Calibri" pitchFamily="34" charset="-122"/>
                <a:cs typeface="Calibri" pitchFamily="34" charset="-120"/>
              </a:rPr>
              <a:t> </a:t>
            </a:r>
            <a:r>
              <a:rPr lang="en-US" sz="1400" dirty="0" err="1">
                <a:solidFill>
                  <a:srgbClr val="475569"/>
                </a:solidFill>
                <a:latin typeface="Calibri" pitchFamily="34" charset="0"/>
                <a:ea typeface="Calibri" pitchFamily="34" charset="-122"/>
                <a:cs typeface="Calibri" pitchFamily="34" charset="-120"/>
              </a:rPr>
              <a:t>ključeve</a:t>
            </a:r>
            <a:r>
              <a:rPr lang="sr-Latn-RS" sz="1400" dirty="0">
                <a:solidFill>
                  <a:srgbClr val="475569"/>
                </a:solidFill>
                <a:latin typeface="Calibri" pitchFamily="34" charset="0"/>
                <a:ea typeface="Calibri" pitchFamily="34" charset="-122"/>
                <a:cs typeface="Calibri" pitchFamily="34" charset="-120"/>
              </a:rPr>
              <a:t>.</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Spečava preuranjeni Page Split</a:t>
            </a:r>
            <a:r>
              <a:rPr lang="sr-Latn-RS" sz="1400" dirty="0">
                <a:solidFill>
                  <a:srgbClr val="475569"/>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6172200" y="3520440"/>
            <a:ext cx="2743200" cy="1417320"/>
          </a:xfrm>
          <a:prstGeom prst="rect">
            <a:avLst/>
          </a:prstGeom>
          <a:solidFill>
            <a:srgbClr val="FFFFFF"/>
          </a:solidFill>
          <a:ln w="12700">
            <a:solidFill>
              <a:schemeClr val="bg2">
                <a:lumMod val="90000"/>
              </a:schemeClr>
            </a:solidFill>
            <a:prstDash val="solid"/>
          </a:ln>
          <a:effectLst>
            <a:outerShdw blurRad="101600" dist="38100" dir="8100000" algn="bl" rotWithShape="0">
              <a:srgbClr val="000000">
                <a:alpha val="18000"/>
              </a:srgbClr>
            </a:outerShdw>
          </a:effectLst>
        </p:spPr>
        <p:txBody>
          <a:bodyPr/>
          <a:lstStyle/>
          <a:p>
            <a:endParaRPr lang="en-US"/>
          </a:p>
        </p:txBody>
      </p:sp>
      <p:sp>
        <p:nvSpPr>
          <p:cNvPr id="23" name="Shape 21"/>
          <p:cNvSpPr/>
          <p:nvPr/>
        </p:nvSpPr>
        <p:spPr>
          <a:xfrm>
            <a:off x="6172200" y="3520440"/>
            <a:ext cx="64008" cy="1417320"/>
          </a:xfrm>
          <a:prstGeom prst="rect">
            <a:avLst/>
          </a:prstGeom>
          <a:solidFill>
            <a:srgbClr val="1B2A4A"/>
          </a:solidFill>
          <a:ln/>
        </p:spPr>
        <p:txBody>
          <a:bodyPr/>
          <a:lstStyle/>
          <a:p>
            <a:endParaRPr lang="en-US"/>
          </a:p>
        </p:txBody>
      </p:sp>
      <p:sp>
        <p:nvSpPr>
          <p:cNvPr id="24" name="Text 22"/>
          <p:cNvSpPr/>
          <p:nvPr/>
        </p:nvSpPr>
        <p:spPr>
          <a:xfrm>
            <a:off x="6309360" y="3593592"/>
            <a:ext cx="2560320" cy="292608"/>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Dubina stabla</a:t>
            </a:r>
            <a:endParaRPr lang="en-US" sz="1600" dirty="0"/>
          </a:p>
        </p:txBody>
      </p:sp>
      <p:sp>
        <p:nvSpPr>
          <p:cNvPr id="25" name="Text 23"/>
          <p:cNvSpPr/>
          <p:nvPr/>
        </p:nvSpPr>
        <p:spPr>
          <a:xfrm>
            <a:off x="6309360" y="3959352"/>
            <a:ext cx="2560320" cy="905256"/>
          </a:xfrm>
          <a:prstGeom prst="rect">
            <a:avLst/>
          </a:prstGeom>
          <a:noFill/>
          <a:ln/>
        </p:spPr>
        <p:txBody>
          <a:bodyPr wrap="square" lIns="0" tIns="0" rIns="0" bIns="0" rtlCol="0" anchor="t"/>
          <a:lstStyle/>
          <a:p>
            <a:pPr marL="0" indent="0">
              <a:buNone/>
            </a:pPr>
            <a:r>
              <a:rPr lang="en-US" sz="1400" dirty="0">
                <a:solidFill>
                  <a:srgbClr val="475569"/>
                </a:solidFill>
                <a:latin typeface="Calibri" pitchFamily="34" charset="0"/>
                <a:ea typeface="Calibri" pitchFamily="34" charset="-122"/>
                <a:cs typeface="Calibri" pitchFamily="34" charset="-120"/>
              </a:rPr>
              <a:t>Konstantan broj I/O operacija do bilo </a:t>
            </a:r>
            <a:r>
              <a:rPr lang="en-US" sz="1400" dirty="0" err="1">
                <a:solidFill>
                  <a:srgbClr val="475569"/>
                </a:solidFill>
                <a:latin typeface="Calibri" pitchFamily="34" charset="0"/>
                <a:ea typeface="Calibri" pitchFamily="34" charset="-122"/>
                <a:cs typeface="Calibri" pitchFamily="34" charset="-120"/>
              </a:rPr>
              <a:t>kog</a:t>
            </a:r>
            <a:r>
              <a:rPr lang="en-US" sz="1400" dirty="0">
                <a:solidFill>
                  <a:srgbClr val="475569"/>
                </a:solidFill>
                <a:latin typeface="Calibri" pitchFamily="34" charset="0"/>
                <a:ea typeface="Calibri" pitchFamily="34" charset="-122"/>
                <a:cs typeface="Calibri" pitchFamily="34" charset="-120"/>
              </a:rPr>
              <a:t> </a:t>
            </a:r>
            <a:r>
              <a:rPr lang="en-US" sz="1400" dirty="0" err="1">
                <a:solidFill>
                  <a:srgbClr val="475569"/>
                </a:solidFill>
                <a:latin typeface="Calibri" pitchFamily="34" charset="0"/>
                <a:ea typeface="Calibri" pitchFamily="34" charset="-122"/>
                <a:cs typeface="Calibri" pitchFamily="34" charset="-120"/>
              </a:rPr>
              <a:t>zapisa</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Manja dubina = </a:t>
            </a:r>
            <a:r>
              <a:rPr lang="en-US" sz="1400" dirty="0" err="1">
                <a:solidFill>
                  <a:srgbClr val="475569"/>
                </a:solidFill>
                <a:latin typeface="Calibri" pitchFamily="34" charset="0"/>
                <a:ea typeface="Calibri" pitchFamily="34" charset="-122"/>
                <a:cs typeface="Calibri" pitchFamily="34" charset="-120"/>
              </a:rPr>
              <a:t>brži</a:t>
            </a:r>
            <a:r>
              <a:rPr lang="en-US" sz="1400" dirty="0">
                <a:solidFill>
                  <a:srgbClr val="475569"/>
                </a:solidFill>
                <a:latin typeface="Calibri" pitchFamily="34" charset="0"/>
                <a:ea typeface="Calibri" pitchFamily="34" charset="-122"/>
                <a:cs typeface="Calibri" pitchFamily="34" charset="-120"/>
              </a:rPr>
              <a:t> </a:t>
            </a:r>
            <a:r>
              <a:rPr lang="en-US" sz="1400" dirty="0" err="1">
                <a:solidFill>
                  <a:srgbClr val="475569"/>
                </a:solidFill>
                <a:latin typeface="Calibri" pitchFamily="34" charset="0"/>
                <a:ea typeface="Calibri" pitchFamily="34" charset="-122"/>
                <a:cs typeface="Calibri" pitchFamily="34" charset="-120"/>
              </a:rPr>
              <a:t>upiti</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gstat -i </a:t>
            </a:r>
            <a:r>
              <a:rPr lang="en-US" sz="1400" dirty="0" err="1">
                <a:solidFill>
                  <a:srgbClr val="475569"/>
                </a:solidFill>
                <a:latin typeface="Calibri" pitchFamily="34" charset="0"/>
                <a:ea typeface="Calibri" pitchFamily="34" charset="-122"/>
                <a:cs typeface="Calibri" pitchFamily="34" charset="-120"/>
              </a:rPr>
              <a:t>prikazuje</a:t>
            </a:r>
            <a:r>
              <a:rPr lang="en-US" sz="1400" dirty="0">
                <a:solidFill>
                  <a:srgbClr val="475569"/>
                </a:solidFill>
                <a:latin typeface="Calibri" pitchFamily="34" charset="0"/>
                <a:ea typeface="Calibri" pitchFamily="34" charset="-122"/>
                <a:cs typeface="Calibri" pitchFamily="34" charset="-120"/>
              </a:rPr>
              <a:t> </a:t>
            </a:r>
            <a:r>
              <a:rPr lang="sr-Latn-RS" sz="1400" dirty="0">
                <a:solidFill>
                  <a:srgbClr val="475569"/>
                </a:solidFill>
                <a:latin typeface="Calibri" pitchFamily="34" charset="0"/>
                <a:ea typeface="Calibri" pitchFamily="34" charset="-122"/>
                <a:cs typeface="Calibri" pitchFamily="34" charset="-120"/>
              </a:rPr>
              <a:t>dubinu stabla</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chemeClr val="tx2">
              <a:lumMod val="40000"/>
              <a:lumOff val="60000"/>
            </a:schemeClr>
          </a:solidFill>
          <a:ln/>
        </p:spPr>
        <p:txBody>
          <a:bodyPr/>
          <a:lstStyle/>
          <a:p>
            <a:endParaRPr lang="en-US"/>
          </a:p>
        </p:txBody>
      </p:sp>
      <p:sp>
        <p:nvSpPr>
          <p:cNvPr id="3" name="Shape 1"/>
          <p:cNvSpPr/>
          <p:nvPr/>
        </p:nvSpPr>
        <p:spPr>
          <a:xfrm>
            <a:off x="137160" y="0"/>
            <a:ext cx="9006840" cy="658368"/>
          </a:xfrm>
          <a:prstGeom prst="rect">
            <a:avLst/>
          </a:prstGeom>
          <a:solidFill>
            <a:srgbClr val="1B2A4A"/>
          </a:solidFill>
          <a:ln/>
        </p:spPr>
        <p:txBody>
          <a:bodyPr/>
          <a:lstStyle/>
          <a:p>
            <a:endParaRPr lang="en-US"/>
          </a:p>
        </p:txBody>
      </p:sp>
      <p:sp>
        <p:nvSpPr>
          <p:cNvPr id="4" name="Text 2"/>
          <p:cNvSpPr/>
          <p:nvPr/>
        </p:nvSpPr>
        <p:spPr>
          <a:xfrm>
            <a:off x="274320" y="64008"/>
            <a:ext cx="859536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Prefiksna kompresija, duplikati i NULL vrednosti</a:t>
            </a:r>
            <a:endParaRPr lang="en-US" sz="2800" dirty="0"/>
          </a:p>
        </p:txBody>
      </p:sp>
      <p:sp>
        <p:nvSpPr>
          <p:cNvPr id="5" name="Shape 3"/>
          <p:cNvSpPr/>
          <p:nvPr/>
        </p:nvSpPr>
        <p:spPr>
          <a:xfrm>
            <a:off x="228600" y="777239"/>
            <a:ext cx="5303520" cy="2449039"/>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6" name="Shape 4"/>
          <p:cNvSpPr/>
          <p:nvPr/>
        </p:nvSpPr>
        <p:spPr>
          <a:xfrm>
            <a:off x="228600" y="777240"/>
            <a:ext cx="5303520" cy="347472"/>
          </a:xfrm>
          <a:prstGeom prst="rect">
            <a:avLst/>
          </a:prstGeom>
          <a:solidFill>
            <a:srgbClr val="1B2A4A"/>
          </a:solidFill>
          <a:ln/>
        </p:spPr>
        <p:txBody>
          <a:bodyPr/>
          <a:lstStyle/>
          <a:p>
            <a:endParaRPr lang="en-US"/>
          </a:p>
        </p:txBody>
      </p:sp>
      <p:sp>
        <p:nvSpPr>
          <p:cNvPr id="7" name="Text 5"/>
          <p:cNvSpPr/>
          <p:nvPr/>
        </p:nvSpPr>
        <p:spPr>
          <a:xfrm>
            <a:off x="320040" y="795528"/>
            <a:ext cx="5120640" cy="310896"/>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Prefiksna kompresija — primer</a:t>
            </a:r>
            <a:endParaRPr lang="en-US" sz="1600" dirty="0"/>
          </a:p>
        </p:txBody>
      </p:sp>
      <p:sp>
        <p:nvSpPr>
          <p:cNvPr id="8" name="Shape 6"/>
          <p:cNvSpPr/>
          <p:nvPr/>
        </p:nvSpPr>
        <p:spPr>
          <a:xfrm>
            <a:off x="320040" y="1188719"/>
            <a:ext cx="1440000" cy="414000"/>
          </a:xfrm>
          <a:prstGeom prst="rect">
            <a:avLst/>
          </a:prstGeom>
          <a:solidFill>
            <a:schemeClr val="tx1">
              <a:lumMod val="65000"/>
              <a:lumOff val="35000"/>
            </a:schemeClr>
          </a:solidFill>
          <a:ln/>
        </p:spPr>
        <p:txBody>
          <a:bodyPr/>
          <a:lstStyle/>
          <a:p>
            <a:endParaRPr lang="en-US"/>
          </a:p>
        </p:txBody>
      </p:sp>
      <p:sp>
        <p:nvSpPr>
          <p:cNvPr id="9" name="Text 7"/>
          <p:cNvSpPr/>
          <p:nvPr/>
        </p:nvSpPr>
        <p:spPr>
          <a:xfrm>
            <a:off x="320040" y="1188720"/>
            <a:ext cx="137160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Petrov</a:t>
            </a:r>
            <a:endParaRPr lang="en-US" sz="1200" dirty="0"/>
          </a:p>
        </p:txBody>
      </p:sp>
      <p:sp>
        <p:nvSpPr>
          <p:cNvPr id="10" name="Text 8"/>
          <p:cNvSpPr/>
          <p:nvPr/>
        </p:nvSpPr>
        <p:spPr>
          <a:xfrm>
            <a:off x="1860715" y="1234440"/>
            <a:ext cx="1920240" cy="274320"/>
          </a:xfrm>
          <a:prstGeom prst="rect">
            <a:avLst/>
          </a:prstGeom>
          <a:noFill/>
          <a:ln/>
        </p:spPr>
        <p:txBody>
          <a:bodyPr wrap="square" lIns="0" tIns="0" rIns="0" bIns="0" rtlCol="0" anchor="ctr"/>
          <a:lstStyle/>
          <a:p>
            <a:pPr marL="0" indent="0">
              <a:buNone/>
            </a:pPr>
            <a:r>
              <a:rPr lang="en-US" sz="1200" dirty="0">
                <a:solidFill>
                  <a:srgbClr val="1B2A4A"/>
                </a:solidFill>
                <a:latin typeface="Consolas" pitchFamily="34" charset="0"/>
                <a:ea typeface="Consolas" pitchFamily="34" charset="-122"/>
                <a:cs typeface="Consolas" pitchFamily="34" charset="-120"/>
              </a:rPr>
              <a:t>Prefix=0, Suffix=6</a:t>
            </a:r>
            <a:endParaRPr lang="en-US" sz="1200" dirty="0">
              <a:solidFill>
                <a:srgbClr val="1B2A4A"/>
              </a:solidFill>
            </a:endParaRPr>
          </a:p>
        </p:txBody>
      </p:sp>
      <p:sp>
        <p:nvSpPr>
          <p:cNvPr id="11" name="Text 9"/>
          <p:cNvSpPr/>
          <p:nvPr/>
        </p:nvSpPr>
        <p:spPr>
          <a:xfrm>
            <a:off x="3749040" y="1234440"/>
            <a:ext cx="1691640" cy="274320"/>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 čuva: "Petrov"</a:t>
            </a:r>
            <a:endParaRPr lang="en-US" sz="1200" dirty="0">
              <a:solidFill>
                <a:srgbClr val="1B2A4A"/>
              </a:solidFill>
            </a:endParaRPr>
          </a:p>
        </p:txBody>
      </p:sp>
      <p:sp>
        <p:nvSpPr>
          <p:cNvPr id="12" name="Shape 10"/>
          <p:cNvSpPr/>
          <p:nvPr/>
        </p:nvSpPr>
        <p:spPr>
          <a:xfrm>
            <a:off x="320040" y="1691640"/>
            <a:ext cx="1440000" cy="414000"/>
          </a:xfrm>
          <a:prstGeom prst="rect">
            <a:avLst/>
          </a:prstGeom>
          <a:solidFill>
            <a:schemeClr val="bg1">
              <a:lumMod val="50000"/>
            </a:schemeClr>
          </a:solidFill>
          <a:ln/>
        </p:spPr>
        <p:txBody>
          <a:bodyPr/>
          <a:lstStyle/>
          <a:p>
            <a:endParaRPr lang="en-US"/>
          </a:p>
        </p:txBody>
      </p:sp>
      <p:sp>
        <p:nvSpPr>
          <p:cNvPr id="13" name="Text 11"/>
          <p:cNvSpPr/>
          <p:nvPr/>
        </p:nvSpPr>
        <p:spPr>
          <a:xfrm>
            <a:off x="320040" y="1691640"/>
            <a:ext cx="137160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Petrović</a:t>
            </a:r>
            <a:endParaRPr lang="en-US" sz="1200" dirty="0"/>
          </a:p>
        </p:txBody>
      </p:sp>
      <p:sp>
        <p:nvSpPr>
          <p:cNvPr id="14" name="Text 12"/>
          <p:cNvSpPr/>
          <p:nvPr/>
        </p:nvSpPr>
        <p:spPr>
          <a:xfrm>
            <a:off x="1860715" y="1737360"/>
            <a:ext cx="1920240" cy="274320"/>
          </a:xfrm>
          <a:prstGeom prst="rect">
            <a:avLst/>
          </a:prstGeom>
          <a:noFill/>
          <a:ln/>
        </p:spPr>
        <p:txBody>
          <a:bodyPr wrap="square" lIns="0" tIns="0" rIns="0" bIns="0" rtlCol="0" anchor="ctr"/>
          <a:lstStyle/>
          <a:p>
            <a:pPr marL="0" indent="0">
              <a:buNone/>
            </a:pPr>
            <a:r>
              <a:rPr lang="en-US" sz="1200" dirty="0">
                <a:solidFill>
                  <a:srgbClr val="1B2A4A"/>
                </a:solidFill>
                <a:latin typeface="Consolas" pitchFamily="34" charset="0"/>
                <a:ea typeface="Consolas" pitchFamily="34" charset="-122"/>
                <a:cs typeface="Consolas" pitchFamily="34" charset="-120"/>
              </a:rPr>
              <a:t>Prefix=6, Suffix=2</a:t>
            </a:r>
            <a:endParaRPr lang="en-US" sz="1200" dirty="0">
              <a:solidFill>
                <a:srgbClr val="1B2A4A"/>
              </a:solidFill>
            </a:endParaRPr>
          </a:p>
        </p:txBody>
      </p:sp>
      <p:sp>
        <p:nvSpPr>
          <p:cNvPr id="15" name="Text 13"/>
          <p:cNvSpPr/>
          <p:nvPr/>
        </p:nvSpPr>
        <p:spPr>
          <a:xfrm>
            <a:off x="3749040" y="1737360"/>
            <a:ext cx="1691640" cy="274320"/>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 čuva: "ić"</a:t>
            </a:r>
            <a:endParaRPr lang="en-US" sz="1200" dirty="0">
              <a:solidFill>
                <a:srgbClr val="1B2A4A"/>
              </a:solidFill>
            </a:endParaRPr>
          </a:p>
        </p:txBody>
      </p:sp>
      <p:sp>
        <p:nvSpPr>
          <p:cNvPr id="16" name="Shape 14"/>
          <p:cNvSpPr/>
          <p:nvPr/>
        </p:nvSpPr>
        <p:spPr>
          <a:xfrm>
            <a:off x="320040" y="2194560"/>
            <a:ext cx="1440000" cy="414000"/>
          </a:xfrm>
          <a:prstGeom prst="rect">
            <a:avLst/>
          </a:prstGeom>
          <a:solidFill>
            <a:schemeClr val="tx2"/>
          </a:solidFill>
          <a:ln/>
        </p:spPr>
        <p:txBody>
          <a:bodyPr/>
          <a:lstStyle/>
          <a:p>
            <a:endParaRPr lang="en-US"/>
          </a:p>
        </p:txBody>
      </p:sp>
      <p:sp>
        <p:nvSpPr>
          <p:cNvPr id="17" name="Text 15"/>
          <p:cNvSpPr/>
          <p:nvPr/>
        </p:nvSpPr>
        <p:spPr>
          <a:xfrm>
            <a:off x="320040" y="2194560"/>
            <a:ext cx="137160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Petronijević</a:t>
            </a:r>
            <a:endParaRPr lang="en-US" sz="1200" dirty="0"/>
          </a:p>
        </p:txBody>
      </p:sp>
      <p:sp>
        <p:nvSpPr>
          <p:cNvPr id="18" name="Text 16"/>
          <p:cNvSpPr/>
          <p:nvPr/>
        </p:nvSpPr>
        <p:spPr>
          <a:xfrm>
            <a:off x="1860715" y="2240280"/>
            <a:ext cx="1920240" cy="274320"/>
          </a:xfrm>
          <a:prstGeom prst="rect">
            <a:avLst/>
          </a:prstGeom>
          <a:noFill/>
          <a:ln/>
        </p:spPr>
        <p:txBody>
          <a:bodyPr wrap="square" lIns="0" tIns="0" rIns="0" bIns="0" rtlCol="0" anchor="ctr"/>
          <a:lstStyle/>
          <a:p>
            <a:pPr marL="0" indent="0">
              <a:buNone/>
            </a:pPr>
            <a:r>
              <a:rPr lang="en-US" sz="1200" dirty="0">
                <a:solidFill>
                  <a:srgbClr val="1B2A4A"/>
                </a:solidFill>
                <a:latin typeface="Consolas" pitchFamily="34" charset="0"/>
                <a:ea typeface="Consolas" pitchFamily="34" charset="-122"/>
                <a:cs typeface="Consolas" pitchFamily="34" charset="-120"/>
              </a:rPr>
              <a:t>Prefix=5, Suffix=7</a:t>
            </a:r>
            <a:endParaRPr lang="en-US" sz="1200" dirty="0">
              <a:solidFill>
                <a:srgbClr val="1B2A4A"/>
              </a:solidFill>
            </a:endParaRPr>
          </a:p>
        </p:txBody>
      </p:sp>
      <p:sp>
        <p:nvSpPr>
          <p:cNvPr id="19" name="Text 17"/>
          <p:cNvSpPr/>
          <p:nvPr/>
        </p:nvSpPr>
        <p:spPr>
          <a:xfrm>
            <a:off x="3749040" y="2240280"/>
            <a:ext cx="1691640" cy="274320"/>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 čuva: "nijević"</a:t>
            </a:r>
            <a:endParaRPr lang="en-US" sz="1200" dirty="0">
              <a:solidFill>
                <a:srgbClr val="1B2A4A"/>
              </a:solidFill>
            </a:endParaRPr>
          </a:p>
        </p:txBody>
      </p:sp>
      <p:sp>
        <p:nvSpPr>
          <p:cNvPr id="20" name="Text 18"/>
          <p:cNvSpPr/>
          <p:nvPr/>
        </p:nvSpPr>
        <p:spPr>
          <a:xfrm>
            <a:off x="320040" y="2872681"/>
            <a:ext cx="5120640" cy="274320"/>
          </a:xfrm>
          <a:prstGeom prst="rect">
            <a:avLst/>
          </a:prstGeom>
          <a:noFill/>
          <a:ln/>
        </p:spPr>
        <p:txBody>
          <a:bodyPr wrap="square" lIns="0" tIns="0" rIns="0" bIns="0" rtlCol="0" anchor="ctr"/>
          <a:lstStyle/>
          <a:p>
            <a:pPr marL="0" indent="0">
              <a:buNone/>
            </a:pPr>
            <a:r>
              <a:rPr lang="en-US" sz="1400" b="1" dirty="0">
                <a:solidFill>
                  <a:srgbClr val="1B2A4A"/>
                </a:solidFill>
                <a:latin typeface="Calibri" pitchFamily="34" charset="0"/>
                <a:ea typeface="Calibri" pitchFamily="34" charset="-122"/>
                <a:cs typeface="Calibri" pitchFamily="34" charset="-120"/>
              </a:rPr>
              <a:t>Ušteda prostora do 50%+ za </a:t>
            </a:r>
            <a:r>
              <a:rPr lang="en-US" sz="1400" b="1" dirty="0" err="1">
                <a:solidFill>
                  <a:srgbClr val="1B2A4A"/>
                </a:solidFill>
                <a:latin typeface="Calibri" pitchFamily="34" charset="0"/>
                <a:ea typeface="Calibri" pitchFamily="34" charset="-122"/>
                <a:cs typeface="Calibri" pitchFamily="34" charset="-120"/>
              </a:rPr>
              <a:t>kompozitne</a:t>
            </a:r>
            <a:r>
              <a:rPr lang="en-US" sz="1400" b="1" dirty="0">
                <a:solidFill>
                  <a:srgbClr val="1B2A4A"/>
                </a:solidFill>
                <a:latin typeface="Calibri" pitchFamily="34" charset="0"/>
                <a:ea typeface="Calibri" pitchFamily="34" charset="-122"/>
                <a:cs typeface="Calibri" pitchFamily="34" charset="-120"/>
              </a:rPr>
              <a:t> </a:t>
            </a:r>
            <a:r>
              <a:rPr lang="en-US" sz="1400" b="1" dirty="0" err="1">
                <a:solidFill>
                  <a:srgbClr val="1B2A4A"/>
                </a:solidFill>
                <a:latin typeface="Calibri" pitchFamily="34" charset="0"/>
                <a:ea typeface="Calibri" pitchFamily="34" charset="-122"/>
                <a:cs typeface="Calibri" pitchFamily="34" charset="-120"/>
              </a:rPr>
              <a:t>indekse</a:t>
            </a:r>
            <a:r>
              <a:rPr lang="sr-Latn-RS" sz="1400" b="1" dirty="0">
                <a:solidFill>
                  <a:srgbClr val="1B2A4A"/>
                </a:solidFill>
                <a:latin typeface="Calibri" pitchFamily="34" charset="0"/>
                <a:ea typeface="Calibri" pitchFamily="34" charset="-122"/>
                <a:cs typeface="Calibri" pitchFamily="34" charset="-120"/>
              </a:rPr>
              <a:t>!</a:t>
            </a:r>
            <a:endParaRPr lang="en-US" sz="1400" b="1" dirty="0">
              <a:solidFill>
                <a:srgbClr val="1B2A4A"/>
              </a:solidFill>
            </a:endParaRPr>
          </a:p>
        </p:txBody>
      </p:sp>
      <p:sp>
        <p:nvSpPr>
          <p:cNvPr id="21" name="Shape 19"/>
          <p:cNvSpPr/>
          <p:nvPr/>
        </p:nvSpPr>
        <p:spPr>
          <a:xfrm>
            <a:off x="5715000" y="777240"/>
            <a:ext cx="3200400" cy="137160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22" name="Shape 20"/>
          <p:cNvSpPr/>
          <p:nvPr/>
        </p:nvSpPr>
        <p:spPr>
          <a:xfrm>
            <a:off x="5715000" y="777240"/>
            <a:ext cx="64008" cy="1371600"/>
          </a:xfrm>
          <a:prstGeom prst="rect">
            <a:avLst/>
          </a:prstGeom>
          <a:solidFill>
            <a:srgbClr val="1B2A4A"/>
          </a:solidFill>
          <a:ln/>
        </p:spPr>
        <p:txBody>
          <a:bodyPr/>
          <a:lstStyle/>
          <a:p>
            <a:endParaRPr lang="en-US"/>
          </a:p>
        </p:txBody>
      </p:sp>
      <p:sp>
        <p:nvSpPr>
          <p:cNvPr id="23" name="Text 21"/>
          <p:cNvSpPr/>
          <p:nvPr/>
        </p:nvSpPr>
        <p:spPr>
          <a:xfrm>
            <a:off x="5852160" y="850392"/>
            <a:ext cx="3017520" cy="292608"/>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Duplikati</a:t>
            </a:r>
            <a:endParaRPr lang="en-US" sz="1600" dirty="0"/>
          </a:p>
        </p:txBody>
      </p:sp>
      <p:sp>
        <p:nvSpPr>
          <p:cNvPr id="24" name="Text 22"/>
          <p:cNvSpPr/>
          <p:nvPr/>
        </p:nvSpPr>
        <p:spPr>
          <a:xfrm>
            <a:off x="5852160" y="1261872"/>
            <a:ext cx="3017520" cy="813816"/>
          </a:xfrm>
          <a:prstGeom prst="rect">
            <a:avLst/>
          </a:prstGeom>
          <a:noFill/>
          <a:ln/>
        </p:spPr>
        <p:txBody>
          <a:bodyPr wrap="square" lIns="0" tIns="0" rIns="0" bIns="0" rtlCol="0" anchor="t"/>
          <a:lstStyle/>
          <a:p>
            <a:pPr marL="0" indent="0">
              <a:buNone/>
            </a:pPr>
            <a:r>
              <a:rPr lang="en-US" sz="1200" dirty="0">
                <a:solidFill>
                  <a:srgbClr val="475569"/>
                </a:solidFill>
                <a:ea typeface="Calibri" pitchFamily="34" charset="-122"/>
                <a:cs typeface="Calibri" pitchFamily="34" charset="-120"/>
              </a:rPr>
              <a:t>Non-unique indeksi grupišu iste ključeve.</a:t>
            </a:r>
            <a:endParaRPr lang="en-US" sz="1200" dirty="0"/>
          </a:p>
          <a:p>
            <a:pPr marL="0" indent="0">
              <a:buNone/>
            </a:pPr>
            <a:r>
              <a:rPr lang="en-US" sz="1200" dirty="0">
                <a:solidFill>
                  <a:srgbClr val="475569"/>
                </a:solidFill>
                <a:ea typeface="Calibri" pitchFamily="34" charset="-122"/>
                <a:cs typeface="Calibri" pitchFamily="34" charset="-120"/>
              </a:rPr>
              <a:t>Lista RDB$DB_KEY vrednosti pod jednim unosom.</a:t>
            </a:r>
            <a:endParaRPr lang="en-US" sz="1200" dirty="0"/>
          </a:p>
          <a:p>
            <a:pPr marL="0" indent="0">
              <a:buNone/>
            </a:pPr>
            <a:r>
              <a:rPr lang="en-US" sz="1200" dirty="0">
                <a:solidFill>
                  <a:srgbClr val="475569"/>
                </a:solidFill>
                <a:ea typeface="Calibri" pitchFamily="34" charset="-122"/>
                <a:cs typeface="Calibri" pitchFamily="34" charset="-120"/>
              </a:rPr>
              <a:t>Kompaktno — štedi prostor u Buffer Pool-u.</a:t>
            </a:r>
            <a:endParaRPr lang="en-US" sz="1200" dirty="0"/>
          </a:p>
        </p:txBody>
      </p:sp>
      <p:sp>
        <p:nvSpPr>
          <p:cNvPr id="25" name="Shape 23"/>
          <p:cNvSpPr/>
          <p:nvPr/>
        </p:nvSpPr>
        <p:spPr>
          <a:xfrm>
            <a:off x="5715000" y="2286000"/>
            <a:ext cx="3200400" cy="150876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26" name="Shape 24"/>
          <p:cNvSpPr/>
          <p:nvPr/>
        </p:nvSpPr>
        <p:spPr>
          <a:xfrm>
            <a:off x="5715000" y="2286000"/>
            <a:ext cx="64008" cy="1508760"/>
          </a:xfrm>
          <a:prstGeom prst="rect">
            <a:avLst/>
          </a:prstGeom>
          <a:solidFill>
            <a:schemeClr val="bg1">
              <a:lumMod val="50000"/>
            </a:schemeClr>
          </a:solidFill>
          <a:ln>
            <a:solidFill>
              <a:schemeClr val="bg2">
                <a:lumMod val="90000"/>
              </a:schemeClr>
            </a:solidFill>
          </a:ln>
        </p:spPr>
        <p:txBody>
          <a:bodyPr/>
          <a:lstStyle/>
          <a:p>
            <a:endParaRPr lang="en-US"/>
          </a:p>
        </p:txBody>
      </p:sp>
      <p:sp>
        <p:nvSpPr>
          <p:cNvPr id="27" name="Text 25"/>
          <p:cNvSpPr/>
          <p:nvPr/>
        </p:nvSpPr>
        <p:spPr>
          <a:xfrm>
            <a:off x="5852160" y="2359152"/>
            <a:ext cx="3017520" cy="292608"/>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NULL vrednosti</a:t>
            </a:r>
            <a:endParaRPr lang="en-US" sz="1600" dirty="0"/>
          </a:p>
        </p:txBody>
      </p:sp>
      <p:sp>
        <p:nvSpPr>
          <p:cNvPr id="28" name="Text 26"/>
          <p:cNvSpPr/>
          <p:nvPr/>
        </p:nvSpPr>
        <p:spPr>
          <a:xfrm>
            <a:off x="5852160" y="2724912"/>
            <a:ext cx="3017520" cy="996696"/>
          </a:xfrm>
          <a:prstGeom prst="rect">
            <a:avLst/>
          </a:prstGeom>
          <a:noFill/>
          <a:ln/>
        </p:spPr>
        <p:txBody>
          <a:bodyPr wrap="square" lIns="0" tIns="0" rIns="0" bIns="0" rtlCol="0" anchor="t"/>
          <a:lstStyle/>
          <a:p>
            <a:pPr marL="0" indent="0">
              <a:buNone/>
            </a:pPr>
            <a:r>
              <a:rPr lang="en-US" sz="1200" dirty="0">
                <a:solidFill>
                  <a:srgbClr val="475569"/>
                </a:solidFill>
                <a:ea typeface="Calibri" pitchFamily="34" charset="-122"/>
                <a:cs typeface="Calibri" pitchFamily="34" charset="-120"/>
              </a:rPr>
              <a:t>NULL = najmanji ključ → na početku B+ stabla.</a:t>
            </a:r>
            <a:endParaRPr lang="en-US" sz="1200" dirty="0"/>
          </a:p>
          <a:p>
            <a:pPr marL="0" indent="0">
              <a:buNone/>
            </a:pPr>
            <a:r>
              <a:rPr lang="en-US" sz="1200" dirty="0">
                <a:solidFill>
                  <a:srgbClr val="475569"/>
                </a:solidFill>
                <a:ea typeface="Calibri" pitchFamily="34" charset="-122"/>
                <a:cs typeface="Calibri" pitchFamily="34" charset="-120"/>
              </a:rPr>
              <a:t>IS NULL koristi indeks — </a:t>
            </a:r>
            <a:r>
              <a:rPr lang="en-US" sz="1200" b="1" dirty="0">
                <a:solidFill>
                  <a:srgbClr val="475569"/>
                </a:solidFill>
                <a:ea typeface="Calibri" pitchFamily="34" charset="-122"/>
                <a:cs typeface="Calibri" pitchFamily="34" charset="-120"/>
              </a:rPr>
              <a:t>nema Full Table Scan</a:t>
            </a:r>
            <a:endParaRPr lang="en-US" sz="1200" b="1" dirty="0"/>
          </a:p>
          <a:p>
            <a:pPr marL="0" indent="0">
              <a:buNone/>
            </a:pPr>
            <a:r>
              <a:rPr lang="en-US" sz="1200" dirty="0">
                <a:solidFill>
                  <a:srgbClr val="475569"/>
                </a:solidFill>
                <a:ea typeface="Calibri" pitchFamily="34" charset="-122"/>
                <a:cs typeface="Calibri" pitchFamily="34" charset="-120"/>
              </a:rPr>
              <a:t>Firebird tretira NULL kao ravnopravnu vrednost.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chemeClr val="tx2">
              <a:lumMod val="40000"/>
              <a:lumOff val="60000"/>
            </a:schemeClr>
          </a:solidFill>
          <a:ln/>
        </p:spPr>
        <p:txBody>
          <a:bodyPr/>
          <a:lstStyle/>
          <a:p>
            <a:endParaRPr lang="en-US"/>
          </a:p>
        </p:txBody>
      </p:sp>
      <p:sp>
        <p:nvSpPr>
          <p:cNvPr id="3" name="Shape 1"/>
          <p:cNvSpPr/>
          <p:nvPr/>
        </p:nvSpPr>
        <p:spPr>
          <a:xfrm>
            <a:off x="137160" y="0"/>
            <a:ext cx="9006840" cy="658368"/>
          </a:xfrm>
          <a:prstGeom prst="rect">
            <a:avLst/>
          </a:prstGeom>
          <a:solidFill>
            <a:srgbClr val="1B2A4A"/>
          </a:solidFill>
          <a:ln/>
        </p:spPr>
        <p:txBody>
          <a:bodyPr/>
          <a:lstStyle/>
          <a:p>
            <a:endParaRPr lang="en-US"/>
          </a:p>
        </p:txBody>
      </p:sp>
      <p:sp>
        <p:nvSpPr>
          <p:cNvPr id="4" name="Text 2"/>
          <p:cNvSpPr/>
          <p:nvPr/>
        </p:nvSpPr>
        <p:spPr>
          <a:xfrm>
            <a:off x="274320" y="64008"/>
            <a:ext cx="859536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Tipovi indeksa i njihova primena</a:t>
            </a:r>
            <a:endParaRPr lang="en-US" sz="2800" dirty="0"/>
          </a:p>
        </p:txBody>
      </p:sp>
      <p:sp>
        <p:nvSpPr>
          <p:cNvPr id="5" name="Shape 3"/>
          <p:cNvSpPr/>
          <p:nvPr/>
        </p:nvSpPr>
        <p:spPr>
          <a:xfrm>
            <a:off x="228600" y="863505"/>
            <a:ext cx="4251960" cy="169164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6" name="Shape 4"/>
          <p:cNvSpPr/>
          <p:nvPr/>
        </p:nvSpPr>
        <p:spPr>
          <a:xfrm>
            <a:off x="228600" y="863505"/>
            <a:ext cx="4251960" cy="384048"/>
          </a:xfrm>
          <a:prstGeom prst="rect">
            <a:avLst/>
          </a:prstGeom>
          <a:solidFill>
            <a:schemeClr val="accent2">
              <a:lumMod val="75000"/>
            </a:schemeClr>
          </a:solidFill>
          <a:ln/>
        </p:spPr>
        <p:txBody>
          <a:bodyPr/>
          <a:lstStyle/>
          <a:p>
            <a:endParaRPr lang="en-US"/>
          </a:p>
        </p:txBody>
      </p:sp>
      <p:sp>
        <p:nvSpPr>
          <p:cNvPr id="7" name="Text 5"/>
          <p:cNvSpPr/>
          <p:nvPr/>
        </p:nvSpPr>
        <p:spPr>
          <a:xfrm>
            <a:off x="338328" y="918369"/>
            <a:ext cx="4023360" cy="2743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Primarni ključ</a:t>
            </a:r>
            <a:endParaRPr lang="en-US" sz="1600" dirty="0"/>
          </a:p>
        </p:txBody>
      </p:sp>
      <p:sp>
        <p:nvSpPr>
          <p:cNvPr id="8" name="Text 6"/>
          <p:cNvSpPr/>
          <p:nvPr/>
        </p:nvSpPr>
        <p:spPr>
          <a:xfrm>
            <a:off x="338328" y="1338993"/>
            <a:ext cx="4023360" cy="1143000"/>
          </a:xfrm>
          <a:prstGeom prst="rect">
            <a:avLst/>
          </a:prstGeom>
          <a:noFill/>
          <a:ln/>
        </p:spPr>
        <p:txBody>
          <a:bodyPr wrap="square" lIns="0" tIns="0" rIns="0" bIns="0" rtlCol="0" anchor="t"/>
          <a:lstStyle/>
          <a:p>
            <a:pPr marL="0" indent="0">
              <a:buNone/>
            </a:pPr>
            <a:r>
              <a:rPr lang="en-US" sz="1400" dirty="0">
                <a:solidFill>
                  <a:srgbClr val="475569"/>
                </a:solidFill>
                <a:latin typeface="Calibri" pitchFamily="34" charset="0"/>
                <a:ea typeface="Calibri" pitchFamily="34" charset="-122"/>
                <a:cs typeface="Calibri" pitchFamily="34" charset="-120"/>
              </a:rPr>
              <a:t>AUTO kreiran pri PRIMARY KEY.</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Najniža selektivnost (svaki red jedinstven).</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Preporučiti uski tip — BIGINT.</a:t>
            </a:r>
            <a:endParaRPr lang="en-US" sz="1400" dirty="0"/>
          </a:p>
        </p:txBody>
      </p:sp>
      <p:sp>
        <p:nvSpPr>
          <p:cNvPr id="9" name="Shape 7"/>
          <p:cNvSpPr/>
          <p:nvPr/>
        </p:nvSpPr>
        <p:spPr>
          <a:xfrm>
            <a:off x="4709160" y="863505"/>
            <a:ext cx="4251960" cy="169164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10" name="Shape 8"/>
          <p:cNvSpPr/>
          <p:nvPr/>
        </p:nvSpPr>
        <p:spPr>
          <a:xfrm>
            <a:off x="4709160" y="863505"/>
            <a:ext cx="4251960" cy="384048"/>
          </a:xfrm>
          <a:prstGeom prst="rect">
            <a:avLst/>
          </a:prstGeom>
          <a:solidFill>
            <a:srgbClr val="243660"/>
          </a:solidFill>
          <a:ln/>
        </p:spPr>
        <p:txBody>
          <a:bodyPr/>
          <a:lstStyle/>
          <a:p>
            <a:endParaRPr lang="en-US"/>
          </a:p>
        </p:txBody>
      </p:sp>
      <p:sp>
        <p:nvSpPr>
          <p:cNvPr id="11" name="Text 9"/>
          <p:cNvSpPr/>
          <p:nvPr/>
        </p:nvSpPr>
        <p:spPr>
          <a:xfrm>
            <a:off x="4818888" y="918369"/>
            <a:ext cx="4023360" cy="2743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Unikatni indeks</a:t>
            </a:r>
            <a:endParaRPr lang="en-US" sz="1600" dirty="0"/>
          </a:p>
        </p:txBody>
      </p:sp>
      <p:sp>
        <p:nvSpPr>
          <p:cNvPr id="12" name="Text 10"/>
          <p:cNvSpPr/>
          <p:nvPr/>
        </p:nvSpPr>
        <p:spPr>
          <a:xfrm>
            <a:off x="4818888" y="1338993"/>
            <a:ext cx="4023360" cy="1143000"/>
          </a:xfrm>
          <a:prstGeom prst="rect">
            <a:avLst/>
          </a:prstGeom>
          <a:noFill/>
          <a:ln/>
        </p:spPr>
        <p:txBody>
          <a:bodyPr wrap="square" lIns="0" tIns="0" rIns="0" bIns="0" rtlCol="0" anchor="t"/>
          <a:lstStyle/>
          <a:p>
            <a:pPr marL="0" indent="0">
              <a:buNone/>
            </a:pPr>
            <a:r>
              <a:rPr lang="en-US" sz="1400" dirty="0">
                <a:solidFill>
                  <a:srgbClr val="475569"/>
                </a:solidFill>
                <a:latin typeface="Calibri" pitchFamily="34" charset="0"/>
                <a:ea typeface="Calibri" pitchFamily="34" charset="-122"/>
                <a:cs typeface="Calibri" pitchFamily="34" charset="-120"/>
              </a:rPr>
              <a:t>B+ stablo kao zaštitna barijera.</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Provera jedinstvenosti </a:t>
            </a:r>
            <a:r>
              <a:rPr lang="en-US" sz="1400" dirty="0" err="1">
                <a:solidFill>
                  <a:srgbClr val="475569"/>
                </a:solidFill>
                <a:latin typeface="Calibri" pitchFamily="34" charset="0"/>
                <a:ea typeface="Calibri" pitchFamily="34" charset="-122"/>
                <a:cs typeface="Calibri" pitchFamily="34" charset="-120"/>
              </a:rPr>
              <a:t>pri</a:t>
            </a:r>
            <a:r>
              <a:rPr lang="en-US" sz="1400" dirty="0">
                <a:solidFill>
                  <a:srgbClr val="475569"/>
                </a:solidFill>
                <a:latin typeface="Calibri" pitchFamily="34" charset="0"/>
                <a:ea typeface="Calibri" pitchFamily="34" charset="-122"/>
                <a:cs typeface="Calibri" pitchFamily="34" charset="-120"/>
              </a:rPr>
              <a:t> </a:t>
            </a:r>
            <a:r>
              <a:rPr lang="en-US" sz="1400" dirty="0" err="1">
                <a:solidFill>
                  <a:srgbClr val="475569"/>
                </a:solidFill>
                <a:latin typeface="Calibri" pitchFamily="34" charset="0"/>
                <a:ea typeface="Calibri" pitchFamily="34" charset="-122"/>
                <a:cs typeface="Calibri" pitchFamily="34" charset="-120"/>
              </a:rPr>
              <a:t>svako</a:t>
            </a:r>
            <a:r>
              <a:rPr lang="sr-Latn-RS" sz="1400" dirty="0">
                <a:solidFill>
                  <a:srgbClr val="475569"/>
                </a:solidFill>
                <a:latin typeface="Calibri" pitchFamily="34" charset="0"/>
                <a:ea typeface="Calibri" pitchFamily="34" charset="-122"/>
                <a:cs typeface="Calibri" pitchFamily="34" charset="-120"/>
              </a:rPr>
              <a:t>j operaciji</a:t>
            </a:r>
            <a:r>
              <a:rPr lang="en-US" sz="1400" dirty="0">
                <a:solidFill>
                  <a:srgbClr val="475569"/>
                </a:solidFill>
                <a:latin typeface="Calibri" pitchFamily="34" charset="0"/>
                <a:ea typeface="Calibri" pitchFamily="34" charset="-122"/>
                <a:cs typeface="Calibri" pitchFamily="34" charset="-120"/>
              </a:rPr>
              <a:t> INSERT.</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Greška pre upisa na disk.</a:t>
            </a:r>
            <a:endParaRPr lang="en-US" sz="1400" dirty="0"/>
          </a:p>
        </p:txBody>
      </p:sp>
      <p:sp>
        <p:nvSpPr>
          <p:cNvPr id="13" name="Shape 11"/>
          <p:cNvSpPr/>
          <p:nvPr/>
        </p:nvSpPr>
        <p:spPr>
          <a:xfrm>
            <a:off x="228600" y="2783745"/>
            <a:ext cx="4251960" cy="169164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14" name="Shape 12"/>
          <p:cNvSpPr/>
          <p:nvPr/>
        </p:nvSpPr>
        <p:spPr>
          <a:xfrm>
            <a:off x="228600" y="2783745"/>
            <a:ext cx="4251960" cy="384048"/>
          </a:xfrm>
          <a:prstGeom prst="rect">
            <a:avLst/>
          </a:prstGeom>
          <a:solidFill>
            <a:schemeClr val="tx2"/>
          </a:solidFill>
          <a:ln/>
        </p:spPr>
        <p:txBody>
          <a:bodyPr/>
          <a:lstStyle/>
          <a:p>
            <a:endParaRPr lang="en-US"/>
          </a:p>
        </p:txBody>
      </p:sp>
      <p:sp>
        <p:nvSpPr>
          <p:cNvPr id="15" name="Text 13"/>
          <p:cNvSpPr/>
          <p:nvPr/>
        </p:nvSpPr>
        <p:spPr>
          <a:xfrm>
            <a:off x="338328" y="2838609"/>
            <a:ext cx="4023360" cy="2743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Strani ključ (FK)</a:t>
            </a:r>
            <a:endParaRPr lang="en-US" sz="1600" dirty="0"/>
          </a:p>
        </p:txBody>
      </p:sp>
      <p:sp>
        <p:nvSpPr>
          <p:cNvPr id="16" name="Text 14"/>
          <p:cNvSpPr/>
          <p:nvPr/>
        </p:nvSpPr>
        <p:spPr>
          <a:xfrm>
            <a:off x="338328" y="3259233"/>
            <a:ext cx="4023360" cy="1143000"/>
          </a:xfrm>
          <a:prstGeom prst="rect">
            <a:avLst/>
          </a:prstGeom>
          <a:noFill/>
          <a:ln/>
        </p:spPr>
        <p:txBody>
          <a:bodyPr wrap="square" lIns="0" tIns="0" rIns="0" bIns="0" rtlCol="0" anchor="t"/>
          <a:lstStyle/>
          <a:p>
            <a:pPr marL="0" indent="0">
              <a:buNone/>
            </a:pPr>
            <a:r>
              <a:rPr lang="en-US" sz="1400" dirty="0">
                <a:solidFill>
                  <a:srgbClr val="475569"/>
                </a:solidFill>
                <a:latin typeface="Calibri" pitchFamily="34" charset="0"/>
                <a:ea typeface="Calibri" pitchFamily="34" charset="-122"/>
                <a:cs typeface="Calibri" pitchFamily="34" charset="-120"/>
              </a:rPr>
              <a:t>AUTO kreiran na strani "deteta".</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Validacija bez Full Scan roditeljske tabele.</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Brisanje roditelja — instant provera.</a:t>
            </a:r>
            <a:endParaRPr lang="en-US" sz="1400" dirty="0"/>
          </a:p>
        </p:txBody>
      </p:sp>
      <p:sp>
        <p:nvSpPr>
          <p:cNvPr id="17" name="Shape 15"/>
          <p:cNvSpPr/>
          <p:nvPr/>
        </p:nvSpPr>
        <p:spPr>
          <a:xfrm>
            <a:off x="4709160" y="2783745"/>
            <a:ext cx="4251960" cy="169164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18" name="Shape 16"/>
          <p:cNvSpPr/>
          <p:nvPr/>
        </p:nvSpPr>
        <p:spPr>
          <a:xfrm>
            <a:off x="4709160" y="2783745"/>
            <a:ext cx="4251960" cy="384048"/>
          </a:xfrm>
          <a:prstGeom prst="rect">
            <a:avLst/>
          </a:prstGeom>
          <a:solidFill>
            <a:schemeClr val="accent1">
              <a:lumMod val="75000"/>
            </a:schemeClr>
          </a:solidFill>
          <a:ln/>
        </p:spPr>
        <p:txBody>
          <a:bodyPr/>
          <a:lstStyle/>
          <a:p>
            <a:endParaRPr lang="en-US"/>
          </a:p>
        </p:txBody>
      </p:sp>
      <p:sp>
        <p:nvSpPr>
          <p:cNvPr id="19" name="Text 17"/>
          <p:cNvSpPr/>
          <p:nvPr/>
        </p:nvSpPr>
        <p:spPr>
          <a:xfrm>
            <a:off x="4818888" y="2838609"/>
            <a:ext cx="4023360" cy="2743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Expression indeks</a:t>
            </a:r>
            <a:endParaRPr lang="en-US" sz="1600" dirty="0"/>
          </a:p>
        </p:txBody>
      </p:sp>
      <p:sp>
        <p:nvSpPr>
          <p:cNvPr id="20" name="Text 18"/>
          <p:cNvSpPr/>
          <p:nvPr/>
        </p:nvSpPr>
        <p:spPr>
          <a:xfrm>
            <a:off x="4818888" y="3259233"/>
            <a:ext cx="4023360" cy="1143000"/>
          </a:xfrm>
          <a:prstGeom prst="rect">
            <a:avLst/>
          </a:prstGeom>
          <a:noFill/>
          <a:ln/>
        </p:spPr>
        <p:txBody>
          <a:bodyPr wrap="square" lIns="0" tIns="0" rIns="0" bIns="0" rtlCol="0" anchor="t"/>
          <a:lstStyle/>
          <a:p>
            <a:pPr marL="0" indent="0">
              <a:buNone/>
            </a:pPr>
            <a:r>
              <a:rPr lang="en-US" sz="1400" dirty="0">
                <a:solidFill>
                  <a:srgbClr val="475569"/>
                </a:solidFill>
                <a:latin typeface="Calibri" pitchFamily="34" charset="0"/>
                <a:ea typeface="Calibri" pitchFamily="34" charset="-122"/>
                <a:cs typeface="Calibri" pitchFamily="34" charset="-120"/>
              </a:rPr>
              <a:t>Indeks nad UPPER(LAST_NAME) ili CASE.</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Izraz se izračunava pri upisu, NE pri čitanju.</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Isti ključevi za optimizer — </a:t>
            </a:r>
            <a:r>
              <a:rPr lang="en-US" sz="1400" b="1" dirty="0">
                <a:solidFill>
                  <a:srgbClr val="475569"/>
                </a:solidFill>
                <a:latin typeface="Calibri" pitchFamily="34" charset="0"/>
                <a:ea typeface="Calibri" pitchFamily="34" charset="-122"/>
                <a:cs typeface="Calibri" pitchFamily="34" charset="-120"/>
              </a:rPr>
              <a:t>nema Full Scan</a:t>
            </a:r>
            <a:endParaRPr lang="en-US" sz="1400" b="1"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chemeClr val="tx2">
              <a:lumMod val="40000"/>
              <a:lumOff val="60000"/>
            </a:schemeClr>
          </a:solidFill>
          <a:ln/>
        </p:spPr>
        <p:txBody>
          <a:bodyPr/>
          <a:lstStyle/>
          <a:p>
            <a:endParaRPr lang="en-US"/>
          </a:p>
        </p:txBody>
      </p:sp>
      <p:sp>
        <p:nvSpPr>
          <p:cNvPr id="3" name="Shape 1"/>
          <p:cNvSpPr/>
          <p:nvPr/>
        </p:nvSpPr>
        <p:spPr>
          <a:xfrm>
            <a:off x="137160" y="0"/>
            <a:ext cx="9006840" cy="658368"/>
          </a:xfrm>
          <a:prstGeom prst="rect">
            <a:avLst/>
          </a:prstGeom>
          <a:solidFill>
            <a:srgbClr val="1B2A4A"/>
          </a:solidFill>
          <a:ln/>
        </p:spPr>
        <p:txBody>
          <a:bodyPr/>
          <a:lstStyle/>
          <a:p>
            <a:endParaRPr lang="en-US"/>
          </a:p>
        </p:txBody>
      </p:sp>
      <p:sp>
        <p:nvSpPr>
          <p:cNvPr id="4" name="Text 2"/>
          <p:cNvSpPr/>
          <p:nvPr/>
        </p:nvSpPr>
        <p:spPr>
          <a:xfrm>
            <a:off x="274320" y="64008"/>
            <a:ext cx="859536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Statistika indeksa i selektivnost</a:t>
            </a:r>
            <a:endParaRPr lang="en-US" sz="2800" dirty="0"/>
          </a:p>
        </p:txBody>
      </p:sp>
      <p:sp>
        <p:nvSpPr>
          <p:cNvPr id="5" name="Shape 3"/>
          <p:cNvSpPr/>
          <p:nvPr/>
        </p:nvSpPr>
        <p:spPr>
          <a:xfrm>
            <a:off x="228600" y="777240"/>
            <a:ext cx="8686800" cy="914400"/>
          </a:xfrm>
          <a:prstGeom prst="rect">
            <a:avLst/>
          </a:prstGeom>
          <a:solidFill>
            <a:srgbClr val="1B2A4A"/>
          </a:solidFill>
          <a:ln/>
          <a:effectLst>
            <a:outerShdw blurRad="101600" dist="38100" dir="8100000" algn="bl" rotWithShape="0">
              <a:srgbClr val="000000">
                <a:alpha val="18000"/>
              </a:srgbClr>
            </a:outerShdw>
          </a:effectLst>
        </p:spPr>
        <p:txBody>
          <a:bodyPr/>
          <a:lstStyle/>
          <a:p>
            <a:endParaRPr lang="en-US"/>
          </a:p>
        </p:txBody>
      </p:sp>
      <p:sp>
        <p:nvSpPr>
          <p:cNvPr id="6" name="Text 4"/>
          <p:cNvSpPr/>
          <p:nvPr/>
        </p:nvSpPr>
        <p:spPr>
          <a:xfrm>
            <a:off x="320040" y="868680"/>
            <a:ext cx="8412480" cy="502920"/>
          </a:xfrm>
          <a:prstGeom prst="rect">
            <a:avLst/>
          </a:prstGeom>
          <a:noFill/>
          <a:ln/>
        </p:spPr>
        <p:txBody>
          <a:bodyPr wrap="square" lIns="0" tIns="0" rIns="0" bIns="0" rtlCol="0" anchor="ctr"/>
          <a:lstStyle/>
          <a:p>
            <a:pPr marL="0" indent="0" algn="ctr">
              <a:buNone/>
            </a:pPr>
            <a:r>
              <a:rPr lang="en-US" sz="2000" b="1" dirty="0">
                <a:solidFill>
                  <a:schemeClr val="bg1"/>
                </a:solidFill>
                <a:latin typeface="Calibri" pitchFamily="34" charset="0"/>
                <a:ea typeface="Calibri" pitchFamily="34" charset="-122"/>
                <a:cs typeface="Calibri" pitchFamily="34" charset="-120"/>
              </a:rPr>
              <a:t>Selektivnost  =  1 / broj unikatnih ključeva</a:t>
            </a:r>
            <a:endParaRPr lang="en-US" sz="2000" b="1" dirty="0">
              <a:solidFill>
                <a:schemeClr val="bg1"/>
              </a:solidFill>
            </a:endParaRPr>
          </a:p>
        </p:txBody>
      </p:sp>
      <p:sp>
        <p:nvSpPr>
          <p:cNvPr id="7" name="Shape 5"/>
          <p:cNvSpPr/>
          <p:nvPr/>
        </p:nvSpPr>
        <p:spPr>
          <a:xfrm>
            <a:off x="228600" y="1874520"/>
            <a:ext cx="2743200" cy="137160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8" name="Shape 6"/>
          <p:cNvSpPr/>
          <p:nvPr/>
        </p:nvSpPr>
        <p:spPr>
          <a:xfrm>
            <a:off x="228600" y="1874520"/>
            <a:ext cx="64008" cy="1371600"/>
          </a:xfrm>
          <a:prstGeom prst="rect">
            <a:avLst/>
          </a:prstGeom>
          <a:solidFill>
            <a:schemeClr val="tx2"/>
          </a:solidFill>
          <a:ln/>
        </p:spPr>
        <p:txBody>
          <a:bodyPr/>
          <a:lstStyle/>
          <a:p>
            <a:endParaRPr lang="en-US"/>
          </a:p>
        </p:txBody>
      </p:sp>
      <p:sp>
        <p:nvSpPr>
          <p:cNvPr id="9" name="Text 7"/>
          <p:cNvSpPr/>
          <p:nvPr/>
        </p:nvSpPr>
        <p:spPr>
          <a:xfrm>
            <a:off x="365760" y="1947672"/>
            <a:ext cx="2560320" cy="292608"/>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Blizu 0 — DOBAR indeks</a:t>
            </a:r>
            <a:endParaRPr lang="en-US" sz="1600" dirty="0"/>
          </a:p>
        </p:txBody>
      </p:sp>
      <p:sp>
        <p:nvSpPr>
          <p:cNvPr id="10" name="Text 8"/>
          <p:cNvSpPr/>
          <p:nvPr/>
        </p:nvSpPr>
        <p:spPr>
          <a:xfrm>
            <a:off x="365760" y="2313432"/>
            <a:ext cx="2560320" cy="859536"/>
          </a:xfrm>
          <a:prstGeom prst="rect">
            <a:avLst/>
          </a:prstGeom>
          <a:noFill/>
          <a:ln/>
        </p:spPr>
        <p:txBody>
          <a:bodyPr wrap="square" lIns="0" tIns="0" rIns="0" bIns="0" rtlCol="0" anchor="t"/>
          <a:lstStyle/>
          <a:p>
            <a:pPr marL="0" indent="0">
              <a:buNone/>
            </a:pPr>
            <a:r>
              <a:rPr lang="en-US" sz="1400" dirty="0">
                <a:solidFill>
                  <a:srgbClr val="475569"/>
                </a:solidFill>
                <a:latin typeface="Calibri" pitchFamily="34" charset="0"/>
                <a:ea typeface="Calibri" pitchFamily="34" charset="-122"/>
                <a:cs typeface="Calibri" pitchFamily="34" charset="-120"/>
              </a:rPr>
              <a:t>Primarni ključ (EMP_NO).</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Svaki red jedinstven.</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Optimizator UVEK koristi.</a:t>
            </a:r>
            <a:endParaRPr lang="en-US" sz="1400" dirty="0"/>
          </a:p>
        </p:txBody>
      </p:sp>
      <p:sp>
        <p:nvSpPr>
          <p:cNvPr id="11" name="Shape 9"/>
          <p:cNvSpPr/>
          <p:nvPr/>
        </p:nvSpPr>
        <p:spPr>
          <a:xfrm>
            <a:off x="3200400" y="1874520"/>
            <a:ext cx="2743200" cy="137160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12" name="Shape 10"/>
          <p:cNvSpPr/>
          <p:nvPr/>
        </p:nvSpPr>
        <p:spPr>
          <a:xfrm>
            <a:off x="3200400" y="1874520"/>
            <a:ext cx="64008" cy="1371600"/>
          </a:xfrm>
          <a:prstGeom prst="rect">
            <a:avLst/>
          </a:prstGeom>
          <a:solidFill>
            <a:schemeClr val="tx2">
              <a:lumMod val="60000"/>
              <a:lumOff val="40000"/>
            </a:schemeClr>
          </a:solidFill>
          <a:ln/>
        </p:spPr>
        <p:txBody>
          <a:bodyPr/>
          <a:lstStyle/>
          <a:p>
            <a:endParaRPr lang="en-US"/>
          </a:p>
        </p:txBody>
      </p:sp>
      <p:sp>
        <p:nvSpPr>
          <p:cNvPr id="13" name="Text 11"/>
          <p:cNvSpPr/>
          <p:nvPr/>
        </p:nvSpPr>
        <p:spPr>
          <a:xfrm>
            <a:off x="3337560" y="1947672"/>
            <a:ext cx="2560320" cy="292608"/>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Blizu 1 — LOŠ indeks</a:t>
            </a:r>
            <a:endParaRPr lang="en-US" sz="1600" dirty="0"/>
          </a:p>
        </p:txBody>
      </p:sp>
      <p:sp>
        <p:nvSpPr>
          <p:cNvPr id="14" name="Text 12"/>
          <p:cNvSpPr/>
          <p:nvPr/>
        </p:nvSpPr>
        <p:spPr>
          <a:xfrm>
            <a:off x="3337560" y="2313432"/>
            <a:ext cx="2560320" cy="859536"/>
          </a:xfrm>
          <a:prstGeom prst="rect">
            <a:avLst/>
          </a:prstGeom>
          <a:noFill/>
          <a:ln/>
        </p:spPr>
        <p:txBody>
          <a:bodyPr wrap="square" lIns="0" tIns="0" rIns="0" bIns="0" rtlCol="0" anchor="t"/>
          <a:lstStyle/>
          <a:p>
            <a:pPr marL="0" indent="0">
              <a:buNone/>
            </a:pPr>
            <a:r>
              <a:rPr lang="en-US" sz="1400" dirty="0" err="1">
                <a:solidFill>
                  <a:srgbClr val="475569"/>
                </a:solidFill>
                <a:latin typeface="Calibri" pitchFamily="34" charset="0"/>
                <a:ea typeface="Calibri" pitchFamily="34" charset="-122"/>
                <a:cs typeface="Calibri" pitchFamily="34" charset="-120"/>
              </a:rPr>
              <a:t>Optimizator</a:t>
            </a:r>
            <a:r>
              <a:rPr lang="en-US" sz="1400" dirty="0">
                <a:solidFill>
                  <a:srgbClr val="475569"/>
                </a:solidFill>
                <a:latin typeface="Calibri" pitchFamily="34" charset="0"/>
                <a:ea typeface="Calibri" pitchFamily="34" charset="-122"/>
                <a:cs typeface="Calibri" pitchFamily="34" charset="-120"/>
              </a:rPr>
              <a:t> IGNORIŠE.</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Full Scan je brži.</a:t>
            </a:r>
            <a:endParaRPr lang="en-US" sz="1400" dirty="0"/>
          </a:p>
        </p:txBody>
      </p:sp>
      <p:sp>
        <p:nvSpPr>
          <p:cNvPr id="15" name="Shape 13"/>
          <p:cNvSpPr/>
          <p:nvPr/>
        </p:nvSpPr>
        <p:spPr>
          <a:xfrm>
            <a:off x="6172200" y="1874520"/>
            <a:ext cx="2743200" cy="137160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16" name="Shape 14"/>
          <p:cNvSpPr/>
          <p:nvPr/>
        </p:nvSpPr>
        <p:spPr>
          <a:xfrm>
            <a:off x="6172200" y="1874520"/>
            <a:ext cx="64008" cy="1371600"/>
          </a:xfrm>
          <a:prstGeom prst="rect">
            <a:avLst/>
          </a:prstGeom>
          <a:solidFill>
            <a:schemeClr val="tx2">
              <a:lumMod val="40000"/>
              <a:lumOff val="60000"/>
            </a:schemeClr>
          </a:solidFill>
          <a:ln/>
        </p:spPr>
        <p:txBody>
          <a:bodyPr/>
          <a:lstStyle/>
          <a:p>
            <a:endParaRPr lang="en-US"/>
          </a:p>
        </p:txBody>
      </p:sp>
      <p:sp>
        <p:nvSpPr>
          <p:cNvPr id="17" name="Text 15"/>
          <p:cNvSpPr/>
          <p:nvPr/>
        </p:nvSpPr>
        <p:spPr>
          <a:xfrm>
            <a:off x="6309360" y="1947672"/>
            <a:ext cx="2560320" cy="292608"/>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SET STATISTICS</a:t>
            </a:r>
            <a:endParaRPr lang="en-US" sz="1600" dirty="0"/>
          </a:p>
        </p:txBody>
      </p:sp>
      <p:sp>
        <p:nvSpPr>
          <p:cNvPr id="18" name="Text 16"/>
          <p:cNvSpPr/>
          <p:nvPr/>
        </p:nvSpPr>
        <p:spPr>
          <a:xfrm>
            <a:off x="6309360" y="2304288"/>
            <a:ext cx="2560320" cy="868680"/>
          </a:xfrm>
          <a:prstGeom prst="rect">
            <a:avLst/>
          </a:prstGeom>
          <a:noFill/>
          <a:ln/>
        </p:spPr>
        <p:txBody>
          <a:bodyPr wrap="square" lIns="0" tIns="0" rIns="0" bIns="0" rtlCol="0" anchor="t"/>
          <a:lstStyle/>
          <a:p>
            <a:pPr marL="0" indent="0">
              <a:buNone/>
            </a:pPr>
            <a:r>
              <a:rPr lang="en-US" sz="1400" dirty="0">
                <a:solidFill>
                  <a:srgbClr val="475569"/>
                </a:solidFill>
                <a:latin typeface="Calibri" pitchFamily="34" charset="0"/>
                <a:ea typeface="Calibri" pitchFamily="34" charset="-122"/>
                <a:cs typeface="Calibri" pitchFamily="34" charset="-120"/>
              </a:rPr>
              <a:t>Rekalkulacija selektivnosti.</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Neophodna posle masovnih</a:t>
            </a:r>
            <a:endParaRPr lang="en-US" sz="1400" dirty="0"/>
          </a:p>
          <a:p>
            <a:pPr marL="0" indent="0">
              <a:buNone/>
            </a:pPr>
            <a:r>
              <a:rPr lang="en-US" sz="1400" dirty="0">
                <a:solidFill>
                  <a:srgbClr val="475569"/>
                </a:solidFill>
                <a:latin typeface="Calibri" pitchFamily="34" charset="0"/>
                <a:ea typeface="Calibri" pitchFamily="34" charset="-122"/>
                <a:cs typeface="Calibri" pitchFamily="34" charset="-120"/>
              </a:rPr>
              <a:t>INSERT/DELETE operacija.</a:t>
            </a:r>
            <a:endParaRPr lang="en-US" sz="1400" dirty="0"/>
          </a:p>
        </p:txBody>
      </p:sp>
      <p:sp>
        <p:nvSpPr>
          <p:cNvPr id="19" name="Shape 17"/>
          <p:cNvSpPr/>
          <p:nvPr/>
        </p:nvSpPr>
        <p:spPr>
          <a:xfrm>
            <a:off x="228600" y="3401568"/>
            <a:ext cx="8686800" cy="128016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20" name="Shape 18"/>
          <p:cNvSpPr/>
          <p:nvPr/>
        </p:nvSpPr>
        <p:spPr>
          <a:xfrm>
            <a:off x="228600" y="3401568"/>
            <a:ext cx="64008" cy="1280160"/>
          </a:xfrm>
          <a:prstGeom prst="rect">
            <a:avLst/>
          </a:prstGeom>
          <a:solidFill>
            <a:schemeClr val="accent2">
              <a:lumMod val="50000"/>
            </a:schemeClr>
          </a:solidFill>
          <a:ln/>
        </p:spPr>
        <p:txBody>
          <a:bodyPr/>
          <a:lstStyle/>
          <a:p>
            <a:endParaRPr lang="en-US"/>
          </a:p>
        </p:txBody>
      </p:sp>
      <p:sp>
        <p:nvSpPr>
          <p:cNvPr id="21" name="Text 19"/>
          <p:cNvSpPr/>
          <p:nvPr/>
        </p:nvSpPr>
        <p:spPr>
          <a:xfrm>
            <a:off x="365760" y="3474720"/>
            <a:ext cx="8503920" cy="292608"/>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Zašto statistika zastareva?</a:t>
            </a:r>
            <a:endParaRPr lang="en-US" sz="1600" dirty="0"/>
          </a:p>
        </p:txBody>
      </p:sp>
      <p:sp>
        <p:nvSpPr>
          <p:cNvPr id="22" name="Text 20"/>
          <p:cNvSpPr/>
          <p:nvPr/>
        </p:nvSpPr>
        <p:spPr>
          <a:xfrm>
            <a:off x="365760" y="3767328"/>
            <a:ext cx="8503920" cy="768096"/>
          </a:xfrm>
          <a:prstGeom prst="rect">
            <a:avLst/>
          </a:prstGeom>
          <a:noFill/>
          <a:ln/>
        </p:spPr>
        <p:txBody>
          <a:bodyPr wrap="square" lIns="0" tIns="0" rIns="0" bIns="0" rtlCol="0" anchor="t"/>
          <a:lstStyle/>
          <a:p>
            <a:pPr marL="0" indent="0">
              <a:buNone/>
            </a:pPr>
            <a:r>
              <a:rPr lang="en-US" sz="1400" dirty="0">
                <a:solidFill>
                  <a:srgbClr val="475569"/>
                </a:solidFill>
                <a:latin typeface="Calibri" pitchFamily="34" charset="0"/>
                <a:ea typeface="Calibri" pitchFamily="34" charset="-122"/>
                <a:cs typeface="Calibri" pitchFamily="34" charset="-120"/>
              </a:rPr>
              <a:t>Selektivnost se NE ažurira pri </a:t>
            </a:r>
            <a:r>
              <a:rPr lang="en-US" sz="1400" dirty="0" err="1">
                <a:solidFill>
                  <a:srgbClr val="475569"/>
                </a:solidFill>
                <a:latin typeface="Calibri" pitchFamily="34" charset="0"/>
                <a:ea typeface="Calibri" pitchFamily="34" charset="-122"/>
                <a:cs typeface="Calibri" pitchFamily="34" charset="-120"/>
              </a:rPr>
              <a:t>svakom</a:t>
            </a:r>
            <a:r>
              <a:rPr lang="en-US" sz="1400" dirty="0">
                <a:solidFill>
                  <a:srgbClr val="475569"/>
                </a:solidFill>
                <a:latin typeface="Calibri" pitchFamily="34" charset="0"/>
                <a:ea typeface="Calibri" pitchFamily="34" charset="-122"/>
                <a:cs typeface="Calibri" pitchFamily="34" charset="-120"/>
              </a:rPr>
              <a:t> INSERT</a:t>
            </a:r>
            <a:r>
              <a:rPr lang="sr-Latn-RS" sz="1400" dirty="0">
                <a:solidFill>
                  <a:srgbClr val="475569"/>
                </a:solidFill>
                <a:latin typeface="Calibri" pitchFamily="34" charset="0"/>
                <a:ea typeface="Calibri" pitchFamily="34" charset="-122"/>
                <a:cs typeface="Calibri" pitchFamily="34" charset="-120"/>
              </a:rPr>
              <a:t>/UPDATE/DELETE</a:t>
            </a:r>
            <a:r>
              <a:rPr lang="en-US" sz="1400" dirty="0">
                <a:solidFill>
                  <a:srgbClr val="475569"/>
                </a:solidFill>
                <a:latin typeface="Calibri" pitchFamily="34" charset="0"/>
                <a:ea typeface="Calibri" pitchFamily="34" charset="-122"/>
                <a:cs typeface="Calibri" pitchFamily="34" charset="-120"/>
              </a:rPr>
              <a:t> — to bi drastično usporilo upis. Tokom vremena, statistika u RDB$INDICES prestaje da odgovara stvarnoj distribuciji ključeva. Optimizator tada donosi loše odluke — bira Full Scan tamo gde bi INDEX Scan bio </a:t>
            </a:r>
            <a:r>
              <a:rPr lang="en-US" sz="1400" dirty="0" err="1">
                <a:solidFill>
                  <a:srgbClr val="475569"/>
                </a:solidFill>
                <a:latin typeface="Calibri" pitchFamily="34" charset="0"/>
                <a:ea typeface="Calibri" pitchFamily="34" charset="-122"/>
                <a:cs typeface="Calibri" pitchFamily="34" charset="-120"/>
              </a:rPr>
              <a:t>brži</a:t>
            </a:r>
            <a:r>
              <a:rPr lang="en-US" sz="1400" dirty="0">
                <a:solidFill>
                  <a:srgbClr val="475569"/>
                </a:solidFill>
                <a:latin typeface="Calibri" pitchFamily="34" charset="0"/>
                <a:ea typeface="Calibri" pitchFamily="34" charset="-122"/>
                <a:cs typeface="Calibri" pitchFamily="34" charset="-120"/>
              </a:rPr>
              <a:t>.</a:t>
            </a:r>
            <a:endParaRPr lang="sr-Latn-RS" sz="1400" dirty="0">
              <a:solidFill>
                <a:srgbClr val="475569"/>
              </a:solidFill>
              <a:latin typeface="Calibri" pitchFamily="34" charset="0"/>
              <a:ea typeface="Calibri" pitchFamily="34" charset="-122"/>
              <a:cs typeface="Calibri" pitchFamily="34" charset="-120"/>
            </a:endParaRPr>
          </a:p>
          <a:p>
            <a:pPr marL="0" indent="0">
              <a:buNone/>
            </a:pPr>
            <a:r>
              <a:rPr lang="en-US" sz="1400" b="1" dirty="0" err="1">
                <a:solidFill>
                  <a:schemeClr val="tx2"/>
                </a:solidFill>
                <a:latin typeface="Calibri" pitchFamily="34" charset="0"/>
                <a:ea typeface="Calibri" pitchFamily="34" charset="-122"/>
                <a:cs typeface="Calibri" pitchFamily="34" charset="-120"/>
              </a:rPr>
              <a:t>Rešenje</a:t>
            </a:r>
            <a:r>
              <a:rPr lang="en-US" sz="1400" b="1" dirty="0">
                <a:solidFill>
                  <a:schemeClr val="tx2"/>
                </a:solidFill>
                <a:latin typeface="Calibri" pitchFamily="34" charset="0"/>
                <a:ea typeface="Calibri" pitchFamily="34" charset="-122"/>
                <a:cs typeface="Calibri" pitchFamily="34" charset="-120"/>
              </a:rPr>
              <a:t>: redovno pokretati SET STATISTICS INDEX.</a:t>
            </a:r>
            <a:endParaRPr lang="en-US" sz="1400" b="1" dirty="0">
              <a:solidFill>
                <a:schemeClr val="tx2"/>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chemeClr val="tx2">
              <a:lumMod val="40000"/>
              <a:lumOff val="60000"/>
            </a:schemeClr>
          </a:solidFill>
          <a:ln/>
        </p:spPr>
        <p:txBody>
          <a:bodyPr/>
          <a:lstStyle/>
          <a:p>
            <a:endParaRPr lang="en-US"/>
          </a:p>
        </p:txBody>
      </p:sp>
      <p:sp>
        <p:nvSpPr>
          <p:cNvPr id="3" name="Shape 1"/>
          <p:cNvSpPr/>
          <p:nvPr/>
        </p:nvSpPr>
        <p:spPr>
          <a:xfrm>
            <a:off x="137160" y="0"/>
            <a:ext cx="9006840" cy="658368"/>
          </a:xfrm>
          <a:prstGeom prst="rect">
            <a:avLst/>
          </a:prstGeom>
          <a:solidFill>
            <a:srgbClr val="1B2A4A"/>
          </a:solidFill>
          <a:ln/>
        </p:spPr>
        <p:txBody>
          <a:bodyPr/>
          <a:lstStyle/>
          <a:p>
            <a:endParaRPr lang="en-US"/>
          </a:p>
        </p:txBody>
      </p:sp>
      <p:sp>
        <p:nvSpPr>
          <p:cNvPr id="4" name="Text 2"/>
          <p:cNvSpPr/>
          <p:nvPr/>
        </p:nvSpPr>
        <p:spPr>
          <a:xfrm>
            <a:off x="274320" y="64008"/>
            <a:ext cx="859536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Execution Plans — NATURAL vs INDEX Scan</a:t>
            </a:r>
            <a:endParaRPr lang="en-US" sz="2800" dirty="0"/>
          </a:p>
        </p:txBody>
      </p:sp>
      <p:sp>
        <p:nvSpPr>
          <p:cNvPr id="5" name="Shape 3"/>
          <p:cNvSpPr/>
          <p:nvPr/>
        </p:nvSpPr>
        <p:spPr>
          <a:xfrm>
            <a:off x="228600" y="804672"/>
            <a:ext cx="8686800" cy="1115568"/>
          </a:xfrm>
          <a:prstGeom prst="rect">
            <a:avLst/>
          </a:prstGeom>
          <a:solidFill>
            <a:srgbClr val="FFFFFF"/>
          </a:solidFill>
          <a:ln w="12700">
            <a:solidFill>
              <a:schemeClr val="bg1">
                <a:lumMod val="85000"/>
              </a:schemeClr>
            </a:solidFill>
            <a:prstDash val="solid"/>
          </a:ln>
          <a:effectLst>
            <a:glow rad="101600">
              <a:schemeClr val="bg1">
                <a:lumMod val="85000"/>
                <a:alpha val="60000"/>
              </a:schemeClr>
            </a:glow>
            <a:outerShdw blurRad="101600" dist="38100" dir="8100000" algn="bl" rotWithShape="0">
              <a:srgbClr val="000000">
                <a:alpha val="18000"/>
              </a:srgbClr>
            </a:outerShdw>
          </a:effectLst>
        </p:spPr>
        <p:txBody>
          <a:bodyPr/>
          <a:lstStyle/>
          <a:p>
            <a:endParaRPr lang="en-US"/>
          </a:p>
        </p:txBody>
      </p:sp>
      <p:sp>
        <p:nvSpPr>
          <p:cNvPr id="6" name="Shape 4"/>
          <p:cNvSpPr/>
          <p:nvPr/>
        </p:nvSpPr>
        <p:spPr>
          <a:xfrm>
            <a:off x="228600" y="804672"/>
            <a:ext cx="1371600" cy="1115568"/>
          </a:xfrm>
          <a:prstGeom prst="rect">
            <a:avLst/>
          </a:prstGeom>
          <a:solidFill>
            <a:schemeClr val="bg1">
              <a:lumMod val="50000"/>
            </a:schemeClr>
          </a:solidFill>
          <a:ln/>
        </p:spPr>
        <p:txBody>
          <a:bodyPr/>
          <a:lstStyle/>
          <a:p>
            <a:endParaRPr lang="en-US"/>
          </a:p>
        </p:txBody>
      </p:sp>
      <p:sp>
        <p:nvSpPr>
          <p:cNvPr id="7" name="Text 5"/>
          <p:cNvSpPr/>
          <p:nvPr/>
        </p:nvSpPr>
        <p:spPr>
          <a:xfrm>
            <a:off x="246888" y="1124712"/>
            <a:ext cx="1335024" cy="475488"/>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Index Seek</a:t>
            </a:r>
            <a:endParaRPr lang="en-US" dirty="0"/>
          </a:p>
        </p:txBody>
      </p:sp>
      <p:sp>
        <p:nvSpPr>
          <p:cNvPr id="8" name="Shape 6"/>
          <p:cNvSpPr/>
          <p:nvPr/>
        </p:nvSpPr>
        <p:spPr>
          <a:xfrm>
            <a:off x="1691640" y="914400"/>
            <a:ext cx="4433115" cy="384048"/>
          </a:xfrm>
          <a:prstGeom prst="rect">
            <a:avLst/>
          </a:prstGeom>
          <a:solidFill>
            <a:schemeClr val="tx2"/>
          </a:solidFill>
          <a:ln/>
        </p:spPr>
        <p:txBody>
          <a:bodyPr/>
          <a:lstStyle/>
          <a:p>
            <a:endParaRPr lang="en-US" sz="1400"/>
          </a:p>
        </p:txBody>
      </p:sp>
      <p:sp>
        <p:nvSpPr>
          <p:cNvPr id="9" name="Text 7"/>
          <p:cNvSpPr/>
          <p:nvPr/>
        </p:nvSpPr>
        <p:spPr>
          <a:xfrm>
            <a:off x="1783080" y="932688"/>
            <a:ext cx="4572000" cy="347472"/>
          </a:xfrm>
          <a:prstGeom prst="rect">
            <a:avLst/>
          </a:prstGeom>
          <a:noFill/>
          <a:ln/>
        </p:spPr>
        <p:txBody>
          <a:bodyPr wrap="square" lIns="0" tIns="0" rIns="0" bIns="0" rtlCol="0" anchor="ctr"/>
          <a:lstStyle/>
          <a:p>
            <a:pPr marL="0" indent="0">
              <a:buNone/>
            </a:pPr>
            <a:r>
              <a:rPr lang="en-US" sz="1400" b="1" dirty="0">
                <a:solidFill>
                  <a:schemeClr val="bg1"/>
                </a:solidFill>
                <a:latin typeface="Consolas" pitchFamily="34" charset="0"/>
                <a:ea typeface="Consolas" pitchFamily="34" charset="-122"/>
                <a:cs typeface="Consolas" pitchFamily="34" charset="-120"/>
              </a:rPr>
              <a:t>PLAN (EMPLOYEE INDEX (RDB$PRIMARY7))</a:t>
            </a:r>
            <a:endParaRPr lang="en-US" sz="1400" b="1" dirty="0">
              <a:solidFill>
                <a:schemeClr val="bg1"/>
              </a:solidFill>
            </a:endParaRPr>
          </a:p>
        </p:txBody>
      </p:sp>
      <p:sp>
        <p:nvSpPr>
          <p:cNvPr id="10" name="Text 8"/>
          <p:cNvSpPr/>
          <p:nvPr/>
        </p:nvSpPr>
        <p:spPr>
          <a:xfrm>
            <a:off x="6216195" y="914400"/>
            <a:ext cx="2607765" cy="896112"/>
          </a:xfrm>
          <a:prstGeom prst="rect">
            <a:avLst/>
          </a:prstGeom>
          <a:noFill/>
          <a:ln/>
        </p:spPr>
        <p:txBody>
          <a:bodyPr wrap="square" lIns="0" tIns="0" rIns="0" bIns="0" rtlCol="0" anchor="t"/>
          <a:lstStyle/>
          <a:p>
            <a:pPr marL="0" indent="0">
              <a:buNone/>
            </a:pPr>
            <a:r>
              <a:rPr lang="en-US" sz="1400" dirty="0">
                <a:solidFill>
                  <a:srgbClr val="475569"/>
                </a:solidFill>
                <a:ea typeface="Calibri" pitchFamily="34" charset="-122"/>
                <a:cs typeface="Calibri" pitchFamily="34" charset="-120"/>
              </a:rPr>
              <a:t>Direktan pristup po primarnom ključu.</a:t>
            </a:r>
            <a:endParaRPr lang="en-US" sz="1400" dirty="0"/>
          </a:p>
          <a:p>
            <a:pPr marL="0" indent="0">
              <a:buNone/>
            </a:pPr>
            <a:r>
              <a:rPr lang="en-US" sz="1400" dirty="0">
                <a:solidFill>
                  <a:srgbClr val="475569"/>
                </a:solidFill>
                <a:ea typeface="Calibri" pitchFamily="34" charset="-122"/>
                <a:cs typeface="Calibri" pitchFamily="34" charset="-120"/>
              </a:rPr>
              <a:t>Logaritamska brzina O(log n).</a:t>
            </a:r>
            <a:endParaRPr lang="en-US" sz="1400" dirty="0"/>
          </a:p>
        </p:txBody>
      </p:sp>
      <p:sp>
        <p:nvSpPr>
          <p:cNvPr id="11" name="Shape 9"/>
          <p:cNvSpPr/>
          <p:nvPr/>
        </p:nvSpPr>
        <p:spPr>
          <a:xfrm>
            <a:off x="228600" y="2084832"/>
            <a:ext cx="8686800" cy="1115568"/>
          </a:xfrm>
          <a:prstGeom prst="rect">
            <a:avLst/>
          </a:prstGeom>
          <a:solidFill>
            <a:srgbClr val="FFFFFF"/>
          </a:solidFill>
          <a:ln w="12700">
            <a:solidFill>
              <a:schemeClr val="bg1">
                <a:lumMod val="85000"/>
              </a:schemeClr>
            </a:solidFill>
            <a:prstDash val="solid"/>
          </a:ln>
          <a:effectLst>
            <a:glow rad="101600">
              <a:schemeClr val="bg1">
                <a:lumMod val="85000"/>
                <a:alpha val="60000"/>
              </a:schemeClr>
            </a:glow>
            <a:outerShdw blurRad="101600" dist="38100" dir="8100000" algn="bl" rotWithShape="0">
              <a:srgbClr val="000000">
                <a:alpha val="18000"/>
              </a:srgbClr>
            </a:outerShdw>
          </a:effectLst>
        </p:spPr>
        <p:txBody>
          <a:bodyPr/>
          <a:lstStyle/>
          <a:p>
            <a:endParaRPr lang="en-US"/>
          </a:p>
        </p:txBody>
      </p:sp>
      <p:sp>
        <p:nvSpPr>
          <p:cNvPr id="12" name="Shape 10"/>
          <p:cNvSpPr/>
          <p:nvPr/>
        </p:nvSpPr>
        <p:spPr>
          <a:xfrm>
            <a:off x="228600" y="2084832"/>
            <a:ext cx="1371600" cy="1115568"/>
          </a:xfrm>
          <a:prstGeom prst="rect">
            <a:avLst/>
          </a:prstGeom>
          <a:solidFill>
            <a:schemeClr val="tx2"/>
          </a:solidFill>
          <a:ln/>
        </p:spPr>
        <p:txBody>
          <a:bodyPr/>
          <a:lstStyle/>
          <a:p>
            <a:endParaRPr lang="en-US"/>
          </a:p>
        </p:txBody>
      </p:sp>
      <p:sp>
        <p:nvSpPr>
          <p:cNvPr id="13" name="Text 11"/>
          <p:cNvSpPr/>
          <p:nvPr/>
        </p:nvSpPr>
        <p:spPr>
          <a:xfrm>
            <a:off x="246888" y="2404872"/>
            <a:ext cx="1335024" cy="475488"/>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Index Scan</a:t>
            </a:r>
            <a:endParaRPr lang="en-US" dirty="0"/>
          </a:p>
        </p:txBody>
      </p:sp>
      <p:sp>
        <p:nvSpPr>
          <p:cNvPr id="14" name="Shape 12"/>
          <p:cNvSpPr/>
          <p:nvPr/>
        </p:nvSpPr>
        <p:spPr>
          <a:xfrm>
            <a:off x="1691640" y="2194560"/>
            <a:ext cx="4433115" cy="384048"/>
          </a:xfrm>
          <a:prstGeom prst="rect">
            <a:avLst/>
          </a:prstGeom>
          <a:solidFill>
            <a:schemeClr val="tx2"/>
          </a:solidFill>
          <a:ln/>
        </p:spPr>
        <p:txBody>
          <a:bodyPr/>
          <a:lstStyle/>
          <a:p>
            <a:endParaRPr lang="en-US"/>
          </a:p>
        </p:txBody>
      </p:sp>
      <p:sp>
        <p:nvSpPr>
          <p:cNvPr id="15" name="Text 13"/>
          <p:cNvSpPr/>
          <p:nvPr/>
        </p:nvSpPr>
        <p:spPr>
          <a:xfrm>
            <a:off x="1783080" y="2212848"/>
            <a:ext cx="4572000" cy="347472"/>
          </a:xfrm>
          <a:prstGeom prst="rect">
            <a:avLst/>
          </a:prstGeom>
          <a:noFill/>
          <a:ln/>
        </p:spPr>
        <p:txBody>
          <a:bodyPr wrap="square" lIns="0" tIns="0" rIns="0" bIns="0" rtlCol="0" anchor="ctr"/>
          <a:lstStyle/>
          <a:p>
            <a:pPr marL="0" indent="0">
              <a:buNone/>
            </a:pPr>
            <a:r>
              <a:rPr lang="en-US" sz="1400" b="1" dirty="0">
                <a:solidFill>
                  <a:schemeClr val="bg1"/>
                </a:solidFill>
                <a:latin typeface="Consolas" pitchFamily="34" charset="0"/>
                <a:ea typeface="Consolas" pitchFamily="34" charset="-122"/>
                <a:cs typeface="Consolas" pitchFamily="34" charset="-120"/>
              </a:rPr>
              <a:t>PLAN (SALES INDEX (IDX_SALES_ORDER_DESC))</a:t>
            </a:r>
            <a:endParaRPr lang="en-US" sz="1400" b="1" dirty="0">
              <a:solidFill>
                <a:schemeClr val="bg1"/>
              </a:solidFill>
            </a:endParaRPr>
          </a:p>
        </p:txBody>
      </p:sp>
      <p:sp>
        <p:nvSpPr>
          <p:cNvPr id="16" name="Text 14"/>
          <p:cNvSpPr/>
          <p:nvPr/>
        </p:nvSpPr>
        <p:spPr>
          <a:xfrm>
            <a:off x="6216195" y="2194560"/>
            <a:ext cx="2607765" cy="896112"/>
          </a:xfrm>
          <a:prstGeom prst="rect">
            <a:avLst/>
          </a:prstGeom>
          <a:noFill/>
          <a:ln/>
        </p:spPr>
        <p:txBody>
          <a:bodyPr wrap="square" lIns="0" tIns="0" rIns="0" bIns="0" rtlCol="0" anchor="t"/>
          <a:lstStyle/>
          <a:p>
            <a:pPr marL="0" indent="0">
              <a:buNone/>
            </a:pPr>
            <a:r>
              <a:rPr lang="en-US" sz="1400" dirty="0">
                <a:solidFill>
                  <a:srgbClr val="475569"/>
                </a:solidFill>
                <a:ea typeface="Calibri" pitchFamily="34" charset="-122"/>
                <a:cs typeface="Calibri" pitchFamily="34" charset="-120"/>
              </a:rPr>
              <a:t>Opseg vrednosti — Range Scan.</a:t>
            </a:r>
            <a:endParaRPr lang="en-US" sz="1400" dirty="0"/>
          </a:p>
          <a:p>
            <a:pPr marL="0" indent="0">
              <a:buNone/>
            </a:pPr>
            <a:r>
              <a:rPr lang="en-US" sz="1400" dirty="0">
                <a:solidFill>
                  <a:srgbClr val="475569"/>
                </a:solidFill>
                <a:ea typeface="Calibri" pitchFamily="34" charset="-122"/>
                <a:cs typeface="Calibri" pitchFamily="34" charset="-120"/>
              </a:rPr>
              <a:t>Horizontalno čitanje listova B+ stabla.</a:t>
            </a:r>
            <a:endParaRPr lang="en-US" sz="1400" dirty="0"/>
          </a:p>
        </p:txBody>
      </p:sp>
      <p:sp>
        <p:nvSpPr>
          <p:cNvPr id="17" name="Shape 15"/>
          <p:cNvSpPr/>
          <p:nvPr/>
        </p:nvSpPr>
        <p:spPr>
          <a:xfrm>
            <a:off x="228600" y="3364992"/>
            <a:ext cx="8686800" cy="1115568"/>
          </a:xfrm>
          <a:prstGeom prst="rect">
            <a:avLst/>
          </a:prstGeom>
          <a:solidFill>
            <a:srgbClr val="FFFFFF"/>
          </a:solidFill>
          <a:ln w="12700">
            <a:solidFill>
              <a:schemeClr val="bg1">
                <a:lumMod val="85000"/>
              </a:schemeClr>
            </a:solidFill>
            <a:prstDash val="solid"/>
          </a:ln>
          <a:effectLst>
            <a:glow rad="101600">
              <a:schemeClr val="bg1">
                <a:lumMod val="85000"/>
                <a:alpha val="60000"/>
              </a:schemeClr>
            </a:glow>
            <a:outerShdw blurRad="101600" dist="38100" dir="8100000" algn="bl" rotWithShape="0">
              <a:srgbClr val="000000">
                <a:alpha val="18000"/>
              </a:srgbClr>
            </a:outerShdw>
          </a:effectLst>
        </p:spPr>
        <p:txBody>
          <a:bodyPr/>
          <a:lstStyle/>
          <a:p>
            <a:endParaRPr lang="en-US"/>
          </a:p>
        </p:txBody>
      </p:sp>
      <p:sp>
        <p:nvSpPr>
          <p:cNvPr id="18" name="Shape 16"/>
          <p:cNvSpPr/>
          <p:nvPr/>
        </p:nvSpPr>
        <p:spPr>
          <a:xfrm>
            <a:off x="228600" y="3364992"/>
            <a:ext cx="1371600" cy="1115568"/>
          </a:xfrm>
          <a:prstGeom prst="rect">
            <a:avLst/>
          </a:prstGeom>
          <a:solidFill>
            <a:srgbClr val="1B2A4A"/>
          </a:solidFill>
          <a:ln/>
        </p:spPr>
        <p:txBody>
          <a:bodyPr/>
          <a:lstStyle/>
          <a:p>
            <a:endParaRPr lang="en-US"/>
          </a:p>
        </p:txBody>
      </p:sp>
      <p:sp>
        <p:nvSpPr>
          <p:cNvPr id="19" name="Text 17"/>
          <p:cNvSpPr/>
          <p:nvPr/>
        </p:nvSpPr>
        <p:spPr>
          <a:xfrm>
            <a:off x="246888" y="3685032"/>
            <a:ext cx="1335024" cy="475488"/>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NATURAL</a:t>
            </a:r>
            <a:endParaRPr lang="en-US" dirty="0"/>
          </a:p>
        </p:txBody>
      </p:sp>
      <p:sp>
        <p:nvSpPr>
          <p:cNvPr id="20" name="Shape 18"/>
          <p:cNvSpPr/>
          <p:nvPr/>
        </p:nvSpPr>
        <p:spPr>
          <a:xfrm>
            <a:off x="1691640" y="3474720"/>
            <a:ext cx="4433115" cy="384048"/>
          </a:xfrm>
          <a:prstGeom prst="rect">
            <a:avLst/>
          </a:prstGeom>
          <a:solidFill>
            <a:schemeClr val="tx2"/>
          </a:solidFill>
          <a:ln/>
        </p:spPr>
        <p:txBody>
          <a:bodyPr/>
          <a:lstStyle/>
          <a:p>
            <a:endParaRPr lang="en-US"/>
          </a:p>
        </p:txBody>
      </p:sp>
      <p:sp>
        <p:nvSpPr>
          <p:cNvPr id="21" name="Text 19"/>
          <p:cNvSpPr/>
          <p:nvPr/>
        </p:nvSpPr>
        <p:spPr>
          <a:xfrm>
            <a:off x="1783080" y="3493008"/>
            <a:ext cx="4572000" cy="347472"/>
          </a:xfrm>
          <a:prstGeom prst="rect">
            <a:avLst/>
          </a:prstGeom>
          <a:noFill/>
          <a:ln/>
        </p:spPr>
        <p:txBody>
          <a:bodyPr wrap="square" lIns="0" tIns="0" rIns="0" bIns="0" rtlCol="0" anchor="ctr"/>
          <a:lstStyle/>
          <a:p>
            <a:pPr marL="0" indent="0">
              <a:buNone/>
            </a:pPr>
            <a:r>
              <a:rPr lang="en-US" sz="1400" b="1" dirty="0">
                <a:solidFill>
                  <a:schemeClr val="bg1"/>
                </a:solidFill>
                <a:latin typeface="Consolas" pitchFamily="34" charset="0"/>
                <a:ea typeface="Consolas" pitchFamily="34" charset="-122"/>
                <a:cs typeface="Consolas" pitchFamily="34" charset="-120"/>
              </a:rPr>
              <a:t>PLAN (EMPLOYEE NATURAL)</a:t>
            </a:r>
            <a:endParaRPr lang="en-US" sz="1400" b="1" dirty="0">
              <a:solidFill>
                <a:schemeClr val="bg1"/>
              </a:solidFill>
            </a:endParaRPr>
          </a:p>
        </p:txBody>
      </p:sp>
      <p:sp>
        <p:nvSpPr>
          <p:cNvPr id="22" name="Text 20"/>
          <p:cNvSpPr/>
          <p:nvPr/>
        </p:nvSpPr>
        <p:spPr>
          <a:xfrm>
            <a:off x="6216195" y="3474720"/>
            <a:ext cx="2607765" cy="896112"/>
          </a:xfrm>
          <a:prstGeom prst="rect">
            <a:avLst/>
          </a:prstGeom>
          <a:noFill/>
          <a:ln/>
        </p:spPr>
        <p:txBody>
          <a:bodyPr wrap="square" lIns="0" tIns="0" rIns="0" bIns="0" rtlCol="0" anchor="t"/>
          <a:lstStyle/>
          <a:p>
            <a:pPr marL="0" indent="0">
              <a:buNone/>
            </a:pPr>
            <a:r>
              <a:rPr lang="en-US" sz="1400" dirty="0">
                <a:solidFill>
                  <a:srgbClr val="475569"/>
                </a:solidFill>
                <a:ea typeface="Calibri" pitchFamily="34" charset="-122"/>
                <a:cs typeface="Calibri" pitchFamily="34" charset="-120"/>
              </a:rPr>
              <a:t>Nema indeksa ili loša selektivnost.</a:t>
            </a:r>
            <a:endParaRPr lang="en-US" sz="1400" dirty="0"/>
          </a:p>
          <a:p>
            <a:pPr marL="0" indent="0">
              <a:buNone/>
            </a:pPr>
            <a:r>
              <a:rPr lang="en-US" sz="1400" dirty="0">
                <a:solidFill>
                  <a:srgbClr val="475569"/>
                </a:solidFill>
                <a:ea typeface="Calibri" pitchFamily="34" charset="-122"/>
                <a:cs typeface="Calibri" pitchFamily="34" charset="-120"/>
              </a:rPr>
              <a:t>Linearno čitanje svake stranice — </a:t>
            </a:r>
            <a:r>
              <a:rPr lang="en-US" sz="1400" b="1" dirty="0">
                <a:solidFill>
                  <a:srgbClr val="475569"/>
                </a:solidFill>
                <a:ea typeface="Calibri" pitchFamily="34" charset="-122"/>
                <a:cs typeface="Calibri" pitchFamily="34" charset="-120"/>
              </a:rPr>
              <a:t>SPORO</a:t>
            </a:r>
            <a:r>
              <a:rPr lang="en-US" sz="1400" dirty="0">
                <a:solidFill>
                  <a:srgbClr val="475569"/>
                </a:solidFill>
                <a:ea typeface="Calibri" pitchFamily="34" charset="-122"/>
                <a:cs typeface="Calibri" pitchFamily="34" charset="-120"/>
              </a:rPr>
              <a:t>!</a:t>
            </a:r>
            <a:endParaRPr lang="en-US" sz="1400" dirty="0"/>
          </a:p>
        </p:txBody>
      </p:sp>
      <p:sp>
        <p:nvSpPr>
          <p:cNvPr id="23" name="Text 21"/>
          <p:cNvSpPr/>
          <p:nvPr/>
        </p:nvSpPr>
        <p:spPr>
          <a:xfrm>
            <a:off x="228600" y="4663440"/>
            <a:ext cx="8686800" cy="320040"/>
          </a:xfrm>
          <a:prstGeom prst="rect">
            <a:avLst/>
          </a:prstGeom>
          <a:noFill/>
          <a:ln/>
        </p:spPr>
        <p:txBody>
          <a:bodyPr wrap="square" lIns="0" tIns="0" rIns="0" bIns="0" rtlCol="0" anchor="ctr"/>
          <a:lstStyle/>
          <a:p>
            <a:pPr marL="0" indent="0" algn="ctr">
              <a:buNone/>
            </a:pPr>
            <a:r>
              <a:rPr lang="en-US" sz="1600" b="1" dirty="0">
                <a:solidFill>
                  <a:srgbClr val="0D9488"/>
                </a:solidFill>
                <a:latin typeface="Calibri" pitchFamily="34" charset="0"/>
                <a:ea typeface="Calibri" pitchFamily="34" charset="-122"/>
                <a:cs typeface="Calibri" pitchFamily="34" charset="-120"/>
              </a:rPr>
              <a:t>SET PLAN ON  u ISQL-u prikazuje plan za svaki upit — osnovno </a:t>
            </a:r>
            <a:r>
              <a:rPr lang="en-US" sz="1600" b="1" dirty="0" err="1">
                <a:solidFill>
                  <a:srgbClr val="0D9488"/>
                </a:solidFill>
                <a:latin typeface="Calibri" pitchFamily="34" charset="0"/>
                <a:ea typeface="Calibri" pitchFamily="34" charset="-122"/>
                <a:cs typeface="Calibri" pitchFamily="34" charset="-120"/>
              </a:rPr>
              <a:t>dijagnostičko</a:t>
            </a:r>
            <a:r>
              <a:rPr lang="en-US" sz="1600" b="1" dirty="0">
                <a:solidFill>
                  <a:srgbClr val="0D9488"/>
                </a:solidFill>
                <a:latin typeface="Calibri" pitchFamily="34" charset="0"/>
                <a:ea typeface="Calibri" pitchFamily="34" charset="-122"/>
                <a:cs typeface="Calibri" pitchFamily="34" charset="-120"/>
              </a:rPr>
              <a:t> </a:t>
            </a:r>
            <a:r>
              <a:rPr lang="en-US" sz="1600" b="1" dirty="0" err="1">
                <a:solidFill>
                  <a:srgbClr val="0D9488"/>
                </a:solidFill>
                <a:latin typeface="Calibri" pitchFamily="34" charset="0"/>
                <a:ea typeface="Calibri" pitchFamily="34" charset="-122"/>
                <a:cs typeface="Calibri" pitchFamily="34" charset="-120"/>
              </a:rPr>
              <a:t>oruđe</a:t>
            </a:r>
            <a:endParaRPr lang="en-US" sz="1600" b="1"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chemeClr val="tx2">
              <a:lumMod val="40000"/>
              <a:lumOff val="60000"/>
            </a:schemeClr>
          </a:solidFill>
          <a:ln/>
        </p:spPr>
        <p:txBody>
          <a:bodyPr/>
          <a:lstStyle/>
          <a:p>
            <a:endParaRPr lang="en-US"/>
          </a:p>
        </p:txBody>
      </p:sp>
      <p:sp>
        <p:nvSpPr>
          <p:cNvPr id="3" name="Shape 1"/>
          <p:cNvSpPr/>
          <p:nvPr/>
        </p:nvSpPr>
        <p:spPr>
          <a:xfrm>
            <a:off x="201168" y="0"/>
            <a:ext cx="8942832" cy="54864"/>
          </a:xfrm>
          <a:prstGeom prst="rect">
            <a:avLst/>
          </a:prstGeom>
          <a:solidFill>
            <a:schemeClr val="bg1">
              <a:lumMod val="50000"/>
            </a:schemeClr>
          </a:solidFill>
          <a:ln>
            <a:solidFill>
              <a:schemeClr val="bg1">
                <a:lumMod val="50000"/>
              </a:schemeClr>
            </a:solidFill>
          </a:ln>
        </p:spPr>
        <p:txBody>
          <a:bodyPr/>
          <a:lstStyle/>
          <a:p>
            <a:endParaRPr lang="en-US"/>
          </a:p>
        </p:txBody>
      </p:sp>
      <p:sp>
        <p:nvSpPr>
          <p:cNvPr id="4" name="Text 2"/>
          <p:cNvSpPr/>
          <p:nvPr/>
        </p:nvSpPr>
        <p:spPr>
          <a:xfrm>
            <a:off x="411480" y="356266"/>
            <a:ext cx="8412480" cy="54864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Ključni zaključci</a:t>
            </a:r>
            <a:endParaRPr lang="en-US" sz="2800" dirty="0"/>
          </a:p>
        </p:txBody>
      </p:sp>
      <p:sp>
        <p:nvSpPr>
          <p:cNvPr id="5" name="Shape 3"/>
          <p:cNvSpPr/>
          <p:nvPr/>
        </p:nvSpPr>
        <p:spPr>
          <a:xfrm>
            <a:off x="365760" y="1042066"/>
            <a:ext cx="8412480" cy="621792"/>
          </a:xfrm>
          <a:prstGeom prst="rect">
            <a:avLst/>
          </a:prstGeom>
          <a:solidFill>
            <a:srgbClr val="434E65"/>
          </a:solidFill>
          <a:ln w="12700">
            <a:solidFill>
              <a:schemeClr val="bg1"/>
            </a:solidFill>
            <a:prstDash val="solid"/>
          </a:ln>
        </p:spPr>
        <p:txBody>
          <a:bodyPr/>
          <a:lstStyle/>
          <a:p>
            <a:endParaRPr lang="en-US"/>
          </a:p>
        </p:txBody>
      </p:sp>
      <p:sp>
        <p:nvSpPr>
          <p:cNvPr id="6" name="Shape 4"/>
          <p:cNvSpPr/>
          <p:nvPr/>
        </p:nvSpPr>
        <p:spPr>
          <a:xfrm>
            <a:off x="365760" y="1042066"/>
            <a:ext cx="73152" cy="621792"/>
          </a:xfrm>
          <a:prstGeom prst="rect">
            <a:avLst/>
          </a:prstGeom>
          <a:solidFill>
            <a:schemeClr val="bg1"/>
          </a:solidFill>
          <a:ln/>
        </p:spPr>
        <p:txBody>
          <a:bodyPr/>
          <a:lstStyle/>
          <a:p>
            <a:endParaRPr lang="en-US"/>
          </a:p>
        </p:txBody>
      </p:sp>
      <p:sp>
        <p:nvSpPr>
          <p:cNvPr id="7" name="Text 5"/>
          <p:cNvSpPr/>
          <p:nvPr/>
        </p:nvSpPr>
        <p:spPr>
          <a:xfrm>
            <a:off x="530352" y="1133506"/>
            <a:ext cx="1920240" cy="438912"/>
          </a:xfrm>
          <a:prstGeom prst="rect">
            <a:avLst/>
          </a:prstGeom>
          <a:noFill/>
          <a:ln/>
        </p:spPr>
        <p:txBody>
          <a:bodyPr wrap="square" lIns="0" tIns="0" rIns="0" bIns="0" rtlCol="0" anchor="ctr"/>
          <a:lstStyle/>
          <a:p>
            <a:pPr marL="0" indent="0">
              <a:buNone/>
            </a:pPr>
            <a:r>
              <a:rPr lang="en-US" sz="1600" b="1" dirty="0">
                <a:solidFill>
                  <a:schemeClr val="bg1"/>
                </a:solidFill>
                <a:latin typeface="Calibri" pitchFamily="34" charset="0"/>
                <a:ea typeface="Calibri" pitchFamily="34" charset="-122"/>
                <a:cs typeface="Calibri" pitchFamily="34" charset="-120"/>
              </a:rPr>
              <a:t>B+ stablo:</a:t>
            </a:r>
            <a:endParaRPr lang="en-US" sz="1600" dirty="0">
              <a:solidFill>
                <a:schemeClr val="bg1"/>
              </a:solidFill>
            </a:endParaRPr>
          </a:p>
        </p:txBody>
      </p:sp>
      <p:sp>
        <p:nvSpPr>
          <p:cNvPr id="8" name="Text 6"/>
          <p:cNvSpPr/>
          <p:nvPr/>
        </p:nvSpPr>
        <p:spPr>
          <a:xfrm>
            <a:off x="2468880" y="1133506"/>
            <a:ext cx="6217920" cy="438912"/>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Logaritamska pretraga — dubina stabla direktno određuje broj I/O operacija.</a:t>
            </a:r>
            <a:endParaRPr lang="en-US" sz="1400" dirty="0"/>
          </a:p>
        </p:txBody>
      </p:sp>
      <p:sp>
        <p:nvSpPr>
          <p:cNvPr id="9" name="Shape 7"/>
          <p:cNvSpPr/>
          <p:nvPr/>
        </p:nvSpPr>
        <p:spPr>
          <a:xfrm>
            <a:off x="365760" y="1791874"/>
            <a:ext cx="8412480" cy="621792"/>
          </a:xfrm>
          <a:prstGeom prst="rect">
            <a:avLst/>
          </a:prstGeom>
          <a:solidFill>
            <a:srgbClr val="434E65"/>
          </a:solidFill>
          <a:ln w="12700">
            <a:solidFill>
              <a:schemeClr val="bg1"/>
            </a:solidFill>
            <a:prstDash val="solid"/>
          </a:ln>
        </p:spPr>
        <p:txBody>
          <a:bodyPr/>
          <a:lstStyle/>
          <a:p>
            <a:endParaRPr lang="en-US"/>
          </a:p>
        </p:txBody>
      </p:sp>
      <p:sp>
        <p:nvSpPr>
          <p:cNvPr id="10" name="Shape 8"/>
          <p:cNvSpPr/>
          <p:nvPr/>
        </p:nvSpPr>
        <p:spPr>
          <a:xfrm>
            <a:off x="365760" y="1791874"/>
            <a:ext cx="73152" cy="621792"/>
          </a:xfrm>
          <a:prstGeom prst="rect">
            <a:avLst/>
          </a:prstGeom>
          <a:solidFill>
            <a:schemeClr val="bg1"/>
          </a:solidFill>
          <a:ln/>
        </p:spPr>
        <p:txBody>
          <a:bodyPr/>
          <a:lstStyle/>
          <a:p>
            <a:endParaRPr lang="en-US"/>
          </a:p>
        </p:txBody>
      </p:sp>
      <p:sp>
        <p:nvSpPr>
          <p:cNvPr id="11" name="Text 9"/>
          <p:cNvSpPr/>
          <p:nvPr/>
        </p:nvSpPr>
        <p:spPr>
          <a:xfrm>
            <a:off x="530352" y="1883314"/>
            <a:ext cx="1920240" cy="438912"/>
          </a:xfrm>
          <a:prstGeom prst="rect">
            <a:avLst/>
          </a:prstGeom>
          <a:noFill/>
          <a:ln/>
        </p:spPr>
        <p:txBody>
          <a:bodyPr wrap="square" lIns="0" tIns="0" rIns="0" bIns="0" rtlCol="0" anchor="ctr"/>
          <a:lstStyle/>
          <a:p>
            <a:pPr marL="0" indent="0">
              <a:buNone/>
            </a:pPr>
            <a:r>
              <a:rPr lang="en-US" sz="1600" b="1" dirty="0">
                <a:solidFill>
                  <a:schemeClr val="bg1"/>
                </a:solidFill>
                <a:latin typeface="Calibri" pitchFamily="34" charset="0"/>
                <a:ea typeface="Calibri" pitchFamily="34" charset="-122"/>
                <a:cs typeface="Calibri" pitchFamily="34" charset="-120"/>
              </a:rPr>
              <a:t>MGA = Index Bloat:</a:t>
            </a:r>
            <a:endParaRPr lang="en-US" sz="1600" dirty="0">
              <a:solidFill>
                <a:schemeClr val="bg1"/>
              </a:solidFill>
            </a:endParaRPr>
          </a:p>
        </p:txBody>
      </p:sp>
      <p:sp>
        <p:nvSpPr>
          <p:cNvPr id="12" name="Text 10"/>
          <p:cNvSpPr/>
          <p:nvPr/>
        </p:nvSpPr>
        <p:spPr>
          <a:xfrm>
            <a:off x="2468880" y="1883314"/>
            <a:ext cx="6217920" cy="438912"/>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Svaki UPDATE kreira novu verziju — indeksi se "naduvavaju" tokom vremena.</a:t>
            </a:r>
            <a:endParaRPr lang="en-US" sz="1400" dirty="0"/>
          </a:p>
        </p:txBody>
      </p:sp>
      <p:sp>
        <p:nvSpPr>
          <p:cNvPr id="13" name="Shape 11"/>
          <p:cNvSpPr/>
          <p:nvPr/>
        </p:nvSpPr>
        <p:spPr>
          <a:xfrm>
            <a:off x="365760" y="2541682"/>
            <a:ext cx="8412480" cy="621792"/>
          </a:xfrm>
          <a:prstGeom prst="rect">
            <a:avLst/>
          </a:prstGeom>
          <a:solidFill>
            <a:srgbClr val="434E65"/>
          </a:solidFill>
          <a:ln w="12700">
            <a:solidFill>
              <a:schemeClr val="bg1"/>
            </a:solidFill>
            <a:prstDash val="solid"/>
          </a:ln>
        </p:spPr>
        <p:txBody>
          <a:bodyPr/>
          <a:lstStyle/>
          <a:p>
            <a:endParaRPr lang="en-US"/>
          </a:p>
        </p:txBody>
      </p:sp>
      <p:sp>
        <p:nvSpPr>
          <p:cNvPr id="14" name="Shape 12"/>
          <p:cNvSpPr/>
          <p:nvPr/>
        </p:nvSpPr>
        <p:spPr>
          <a:xfrm>
            <a:off x="365760" y="2541682"/>
            <a:ext cx="73152" cy="621792"/>
          </a:xfrm>
          <a:prstGeom prst="rect">
            <a:avLst/>
          </a:prstGeom>
          <a:solidFill>
            <a:schemeClr val="bg1"/>
          </a:solidFill>
          <a:ln/>
        </p:spPr>
        <p:txBody>
          <a:bodyPr/>
          <a:lstStyle/>
          <a:p>
            <a:endParaRPr lang="en-US"/>
          </a:p>
        </p:txBody>
      </p:sp>
      <p:sp>
        <p:nvSpPr>
          <p:cNvPr id="15" name="Text 13"/>
          <p:cNvSpPr/>
          <p:nvPr/>
        </p:nvSpPr>
        <p:spPr>
          <a:xfrm>
            <a:off x="530352" y="2633122"/>
            <a:ext cx="1920240" cy="438912"/>
          </a:xfrm>
          <a:prstGeom prst="rect">
            <a:avLst/>
          </a:prstGeom>
          <a:noFill/>
          <a:ln/>
        </p:spPr>
        <p:txBody>
          <a:bodyPr wrap="square" lIns="0" tIns="0" rIns="0" bIns="0" rtlCol="0" anchor="ctr"/>
          <a:lstStyle/>
          <a:p>
            <a:pPr marL="0" indent="0">
              <a:buNone/>
            </a:pPr>
            <a:r>
              <a:rPr lang="en-US" sz="1600" b="1" dirty="0">
                <a:solidFill>
                  <a:schemeClr val="bg1"/>
                </a:solidFill>
                <a:latin typeface="Calibri" pitchFamily="34" charset="0"/>
                <a:ea typeface="Calibri" pitchFamily="34" charset="-122"/>
                <a:cs typeface="Calibri" pitchFamily="34" charset="-120"/>
              </a:rPr>
              <a:t>Garbage Collection:</a:t>
            </a:r>
            <a:endParaRPr lang="en-US" sz="1600" dirty="0">
              <a:solidFill>
                <a:schemeClr val="bg1"/>
              </a:solidFill>
            </a:endParaRPr>
          </a:p>
        </p:txBody>
      </p:sp>
      <p:sp>
        <p:nvSpPr>
          <p:cNvPr id="16" name="Text 14"/>
          <p:cNvSpPr/>
          <p:nvPr/>
        </p:nvSpPr>
        <p:spPr>
          <a:xfrm>
            <a:off x="2468880" y="2633122"/>
            <a:ext cx="6217920" cy="438912"/>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OAT blokira GC — dugačke transakcije su najveći neprijatelj performansi.</a:t>
            </a:r>
            <a:endParaRPr lang="en-US" sz="1400" dirty="0"/>
          </a:p>
        </p:txBody>
      </p:sp>
      <p:sp>
        <p:nvSpPr>
          <p:cNvPr id="17" name="Shape 15"/>
          <p:cNvSpPr/>
          <p:nvPr/>
        </p:nvSpPr>
        <p:spPr>
          <a:xfrm>
            <a:off x="365760" y="3291490"/>
            <a:ext cx="8412480" cy="621792"/>
          </a:xfrm>
          <a:prstGeom prst="rect">
            <a:avLst/>
          </a:prstGeom>
          <a:solidFill>
            <a:srgbClr val="434E65"/>
          </a:solidFill>
          <a:ln w="12700">
            <a:solidFill>
              <a:schemeClr val="bg1"/>
            </a:solidFill>
            <a:prstDash val="solid"/>
          </a:ln>
        </p:spPr>
        <p:txBody>
          <a:bodyPr/>
          <a:lstStyle/>
          <a:p>
            <a:endParaRPr lang="en-US"/>
          </a:p>
        </p:txBody>
      </p:sp>
      <p:sp>
        <p:nvSpPr>
          <p:cNvPr id="18" name="Shape 16"/>
          <p:cNvSpPr/>
          <p:nvPr/>
        </p:nvSpPr>
        <p:spPr>
          <a:xfrm>
            <a:off x="365760" y="3291490"/>
            <a:ext cx="73152" cy="621792"/>
          </a:xfrm>
          <a:prstGeom prst="rect">
            <a:avLst/>
          </a:prstGeom>
          <a:solidFill>
            <a:schemeClr val="bg1"/>
          </a:solidFill>
          <a:ln/>
        </p:spPr>
        <p:txBody>
          <a:bodyPr/>
          <a:lstStyle/>
          <a:p>
            <a:endParaRPr lang="en-US"/>
          </a:p>
        </p:txBody>
      </p:sp>
      <p:sp>
        <p:nvSpPr>
          <p:cNvPr id="19" name="Text 17"/>
          <p:cNvSpPr/>
          <p:nvPr/>
        </p:nvSpPr>
        <p:spPr>
          <a:xfrm>
            <a:off x="530352" y="3382930"/>
            <a:ext cx="1920240" cy="438912"/>
          </a:xfrm>
          <a:prstGeom prst="rect">
            <a:avLst/>
          </a:prstGeom>
          <a:noFill/>
          <a:ln/>
        </p:spPr>
        <p:txBody>
          <a:bodyPr wrap="square" lIns="0" tIns="0" rIns="0" bIns="0" rtlCol="0" anchor="ctr"/>
          <a:lstStyle/>
          <a:p>
            <a:pPr marL="0" indent="0">
              <a:buNone/>
            </a:pPr>
            <a:r>
              <a:rPr lang="en-US" sz="1600" b="1" dirty="0">
                <a:solidFill>
                  <a:schemeClr val="bg1"/>
                </a:solidFill>
                <a:latin typeface="Calibri" pitchFamily="34" charset="0"/>
                <a:ea typeface="Calibri" pitchFamily="34" charset="-122"/>
                <a:cs typeface="Calibri" pitchFamily="34" charset="-120"/>
              </a:rPr>
              <a:t>Selektivnost:</a:t>
            </a:r>
            <a:endParaRPr lang="en-US" sz="1600" b="1" dirty="0">
              <a:solidFill>
                <a:schemeClr val="bg1"/>
              </a:solidFill>
            </a:endParaRPr>
          </a:p>
        </p:txBody>
      </p:sp>
      <p:sp>
        <p:nvSpPr>
          <p:cNvPr id="20" name="Text 18"/>
          <p:cNvSpPr/>
          <p:nvPr/>
        </p:nvSpPr>
        <p:spPr>
          <a:xfrm>
            <a:off x="2468880" y="3382930"/>
            <a:ext cx="6217920" cy="438912"/>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Stati</a:t>
            </a:r>
            <a:r>
              <a:rPr lang="sr-Latn-RS" sz="1400" dirty="0">
                <a:solidFill>
                  <a:srgbClr val="FFFFFF"/>
                </a:solidFill>
                <a:latin typeface="Calibri" pitchFamily="34" charset="0"/>
                <a:ea typeface="Calibri" pitchFamily="34" charset="-122"/>
                <a:cs typeface="Calibri" pitchFamily="34" charset="-120"/>
              </a:rPr>
              <a:t>stik</a:t>
            </a:r>
            <a:r>
              <a:rPr lang="en-US" sz="1400" dirty="0">
                <a:solidFill>
                  <a:srgbClr val="FFFFFF"/>
                </a:solidFill>
                <a:latin typeface="Calibri" pitchFamily="34" charset="0"/>
                <a:ea typeface="Calibri" pitchFamily="34" charset="-122"/>
                <a:cs typeface="Calibri" pitchFamily="34" charset="-120"/>
              </a:rPr>
              <a:t>u treba osvežavati — zastarela statistika vodi do pogrešnih planova.</a:t>
            </a:r>
            <a:endParaRPr lang="en-US" sz="1400" dirty="0"/>
          </a:p>
        </p:txBody>
      </p:sp>
      <p:sp>
        <p:nvSpPr>
          <p:cNvPr id="21" name="Shape 19"/>
          <p:cNvSpPr/>
          <p:nvPr/>
        </p:nvSpPr>
        <p:spPr>
          <a:xfrm>
            <a:off x="365760" y="4041298"/>
            <a:ext cx="8412480" cy="621792"/>
          </a:xfrm>
          <a:prstGeom prst="rect">
            <a:avLst/>
          </a:prstGeom>
          <a:solidFill>
            <a:srgbClr val="434E65"/>
          </a:solidFill>
          <a:ln w="12700">
            <a:solidFill>
              <a:schemeClr val="bg1"/>
            </a:solidFill>
            <a:prstDash val="solid"/>
          </a:ln>
        </p:spPr>
        <p:txBody>
          <a:bodyPr/>
          <a:lstStyle/>
          <a:p>
            <a:endParaRPr lang="en-US" sz="1200"/>
          </a:p>
        </p:txBody>
      </p:sp>
      <p:sp>
        <p:nvSpPr>
          <p:cNvPr id="22" name="Shape 20"/>
          <p:cNvSpPr/>
          <p:nvPr/>
        </p:nvSpPr>
        <p:spPr>
          <a:xfrm>
            <a:off x="365760" y="4041298"/>
            <a:ext cx="73152" cy="621792"/>
          </a:xfrm>
          <a:prstGeom prst="rect">
            <a:avLst/>
          </a:prstGeom>
          <a:solidFill>
            <a:schemeClr val="bg1"/>
          </a:solidFill>
          <a:ln/>
        </p:spPr>
        <p:txBody>
          <a:bodyPr/>
          <a:lstStyle/>
          <a:p>
            <a:endParaRPr lang="en-US"/>
          </a:p>
        </p:txBody>
      </p:sp>
      <p:sp>
        <p:nvSpPr>
          <p:cNvPr id="23" name="Text 21"/>
          <p:cNvSpPr/>
          <p:nvPr/>
        </p:nvSpPr>
        <p:spPr>
          <a:xfrm>
            <a:off x="530352" y="4132738"/>
            <a:ext cx="1920240" cy="438912"/>
          </a:xfrm>
          <a:prstGeom prst="rect">
            <a:avLst/>
          </a:prstGeom>
          <a:noFill/>
          <a:ln/>
        </p:spPr>
        <p:txBody>
          <a:bodyPr wrap="square" lIns="0" tIns="0" rIns="0" bIns="0" rtlCol="0" anchor="ctr"/>
          <a:lstStyle/>
          <a:p>
            <a:pPr marL="0" indent="0">
              <a:buNone/>
            </a:pPr>
            <a:r>
              <a:rPr lang="en-US" sz="1600" b="1" dirty="0">
                <a:solidFill>
                  <a:schemeClr val="bg1"/>
                </a:solidFill>
                <a:latin typeface="Calibri" pitchFamily="34" charset="0"/>
                <a:ea typeface="Calibri" pitchFamily="34" charset="-122"/>
                <a:cs typeface="Calibri" pitchFamily="34" charset="-120"/>
              </a:rPr>
              <a:t>Expression indeksi:</a:t>
            </a:r>
            <a:endParaRPr lang="en-US" sz="1600" dirty="0">
              <a:solidFill>
                <a:schemeClr val="bg1"/>
              </a:solidFill>
            </a:endParaRPr>
          </a:p>
        </p:txBody>
      </p:sp>
      <p:sp>
        <p:nvSpPr>
          <p:cNvPr id="24" name="Text 22"/>
          <p:cNvSpPr/>
          <p:nvPr/>
        </p:nvSpPr>
        <p:spPr>
          <a:xfrm>
            <a:off x="2468880" y="4132738"/>
            <a:ext cx="6217920" cy="438912"/>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Izraz se izračunava pri upisu, ne pri čitanju — drastično ubrzava upite.</a:t>
            </a:r>
            <a:endParaRPr lang="en-US" sz="1400" dirty="0"/>
          </a:p>
        </p:txBody>
      </p:sp>
      <p:sp>
        <p:nvSpPr>
          <p:cNvPr id="25" name="Shape 23"/>
          <p:cNvSpPr/>
          <p:nvPr/>
        </p:nvSpPr>
        <p:spPr>
          <a:xfrm>
            <a:off x="0" y="4800600"/>
            <a:ext cx="9144000" cy="342900"/>
          </a:xfrm>
          <a:prstGeom prst="rect">
            <a:avLst/>
          </a:prstGeom>
          <a:solidFill>
            <a:srgbClr val="243660"/>
          </a:solidFill>
          <a:ln/>
        </p:spPr>
        <p:txBody>
          <a:bodyPr/>
          <a:lstStyle/>
          <a:p>
            <a:endParaRPr lang="en-US"/>
          </a:p>
        </p:txBody>
      </p:sp>
    </p:spTree>
  </p:cSld>
  <p:clrMapOvr>
    <a:masterClrMapping/>
  </p:clrMapOvr>
</p:sld>
</file>

<file path=ppt/theme/theme1.xml><?xml version="1.0" encoding="utf-8"?>
<a:theme xmlns:a="http://schemas.openxmlformats.org/drawingml/2006/main" name="Office Them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745</TotalTime>
  <Words>3050</Words>
  <Application>Microsoft Office PowerPoint</Application>
  <PresentationFormat>On-screen Show (16:9)</PresentationFormat>
  <Paragraphs>231</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Interna struktura indeksa u Firebird bazi podataka</dc:title>
  <dc:subject>PptxGenJS Presentation</dc:subject>
  <dc:creator>PptxGenJS</dc:creator>
  <cp:lastModifiedBy>Jefimija Stamenovic</cp:lastModifiedBy>
  <cp:revision>89</cp:revision>
  <dcterms:created xsi:type="dcterms:W3CDTF">2026-03-11T06:23:49Z</dcterms:created>
  <dcterms:modified xsi:type="dcterms:W3CDTF">2026-03-15T22:48:57Z</dcterms:modified>
</cp:coreProperties>
</file>