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434E65"/>
    <a:srgbClr val="A6A6A6"/>
    <a:srgbClr val="1B2A4A"/>
    <a:srgbClr val="FFFFFF"/>
    <a:srgbClr val="A0C1D5"/>
    <a:srgbClr val="312F2C"/>
    <a:srgbClr val="ABD1C6"/>
    <a:srgbClr val="0D948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>
        <p:scale>
          <a:sx n="89" d="100"/>
          <a:sy n="89" d="100"/>
        </p:scale>
        <p:origin x="1210" y="331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1940215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201168" y="0"/>
            <a:ext cx="8942832" cy="54864"/>
          </a:xfrm>
          <a:prstGeom prst="rect">
            <a:avLst/>
          </a:prstGeom>
          <a:solidFill>
            <a:schemeClr val="bg1">
              <a:lumMod val="50000"/>
            </a:scheme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457200" y="109728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 struktura i organizacija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457200" y="16916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400" b="1" dirty="0">
                <a:solidFill>
                  <a:schemeClr val="tx2">
                    <a:lumMod val="40000"/>
                    <a:lumOff val="60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indeksa u Firebird bazi podataka</a:t>
            </a:r>
            <a:endParaRPr lang="en-US" sz="4400" dirty="0">
              <a:solidFill>
                <a:schemeClr val="tx2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6" name="Text 4"/>
          <p:cNvSpPr/>
          <p:nvPr/>
        </p:nvSpPr>
        <p:spPr>
          <a:xfrm>
            <a:off x="660399" y="3510643"/>
            <a:ext cx="356325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sr-Latn-RS" sz="1400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Student:  </a:t>
            </a:r>
            <a:r>
              <a:rPr lang="en-US" sz="1400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Jefimija </a:t>
            </a:r>
            <a:r>
              <a:rPr lang="en-US" sz="1400" i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Stamenovi</a:t>
            </a:r>
            <a:r>
              <a:rPr lang="sr-Latn-RS" sz="1400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ć 1820/2024</a:t>
            </a:r>
            <a:endParaRPr lang="en-US" sz="1400" i="1" dirty="0">
              <a:solidFill>
                <a:schemeClr val="bg1"/>
              </a:solidFill>
            </a:endParaRPr>
          </a:p>
        </p:txBody>
      </p:sp>
      <p:sp>
        <p:nvSpPr>
          <p:cNvPr id="7" name="Text 5"/>
          <p:cNvSpPr/>
          <p:nvPr/>
        </p:nvSpPr>
        <p:spPr>
          <a:xfrm>
            <a:off x="660399" y="3863340"/>
            <a:ext cx="352697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Mentor: dr Aleksandar S. Stanimirović</a:t>
            </a:r>
            <a:endParaRPr lang="en-US" sz="1400" dirty="0">
              <a:solidFill>
                <a:schemeClr val="bg1"/>
              </a:solidFill>
            </a:endParaRPr>
          </a:p>
        </p:txBody>
      </p:sp>
      <p:sp>
        <p:nvSpPr>
          <p:cNvPr id="8" name="Shape 6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solidFill>
              <a:schemeClr val="tx2">
                <a:lumMod val="50000"/>
              </a:schemeClr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274320" y="4818888"/>
            <a:ext cx="85953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0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Elektronski fakultet u </a:t>
            </a:r>
            <a:r>
              <a:rPr lang="en-US" sz="1000" b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Nišu</a:t>
            </a:r>
            <a:r>
              <a:rPr lang="sr-Latn-RS" sz="10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</a:t>
            </a:r>
            <a:r>
              <a:rPr lang="sr-Latn-RS" sz="10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Master </a:t>
            </a:r>
            <a:r>
              <a:rPr lang="en-US" sz="1000" b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akademske</a:t>
            </a:r>
            <a:r>
              <a:rPr lang="en-US" sz="10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b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studije</a:t>
            </a:r>
            <a:r>
              <a:rPr lang="en-US" sz="10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Sistemi za upravljanje </a:t>
            </a:r>
            <a:r>
              <a:rPr lang="en-US" sz="1000" b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bazama</a:t>
            </a:r>
            <a:r>
              <a:rPr lang="en-US" sz="10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b="1" dirty="0" err="1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podataka</a:t>
            </a:r>
            <a:r>
              <a:rPr lang="sr-Latn-RS" sz="10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Mart 2026. </a:t>
            </a:r>
            <a:endParaRPr lang="en-US" sz="1000" b="1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37160" cy="5143500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solidFill>
              <a:schemeClr val="tx2">
                <a:lumMod val="40000"/>
                <a:lumOff val="60000"/>
              </a:schemeClr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137160" y="0"/>
            <a:ext cx="9006840" cy="658368"/>
          </a:xfrm>
          <a:prstGeom prst="rect">
            <a:avLst/>
          </a:prstGeom>
          <a:solidFill>
            <a:srgbClr val="1B2A4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274320" y="64008"/>
            <a:ext cx="8595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Sadržaj prezentacije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228600" y="941144"/>
            <a:ext cx="429768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228600" y="941144"/>
            <a:ext cx="502920" cy="804672"/>
          </a:xfrm>
          <a:prstGeom prst="rect">
            <a:avLst/>
          </a:prstGeom>
          <a:solidFill>
            <a:srgbClr val="1B2A4A"/>
          </a:solidFill>
          <a:ln>
            <a:solidFill>
              <a:schemeClr val="bg1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246888" y="110573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2400" dirty="0">
              <a:solidFill>
                <a:schemeClr val="bg1"/>
              </a:solidFill>
            </a:endParaRPr>
          </a:p>
        </p:txBody>
      </p:sp>
      <p:sp>
        <p:nvSpPr>
          <p:cNvPr id="8" name="Text 6"/>
          <p:cNvSpPr/>
          <p:nvPr/>
        </p:nvSpPr>
        <p:spPr>
          <a:xfrm>
            <a:off x="822960" y="1005152"/>
            <a:ext cx="3611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Kontekst i motivacija</a:t>
            </a: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822960" y="1380056"/>
            <a:ext cx="3611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Zašto su indeksi kritični za skalabilnost?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228600" y="1901264"/>
            <a:ext cx="429768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228600" y="1901264"/>
            <a:ext cx="502920" cy="804672"/>
          </a:xfrm>
          <a:prstGeom prst="rect">
            <a:avLst/>
          </a:prstGeom>
          <a:solidFill>
            <a:srgbClr val="1B2A4A"/>
          </a:solidFill>
          <a:ln>
            <a:solidFill>
              <a:schemeClr val="bg1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246888" y="206585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2400" dirty="0">
              <a:solidFill>
                <a:schemeClr val="bg1"/>
              </a:solidFill>
            </a:endParaRPr>
          </a:p>
        </p:txBody>
      </p:sp>
      <p:sp>
        <p:nvSpPr>
          <p:cNvPr id="13" name="Text 11"/>
          <p:cNvSpPr/>
          <p:nvPr/>
        </p:nvSpPr>
        <p:spPr>
          <a:xfrm>
            <a:off x="822960" y="1965272"/>
            <a:ext cx="3611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Fizička arhitektura (ODS)</a:t>
            </a: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822960" y="2340176"/>
            <a:ext cx="3611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Stranice, slotovi i RDB$DB_KEY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228600" y="2861384"/>
            <a:ext cx="429768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228600" y="2861384"/>
            <a:ext cx="502920" cy="804672"/>
          </a:xfrm>
          <a:prstGeom prst="rect">
            <a:avLst/>
          </a:prstGeom>
          <a:solidFill>
            <a:srgbClr val="1B2A4A"/>
          </a:solidFill>
          <a:ln>
            <a:solidFill>
              <a:schemeClr val="bg1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246888" y="302597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2400" dirty="0">
              <a:solidFill>
                <a:schemeClr val="bg1"/>
              </a:solidFill>
            </a:endParaRPr>
          </a:p>
        </p:txBody>
      </p:sp>
      <p:sp>
        <p:nvSpPr>
          <p:cNvPr id="18" name="Text 16"/>
          <p:cNvSpPr/>
          <p:nvPr/>
        </p:nvSpPr>
        <p:spPr>
          <a:xfrm>
            <a:off x="822960" y="2925392"/>
            <a:ext cx="3611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MGA i verzije zapisa</a:t>
            </a: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822960" y="3300296"/>
            <a:ext cx="3611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MVCC, Index Bloat, Garbage Collection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228600" y="3821504"/>
            <a:ext cx="429768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228600" y="3821504"/>
            <a:ext cx="502920" cy="804672"/>
          </a:xfrm>
          <a:prstGeom prst="rect">
            <a:avLst/>
          </a:prstGeom>
          <a:solidFill>
            <a:srgbClr val="1B2A4A"/>
          </a:solidFill>
          <a:ln>
            <a:solidFill>
              <a:schemeClr val="bg1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246888" y="398609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2400" dirty="0">
              <a:solidFill>
                <a:schemeClr val="bg1"/>
              </a:solidFill>
            </a:endParaRPr>
          </a:p>
        </p:txBody>
      </p:sp>
      <p:sp>
        <p:nvSpPr>
          <p:cNvPr id="23" name="Text 21"/>
          <p:cNvSpPr/>
          <p:nvPr/>
        </p:nvSpPr>
        <p:spPr>
          <a:xfrm>
            <a:off x="822960" y="3885512"/>
            <a:ext cx="3611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B+ stablo</a:t>
            </a: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822960" y="4260416"/>
            <a:ext cx="3611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Struktura, Page Split i Fill Factor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4754880" y="941144"/>
            <a:ext cx="429768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6" name="Shape 24"/>
          <p:cNvSpPr/>
          <p:nvPr/>
        </p:nvSpPr>
        <p:spPr>
          <a:xfrm>
            <a:off x="4754880" y="941144"/>
            <a:ext cx="502920" cy="804672"/>
          </a:xfrm>
          <a:prstGeom prst="rect">
            <a:avLst/>
          </a:prstGeom>
          <a:solidFill>
            <a:srgbClr val="1B2A4A"/>
          </a:solidFill>
          <a:ln>
            <a:solidFill>
              <a:schemeClr val="bg1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4773168" y="110573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2400" dirty="0">
              <a:solidFill>
                <a:schemeClr val="bg1"/>
              </a:solidFill>
            </a:endParaRPr>
          </a:p>
        </p:txBody>
      </p:sp>
      <p:sp>
        <p:nvSpPr>
          <p:cNvPr id="28" name="Text 26"/>
          <p:cNvSpPr/>
          <p:nvPr/>
        </p:nvSpPr>
        <p:spPr>
          <a:xfrm>
            <a:off x="5349240" y="1005152"/>
            <a:ext cx="3611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Kompresija i optimizacija</a:t>
            </a:r>
            <a:endParaRPr lang="en-US" dirty="0"/>
          </a:p>
        </p:txBody>
      </p:sp>
      <p:sp>
        <p:nvSpPr>
          <p:cNvPr id="29" name="Text 27"/>
          <p:cNvSpPr/>
          <p:nvPr/>
        </p:nvSpPr>
        <p:spPr>
          <a:xfrm>
            <a:off x="5349240" y="1380056"/>
            <a:ext cx="3611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Prefiksna kompresija, NULL, duplikati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4754880" y="1901264"/>
            <a:ext cx="429768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1" name="Shape 29"/>
          <p:cNvSpPr/>
          <p:nvPr/>
        </p:nvSpPr>
        <p:spPr>
          <a:xfrm>
            <a:off x="4754880" y="1901264"/>
            <a:ext cx="502920" cy="804672"/>
          </a:xfrm>
          <a:prstGeom prst="rect">
            <a:avLst/>
          </a:prstGeom>
          <a:solidFill>
            <a:srgbClr val="1B2A4A"/>
          </a:solidFill>
          <a:ln>
            <a:solidFill>
              <a:schemeClr val="bg1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/>
          <p:nvPr/>
        </p:nvSpPr>
        <p:spPr>
          <a:xfrm>
            <a:off x="4773168" y="206585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2400" dirty="0">
              <a:solidFill>
                <a:schemeClr val="bg1"/>
              </a:solidFill>
            </a:endParaRPr>
          </a:p>
        </p:txBody>
      </p:sp>
      <p:sp>
        <p:nvSpPr>
          <p:cNvPr id="33" name="Text 31"/>
          <p:cNvSpPr/>
          <p:nvPr/>
        </p:nvSpPr>
        <p:spPr>
          <a:xfrm>
            <a:off x="5349240" y="1965272"/>
            <a:ext cx="3611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Tipovi indeksa i statistika</a:t>
            </a:r>
            <a:endParaRPr lang="en-US" dirty="0"/>
          </a:p>
        </p:txBody>
      </p:sp>
      <p:sp>
        <p:nvSpPr>
          <p:cNvPr id="34" name="Text 32"/>
          <p:cNvSpPr/>
          <p:nvPr/>
        </p:nvSpPr>
        <p:spPr>
          <a:xfrm>
            <a:off x="5349240" y="2340176"/>
            <a:ext cx="3611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Expression, kompozitni, selektivnost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4754880" y="2861384"/>
            <a:ext cx="429768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6" name="Shape 34"/>
          <p:cNvSpPr/>
          <p:nvPr/>
        </p:nvSpPr>
        <p:spPr>
          <a:xfrm>
            <a:off x="4754880" y="2861384"/>
            <a:ext cx="502920" cy="804672"/>
          </a:xfrm>
          <a:prstGeom prst="rect">
            <a:avLst/>
          </a:prstGeom>
          <a:solidFill>
            <a:srgbClr val="1B2A4A"/>
          </a:solidFill>
          <a:ln>
            <a:solidFill>
              <a:schemeClr val="bg1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37" name="Text 35"/>
          <p:cNvSpPr/>
          <p:nvPr/>
        </p:nvSpPr>
        <p:spPr>
          <a:xfrm>
            <a:off x="4773168" y="302597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2400" dirty="0">
              <a:solidFill>
                <a:schemeClr val="bg1"/>
              </a:solidFill>
            </a:endParaRPr>
          </a:p>
        </p:txBody>
      </p:sp>
      <p:sp>
        <p:nvSpPr>
          <p:cNvPr id="38" name="Text 36"/>
          <p:cNvSpPr/>
          <p:nvPr/>
        </p:nvSpPr>
        <p:spPr>
          <a:xfrm>
            <a:off x="5349240" y="2925392"/>
            <a:ext cx="3611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Execution Plans</a:t>
            </a:r>
            <a:endParaRPr lang="en-US" dirty="0"/>
          </a:p>
        </p:txBody>
      </p:sp>
      <p:sp>
        <p:nvSpPr>
          <p:cNvPr id="39" name="Text 37"/>
          <p:cNvSpPr/>
          <p:nvPr/>
        </p:nvSpPr>
        <p:spPr>
          <a:xfrm>
            <a:off x="5349240" y="3300296"/>
            <a:ext cx="3611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NATURAL vs INDEX — praktični primeri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37160" cy="5143500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137160" y="0"/>
            <a:ext cx="9006840" cy="658368"/>
          </a:xfrm>
          <a:prstGeom prst="rect">
            <a:avLst/>
          </a:prstGeom>
          <a:solidFill>
            <a:srgbClr val="1B2A4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274320" y="64008"/>
            <a:ext cx="8595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Kontekst i motivacija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228600" y="777240"/>
            <a:ext cx="2560320" cy="2309364"/>
          </a:xfrm>
          <a:prstGeom prst="rect">
            <a:avLst/>
          </a:prstGeom>
          <a:solidFill>
            <a:srgbClr val="1B2A4A"/>
          </a:solidFill>
          <a:ln>
            <a:solidFill>
              <a:schemeClr val="bg1"/>
            </a:solidFill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210312" y="1358132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2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O(n)</a:t>
            </a:r>
            <a:endParaRPr lang="en-US" sz="5200" dirty="0">
              <a:solidFill>
                <a:schemeClr val="bg1"/>
              </a:solidFill>
            </a:endParaRPr>
          </a:p>
        </p:txBody>
      </p:sp>
      <p:sp>
        <p:nvSpPr>
          <p:cNvPr id="7" name="Text 5"/>
          <p:cNvSpPr/>
          <p:nvPr/>
        </p:nvSpPr>
        <p:spPr>
          <a:xfrm>
            <a:off x="210312" y="2071364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Table Scan</a:t>
            </a:r>
            <a:endParaRPr lang="en-US" sz="1400" b="1" dirty="0">
              <a:solidFill>
                <a:schemeClr val="bg1"/>
              </a:solidFill>
            </a:endParaRPr>
          </a:p>
        </p:txBody>
      </p:sp>
      <p:sp>
        <p:nvSpPr>
          <p:cNvPr id="8" name="Text 6"/>
          <p:cNvSpPr/>
          <p:nvPr/>
        </p:nvSpPr>
        <p:spPr>
          <a:xfrm>
            <a:off x="2807208" y="1664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3600" dirty="0">
              <a:solidFill>
                <a:srgbClr val="1B2A4A"/>
              </a:solidFill>
            </a:endParaRPr>
          </a:p>
        </p:txBody>
      </p:sp>
      <p:sp>
        <p:nvSpPr>
          <p:cNvPr id="9" name="Shape 7"/>
          <p:cNvSpPr/>
          <p:nvPr/>
        </p:nvSpPr>
        <p:spPr>
          <a:xfrm>
            <a:off x="3337560" y="777240"/>
            <a:ext cx="2560320" cy="2309364"/>
          </a:xfrm>
          <a:prstGeom prst="rect">
            <a:avLst/>
          </a:prstGeom>
          <a:solidFill>
            <a:schemeClr val="bg1"/>
          </a:solidFill>
          <a:ln>
            <a:solidFill>
              <a:srgbClr val="1B2A4A"/>
            </a:solidFill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3337561" y="1358132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400" b="1" dirty="0">
                <a:solidFill>
                  <a:schemeClr val="bg2">
                    <a:lumMod val="50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O(log n)</a:t>
            </a:r>
            <a:endParaRPr lang="en-US" sz="4400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11" name="Text 9"/>
          <p:cNvSpPr/>
          <p:nvPr/>
        </p:nvSpPr>
        <p:spPr>
          <a:xfrm>
            <a:off x="3337561" y="2071364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2">
                    <a:lumMod val="50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Index Scan</a:t>
            </a:r>
            <a:endParaRPr lang="en-US" sz="1400" b="1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12" name="Shape 10"/>
          <p:cNvSpPr/>
          <p:nvPr/>
        </p:nvSpPr>
        <p:spPr>
          <a:xfrm>
            <a:off x="6035039" y="777240"/>
            <a:ext cx="3005443" cy="111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6035040" y="777240"/>
            <a:ext cx="64008" cy="1116000"/>
          </a:xfrm>
          <a:prstGeom prst="rect">
            <a:avLst/>
          </a:prstGeom>
          <a:solidFill>
            <a:srgbClr val="1B2A4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6172200" y="803040"/>
            <a:ext cx="2697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</a:t>
            </a: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6172200" y="1124712"/>
            <a:ext cx="2804274" cy="726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Tabele sa milionima redova — Full Scan je neprihvatljiv.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Svaki indeks košta: prostora, I/O operacija pri upisu.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035039" y="1970604"/>
            <a:ext cx="3005443" cy="111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6038886" y="1970604"/>
            <a:ext cx="60162" cy="111600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txBody>
          <a:bodyPr/>
          <a:lstStyle/>
          <a:p>
            <a:endParaRPr lang="en-US">
              <a:solidFill>
                <a:srgbClr val="A0C1D5"/>
              </a:solidFill>
            </a:endParaRPr>
          </a:p>
        </p:txBody>
      </p:sp>
      <p:sp>
        <p:nvSpPr>
          <p:cNvPr id="18" name="Text 16"/>
          <p:cNvSpPr/>
          <p:nvPr/>
        </p:nvSpPr>
        <p:spPr>
          <a:xfrm>
            <a:off x="6172200" y="2056530"/>
            <a:ext cx="2697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Trade-off</a:t>
            </a: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6172200" y="2399898"/>
            <a:ext cx="2697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Brzina čitanja vs. cena upisa.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Firebird: B+ stablo + MGA arhitektura.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228600" y="3378956"/>
            <a:ext cx="8811882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228600" y="3378956"/>
            <a:ext cx="137160" cy="1325880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457200" y="3452108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Specifičnost Firebirda</a:t>
            </a: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457200" y="3816236"/>
            <a:ext cx="8412480" cy="81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Firebird koristi Multi-Generational Architecture (MGA) — svaki UPDATE kreira novu verziju zapisa umesto prepisivanja. Indeksi moraju pratiti ove verzije, što dovodi do fenomena Index Bloat. Razumevanje fizičke strukture indeksa je preduslov za optimizaciju.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37160" cy="5143500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/>
        </p:spPr>
        <p:txBody>
          <a:bodyPr/>
          <a:lstStyle/>
          <a:p>
            <a:endParaRPr lang="en-US">
              <a:solidFill>
                <a:schemeClr val="accent2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3" name="Shape 1"/>
          <p:cNvSpPr/>
          <p:nvPr/>
        </p:nvSpPr>
        <p:spPr>
          <a:xfrm>
            <a:off x="137160" y="0"/>
            <a:ext cx="9006840" cy="658368"/>
          </a:xfrm>
          <a:prstGeom prst="rect">
            <a:avLst/>
          </a:prstGeom>
          <a:solidFill>
            <a:srgbClr val="1B2A4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274320" y="64008"/>
            <a:ext cx="8595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Fizička arhitektura — On-Disk Structure (ODS)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228600" y="777240"/>
            <a:ext cx="868680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228600" y="777240"/>
            <a:ext cx="1005840" cy="822960"/>
          </a:xfrm>
          <a:prstGeom prst="rect">
            <a:avLst/>
          </a:prstGeom>
          <a:solidFill>
            <a:srgbClr val="1B2A4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246888" y="960120"/>
            <a:ext cx="9692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0x01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371600" y="86868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Header Page</a:t>
            </a: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1371600" y="1197864"/>
            <a:ext cx="7406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ODS verzija, Page Size, poslednja transakcija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228600" y="1755648"/>
            <a:ext cx="868680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228600" y="1755648"/>
            <a:ext cx="1005840" cy="822960"/>
          </a:xfrm>
          <a:prstGeom prst="rect">
            <a:avLst/>
          </a:prstGeom>
          <a:solidFill>
            <a:srgbClr val="1B2A4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246888" y="1938528"/>
            <a:ext cx="9692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0x05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1371600" y="1847088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Page</a:t>
            </a: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1371600" y="2176272"/>
            <a:ext cx="7406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Stvarni podaci — redovi tabela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228600" y="2734056"/>
            <a:ext cx="868680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228600" y="2734056"/>
            <a:ext cx="1005840" cy="822960"/>
          </a:xfrm>
          <a:prstGeom prst="rect">
            <a:avLst/>
          </a:prstGeom>
          <a:solidFill>
            <a:schemeClr val="bg2">
              <a:lumMod val="75000"/>
            </a:scheme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246888" y="2916936"/>
            <a:ext cx="9692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0x06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1371600" y="2825496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Index Root Page</a:t>
            </a: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1371600" y="3154680"/>
            <a:ext cx="7406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Katalog svih indeksa i pokazivači na B+ stabla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228600" y="3712464"/>
            <a:ext cx="868680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228600" y="3712464"/>
            <a:ext cx="1005840" cy="822960"/>
          </a:xfrm>
          <a:prstGeom prst="rect">
            <a:avLst/>
          </a:prstGeom>
          <a:solidFill>
            <a:schemeClr val="bg2">
              <a:lumMod val="75000"/>
            </a:scheme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246888" y="3895344"/>
            <a:ext cx="9692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0x07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1371600" y="3803904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Index B-Tree</a:t>
            </a: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1371600" y="4133088"/>
            <a:ext cx="7406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Sortirani ključevi i navigacioni pokazivači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228600" y="4709160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Fizička adresa = Broj stranice × Page Size  →  direktno adresiranje bez pretraživanja</a:t>
            </a:r>
            <a:endParaRPr lang="en-US" sz="1600" b="1" dirty="0">
              <a:solidFill>
                <a:srgbClr val="1B2A4A"/>
              </a:solidFill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37160" cy="5143500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137160" y="0"/>
            <a:ext cx="9006840" cy="658368"/>
          </a:xfrm>
          <a:prstGeom prst="rect">
            <a:avLst/>
          </a:prstGeom>
          <a:solidFill>
            <a:srgbClr val="1B2A4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274320" y="64008"/>
            <a:ext cx="8595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RDB$DB_KEY — fizička adresa svakog zapisa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228600" y="777240"/>
            <a:ext cx="8686800" cy="1234440"/>
          </a:xfrm>
          <a:prstGeom prst="rect">
            <a:avLst/>
          </a:prstGeom>
          <a:solidFill>
            <a:srgbClr val="1B2A4A"/>
          </a:solidFill>
          <a:ln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/>
          <a:lstStyle/>
          <a:p>
            <a:endParaRPr lang="en-US">
              <a:solidFill>
                <a:schemeClr val="bg1"/>
              </a:solidFill>
            </a:endParaRPr>
          </a:p>
        </p:txBody>
      </p:sp>
      <p:sp>
        <p:nvSpPr>
          <p:cNvPr id="6" name="Text 4"/>
          <p:cNvSpPr/>
          <p:nvPr/>
        </p:nvSpPr>
        <p:spPr>
          <a:xfrm>
            <a:off x="320040" y="86868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bajtova = Page Number (4B) + Slot Index (4B)</a:t>
            </a:r>
            <a:endParaRPr lang="en-US" sz="2000" dirty="0">
              <a:solidFill>
                <a:schemeClr val="bg1"/>
              </a:solidFill>
            </a:endParaRPr>
          </a:p>
        </p:txBody>
      </p:sp>
      <p:sp>
        <p:nvSpPr>
          <p:cNvPr id="7" name="Text 5"/>
          <p:cNvSpPr/>
          <p:nvPr/>
        </p:nvSpPr>
        <p:spPr>
          <a:xfrm>
            <a:off x="320040" y="1353312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Indeksi u listovima B+ stabla čuvaju RDB$DB_KEY — ne vrednosti podataka.</a:t>
            </a:r>
            <a:endParaRPr lang="en-US" sz="1400" b="1" dirty="0">
              <a:solidFill>
                <a:schemeClr val="bg1"/>
              </a:solidFill>
            </a:endParaRPr>
          </a:p>
        </p:txBody>
      </p:sp>
      <p:sp>
        <p:nvSpPr>
          <p:cNvPr id="8" name="Shape 6"/>
          <p:cNvSpPr/>
          <p:nvPr/>
        </p:nvSpPr>
        <p:spPr>
          <a:xfrm>
            <a:off x="228600" y="2148840"/>
            <a:ext cx="420624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228600" y="2148840"/>
            <a:ext cx="64008" cy="1188720"/>
          </a:xfrm>
          <a:prstGeom prst="rect">
            <a:avLst/>
          </a:prstGeom>
          <a:solidFill>
            <a:schemeClr val="bg2">
              <a:lumMod val="75000"/>
            </a:scheme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365760" y="2221992"/>
            <a:ext cx="4023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Number (4 bajta)</a:t>
            </a: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365760" y="2628900"/>
            <a:ext cx="4023360" cy="6355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Direktan skok na fizičku lokaciju u .fdb fajlu.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Baza ne pretražuje — izračunava adresu trenutno.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709160" y="2148840"/>
            <a:ext cx="420624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4709160" y="2148840"/>
            <a:ext cx="64008" cy="1188720"/>
          </a:xfrm>
          <a:prstGeom prst="rect">
            <a:avLst/>
          </a:prstGeom>
          <a:solidFill>
            <a:schemeClr val="bg1">
              <a:lumMod val="50000"/>
            </a:scheme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4846320" y="2221992"/>
            <a:ext cx="4023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Slot Index (4 bajta)</a:t>
            </a: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4846320" y="2628900"/>
            <a:ext cx="4023360" cy="6355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Indeks u tabeli slotova na dnu Data Page.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Omogućava pomeranje zapisa bez ažuriranja indeksa.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228600" y="3474720"/>
            <a:ext cx="868680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228600" y="3474720"/>
            <a:ext cx="64008" cy="1188720"/>
          </a:xfrm>
          <a:prstGeom prst="rect">
            <a:avLst/>
          </a:prstGeom>
          <a:solidFill>
            <a:srgbClr val="1B2A4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365760" y="3547872"/>
            <a:ext cx="8503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Zašto je ovo važno?</a:t>
            </a: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365760" y="3977640"/>
            <a:ext cx="850392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Tabela slotova omogućava da se zapis fizički premesti unutar stranice (zbog MGA), a da svi indeksi koji na njega pokazuju ostanu validni — broj slota se ne menja. Bez ovog sistema, svaka promena dužine zapisa zahtevala bi hitno ažuriranje SVIH indeksa.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37160" cy="5143500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137160" y="0"/>
            <a:ext cx="9006840" cy="658368"/>
          </a:xfrm>
          <a:prstGeom prst="rect">
            <a:avLst/>
          </a:prstGeom>
          <a:solidFill>
            <a:srgbClr val="1B2A4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274320" y="64008"/>
            <a:ext cx="8595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MGA arhitektura — verzije zapisa i Index Bloat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274320" y="777240"/>
            <a:ext cx="1828800" cy="1005840"/>
          </a:xfrm>
          <a:prstGeom prst="rect">
            <a:avLst/>
          </a:prstGeom>
          <a:solidFill>
            <a:srgbClr val="1B2A4A"/>
          </a:solidFill>
          <a:ln>
            <a:solidFill>
              <a:schemeClr val="bg2"/>
            </a:solidFill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1828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INSERT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2121408" y="1097280"/>
            <a:ext cx="27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400" dirty="0">
              <a:solidFill>
                <a:srgbClr val="1B2A4A"/>
              </a:solidFill>
            </a:endParaRPr>
          </a:p>
        </p:txBody>
      </p:sp>
      <p:sp>
        <p:nvSpPr>
          <p:cNvPr id="8" name="Shape 6"/>
          <p:cNvSpPr/>
          <p:nvPr/>
        </p:nvSpPr>
        <p:spPr>
          <a:xfrm>
            <a:off x="2423160" y="777240"/>
            <a:ext cx="1828800" cy="1005840"/>
          </a:xfrm>
          <a:prstGeom prst="rect">
            <a:avLst/>
          </a:prstGeom>
          <a:solidFill>
            <a:schemeClr val="accent2">
              <a:lumMod val="50000"/>
            </a:schemeClr>
          </a:solidFill>
          <a:ln>
            <a:solidFill>
              <a:schemeClr val="bg2"/>
            </a:solidFill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2423160" y="868680"/>
            <a:ext cx="1828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v2 (nova)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4270248" y="1097280"/>
            <a:ext cx="27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400" dirty="0">
              <a:solidFill>
                <a:srgbClr val="1B2A4A"/>
              </a:solidFill>
            </a:endParaRPr>
          </a:p>
        </p:txBody>
      </p:sp>
      <p:sp>
        <p:nvSpPr>
          <p:cNvPr id="11" name="Shape 9"/>
          <p:cNvSpPr/>
          <p:nvPr/>
        </p:nvSpPr>
        <p:spPr>
          <a:xfrm>
            <a:off x="4572000" y="777240"/>
            <a:ext cx="1828800" cy="1005840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solidFill>
              <a:schemeClr val="bg2"/>
            </a:solidFill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4572000" y="868680"/>
            <a:ext cx="1828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v3 (nova)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6419088" y="1097280"/>
            <a:ext cx="27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400" dirty="0">
              <a:solidFill>
                <a:srgbClr val="1B2A4A"/>
              </a:solidFill>
            </a:endParaRPr>
          </a:p>
        </p:txBody>
      </p:sp>
      <p:sp>
        <p:nvSpPr>
          <p:cNvPr id="14" name="Shape 12"/>
          <p:cNvSpPr/>
          <p:nvPr/>
        </p:nvSpPr>
        <p:spPr>
          <a:xfrm>
            <a:off x="6720840" y="777240"/>
            <a:ext cx="1828800" cy="1005840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>
            <a:solidFill>
              <a:schemeClr val="bg2"/>
            </a:solidFill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6720840" y="868680"/>
            <a:ext cx="1828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GC čisti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stare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228600" y="1965960"/>
            <a:ext cx="416052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228600" y="1965960"/>
            <a:ext cx="64008" cy="1234440"/>
          </a:xfrm>
          <a:prstGeom prst="rect">
            <a:avLst/>
          </a:prstGeom>
          <a:solidFill>
            <a:schemeClr val="bg2">
              <a:lumMod val="75000"/>
            </a:scheme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365760" y="2039112"/>
            <a:ext cx="3977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Posledica: Index Bloat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365760" y="2377440"/>
            <a:ext cx="39776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Indeksne stranice pune se pokazivačima na stare verzije.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B+ stablo raste i postaje dublje — više I/O operacija.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572000" y="1965960"/>
            <a:ext cx="434340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4572000" y="1965960"/>
            <a:ext cx="64008" cy="1234440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4709160" y="2039112"/>
            <a:ext cx="4160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Rešenje: Rekreacija indeksa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4709160" y="2377440"/>
            <a:ext cx="41605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ALTER INDEX ... INACTIVE → ACTIVE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Gradi novo stablo od nule, odbacuje sve stare verzije.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228600" y="3337560"/>
            <a:ext cx="8686800" cy="144147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228600" y="3337560"/>
            <a:ext cx="64008" cy="1440000"/>
          </a:xfrm>
          <a:prstGeom prst="rect">
            <a:avLst/>
          </a:prstGeom>
          <a:solidFill>
            <a:srgbClr val="1B2A4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365760" y="3410712"/>
            <a:ext cx="8503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Garbage Collection (GC)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365760" y="3776472"/>
            <a:ext cx="850392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1450" indent="-171450">
              <a:buSzPct val="150000"/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Cooperative GC: SELECT upiti čiste stare verzije usput</a:t>
            </a:r>
            <a:endParaRPr lang="en-US" sz="1200" dirty="0"/>
          </a:p>
          <a:p>
            <a:pPr marL="171450" indent="-171450">
              <a:buSzPct val="150000"/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Background GC: posebna nit u </a:t>
            </a:r>
            <a:r>
              <a:rPr lang="en-US" sz="1200" dirty="0" err="1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SuperServer</a:t>
            </a: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modelu</a:t>
            </a:r>
            <a:endParaRPr lang="sr-Latn-RS" sz="1200" dirty="0"/>
          </a:p>
          <a:p>
            <a:pPr marL="171450" indent="-171450">
              <a:buSzPct val="150000"/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Sweeping: sistematsko skeniranje cele baze (gfix -sweep)</a:t>
            </a:r>
            <a:endParaRPr lang="en-US" sz="1200" dirty="0"/>
          </a:p>
          <a:p>
            <a:pPr marL="0" indent="0">
              <a:buNone/>
            </a:pPr>
            <a:endParaRPr lang="en-US" sz="1200" dirty="0"/>
          </a:p>
          <a:p>
            <a:pPr marL="0" indent="0">
              <a:buNone/>
            </a:pPr>
            <a:r>
              <a:rPr lang="en-US" sz="14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Oldest Active Transaction (OAT) blokira GC — sve verzije nastale posle OAT-a moraju ostati netaknute!</a:t>
            </a:r>
            <a:endParaRPr lang="en-US" sz="1400" b="1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37160" cy="5143500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137160" y="0"/>
            <a:ext cx="9006840" cy="658368"/>
          </a:xfrm>
          <a:prstGeom prst="rect">
            <a:avLst/>
          </a:prstGeom>
          <a:solidFill>
            <a:srgbClr val="1B2A4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274320" y="64008"/>
            <a:ext cx="8595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B+ stablo — struktura indeksa u Firebirdu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0" y="822960"/>
            <a:ext cx="1828800" cy="685800"/>
          </a:xfrm>
          <a:prstGeom prst="rect">
            <a:avLst/>
          </a:prstGeom>
          <a:solidFill>
            <a:srgbClr val="1B2A4A"/>
          </a:solidFill>
          <a:ln>
            <a:solidFill>
              <a:schemeClr val="bg2">
                <a:lumMod val="90000"/>
              </a:schemeClr>
            </a:solidFill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3749040" y="896112"/>
            <a:ext cx="145268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Koren (Root)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3749040" y="1207008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chemeClr val="bg1">
                    <a:lumMod val="9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čvor</a:t>
            </a:r>
            <a:endParaRPr lang="en-US" sz="1200" dirty="0">
              <a:solidFill>
                <a:schemeClr val="bg1">
                  <a:lumMod val="95000"/>
                </a:schemeClr>
              </a:solidFill>
            </a:endParaRPr>
          </a:p>
        </p:txBody>
      </p:sp>
      <p:sp>
        <p:nvSpPr>
          <p:cNvPr id="8" name="Shape 6"/>
          <p:cNvSpPr/>
          <p:nvPr/>
        </p:nvSpPr>
        <p:spPr>
          <a:xfrm>
            <a:off x="2057400" y="1737360"/>
            <a:ext cx="5029200" cy="685800"/>
          </a:xfrm>
          <a:prstGeom prst="rect">
            <a:avLst/>
          </a:prstGeom>
          <a:solidFill>
            <a:srgbClr val="243660"/>
          </a:solidFill>
          <a:ln>
            <a:solidFill>
              <a:schemeClr val="bg2">
                <a:lumMod val="90000"/>
              </a:schemeClr>
            </a:solidFill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2148840" y="1810512"/>
            <a:ext cx="27660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Grane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2148840" y="2121408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chemeClr val="bg1">
                    <a:lumMod val="9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navigacioni čvorovi</a:t>
            </a:r>
            <a:endParaRPr lang="en-US" sz="1200" dirty="0">
              <a:solidFill>
                <a:schemeClr val="bg1">
                  <a:lumMod val="95000"/>
                </a:schemeClr>
              </a:solidFill>
            </a:endParaRPr>
          </a:p>
        </p:txBody>
      </p:sp>
      <p:sp>
        <p:nvSpPr>
          <p:cNvPr id="11" name="Shape 9"/>
          <p:cNvSpPr/>
          <p:nvPr/>
        </p:nvSpPr>
        <p:spPr>
          <a:xfrm>
            <a:off x="457200" y="2651760"/>
            <a:ext cx="8229600" cy="685800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bg2">
                <a:lumMod val="90000"/>
              </a:schemeClr>
            </a:solidFill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548640" y="2724912"/>
            <a:ext cx="4526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Listovi (Leaf Pages)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548640" y="3035808"/>
            <a:ext cx="8046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 dirty="0" err="1">
                <a:solidFill>
                  <a:schemeClr val="bg1">
                    <a:lumMod val="9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dvostruko</a:t>
            </a:r>
            <a:r>
              <a:rPr lang="en-US" sz="1200" dirty="0">
                <a:solidFill>
                  <a:schemeClr val="bg1">
                    <a:lumMod val="9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chemeClr val="bg1">
                    <a:lumMod val="9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povezana</a:t>
            </a:r>
            <a:r>
              <a:rPr lang="en-US" sz="1200" dirty="0">
                <a:solidFill>
                  <a:schemeClr val="bg1">
                    <a:lumMod val="9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chemeClr val="bg1">
                    <a:lumMod val="9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lista</a:t>
            </a:r>
            <a:r>
              <a:rPr lang="sr-Latn-RS" sz="1200" dirty="0">
                <a:solidFill>
                  <a:schemeClr val="bg1">
                    <a:lumMod val="9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→ </a:t>
            </a:r>
            <a:r>
              <a:rPr lang="en-US" sz="1200" dirty="0" err="1">
                <a:solidFill>
                  <a:schemeClr val="bg1">
                    <a:lumMod val="9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ključ</a:t>
            </a:r>
            <a:r>
              <a:rPr lang="en-US" sz="1200" dirty="0">
                <a:solidFill>
                  <a:schemeClr val="bg1">
                    <a:lumMod val="9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+ RDB$DB_KEY </a:t>
            </a:r>
            <a:endParaRPr lang="en-US" sz="1200" dirty="0">
              <a:solidFill>
                <a:schemeClr val="bg1">
                  <a:lumMod val="95000"/>
                </a:schemeClr>
              </a:solidFill>
            </a:endParaRPr>
          </a:p>
        </p:txBody>
      </p:sp>
      <p:sp>
        <p:nvSpPr>
          <p:cNvPr id="14" name="Shape 12"/>
          <p:cNvSpPr/>
          <p:nvPr/>
        </p:nvSpPr>
        <p:spPr>
          <a:xfrm>
            <a:off x="228600" y="3520440"/>
            <a:ext cx="2743200" cy="1417320"/>
          </a:xfrm>
          <a:prstGeom prst="rect">
            <a:avLst/>
          </a:prstGeom>
          <a:solidFill>
            <a:srgbClr val="FFFFFF"/>
          </a:solidFill>
          <a:ln w="12700">
            <a:solidFill>
              <a:schemeClr val="bg2">
                <a:lumMod val="90000"/>
              </a:scheme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228600" y="3520440"/>
            <a:ext cx="64008" cy="1417320"/>
          </a:xfrm>
          <a:prstGeom prst="rect">
            <a:avLst/>
          </a:prstGeom>
          <a:solidFill>
            <a:schemeClr val="bg2">
              <a:lumMod val="75000"/>
            </a:scheme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365760" y="3593592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Split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365760" y="3959352"/>
            <a:ext cx="2560320" cy="9052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Kad je stranica puna → deli se na 2.</a:t>
            </a:r>
            <a:endParaRPr lang="en-US" sz="1200" dirty="0"/>
          </a:p>
          <a:p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Roditeljski čvor dobija novi pokazivač.</a:t>
            </a:r>
            <a:endParaRPr lang="en-US" sz="1200" dirty="0"/>
          </a:p>
          <a:p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Stablo raste vertikalno.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3154680" y="3520440"/>
            <a:ext cx="2834640" cy="1417320"/>
          </a:xfrm>
          <a:prstGeom prst="rect">
            <a:avLst/>
          </a:prstGeom>
          <a:solidFill>
            <a:srgbClr val="FFFFFF"/>
          </a:solidFill>
          <a:ln w="12700">
            <a:solidFill>
              <a:schemeClr val="bg2">
                <a:lumMod val="90000"/>
              </a:scheme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3154680" y="3520440"/>
            <a:ext cx="64008" cy="1417320"/>
          </a:xfrm>
          <a:prstGeom prst="rect">
            <a:avLst/>
          </a:prstGeom>
          <a:solidFill>
            <a:schemeClr val="bg1">
              <a:lumMod val="50000"/>
            </a:scheme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3291840" y="3593592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Fill Factor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3291840" y="3959352"/>
            <a:ext cx="2651760" cy="9052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Firebird puni stranicu 80–90%.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Ostavlja bafer za nove ključeve.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Spečava preuranjeni Page Split.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172200" y="3520440"/>
            <a:ext cx="2743200" cy="1417320"/>
          </a:xfrm>
          <a:prstGeom prst="rect">
            <a:avLst/>
          </a:prstGeom>
          <a:solidFill>
            <a:srgbClr val="FFFFFF"/>
          </a:solidFill>
          <a:ln w="12700">
            <a:solidFill>
              <a:schemeClr val="bg2">
                <a:lumMod val="90000"/>
              </a:schemeClr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6172200" y="3520440"/>
            <a:ext cx="64008" cy="1417320"/>
          </a:xfrm>
          <a:prstGeom prst="rect">
            <a:avLst/>
          </a:prstGeom>
          <a:solidFill>
            <a:srgbClr val="1B2A4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6309360" y="3593592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Dubina stabla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6309360" y="3959352"/>
            <a:ext cx="2560320" cy="9052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Konstantan broj I/O operacija do bilo kog zapisa.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Manja dubina = brži upiti.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gstat -i prikazuje Depth.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37160" cy="5143500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137160" y="0"/>
            <a:ext cx="9006840" cy="658368"/>
          </a:xfrm>
          <a:prstGeom prst="rect">
            <a:avLst/>
          </a:prstGeom>
          <a:solidFill>
            <a:srgbClr val="1B2A4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274320" y="64008"/>
            <a:ext cx="8595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Prefiksna kompresija, duplikati i NULL vrednosti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228600" y="777239"/>
            <a:ext cx="5303520" cy="2449039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228600" y="777240"/>
            <a:ext cx="5303520" cy="347472"/>
          </a:xfrm>
          <a:prstGeom prst="rect">
            <a:avLst/>
          </a:prstGeom>
          <a:solidFill>
            <a:srgbClr val="1B2A4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320040" y="795528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Prefiksna kompresija — primer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320040" y="1188719"/>
            <a:ext cx="1440000" cy="414000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320040" y="118872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Petrov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860715" y="123444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B2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Prefix=0, Suffix=6</a:t>
            </a:r>
            <a:endParaRPr lang="en-US" sz="1200" dirty="0">
              <a:solidFill>
                <a:srgbClr val="1B2A4A"/>
              </a:solidFill>
            </a:endParaRPr>
          </a:p>
        </p:txBody>
      </p:sp>
      <p:sp>
        <p:nvSpPr>
          <p:cNvPr id="11" name="Text 9"/>
          <p:cNvSpPr/>
          <p:nvPr/>
        </p:nvSpPr>
        <p:spPr>
          <a:xfrm>
            <a:off x="3749040" y="1234440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čuva: "Petrov"</a:t>
            </a:r>
            <a:endParaRPr lang="en-US" sz="1200" dirty="0">
              <a:solidFill>
                <a:srgbClr val="1B2A4A"/>
              </a:solidFill>
            </a:endParaRPr>
          </a:p>
        </p:txBody>
      </p:sp>
      <p:sp>
        <p:nvSpPr>
          <p:cNvPr id="12" name="Shape 10"/>
          <p:cNvSpPr/>
          <p:nvPr/>
        </p:nvSpPr>
        <p:spPr>
          <a:xfrm>
            <a:off x="320040" y="1691640"/>
            <a:ext cx="1440000" cy="414000"/>
          </a:xfrm>
          <a:prstGeom prst="rect">
            <a:avLst/>
          </a:prstGeom>
          <a:solidFill>
            <a:schemeClr val="bg1">
              <a:lumMod val="50000"/>
            </a:scheme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320040" y="169164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Petrović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1860715" y="173736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B2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Prefix=6, Suffix=2</a:t>
            </a:r>
            <a:endParaRPr lang="en-US" sz="1200" dirty="0">
              <a:solidFill>
                <a:srgbClr val="1B2A4A"/>
              </a:solidFill>
            </a:endParaRPr>
          </a:p>
        </p:txBody>
      </p:sp>
      <p:sp>
        <p:nvSpPr>
          <p:cNvPr id="15" name="Text 13"/>
          <p:cNvSpPr/>
          <p:nvPr/>
        </p:nvSpPr>
        <p:spPr>
          <a:xfrm>
            <a:off x="3749040" y="1737360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čuva: "ić"</a:t>
            </a:r>
            <a:endParaRPr lang="en-US" sz="1200" dirty="0">
              <a:solidFill>
                <a:srgbClr val="1B2A4A"/>
              </a:solidFill>
            </a:endParaRPr>
          </a:p>
        </p:txBody>
      </p:sp>
      <p:sp>
        <p:nvSpPr>
          <p:cNvPr id="16" name="Shape 14"/>
          <p:cNvSpPr/>
          <p:nvPr/>
        </p:nvSpPr>
        <p:spPr>
          <a:xfrm>
            <a:off x="320040" y="2194560"/>
            <a:ext cx="1440000" cy="414000"/>
          </a:xfrm>
          <a:prstGeom prst="rect">
            <a:avLst/>
          </a:prstGeom>
          <a:solidFill>
            <a:schemeClr val="tx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320040" y="219456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Petronijević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1860715" y="224028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B2A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Prefix=5, Suffix=7</a:t>
            </a:r>
            <a:endParaRPr lang="en-US" sz="1200" dirty="0">
              <a:solidFill>
                <a:srgbClr val="1B2A4A"/>
              </a:solidFill>
            </a:endParaRPr>
          </a:p>
        </p:txBody>
      </p:sp>
      <p:sp>
        <p:nvSpPr>
          <p:cNvPr id="19" name="Text 17"/>
          <p:cNvSpPr/>
          <p:nvPr/>
        </p:nvSpPr>
        <p:spPr>
          <a:xfrm>
            <a:off x="3749040" y="2240280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čuva: "nijević"</a:t>
            </a:r>
            <a:endParaRPr lang="en-US" sz="1200" dirty="0">
              <a:solidFill>
                <a:srgbClr val="1B2A4A"/>
              </a:solidFill>
            </a:endParaRPr>
          </a:p>
        </p:txBody>
      </p:sp>
      <p:sp>
        <p:nvSpPr>
          <p:cNvPr id="20" name="Text 18"/>
          <p:cNvSpPr/>
          <p:nvPr/>
        </p:nvSpPr>
        <p:spPr>
          <a:xfrm>
            <a:off x="320040" y="2872681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Ušteda prostora do 50%+ za </a:t>
            </a:r>
            <a:r>
              <a:rPr lang="en-US" sz="1400" b="1" dirty="0" err="1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kompozitne</a:t>
            </a: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400" b="1" dirty="0" err="1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indekse</a:t>
            </a:r>
            <a:r>
              <a:rPr lang="sr-Latn-R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400" b="1" dirty="0">
              <a:solidFill>
                <a:srgbClr val="1B2A4A"/>
              </a:solidFill>
            </a:endParaRPr>
          </a:p>
        </p:txBody>
      </p:sp>
      <p:sp>
        <p:nvSpPr>
          <p:cNvPr id="21" name="Shape 19"/>
          <p:cNvSpPr/>
          <p:nvPr/>
        </p:nvSpPr>
        <p:spPr>
          <a:xfrm>
            <a:off x="5715000" y="777240"/>
            <a:ext cx="320040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5715000" y="777240"/>
            <a:ext cx="64008" cy="1371600"/>
          </a:xfrm>
          <a:prstGeom prst="rect">
            <a:avLst/>
          </a:prstGeom>
          <a:solidFill>
            <a:srgbClr val="1B2A4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5852160" y="850392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Duplikati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5852160" y="1261872"/>
            <a:ext cx="3017520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ea typeface="Calibri" pitchFamily="34" charset="-122"/>
                <a:cs typeface="Calibri" pitchFamily="34" charset="-120"/>
              </a:rPr>
              <a:t>Non-unique indeksi grupišu iste ključeve.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ea typeface="Calibri" pitchFamily="34" charset="-122"/>
                <a:cs typeface="Calibri" pitchFamily="34" charset="-120"/>
              </a:rPr>
              <a:t>Lista RDB$DB_KEY vrednosti pod jednim unosom.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ea typeface="Calibri" pitchFamily="34" charset="-122"/>
                <a:cs typeface="Calibri" pitchFamily="34" charset="-120"/>
              </a:rPr>
              <a:t>Kompaktno — štedi prostor u Buffer Pool-u.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5715000" y="2286000"/>
            <a:ext cx="3200400" cy="1508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6" name="Shape 24"/>
          <p:cNvSpPr/>
          <p:nvPr/>
        </p:nvSpPr>
        <p:spPr>
          <a:xfrm>
            <a:off x="5715000" y="2286000"/>
            <a:ext cx="64008" cy="1508760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solidFill>
              <a:schemeClr val="bg2">
                <a:lumMod val="90000"/>
              </a:schemeClr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5852160" y="2359152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NULL vrednosti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5852160" y="2724912"/>
            <a:ext cx="301752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ea typeface="Calibri" pitchFamily="34" charset="-122"/>
                <a:cs typeface="Calibri" pitchFamily="34" charset="-120"/>
              </a:rPr>
              <a:t>NULL = najmanji ključ → na početku B+ stabla.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ea typeface="Calibri" pitchFamily="34" charset="-122"/>
                <a:cs typeface="Calibri" pitchFamily="34" charset="-120"/>
              </a:rPr>
              <a:t>IS NULL koristi indeks — nema Full Table Scan!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ea typeface="Calibri" pitchFamily="34" charset="-122"/>
                <a:cs typeface="Calibri" pitchFamily="34" charset="-120"/>
              </a:rPr>
              <a:t>Firebird tretira NULL kao ravnopravnu vrednost.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37160" cy="5143500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137160" y="0"/>
            <a:ext cx="9006840" cy="658368"/>
          </a:xfrm>
          <a:prstGeom prst="rect">
            <a:avLst/>
          </a:prstGeom>
          <a:solidFill>
            <a:srgbClr val="1B2A4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274320" y="64008"/>
            <a:ext cx="8595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Tipovi indeksa i njihova primena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228600" y="863505"/>
            <a:ext cx="425196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228600" y="863505"/>
            <a:ext cx="4251960" cy="384048"/>
          </a:xfrm>
          <a:prstGeom prst="rect">
            <a:avLst/>
          </a:prstGeom>
          <a:solidFill>
            <a:schemeClr val="accent2">
              <a:lumMod val="75000"/>
            </a:scheme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338328" y="918369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Primarni ključ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338328" y="1338993"/>
            <a:ext cx="40233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 kreiran pri PRIMARY KEY.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Najniža selektivnost (svaki red jedinstven).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Preporučiti uski tip — BIGINT.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709160" y="863505"/>
            <a:ext cx="425196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4709160" y="863505"/>
            <a:ext cx="4251960" cy="384048"/>
          </a:xfrm>
          <a:prstGeom prst="rect">
            <a:avLst/>
          </a:prstGeom>
          <a:solidFill>
            <a:srgbClr val="24366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4818888" y="918369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Unikatni indeks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4818888" y="1338993"/>
            <a:ext cx="40233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B+ stablo kao zaštitna barijera.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Provera jedinstvenosti pri svakom INSERT.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Greška pre upisa na disk.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28600" y="2783745"/>
            <a:ext cx="425196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228600" y="2783745"/>
            <a:ext cx="4251960" cy="384048"/>
          </a:xfrm>
          <a:prstGeom prst="rect">
            <a:avLst/>
          </a:prstGeom>
          <a:solidFill>
            <a:schemeClr val="tx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338328" y="2838609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Strani ključ (FK)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338328" y="3259233"/>
            <a:ext cx="40233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 kreiran na strani "deteta".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Validacija bez Full Scan roditeljske tabele.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Brisanje roditelja — instant provera.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709160" y="2783745"/>
            <a:ext cx="425196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4709160" y="2783745"/>
            <a:ext cx="4251960" cy="384048"/>
          </a:xfrm>
          <a:prstGeom prst="rect">
            <a:avLst/>
          </a:prstGeom>
          <a:solidFill>
            <a:schemeClr val="accent1">
              <a:lumMod val="75000"/>
            </a:scheme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4818888" y="2838609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Expression indeks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4818888" y="3259233"/>
            <a:ext cx="40233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Indeks nad UPPER(LAST_NAME) ili CASE.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Izraz se izračunava pri upisu, NE pri čitanju.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Isti ključevi za optimizer — nema Full Scan!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37160" cy="5143500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137160" y="0"/>
            <a:ext cx="9006840" cy="658368"/>
          </a:xfrm>
          <a:prstGeom prst="rect">
            <a:avLst/>
          </a:prstGeom>
          <a:solidFill>
            <a:srgbClr val="1B2A4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274320" y="64008"/>
            <a:ext cx="8595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Statistika indeksa i selektivnost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228600" y="777240"/>
            <a:ext cx="8686800" cy="914400"/>
          </a:xfrm>
          <a:prstGeom prst="rect">
            <a:avLst/>
          </a:prstGeom>
          <a:solidFill>
            <a:srgbClr val="1B2A4A"/>
          </a:solidFill>
          <a:ln/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320040" y="86868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Selektivnost  =  1 / broj unikatnih ključeva</a:t>
            </a:r>
            <a:endParaRPr lang="en-US" sz="2000" b="1" dirty="0">
              <a:solidFill>
                <a:schemeClr val="bg1"/>
              </a:solidFill>
            </a:endParaRPr>
          </a:p>
        </p:txBody>
      </p:sp>
      <p:sp>
        <p:nvSpPr>
          <p:cNvPr id="7" name="Shape 5"/>
          <p:cNvSpPr/>
          <p:nvPr/>
        </p:nvSpPr>
        <p:spPr>
          <a:xfrm>
            <a:off x="228600" y="1874520"/>
            <a:ext cx="274320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228600" y="1874520"/>
            <a:ext cx="64008" cy="1371600"/>
          </a:xfrm>
          <a:prstGeom prst="rect">
            <a:avLst/>
          </a:prstGeom>
          <a:solidFill>
            <a:schemeClr val="tx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365760" y="1947672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Blizu 0 — DOBAR indeks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365760" y="2313432"/>
            <a:ext cx="256032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Primarni ključ (EMP_NO).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Svaki red jedinstven.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Optimizator UVEK koristi.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200400" y="1874520"/>
            <a:ext cx="274320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3200400" y="1874520"/>
            <a:ext cx="64008" cy="1371600"/>
          </a:xfrm>
          <a:prstGeom prst="rect">
            <a:avLst/>
          </a:prstGeom>
          <a:solidFill>
            <a:schemeClr val="tx2">
              <a:lumMod val="60000"/>
              <a:lumOff val="40000"/>
            </a:scheme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3337560" y="1947672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Blizu 1 — LOŠ indeks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3337560" y="2313432"/>
            <a:ext cx="256032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 err="1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Optimizator</a:t>
            </a: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IGNORIŠE.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Scan je brži.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172200" y="1874520"/>
            <a:ext cx="274320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6172200" y="1874520"/>
            <a:ext cx="64008" cy="1371600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6309360" y="1947672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STATISTICS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6309360" y="2304288"/>
            <a:ext cx="2560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Rekalkulacija selektivnosti.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Neophodna posle masovnih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INSERT/DELETE operacija.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228600" y="3401568"/>
            <a:ext cx="8686800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228600" y="3401568"/>
            <a:ext cx="64008" cy="1280160"/>
          </a:xfrm>
          <a:prstGeom prst="rect">
            <a:avLst/>
          </a:prstGeom>
          <a:solidFill>
            <a:schemeClr val="accent2">
              <a:lumMod val="50000"/>
            </a:scheme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365760" y="3474720"/>
            <a:ext cx="8503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Zašto statistika zastareva?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365760" y="3840480"/>
            <a:ext cx="850392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Selektivnost se NE ažurira pri </a:t>
            </a:r>
            <a:r>
              <a:rPr lang="en-US" sz="1200" dirty="0" err="1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svakom</a:t>
            </a: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INSERT</a:t>
            </a:r>
            <a:r>
              <a:rPr lang="sr-Latn-R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/UPDATE/DELETE</a:t>
            </a: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to bi drastično usporilo upis. Tokom vremena, statistika u RDB$INDICES prestaje da odgovara stvarnoj distribuciji ključeva. Optimizator tada donosi loše odluke — bira Full Scan tamo gde bi INDEX Scan bio </a:t>
            </a:r>
            <a:r>
              <a:rPr lang="en-US" sz="1200" dirty="0" err="1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brži</a:t>
            </a: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sr-Latn-RS" sz="1200" dirty="0">
              <a:solidFill>
                <a:srgbClr val="475569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sr-Latn-RS" sz="1200" dirty="0">
              <a:solidFill>
                <a:srgbClr val="475569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>
              <a:buNone/>
            </a:pPr>
            <a:r>
              <a:rPr lang="en-US" sz="1200" b="1" dirty="0" err="1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Rešenje</a:t>
            </a:r>
            <a:r>
              <a:rPr lang="en-US" sz="12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redovno pokretati SET STATISTICS INDEX.</a:t>
            </a:r>
            <a:endParaRPr lang="en-US" sz="1200" b="1" dirty="0">
              <a:solidFill>
                <a:schemeClr val="tx2"/>
              </a:solidFill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37160" cy="5143500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137160" y="0"/>
            <a:ext cx="9006840" cy="658368"/>
          </a:xfrm>
          <a:prstGeom prst="rect">
            <a:avLst/>
          </a:prstGeom>
          <a:solidFill>
            <a:srgbClr val="1B2A4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274320" y="64008"/>
            <a:ext cx="8595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Execution Plans — NATURAL vs INDEX Scan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228600" y="804672"/>
            <a:ext cx="8686800" cy="1115568"/>
          </a:xfrm>
          <a:prstGeom prst="rect">
            <a:avLst/>
          </a:prstGeom>
          <a:solidFill>
            <a:srgbClr val="FFFFFF"/>
          </a:solidFill>
          <a:ln w="12700">
            <a:solidFill>
              <a:schemeClr val="bg1">
                <a:lumMod val="85000"/>
              </a:schemeClr>
            </a:solidFill>
            <a:prstDash val="solid"/>
          </a:ln>
          <a:effectLst>
            <a:glow rad="101600">
              <a:schemeClr val="bg1">
                <a:lumMod val="85000"/>
                <a:alpha val="60000"/>
              </a:schemeClr>
            </a:glow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228600" y="804672"/>
            <a:ext cx="1371600" cy="1115568"/>
          </a:xfrm>
          <a:prstGeom prst="rect">
            <a:avLst/>
          </a:prstGeom>
          <a:solidFill>
            <a:schemeClr val="bg1">
              <a:lumMod val="50000"/>
            </a:scheme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246888" y="1124712"/>
            <a:ext cx="133502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Index Seek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1691640" y="914400"/>
            <a:ext cx="4433115" cy="384048"/>
          </a:xfrm>
          <a:prstGeom prst="rect">
            <a:avLst/>
          </a:prstGeom>
          <a:solidFill>
            <a:schemeClr val="tx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1783080" y="932688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PLAN (EMPLOYEE INDEX (RDB$PRIMARY7))</a:t>
            </a:r>
            <a:endParaRPr lang="en-US" sz="1000" b="1" dirty="0">
              <a:solidFill>
                <a:schemeClr val="bg1"/>
              </a:solidFill>
            </a:endParaRPr>
          </a:p>
        </p:txBody>
      </p:sp>
      <p:sp>
        <p:nvSpPr>
          <p:cNvPr id="10" name="Text 8"/>
          <p:cNvSpPr/>
          <p:nvPr/>
        </p:nvSpPr>
        <p:spPr>
          <a:xfrm>
            <a:off x="6216195" y="914400"/>
            <a:ext cx="260776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ea typeface="Calibri" pitchFamily="34" charset="-122"/>
                <a:cs typeface="Calibri" pitchFamily="34" charset="-120"/>
              </a:rPr>
              <a:t>Direktan pristup po primarnom ključu.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ea typeface="Calibri" pitchFamily="34" charset="-122"/>
                <a:cs typeface="Calibri" pitchFamily="34" charset="-120"/>
              </a:rPr>
              <a:t>Logaritamska brzina O(log n).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228600" y="2084832"/>
            <a:ext cx="8686800" cy="1115568"/>
          </a:xfrm>
          <a:prstGeom prst="rect">
            <a:avLst/>
          </a:prstGeom>
          <a:solidFill>
            <a:srgbClr val="FFFFFF"/>
          </a:solidFill>
          <a:ln w="12700">
            <a:solidFill>
              <a:schemeClr val="bg1">
                <a:lumMod val="85000"/>
              </a:schemeClr>
            </a:solidFill>
            <a:prstDash val="solid"/>
          </a:ln>
          <a:effectLst>
            <a:glow rad="101600">
              <a:schemeClr val="bg1">
                <a:lumMod val="85000"/>
                <a:alpha val="60000"/>
              </a:schemeClr>
            </a:glow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228600" y="2084832"/>
            <a:ext cx="1371600" cy="1115568"/>
          </a:xfrm>
          <a:prstGeom prst="rect">
            <a:avLst/>
          </a:prstGeom>
          <a:solidFill>
            <a:schemeClr val="tx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246888" y="2404872"/>
            <a:ext cx="133502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Index Scan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1691640" y="2194560"/>
            <a:ext cx="4433115" cy="384048"/>
          </a:xfrm>
          <a:prstGeom prst="rect">
            <a:avLst/>
          </a:prstGeom>
          <a:solidFill>
            <a:schemeClr val="tx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1783080" y="2212848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PLAN (SALES INDEX (IDX_SALES_ORDER_DESC))</a:t>
            </a:r>
            <a:endParaRPr lang="en-US" sz="1000" b="1" dirty="0">
              <a:solidFill>
                <a:schemeClr val="bg1"/>
              </a:solidFill>
            </a:endParaRPr>
          </a:p>
        </p:txBody>
      </p:sp>
      <p:sp>
        <p:nvSpPr>
          <p:cNvPr id="16" name="Text 14"/>
          <p:cNvSpPr/>
          <p:nvPr/>
        </p:nvSpPr>
        <p:spPr>
          <a:xfrm>
            <a:off x="6216195" y="2194560"/>
            <a:ext cx="260776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ea typeface="Calibri" pitchFamily="34" charset="-122"/>
                <a:cs typeface="Calibri" pitchFamily="34" charset="-120"/>
              </a:rPr>
              <a:t>Opseg vrednosti — Range Scan.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ea typeface="Calibri" pitchFamily="34" charset="-122"/>
                <a:cs typeface="Calibri" pitchFamily="34" charset="-120"/>
              </a:rPr>
              <a:t>Horizontalno čitanje listova B+ stabla.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28600" y="3364992"/>
            <a:ext cx="8686800" cy="1115568"/>
          </a:xfrm>
          <a:prstGeom prst="rect">
            <a:avLst/>
          </a:prstGeom>
          <a:solidFill>
            <a:srgbClr val="FFFFFF"/>
          </a:solidFill>
          <a:ln w="12700">
            <a:solidFill>
              <a:schemeClr val="bg1">
                <a:lumMod val="85000"/>
              </a:schemeClr>
            </a:solidFill>
            <a:prstDash val="solid"/>
          </a:ln>
          <a:effectLst>
            <a:glow rad="101600">
              <a:schemeClr val="bg1">
                <a:lumMod val="85000"/>
                <a:alpha val="60000"/>
              </a:schemeClr>
            </a:glow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228600" y="3364992"/>
            <a:ext cx="1371600" cy="1115568"/>
          </a:xfrm>
          <a:prstGeom prst="rect">
            <a:avLst/>
          </a:prstGeom>
          <a:solidFill>
            <a:srgbClr val="1B2A4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246888" y="3685032"/>
            <a:ext cx="133502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NATURAL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1691640" y="3474720"/>
            <a:ext cx="4433115" cy="384048"/>
          </a:xfrm>
          <a:prstGeom prst="rect">
            <a:avLst/>
          </a:prstGeom>
          <a:solidFill>
            <a:schemeClr val="tx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1783080" y="3493008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PLAN (EMPLOYEE NATURAL)</a:t>
            </a:r>
            <a:endParaRPr lang="en-US" sz="1000" b="1" dirty="0">
              <a:solidFill>
                <a:schemeClr val="bg1"/>
              </a:solidFill>
            </a:endParaRPr>
          </a:p>
        </p:txBody>
      </p:sp>
      <p:sp>
        <p:nvSpPr>
          <p:cNvPr id="22" name="Text 20"/>
          <p:cNvSpPr/>
          <p:nvPr/>
        </p:nvSpPr>
        <p:spPr>
          <a:xfrm>
            <a:off x="6216195" y="3474720"/>
            <a:ext cx="260776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ea typeface="Calibri" pitchFamily="34" charset="-122"/>
                <a:cs typeface="Calibri" pitchFamily="34" charset="-120"/>
              </a:rPr>
              <a:t>Nema indeksa ili loša selektivnost.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475569"/>
                </a:solidFill>
                <a:ea typeface="Calibri" pitchFamily="34" charset="-122"/>
                <a:cs typeface="Calibri" pitchFamily="34" charset="-120"/>
              </a:rPr>
              <a:t>Linearno čitanje svake stranice — SPORO!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228600" y="4663440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PLAN ON  u ISQL-u prikazuje plan za svaki upit — osnovno dijagnostičko oruđe!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201168" y="0"/>
            <a:ext cx="8942832" cy="54864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411480" y="356266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Ključni zaključci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042066"/>
            <a:ext cx="8412480" cy="621792"/>
          </a:xfrm>
          <a:prstGeom prst="rect">
            <a:avLst/>
          </a:prstGeom>
          <a:solidFill>
            <a:srgbClr val="434E65"/>
          </a:solidFill>
          <a:ln w="12700">
            <a:solidFill>
              <a:schemeClr val="bg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365760" y="1042066"/>
            <a:ext cx="73152" cy="621792"/>
          </a:xfrm>
          <a:prstGeom prst="rect">
            <a:avLst/>
          </a:prstGeom>
          <a:solidFill>
            <a:schemeClr val="bg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530352" y="1133506"/>
            <a:ext cx="1920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bg1">
                    <a:lumMod val="8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B+ stablo:</a:t>
            </a:r>
            <a:endParaRPr lang="en-US" sz="1400" dirty="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8" name="Text 6"/>
          <p:cNvSpPr/>
          <p:nvPr/>
        </p:nvSpPr>
        <p:spPr>
          <a:xfrm>
            <a:off x="2468880" y="1133506"/>
            <a:ext cx="6217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Logaritamska pretraga — dubina stabla direktno određuje broj I/O operacija.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65760" y="1791874"/>
            <a:ext cx="8412480" cy="621792"/>
          </a:xfrm>
          <a:prstGeom prst="rect">
            <a:avLst/>
          </a:prstGeom>
          <a:solidFill>
            <a:srgbClr val="434E65"/>
          </a:solidFill>
          <a:ln w="12700">
            <a:solidFill>
              <a:schemeClr val="bg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365760" y="1791874"/>
            <a:ext cx="73152" cy="621792"/>
          </a:xfrm>
          <a:prstGeom prst="rect">
            <a:avLst/>
          </a:prstGeom>
          <a:solidFill>
            <a:schemeClr val="bg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530352" y="1883314"/>
            <a:ext cx="1920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bg1">
                    <a:lumMod val="8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MGA = Index Bloat:</a:t>
            </a:r>
            <a:endParaRPr lang="en-US" sz="1400" dirty="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2" name="Text 10"/>
          <p:cNvSpPr/>
          <p:nvPr/>
        </p:nvSpPr>
        <p:spPr>
          <a:xfrm>
            <a:off x="2468880" y="1883314"/>
            <a:ext cx="6217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Svaki UPDATE kreira novu verziju — indeksi se "naduvavaju" tokom vremena.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65760" y="2541682"/>
            <a:ext cx="8412480" cy="621792"/>
          </a:xfrm>
          <a:prstGeom prst="rect">
            <a:avLst/>
          </a:prstGeom>
          <a:solidFill>
            <a:srgbClr val="434E65"/>
          </a:solidFill>
          <a:ln w="12700">
            <a:solidFill>
              <a:schemeClr val="bg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365760" y="2541682"/>
            <a:ext cx="73152" cy="621792"/>
          </a:xfrm>
          <a:prstGeom prst="rect">
            <a:avLst/>
          </a:prstGeom>
          <a:solidFill>
            <a:schemeClr val="bg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530352" y="2633122"/>
            <a:ext cx="1920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bg1">
                    <a:lumMod val="8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Garbage Collection:</a:t>
            </a:r>
            <a:endParaRPr lang="en-US" sz="1400" dirty="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16" name="Text 14"/>
          <p:cNvSpPr/>
          <p:nvPr/>
        </p:nvSpPr>
        <p:spPr>
          <a:xfrm>
            <a:off x="2468880" y="2633122"/>
            <a:ext cx="6217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OAT blokira GC — dugačke transakcije su najveći neprijatelj performansi.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365760" y="3291490"/>
            <a:ext cx="8412480" cy="621792"/>
          </a:xfrm>
          <a:prstGeom prst="rect">
            <a:avLst/>
          </a:prstGeom>
          <a:solidFill>
            <a:srgbClr val="434E65"/>
          </a:solidFill>
          <a:ln w="12700">
            <a:solidFill>
              <a:schemeClr val="bg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365760" y="3291490"/>
            <a:ext cx="73152" cy="621792"/>
          </a:xfrm>
          <a:prstGeom prst="rect">
            <a:avLst/>
          </a:prstGeom>
          <a:solidFill>
            <a:schemeClr val="bg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530352" y="3382930"/>
            <a:ext cx="1920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bg1">
                    <a:lumMod val="8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Selektivnost:</a:t>
            </a:r>
            <a:endParaRPr lang="en-US" sz="1400" dirty="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20" name="Text 18"/>
          <p:cNvSpPr/>
          <p:nvPr/>
        </p:nvSpPr>
        <p:spPr>
          <a:xfrm>
            <a:off x="2468880" y="3382930"/>
            <a:ext cx="6217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Statiku treba osvežavati — zastarela statistika vodi do pogrešnih planova.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365760" y="4041298"/>
            <a:ext cx="8412480" cy="621792"/>
          </a:xfrm>
          <a:prstGeom prst="rect">
            <a:avLst/>
          </a:prstGeom>
          <a:solidFill>
            <a:srgbClr val="434E65"/>
          </a:solidFill>
          <a:ln w="12700">
            <a:solidFill>
              <a:schemeClr val="bg1"/>
            </a:solidFill>
            <a:prstDash val="solid"/>
          </a:ln>
        </p:spPr>
        <p:txBody>
          <a:bodyPr/>
          <a:lstStyle/>
          <a:p>
            <a:endParaRPr lang="en-US" sz="1200"/>
          </a:p>
        </p:txBody>
      </p:sp>
      <p:sp>
        <p:nvSpPr>
          <p:cNvPr id="22" name="Shape 20"/>
          <p:cNvSpPr/>
          <p:nvPr/>
        </p:nvSpPr>
        <p:spPr>
          <a:xfrm>
            <a:off x="365760" y="4041298"/>
            <a:ext cx="73152" cy="621792"/>
          </a:xfrm>
          <a:prstGeom prst="rect">
            <a:avLst/>
          </a:prstGeom>
          <a:solidFill>
            <a:schemeClr val="bg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530352" y="4132738"/>
            <a:ext cx="1920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bg1">
                    <a:lumMod val="8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Expression indeksi:</a:t>
            </a:r>
            <a:endParaRPr lang="en-US" sz="1400" dirty="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24" name="Text 22"/>
          <p:cNvSpPr/>
          <p:nvPr/>
        </p:nvSpPr>
        <p:spPr>
          <a:xfrm>
            <a:off x="2468880" y="4132738"/>
            <a:ext cx="6217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Izraz se izračunava pri upisu, ne pri čitanju — drastično ubrzava upite.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243660"/>
          </a:solidFill>
          <a:ln/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Blue II">
      <a:dk1>
        <a:sysClr val="windowText" lastClr="000000"/>
      </a:dk1>
      <a:lt1>
        <a:sysClr val="window" lastClr="FFFFFF"/>
      </a:lt1>
      <a:dk2>
        <a:srgbClr val="335B74"/>
      </a:dk2>
      <a:lt2>
        <a:srgbClr val="DFE3E5"/>
      </a:lt2>
      <a:accent1>
        <a:srgbClr val="1CADE4"/>
      </a:accent1>
      <a:accent2>
        <a:srgbClr val="2683C6"/>
      </a:accent2>
      <a:accent3>
        <a:srgbClr val="27CED7"/>
      </a:accent3>
      <a:accent4>
        <a:srgbClr val="42BA97"/>
      </a:accent4>
      <a:accent5>
        <a:srgbClr val="3E8853"/>
      </a:accent5>
      <a:accent6>
        <a:srgbClr val="62A39F"/>
      </a:accent6>
      <a:hlink>
        <a:srgbClr val="6EAC1C"/>
      </a:hlink>
      <a:folHlink>
        <a:srgbClr val="B26B0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72</TotalTime>
  <Words>1171</Words>
  <Application>Microsoft Office PowerPoint</Application>
  <PresentationFormat>On-screen Show (16:9)</PresentationFormat>
  <Paragraphs>200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6" baseType="lpstr">
      <vt:lpstr>Arial</vt:lpstr>
      <vt:lpstr>Calibri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Interna struktura indeksa u Firebird bazi podataka</dc:title>
  <dc:subject>PptxGenJS Presentation</dc:subject>
  <dc:creator>PptxGenJS</dc:creator>
  <cp:lastModifiedBy>Jefimija Stamenovic</cp:lastModifiedBy>
  <cp:revision>20</cp:revision>
  <dcterms:created xsi:type="dcterms:W3CDTF">2026-03-11T06:23:49Z</dcterms:created>
  <dcterms:modified xsi:type="dcterms:W3CDTF">2026-03-11T16:16:07Z</dcterms:modified>
</cp:coreProperties>
</file>