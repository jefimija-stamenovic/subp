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4E65"/>
    <a:srgbClr val="A6A6A6"/>
    <a:srgbClr val="1B2A4A"/>
    <a:srgbClr val="FFFFFF"/>
    <a:srgbClr val="A0C1D5"/>
    <a:srgbClr val="312F2C"/>
    <a:srgbClr val="ABD1C6"/>
    <a:srgbClr val="0D94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7497" autoAdjust="0"/>
  </p:normalViewPr>
  <p:slideViewPr>
    <p:cSldViewPr snapToGrid="0" snapToObjects="1">
      <p:cViewPr>
        <p:scale>
          <a:sx n="63" d="100"/>
          <a:sy n="63" d="100"/>
        </p:scale>
        <p:origin x="1954"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9402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Dobar</a:t>
            </a:r>
            <a:r>
              <a:rPr lang="en-US" dirty="0"/>
              <a:t> dan </a:t>
            </a:r>
            <a:r>
              <a:rPr lang="en-US" dirty="0" err="1"/>
              <a:t>svima</a:t>
            </a:r>
            <a:r>
              <a:rPr lang="en-US" dirty="0"/>
              <a:t>, ja </a:t>
            </a:r>
            <a:r>
              <a:rPr lang="en-US" dirty="0" err="1"/>
              <a:t>sam</a:t>
            </a:r>
            <a:r>
              <a:rPr lang="en-US" dirty="0"/>
              <a:t> Jefimija </a:t>
            </a:r>
            <a:r>
              <a:rPr lang="en-US" dirty="0" err="1"/>
              <a:t>Stamenovi</a:t>
            </a:r>
            <a:r>
              <a:rPr lang="sr-Latn-RS" dirty="0"/>
              <a:t>ć i danas ću vam predstaviti internu strukturu i organizaciju indeksa u Firebird bazi podataka.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U toku svog izlaganja pričaću o kontekstu i motivaciji, odnosno zašto su indeksi bitan faktor za skalabinost sistema. Dalje, kratko ću vam ispričati o fizičkoj organizaciji indeksa. Polse toga će biti reči o MGA i verzionisanju zapisa, B+ stablima, kompresiji i optimizaciji, kao i o tipovima indeksa i statistici. Na samom kraju, prodiskutovaćemo o execution planovima kroz praktične primere.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U današnjem radu sa bazama podataka, brzina pronalaženja informacija je postao osnovni parametar skalabilnosti sistema usled rasta količine uskladištenih podataka. Sekvencijalni pristup je prosto neprihvatljiv kada pričamo o tabelama sa desetinama hiljada podataka jer je složenost linearna. </a:t>
            </a:r>
            <a:r>
              <a:rPr lang="en-US" dirty="0" err="1"/>
              <a:t>Iz</a:t>
            </a:r>
            <a:r>
              <a:rPr lang="en-US" dirty="0"/>
              <a:t> tog </a:t>
            </a:r>
            <a:r>
              <a:rPr lang="en-US" dirty="0" err="1"/>
              <a:t>razloga</a:t>
            </a:r>
            <a:r>
              <a:rPr lang="en-US" dirty="0"/>
              <a:t> </a:t>
            </a:r>
            <a:r>
              <a:rPr lang="en-US" dirty="0" err="1"/>
              <a:t>su</a:t>
            </a:r>
            <a:r>
              <a:rPr lang="en-US" dirty="0"/>
              <a:t> </a:t>
            </a:r>
            <a:r>
              <a:rPr lang="en-US" dirty="0" err="1"/>
              <a:t>bitni</a:t>
            </a:r>
            <a:r>
              <a:rPr lang="en-US" dirty="0"/>
              <a:t> </a:t>
            </a:r>
            <a:r>
              <a:rPr lang="en-US" dirty="0" err="1"/>
              <a:t>indeksi</a:t>
            </a:r>
            <a:r>
              <a:rPr lang="en-US" dirty="0"/>
              <a:t> koji </a:t>
            </a:r>
            <a:r>
              <a:rPr lang="en-US" dirty="0" err="1"/>
              <a:t>predstavljaju</a:t>
            </a:r>
            <a:r>
              <a:rPr lang="en-US" dirty="0"/>
              <a:t> </a:t>
            </a:r>
            <a:r>
              <a:rPr lang="en-US" dirty="0" err="1"/>
              <a:t>pomo</a:t>
            </a:r>
            <a:r>
              <a:rPr lang="sr-Latn-RS" dirty="0"/>
              <a:t>ćne strukture organizovane tako da se brže dođe do podataka. Kod njih je složenost logaritamska Međutim, indeksi nisu besplatan resurs – oni koštaju u vidu prostora, I/O operacija pri izmeni podataka (dodavanje, brisanje i izmeni). Zato je bitno napraviti dobar trade-off, tj. izbalansirati između brzine čitanja i cene upisa. Konkretno, u Firebirdu su indeksi implementirani uz pomoć MGA i B+ stabala. </a:t>
            </a:r>
          </a:p>
          <a:p>
            <a:r>
              <a:rPr lang="sr-Latn-RS" dirty="0"/>
              <a:t>MGA tj. Multi Generational Architecture je zadužen za verzionisanje – svaka izmena je nova verzija umesto da se radi direktno prepisivanje. Indeksi moraju da prate ove verzije što dovodi do pojave Index Bloat, pa je razumevanje fizičke strukture indeksa preduslov za optimizaciju.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Fizički integritet i logika smeštanja podataka u Firebird-u su definisani kroz koncept On-Dist Structure. ODS je binarni protokol koji definiše organizaciju bajtova na medijumu, gde su smešteni metapodaci, a gde pravi podaci i njihovi pripadajući indeksi. Za indeksiranje je ključno da stranice imaju fiksno mesto, svoj identifikacioni broj i da su fiksne veličine. Postoji više različitih vrsta stranica, ali su nama u ovom trenutku najbitnije ove četiri na slajdu. Svaka od njih ima kod na osnovu kog sistem zna kako da razlikuje metapodatke od stvarnog sadržaja. Header Page je prva stranica koja čuva ifnromacije o ODS verziji, veličini stranice i ID poslednje transakcije. U Date page se čuvaju stvarni podaci. U Index Root Page se čuva lista svih indeksa za određenu tabelu. I na kraju imamo Index B-tree Page gde se čuvaju indeksi u sortiranom redosledu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Da bismo razumeli šta je RDB$</a:t>
            </a:r>
            <a:r>
              <a:rPr lang="en-US" dirty="0"/>
              <a:t>KEY</a:t>
            </a:r>
            <a:r>
              <a:rPr lang="sr-Latn-RS" dirty="0"/>
              <a:t>, prvo ću vam objasniti strukturu stranice. Na početku stranice se nalaz</a:t>
            </a:r>
            <a:r>
              <a:rPr lang="en-US" dirty="0"/>
              <a:t>e </a:t>
            </a:r>
            <a:r>
              <a:rPr lang="en-US" dirty="0" err="1"/>
              <a:t>podaci</a:t>
            </a:r>
            <a:r>
              <a:rPr lang="en-US" dirty="0"/>
              <a:t>, </a:t>
            </a:r>
            <a:r>
              <a:rPr lang="en-US" dirty="0" err="1"/>
              <a:t>dok</a:t>
            </a:r>
            <a:r>
              <a:rPr lang="en-US" dirty="0"/>
              <a:t> se </a:t>
            </a:r>
            <a:r>
              <a:rPr lang="en-US" dirty="0" err="1"/>
              <a:t>na</a:t>
            </a:r>
            <a:r>
              <a:rPr lang="en-US" dirty="0"/>
              <a:t> </a:t>
            </a:r>
            <a:r>
              <a:rPr lang="en-US" dirty="0" err="1"/>
              <a:t>kraju</a:t>
            </a:r>
            <a:r>
              <a:rPr lang="en-US" dirty="0"/>
              <a:t> </a:t>
            </a:r>
            <a:r>
              <a:rPr lang="sr-Latn-RS" dirty="0"/>
              <a:t>pakuje tabela slotova koja se popunjava otpozadi.  Slot se sastoji od offset-a tj. pomeraja od početka stranice do mesta gde se zapis nalazi i ukupne dužine tog zapisa u bajtovima. RDB$KEY je zapravo veza između logičkih upita i fizičke lokacije na disku. To je osmobajtna vrednost gde 4 bajta predstavljaju broj stranice, a drugih 4 predstavlja broj slota podatka. Upravo se oni  čuvaju u listovima stabala indeksa što značajno utiče na ubrzanje izvršavanja upita</a:t>
            </a:r>
            <a:r>
              <a:rPr lang="en-US" dirty="0"/>
              <a:t> </a:t>
            </a:r>
            <a:r>
              <a:rPr lang="en-US" dirty="0" err="1"/>
              <a:t>i</a:t>
            </a:r>
            <a:r>
              <a:rPr lang="en-US" dirty="0"/>
              <a:t> </a:t>
            </a:r>
            <a:r>
              <a:rPr lang="en-US" dirty="0" err="1"/>
              <a:t>njegova</a:t>
            </a:r>
            <a:r>
              <a:rPr lang="en-US" dirty="0"/>
              <a:t> </a:t>
            </a:r>
            <a:r>
              <a:rPr lang="en-US" dirty="0" err="1"/>
              <a:t>uloga</a:t>
            </a:r>
            <a:r>
              <a:rPr lang="en-US" dirty="0"/>
              <a:t> je </a:t>
            </a:r>
            <a:r>
              <a:rPr lang="en-US" dirty="0" err="1"/>
              <a:t>isklju</a:t>
            </a:r>
            <a:r>
              <a:rPr lang="sr-Latn-RS" dirty="0"/>
              <a:t>čivo navigaciona. Ono što je bitno napomenuti je da tabela slotova omogućava da se zapis fizički premesti unutar stranice, a da svi indeksi i dalje ostanu validni iz razloga što se ne menja broj slota već samo offset unutar slota. U suprotnom, ovo bi zahtevali da se svi indeksi ažuriraju odmah.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Firebird </a:t>
            </a:r>
            <a:r>
              <a:rPr lang="en-US" sz="1000" dirty="0" err="1"/>
              <a:t>koristi</a:t>
            </a:r>
            <a:r>
              <a:rPr lang="en-US" sz="1000" dirty="0"/>
              <a:t> MGA </a:t>
            </a:r>
            <a:r>
              <a:rPr lang="en-US" sz="1000" dirty="0" err="1"/>
              <a:t>arhitekturu</a:t>
            </a:r>
            <a:r>
              <a:rPr lang="sr-Latn-RS" sz="1000" dirty="0"/>
              <a:t> koji predstavlja specifičnu primenu MVCC kontrole</a:t>
            </a:r>
            <a:r>
              <a:rPr lang="en-US" sz="1000" dirty="0"/>
              <a:t> u </a:t>
            </a:r>
            <a:r>
              <a:rPr lang="en-US" sz="1000" dirty="0" err="1"/>
              <a:t>kojoj</a:t>
            </a:r>
            <a:r>
              <a:rPr lang="en-US" sz="1000" dirty="0"/>
              <a:t> </a:t>
            </a:r>
            <a:r>
              <a:rPr lang="en-US" sz="1000" dirty="0" err="1"/>
              <a:t>svaki</a:t>
            </a:r>
            <a:r>
              <a:rPr lang="en-US" sz="1000" dirty="0"/>
              <a:t> UPDATE ne </a:t>
            </a:r>
            <a:r>
              <a:rPr lang="en-US" sz="1000" dirty="0" err="1"/>
              <a:t>menja</a:t>
            </a:r>
            <a:r>
              <a:rPr lang="en-US" sz="1000" dirty="0"/>
              <a:t> </a:t>
            </a:r>
            <a:r>
              <a:rPr lang="en-US" sz="1000" dirty="0" err="1"/>
              <a:t>originalni</a:t>
            </a:r>
            <a:r>
              <a:rPr lang="en-US" sz="1000" dirty="0"/>
              <a:t> </a:t>
            </a:r>
            <a:r>
              <a:rPr lang="en-US" sz="1000" dirty="0" err="1"/>
              <a:t>podatak</a:t>
            </a:r>
            <a:r>
              <a:rPr lang="en-US" sz="1000" dirty="0"/>
              <a:t>, </a:t>
            </a:r>
            <a:r>
              <a:rPr lang="en-US" sz="1000" dirty="0" err="1"/>
              <a:t>već</a:t>
            </a:r>
            <a:r>
              <a:rPr lang="en-US" sz="1000" dirty="0"/>
              <a:t> </a:t>
            </a:r>
            <a:r>
              <a:rPr lang="en-US" sz="1000" dirty="0" err="1"/>
              <a:t>kreira</a:t>
            </a:r>
            <a:r>
              <a:rPr lang="en-US" sz="1000" dirty="0"/>
              <a:t> </a:t>
            </a:r>
            <a:r>
              <a:rPr lang="en-US" sz="1000" dirty="0" err="1"/>
              <a:t>novu</a:t>
            </a:r>
            <a:r>
              <a:rPr lang="en-US" sz="1000" dirty="0"/>
              <a:t> </a:t>
            </a:r>
            <a:r>
              <a:rPr lang="en-US" sz="1000" dirty="0" err="1"/>
              <a:t>verziju</a:t>
            </a:r>
            <a:r>
              <a:rPr lang="en-US" sz="1000" dirty="0"/>
              <a:t> </a:t>
            </a:r>
            <a:r>
              <a:rPr lang="en-US" sz="1000" dirty="0" err="1"/>
              <a:t>zapisa</a:t>
            </a:r>
            <a:r>
              <a:rPr lang="en-US" sz="1000" dirty="0"/>
              <a:t>, </a:t>
            </a:r>
            <a:r>
              <a:rPr lang="en-US" sz="1000" dirty="0" err="1"/>
              <a:t>dok</a:t>
            </a:r>
            <a:r>
              <a:rPr lang="en-US" sz="1000" dirty="0"/>
              <a:t> </a:t>
            </a:r>
            <a:r>
              <a:rPr lang="en-US" sz="1000" dirty="0" err="1"/>
              <a:t>stara</a:t>
            </a:r>
            <a:r>
              <a:rPr lang="en-US" sz="1000" dirty="0"/>
              <a:t> </a:t>
            </a:r>
            <a:r>
              <a:rPr lang="en-US" sz="1000" dirty="0" err="1"/>
              <a:t>ostaje</a:t>
            </a:r>
            <a:r>
              <a:rPr lang="en-US" sz="1000" dirty="0"/>
              <a:t> </a:t>
            </a:r>
            <a:r>
              <a:rPr lang="en-US" sz="1000" dirty="0" err="1"/>
              <a:t>sačuvana</a:t>
            </a:r>
            <a:r>
              <a:rPr lang="en-US" sz="1000" dirty="0"/>
              <a:t> </a:t>
            </a:r>
            <a:r>
              <a:rPr lang="en-US" sz="1000" dirty="0" err="1"/>
              <a:t>na</a:t>
            </a:r>
            <a:r>
              <a:rPr lang="en-US" sz="1000" dirty="0"/>
              <a:t> Data Page </a:t>
            </a:r>
            <a:r>
              <a:rPr lang="en-US" sz="1000" dirty="0" err="1"/>
              <a:t>stranicama</a:t>
            </a:r>
            <a:r>
              <a:rPr lang="en-US" sz="1000" dirty="0"/>
              <a:t>.</a:t>
            </a:r>
            <a:r>
              <a:rPr lang="sr-Latn-RS" sz="1000" dirty="0"/>
              <a:t> </a:t>
            </a:r>
            <a:r>
              <a:rPr lang="en-US" sz="1000" dirty="0"/>
              <a:t>Na taj </a:t>
            </a:r>
            <a:r>
              <a:rPr lang="en-US" sz="1000" dirty="0" err="1"/>
              <a:t>način</a:t>
            </a:r>
            <a:r>
              <a:rPr lang="en-US" sz="1000" dirty="0"/>
              <a:t> se </a:t>
            </a:r>
            <a:r>
              <a:rPr lang="en-US" sz="1000" dirty="0" err="1"/>
              <a:t>formira</a:t>
            </a:r>
            <a:r>
              <a:rPr lang="en-US" sz="1000" dirty="0"/>
              <a:t> </a:t>
            </a:r>
            <a:r>
              <a:rPr lang="en-US" sz="1000" dirty="0" err="1"/>
              <a:t>lanac</a:t>
            </a:r>
            <a:r>
              <a:rPr lang="en-US" sz="1000" dirty="0"/>
              <a:t> </a:t>
            </a:r>
            <a:r>
              <a:rPr lang="en-US" sz="1000" dirty="0" err="1"/>
              <a:t>verzija</a:t>
            </a:r>
            <a:r>
              <a:rPr lang="en-US" sz="1000" dirty="0"/>
              <a:t> — INSERT </a:t>
            </a:r>
            <a:r>
              <a:rPr lang="en-US" sz="1000" dirty="0" err="1"/>
              <a:t>kreira</a:t>
            </a:r>
            <a:r>
              <a:rPr lang="en-US" sz="1000" dirty="0"/>
              <a:t> original, </a:t>
            </a:r>
            <a:r>
              <a:rPr lang="en-US" sz="1000" dirty="0" err="1"/>
              <a:t>svaki</a:t>
            </a:r>
            <a:r>
              <a:rPr lang="en-US" sz="1000" dirty="0"/>
              <a:t> UPDATE </a:t>
            </a:r>
            <a:r>
              <a:rPr lang="en-US" sz="1000" dirty="0" err="1"/>
              <a:t>dodaje</a:t>
            </a:r>
            <a:r>
              <a:rPr lang="en-US" sz="1000" dirty="0"/>
              <a:t> </a:t>
            </a:r>
            <a:r>
              <a:rPr lang="en-US" sz="1000" dirty="0" err="1"/>
              <a:t>novu</a:t>
            </a:r>
            <a:r>
              <a:rPr lang="en-US" sz="1000" dirty="0"/>
              <a:t> </a:t>
            </a:r>
            <a:r>
              <a:rPr lang="en-US" sz="1000" dirty="0" err="1"/>
              <a:t>verziju</a:t>
            </a:r>
            <a:r>
              <a:rPr lang="en-US" sz="1000" dirty="0"/>
              <a:t> </a:t>
            </a:r>
            <a:r>
              <a:rPr lang="en-US" sz="1000" dirty="0" err="1"/>
              <a:t>na</a:t>
            </a:r>
            <a:r>
              <a:rPr lang="en-US" sz="1000" dirty="0"/>
              <a:t> </a:t>
            </a:r>
            <a:r>
              <a:rPr lang="en-US" sz="1000" dirty="0" err="1"/>
              <a:t>kraju</a:t>
            </a:r>
            <a:r>
              <a:rPr lang="en-US" sz="1000" dirty="0"/>
              <a:t> </a:t>
            </a:r>
            <a:r>
              <a:rPr lang="en-US" sz="1000" dirty="0" err="1"/>
              <a:t>lanca</a:t>
            </a:r>
            <a:r>
              <a:rPr lang="en-US" sz="1000" dirty="0"/>
              <a:t>, a engine </a:t>
            </a:r>
            <a:r>
              <a:rPr lang="en-US" sz="1000" dirty="0" err="1"/>
              <a:t>prolazi</a:t>
            </a:r>
            <a:r>
              <a:rPr lang="en-US" sz="1000" dirty="0"/>
              <a:t> </a:t>
            </a:r>
            <a:r>
              <a:rPr lang="en-US" sz="1000" dirty="0" err="1"/>
              <a:t>kroz</a:t>
            </a:r>
            <a:r>
              <a:rPr lang="en-US" sz="1000" dirty="0"/>
              <a:t> </a:t>
            </a:r>
            <a:r>
              <a:rPr lang="en-US" sz="1000" dirty="0" err="1"/>
              <a:t>lanac</a:t>
            </a:r>
            <a:r>
              <a:rPr lang="en-US" sz="1000" dirty="0"/>
              <a:t> </a:t>
            </a:r>
            <a:r>
              <a:rPr lang="en-US" sz="1000" dirty="0" err="1"/>
              <a:t>dok</a:t>
            </a:r>
            <a:r>
              <a:rPr lang="en-US" sz="1000" dirty="0"/>
              <a:t> ne </a:t>
            </a:r>
            <a:r>
              <a:rPr lang="en-US" sz="1000" dirty="0" err="1"/>
              <a:t>pronađe</a:t>
            </a:r>
            <a:r>
              <a:rPr lang="en-US" sz="1000" dirty="0"/>
              <a:t> </a:t>
            </a:r>
            <a:r>
              <a:rPr lang="en-US" sz="1000" dirty="0" err="1"/>
              <a:t>verziju</a:t>
            </a:r>
            <a:r>
              <a:rPr lang="en-US" sz="1000" dirty="0"/>
              <a:t> </a:t>
            </a:r>
            <a:r>
              <a:rPr lang="en-US" sz="1000" dirty="0" err="1"/>
              <a:t>koju</a:t>
            </a:r>
            <a:r>
              <a:rPr lang="en-US" sz="1000" dirty="0"/>
              <a:t> </a:t>
            </a:r>
            <a:r>
              <a:rPr lang="en-US" sz="1000" dirty="0" err="1"/>
              <a:t>konkretna</a:t>
            </a:r>
            <a:r>
              <a:rPr lang="en-US" sz="1000" dirty="0"/>
              <a:t> </a:t>
            </a:r>
            <a:r>
              <a:rPr lang="en-US" sz="1000" dirty="0" err="1"/>
              <a:t>transakcija</a:t>
            </a:r>
            <a:r>
              <a:rPr lang="en-US" sz="1000" dirty="0"/>
              <a:t> </a:t>
            </a:r>
            <a:r>
              <a:rPr lang="en-US" sz="1000" dirty="0" err="1"/>
              <a:t>sme</a:t>
            </a:r>
            <a:r>
              <a:rPr lang="en-US" sz="1000" dirty="0"/>
              <a:t> da </a:t>
            </a:r>
            <a:r>
              <a:rPr lang="en-US" sz="1000" dirty="0" err="1"/>
              <a:t>vidi</a:t>
            </a:r>
            <a:r>
              <a:rPr lang="en-US" sz="1000" dirty="0"/>
              <a:t>.</a:t>
            </a:r>
            <a:r>
              <a:rPr lang="sr-Latn-RS" sz="1000" dirty="0"/>
              <a:t> </a:t>
            </a:r>
            <a:r>
              <a:rPr lang="en-US" sz="1000" dirty="0" err="1"/>
              <a:t>Direktna</a:t>
            </a:r>
            <a:r>
              <a:rPr lang="en-US" sz="1000" dirty="0"/>
              <a:t> </a:t>
            </a:r>
            <a:r>
              <a:rPr lang="en-US" sz="1000" dirty="0" err="1"/>
              <a:t>posledica</a:t>
            </a:r>
            <a:r>
              <a:rPr lang="en-US" sz="1000" dirty="0"/>
              <a:t> </a:t>
            </a:r>
            <a:r>
              <a:rPr lang="en-US" sz="1000" dirty="0" err="1"/>
              <a:t>ovakvog</a:t>
            </a:r>
            <a:r>
              <a:rPr lang="en-US" sz="1000" dirty="0"/>
              <a:t> </a:t>
            </a:r>
            <a:r>
              <a:rPr lang="en-US" sz="1000" dirty="0" err="1"/>
              <a:t>modela</a:t>
            </a:r>
            <a:r>
              <a:rPr lang="en-US" sz="1000" dirty="0"/>
              <a:t> je </a:t>
            </a:r>
            <a:r>
              <a:rPr lang="en-US" sz="1000" dirty="0" err="1"/>
              <a:t>fenomen</a:t>
            </a:r>
            <a:r>
              <a:rPr lang="en-US" sz="1000" dirty="0"/>
              <a:t> </a:t>
            </a:r>
            <a:r>
              <a:rPr lang="en-US" sz="1000" b="1" dirty="0"/>
              <a:t>Index Bloat</a:t>
            </a:r>
            <a:r>
              <a:rPr lang="en-US" sz="1000" dirty="0"/>
              <a:t> — </a:t>
            </a:r>
            <a:r>
              <a:rPr lang="en-US" sz="1000" dirty="0" err="1"/>
              <a:t>indeksne</a:t>
            </a:r>
            <a:r>
              <a:rPr lang="en-US" sz="1000" dirty="0"/>
              <a:t> </a:t>
            </a:r>
            <a:r>
              <a:rPr lang="en-US" sz="1000" dirty="0" err="1"/>
              <a:t>stranice</a:t>
            </a:r>
            <a:r>
              <a:rPr lang="en-US" sz="1000" dirty="0"/>
              <a:t> se </a:t>
            </a:r>
            <a:r>
              <a:rPr lang="en-US" sz="1000" dirty="0" err="1"/>
              <a:t>pune</a:t>
            </a:r>
            <a:r>
              <a:rPr lang="en-US" sz="1000" dirty="0"/>
              <a:t> </a:t>
            </a:r>
            <a:r>
              <a:rPr lang="en-US" sz="1000" dirty="0" err="1"/>
              <a:t>pokazivačima</a:t>
            </a:r>
            <a:r>
              <a:rPr lang="en-US" sz="1000" dirty="0"/>
              <a:t> </a:t>
            </a:r>
            <a:r>
              <a:rPr lang="en-US" sz="1000" dirty="0" err="1"/>
              <a:t>na</a:t>
            </a:r>
            <a:r>
              <a:rPr lang="en-US" sz="1000" dirty="0"/>
              <a:t> stare </a:t>
            </a:r>
            <a:r>
              <a:rPr lang="en-US" sz="1000" dirty="0" err="1"/>
              <a:t>verzije</a:t>
            </a:r>
            <a:r>
              <a:rPr lang="en-US" sz="1000" dirty="0"/>
              <a:t> </a:t>
            </a:r>
            <a:r>
              <a:rPr lang="en-US" sz="1000" dirty="0" err="1"/>
              <a:t>zapisa</a:t>
            </a:r>
            <a:r>
              <a:rPr lang="en-US" sz="1000" dirty="0"/>
              <a:t>, B+ </a:t>
            </a:r>
            <a:r>
              <a:rPr lang="en-US" sz="1000" dirty="0" err="1"/>
              <a:t>stablo</a:t>
            </a:r>
            <a:r>
              <a:rPr lang="en-US" sz="1000" dirty="0"/>
              <a:t> </a:t>
            </a:r>
            <a:r>
              <a:rPr lang="en-US" sz="1000" dirty="0" err="1"/>
              <a:t>raste</a:t>
            </a:r>
            <a:r>
              <a:rPr lang="en-US" sz="1000" dirty="0"/>
              <a:t> </a:t>
            </a:r>
            <a:r>
              <a:rPr lang="en-US" sz="1000" dirty="0" err="1"/>
              <a:t>i</a:t>
            </a:r>
            <a:r>
              <a:rPr lang="en-US" sz="1000" dirty="0"/>
              <a:t> </a:t>
            </a:r>
            <a:r>
              <a:rPr lang="en-US" sz="1000" dirty="0" err="1"/>
              <a:t>postaje</a:t>
            </a:r>
            <a:r>
              <a:rPr lang="en-US" sz="1000" dirty="0"/>
              <a:t> </a:t>
            </a:r>
            <a:r>
              <a:rPr lang="en-US" sz="1000" dirty="0" err="1"/>
              <a:t>dublje</a:t>
            </a:r>
            <a:r>
              <a:rPr lang="en-US" sz="1000" dirty="0"/>
              <a:t>, </a:t>
            </a:r>
            <a:r>
              <a:rPr lang="en-US" sz="1000" dirty="0" err="1"/>
              <a:t>što</a:t>
            </a:r>
            <a:r>
              <a:rPr lang="en-US" sz="1000" dirty="0"/>
              <a:t> </a:t>
            </a:r>
            <a:r>
              <a:rPr lang="en-US" sz="1000" dirty="0" err="1"/>
              <a:t>povećava</a:t>
            </a:r>
            <a:r>
              <a:rPr lang="en-US" sz="1000" dirty="0"/>
              <a:t> </a:t>
            </a:r>
            <a:r>
              <a:rPr lang="en-US" sz="1000" dirty="0" err="1"/>
              <a:t>broj</a:t>
            </a:r>
            <a:r>
              <a:rPr lang="en-US" sz="1000" dirty="0"/>
              <a:t> I/O </a:t>
            </a:r>
            <a:r>
              <a:rPr lang="en-US" sz="1000" dirty="0" err="1"/>
              <a:t>operacija</a:t>
            </a:r>
            <a:r>
              <a:rPr lang="en-US" sz="1000" dirty="0"/>
              <a:t> </a:t>
            </a:r>
            <a:r>
              <a:rPr lang="en-US" sz="1000" dirty="0" err="1"/>
              <a:t>i</a:t>
            </a:r>
            <a:r>
              <a:rPr lang="en-US" sz="1000" dirty="0"/>
              <a:t> </a:t>
            </a:r>
            <a:r>
              <a:rPr lang="en-US" sz="1000" dirty="0" err="1"/>
              <a:t>usporava</a:t>
            </a:r>
            <a:r>
              <a:rPr lang="en-US" sz="1000" dirty="0"/>
              <a:t> </a:t>
            </a:r>
            <a:r>
              <a:rPr lang="en-US" sz="1000" dirty="0" err="1"/>
              <a:t>pretragu</a:t>
            </a:r>
            <a:r>
              <a:rPr lang="en-US" sz="1000" dirty="0"/>
              <a:t>.</a:t>
            </a:r>
            <a:r>
              <a:rPr lang="sr-Latn-RS" sz="1000" dirty="0"/>
              <a:t> </a:t>
            </a:r>
            <a:r>
              <a:rPr lang="en-US" sz="1000" dirty="0"/>
              <a:t>Za </a:t>
            </a:r>
            <a:r>
              <a:rPr lang="en-US" sz="1000" dirty="0" err="1"/>
              <a:t>čišćenje</a:t>
            </a:r>
            <a:r>
              <a:rPr lang="en-US" sz="1000" dirty="0"/>
              <a:t> </a:t>
            </a:r>
            <a:r>
              <a:rPr lang="en-US" sz="1000" dirty="0" err="1"/>
              <a:t>zastarelih</a:t>
            </a:r>
            <a:r>
              <a:rPr lang="en-US" sz="1000" dirty="0"/>
              <a:t> </a:t>
            </a:r>
            <a:r>
              <a:rPr lang="en-US" sz="1000" dirty="0" err="1"/>
              <a:t>verzija</a:t>
            </a:r>
            <a:r>
              <a:rPr lang="en-US" sz="1000" dirty="0"/>
              <a:t> </a:t>
            </a:r>
            <a:r>
              <a:rPr lang="en-US" sz="1000" dirty="0" err="1"/>
              <a:t>zadužen</a:t>
            </a:r>
            <a:r>
              <a:rPr lang="en-US" sz="1000" dirty="0"/>
              <a:t> je </a:t>
            </a:r>
            <a:r>
              <a:rPr lang="en-US" sz="1000" b="1" dirty="0"/>
              <a:t>Garbage Collector (GC)</a:t>
            </a:r>
            <a:r>
              <a:rPr lang="en-US" sz="1000" dirty="0"/>
              <a:t>, koji </a:t>
            </a:r>
            <a:r>
              <a:rPr lang="en-US" sz="1000" dirty="0" err="1"/>
              <a:t>postoji</a:t>
            </a:r>
            <a:r>
              <a:rPr lang="en-US" sz="1000" dirty="0"/>
              <a:t> u tri </a:t>
            </a:r>
            <a:r>
              <a:rPr lang="en-US" sz="1000" dirty="0" err="1"/>
              <a:t>oblika</a:t>
            </a:r>
            <a:r>
              <a:rPr lang="en-US" sz="1000" dirty="0"/>
              <a:t>: </a:t>
            </a:r>
            <a:r>
              <a:rPr lang="en-US" sz="1000" dirty="0" err="1"/>
              <a:t>kooperativni</a:t>
            </a:r>
            <a:r>
              <a:rPr lang="en-US" sz="1000" dirty="0"/>
              <a:t> GC Background GC </a:t>
            </a:r>
            <a:r>
              <a:rPr lang="en-US" sz="1000" dirty="0" err="1"/>
              <a:t>i</a:t>
            </a:r>
            <a:r>
              <a:rPr lang="en-US" sz="1000" dirty="0"/>
              <a:t> </a:t>
            </a:r>
            <a:r>
              <a:rPr lang="en-US" sz="1000" dirty="0" err="1"/>
              <a:t>Sweepin</a:t>
            </a:r>
            <a:r>
              <a:rPr lang="sr-Latn-RS" sz="1000" dirty="0"/>
              <a:t>g</a:t>
            </a:r>
            <a:r>
              <a:rPr lang="en-US" sz="1000" dirty="0"/>
              <a:t>.</a:t>
            </a:r>
            <a:r>
              <a:rPr lang="sr-Latn-RS" sz="1000" dirty="0"/>
              <a:t> </a:t>
            </a:r>
            <a:r>
              <a:rPr lang="en-US" sz="1000" dirty="0" err="1"/>
              <a:t>Važno</a:t>
            </a:r>
            <a:r>
              <a:rPr lang="en-US" sz="1000" dirty="0"/>
              <a:t> </a:t>
            </a:r>
            <a:r>
              <a:rPr lang="en-US" sz="1000" dirty="0" err="1"/>
              <a:t>ograničenje</a:t>
            </a:r>
            <a:r>
              <a:rPr lang="en-US" sz="1000" dirty="0"/>
              <a:t> GC-a je </a:t>
            </a:r>
            <a:r>
              <a:rPr lang="en-US" sz="1000" b="1" dirty="0"/>
              <a:t>Oldest Active Transaction (OAT)</a:t>
            </a:r>
            <a:r>
              <a:rPr lang="en-US" sz="1000" dirty="0"/>
              <a:t> — </a:t>
            </a:r>
            <a:r>
              <a:rPr lang="en-US" sz="1000" dirty="0" err="1"/>
              <a:t>sve</a:t>
            </a:r>
            <a:r>
              <a:rPr lang="en-US" sz="1000" dirty="0"/>
              <a:t> </a:t>
            </a:r>
            <a:r>
              <a:rPr lang="en-US" sz="1000" dirty="0" err="1"/>
              <a:t>verzije</a:t>
            </a:r>
            <a:r>
              <a:rPr lang="en-US" sz="1000" dirty="0"/>
              <a:t> </a:t>
            </a:r>
            <a:r>
              <a:rPr lang="en-US" sz="1000" dirty="0" err="1"/>
              <a:t>nastale</a:t>
            </a:r>
            <a:r>
              <a:rPr lang="en-US" sz="1000" dirty="0"/>
              <a:t> </a:t>
            </a:r>
            <a:r>
              <a:rPr lang="en-US" sz="1000" dirty="0" err="1"/>
              <a:t>posle</a:t>
            </a:r>
            <a:r>
              <a:rPr lang="en-US" sz="1000" dirty="0"/>
              <a:t> </a:t>
            </a:r>
            <a:r>
              <a:rPr lang="en-US" sz="1000" dirty="0" err="1"/>
              <a:t>najstarije</a:t>
            </a:r>
            <a:r>
              <a:rPr lang="en-US" sz="1000" dirty="0"/>
              <a:t> </a:t>
            </a:r>
            <a:r>
              <a:rPr lang="en-US" sz="1000" dirty="0" err="1"/>
              <a:t>aktivne</a:t>
            </a:r>
            <a:r>
              <a:rPr lang="en-US" sz="1000" dirty="0"/>
              <a:t> </a:t>
            </a:r>
            <a:r>
              <a:rPr lang="en-US" sz="1000" dirty="0" err="1"/>
              <a:t>transakcije</a:t>
            </a:r>
            <a:r>
              <a:rPr lang="en-US" sz="1000" dirty="0"/>
              <a:t> ne </a:t>
            </a:r>
            <a:r>
              <a:rPr lang="en-US" sz="1000" dirty="0" err="1"/>
              <a:t>smeju</a:t>
            </a:r>
            <a:r>
              <a:rPr lang="en-US" sz="1000" dirty="0"/>
              <a:t> </a:t>
            </a:r>
            <a:r>
              <a:rPr lang="en-US" sz="1000" dirty="0" err="1"/>
              <a:t>biti</a:t>
            </a:r>
            <a:r>
              <a:rPr lang="en-US" sz="1000" dirty="0"/>
              <a:t> </a:t>
            </a:r>
            <a:r>
              <a:rPr lang="en-US" sz="1000" dirty="0" err="1"/>
              <a:t>obrisane</a:t>
            </a:r>
            <a:r>
              <a:rPr lang="en-US" sz="1000" dirty="0"/>
              <a:t>, </a:t>
            </a:r>
            <a:r>
              <a:rPr lang="en-US" sz="1000" dirty="0" err="1"/>
              <a:t>jer</a:t>
            </a:r>
            <a:r>
              <a:rPr lang="en-US" sz="1000" dirty="0"/>
              <a:t> </a:t>
            </a:r>
            <a:r>
              <a:rPr lang="en-US" sz="1000" dirty="0" err="1"/>
              <a:t>neka</a:t>
            </a:r>
            <a:r>
              <a:rPr lang="en-US" sz="1000" dirty="0"/>
              <a:t> </a:t>
            </a:r>
            <a:r>
              <a:rPr lang="en-US" sz="1000" dirty="0" err="1"/>
              <a:t>transakcija</a:t>
            </a:r>
            <a:r>
              <a:rPr lang="en-US" sz="1000" dirty="0"/>
              <a:t> </a:t>
            </a:r>
            <a:r>
              <a:rPr lang="en-US" sz="1000" dirty="0" err="1"/>
              <a:t>ih</a:t>
            </a:r>
            <a:r>
              <a:rPr lang="en-US" sz="1000" dirty="0"/>
              <a:t> </a:t>
            </a:r>
            <a:r>
              <a:rPr lang="en-US" sz="1000" dirty="0" err="1"/>
              <a:t>možda</a:t>
            </a:r>
            <a:r>
              <a:rPr lang="en-US" sz="1000" dirty="0"/>
              <a:t> </a:t>
            </a:r>
            <a:r>
              <a:rPr lang="en-US" sz="1000" dirty="0" err="1"/>
              <a:t>još</a:t>
            </a:r>
            <a:r>
              <a:rPr lang="en-US" sz="1000" dirty="0"/>
              <a:t> </a:t>
            </a:r>
            <a:r>
              <a:rPr lang="en-US" sz="1000" dirty="0" err="1"/>
              <a:t>uvek</a:t>
            </a:r>
            <a:r>
              <a:rPr lang="en-US" sz="1000" dirty="0"/>
              <a:t> </a:t>
            </a:r>
            <a:r>
              <a:rPr lang="en-US" sz="1000" dirty="0" err="1"/>
              <a:t>treba</a:t>
            </a:r>
            <a:r>
              <a:rPr lang="en-US" sz="1000" dirty="0"/>
              <a:t>.</a:t>
            </a:r>
            <a:r>
              <a:rPr lang="sr-Latn-RS" sz="1000" dirty="0"/>
              <a:t> </a:t>
            </a:r>
            <a:r>
              <a:rPr lang="en-US" sz="1000" dirty="0" err="1"/>
              <a:t>Jedino</a:t>
            </a:r>
            <a:r>
              <a:rPr lang="en-US" sz="1000" dirty="0"/>
              <a:t> </a:t>
            </a:r>
            <a:r>
              <a:rPr lang="en-US" sz="1000" dirty="0" err="1"/>
              <a:t>trajno</a:t>
            </a:r>
            <a:r>
              <a:rPr lang="en-US" sz="1000" dirty="0"/>
              <a:t> </a:t>
            </a:r>
            <a:r>
              <a:rPr lang="en-US" sz="1000" dirty="0" err="1"/>
              <a:t>rešenje</a:t>
            </a:r>
            <a:r>
              <a:rPr lang="en-US" sz="1000" dirty="0"/>
              <a:t> za Index Bloat je </a:t>
            </a:r>
            <a:r>
              <a:rPr lang="en-US" sz="1000" dirty="0" err="1"/>
              <a:t>rekreacija</a:t>
            </a:r>
            <a:r>
              <a:rPr lang="en-US" sz="1000" dirty="0"/>
              <a:t> </a:t>
            </a:r>
            <a:r>
              <a:rPr lang="en-US" sz="1000" dirty="0" err="1"/>
              <a:t>indeksa</a:t>
            </a:r>
            <a:r>
              <a:rPr lang="en-US" sz="1000" dirty="0"/>
              <a:t> </a:t>
            </a:r>
            <a:r>
              <a:rPr lang="en-US" sz="1000" dirty="0" err="1"/>
              <a:t>komandom</a:t>
            </a:r>
            <a:r>
              <a:rPr lang="en-US" sz="1000" dirty="0"/>
              <a:t> </a:t>
            </a:r>
            <a:r>
              <a:rPr lang="en-US" sz="1200" kern="1200" dirty="0">
                <a:solidFill>
                  <a:schemeClr val="tx1"/>
                </a:solidFill>
                <a:latin typeface="+mn-lt"/>
                <a:ea typeface="+mn-ea"/>
                <a:cs typeface="+mn-cs"/>
              </a:rPr>
              <a:t>ALTER INDEX INACTIVE → ACTIVE</a:t>
            </a:r>
            <a:r>
              <a:rPr lang="en-US" sz="1000" dirty="0"/>
              <a:t>, </a:t>
            </a:r>
            <a:r>
              <a:rPr lang="en-US" sz="1000" dirty="0" err="1"/>
              <a:t>čime</a:t>
            </a:r>
            <a:r>
              <a:rPr lang="en-US" sz="1000" dirty="0"/>
              <a:t> se B+ </a:t>
            </a:r>
            <a:r>
              <a:rPr lang="en-US" sz="1000" dirty="0" err="1"/>
              <a:t>stablo</a:t>
            </a:r>
            <a:r>
              <a:rPr lang="en-US" sz="1000" dirty="0"/>
              <a:t> </a:t>
            </a:r>
            <a:r>
              <a:rPr lang="en-US" sz="1000" dirty="0" err="1"/>
              <a:t>gradi</a:t>
            </a:r>
            <a:r>
              <a:rPr lang="en-US" sz="1000" dirty="0"/>
              <a:t> od </a:t>
            </a:r>
            <a:r>
              <a:rPr lang="en-US" sz="1000" dirty="0" err="1"/>
              <a:t>nule</a:t>
            </a:r>
            <a:r>
              <a:rPr lang="en-US" sz="1000" dirty="0"/>
              <a:t> </a:t>
            </a:r>
            <a:r>
              <a:rPr lang="en-US" sz="1000" dirty="0" err="1"/>
              <a:t>i</a:t>
            </a:r>
            <a:r>
              <a:rPr lang="en-US" sz="1000" dirty="0"/>
              <a:t> </a:t>
            </a:r>
            <a:r>
              <a:rPr lang="en-US" sz="1000" dirty="0" err="1"/>
              <a:t>sve</a:t>
            </a:r>
            <a:r>
              <a:rPr lang="en-US" sz="1000" dirty="0"/>
              <a:t> stare </a:t>
            </a:r>
            <a:r>
              <a:rPr lang="en-US" sz="1000" dirty="0" err="1"/>
              <a:t>verzije</a:t>
            </a:r>
            <a:r>
              <a:rPr lang="en-US" sz="1000" dirty="0"/>
              <a:t> se </a:t>
            </a:r>
            <a:r>
              <a:rPr lang="en-US" sz="1000" dirty="0" err="1"/>
              <a:t>odbacuju</a:t>
            </a:r>
            <a:r>
              <a:rPr lang="en-US" sz="1000"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Firebird </a:t>
            </a:r>
            <a:r>
              <a:rPr lang="en-US" dirty="0" err="1"/>
              <a:t>indeksi</a:t>
            </a:r>
            <a:r>
              <a:rPr lang="en-US" dirty="0"/>
              <a:t> </a:t>
            </a:r>
            <a:r>
              <a:rPr lang="en-US" dirty="0" err="1"/>
              <a:t>su</a:t>
            </a:r>
            <a:r>
              <a:rPr lang="en-US" dirty="0"/>
              <a:t> </a:t>
            </a:r>
            <a:r>
              <a:rPr lang="en-US" dirty="0" err="1"/>
              <a:t>implementirani</a:t>
            </a:r>
            <a:r>
              <a:rPr lang="en-US" dirty="0"/>
              <a:t> </a:t>
            </a:r>
            <a:r>
              <a:rPr lang="en-US" dirty="0" err="1"/>
              <a:t>kao</a:t>
            </a:r>
            <a:r>
              <a:rPr lang="en-US" dirty="0"/>
              <a:t> B+ </a:t>
            </a:r>
            <a:r>
              <a:rPr lang="en-US" dirty="0" err="1"/>
              <a:t>stabla</a:t>
            </a:r>
            <a:r>
              <a:rPr lang="en-US" dirty="0"/>
              <a:t> </a:t>
            </a:r>
            <a:r>
              <a:rPr lang="en-US" dirty="0" err="1"/>
              <a:t>koja</a:t>
            </a:r>
            <a:r>
              <a:rPr lang="en-US" dirty="0"/>
              <a:t> se </a:t>
            </a:r>
            <a:r>
              <a:rPr lang="en-US" dirty="0" err="1"/>
              <a:t>sastoje</a:t>
            </a:r>
            <a:r>
              <a:rPr lang="en-US" dirty="0"/>
              <a:t> od tri </a:t>
            </a:r>
            <a:r>
              <a:rPr lang="en-US" dirty="0" err="1"/>
              <a:t>nivoa</a:t>
            </a:r>
            <a:r>
              <a:rPr lang="en-US" dirty="0"/>
              <a:t> — </a:t>
            </a:r>
            <a:r>
              <a:rPr lang="en-US" dirty="0" err="1"/>
              <a:t>korena</a:t>
            </a:r>
            <a:r>
              <a:rPr lang="en-US" dirty="0"/>
              <a:t> (Root), grana </a:t>
            </a:r>
            <a:r>
              <a:rPr lang="en-US" dirty="0" err="1"/>
              <a:t>kao</a:t>
            </a:r>
            <a:r>
              <a:rPr lang="en-US" dirty="0"/>
              <a:t> </a:t>
            </a:r>
            <a:r>
              <a:rPr lang="en-US" dirty="0" err="1"/>
              <a:t>navigacionih</a:t>
            </a:r>
            <a:r>
              <a:rPr lang="en-US" dirty="0"/>
              <a:t> </a:t>
            </a:r>
            <a:r>
              <a:rPr lang="en-US" dirty="0" err="1"/>
              <a:t>čvorova</a:t>
            </a:r>
            <a:r>
              <a:rPr lang="en-US" dirty="0"/>
              <a:t>, </a:t>
            </a:r>
            <a:r>
              <a:rPr lang="en-US" dirty="0" err="1"/>
              <a:t>i</a:t>
            </a:r>
            <a:r>
              <a:rPr lang="en-US" dirty="0"/>
              <a:t> </a:t>
            </a:r>
            <a:r>
              <a:rPr lang="en-US" dirty="0" err="1"/>
              <a:t>listova</a:t>
            </a:r>
            <a:r>
              <a:rPr lang="en-US" dirty="0"/>
              <a:t> (Leaf Pages) koji </a:t>
            </a:r>
            <a:r>
              <a:rPr lang="en-US" dirty="0" err="1"/>
              <a:t>jedini</a:t>
            </a:r>
            <a:r>
              <a:rPr lang="en-US" dirty="0"/>
              <a:t> </a:t>
            </a:r>
            <a:r>
              <a:rPr lang="en-US" dirty="0" err="1"/>
              <a:t>čuvaju</a:t>
            </a:r>
            <a:r>
              <a:rPr lang="en-US" dirty="0"/>
              <a:t> </a:t>
            </a:r>
            <a:r>
              <a:rPr lang="en-US" dirty="0" err="1"/>
              <a:t>stvarne</a:t>
            </a:r>
            <a:r>
              <a:rPr lang="en-US" dirty="0"/>
              <a:t> </a:t>
            </a:r>
            <a:r>
              <a:rPr lang="en-US" dirty="0" err="1"/>
              <a:t>ključeve</a:t>
            </a:r>
            <a:r>
              <a:rPr lang="en-US" dirty="0"/>
              <a:t> </a:t>
            </a:r>
            <a:r>
              <a:rPr lang="en-US" dirty="0" err="1"/>
              <a:t>i</a:t>
            </a:r>
            <a:r>
              <a:rPr lang="en-US" dirty="0"/>
              <a:t> RDB$DB_KEY </a:t>
            </a:r>
            <a:r>
              <a:rPr lang="en-US" dirty="0" err="1"/>
              <a:t>adrese</a:t>
            </a:r>
            <a:r>
              <a:rPr lang="en-US" dirty="0"/>
              <a:t>.</a:t>
            </a:r>
            <a:r>
              <a:rPr lang="sr-Latn-RS" dirty="0"/>
              <a:t> </a:t>
            </a:r>
            <a:r>
              <a:rPr lang="en-US" dirty="0"/>
              <a:t>Grane </a:t>
            </a:r>
            <a:r>
              <a:rPr lang="en-US" dirty="0" err="1"/>
              <a:t>služe</a:t>
            </a:r>
            <a:r>
              <a:rPr lang="en-US" dirty="0"/>
              <a:t> </a:t>
            </a:r>
            <a:r>
              <a:rPr lang="en-US" dirty="0" err="1"/>
              <a:t>isključivo</a:t>
            </a:r>
            <a:r>
              <a:rPr lang="en-US" dirty="0"/>
              <a:t> za </a:t>
            </a:r>
            <a:r>
              <a:rPr lang="en-US" dirty="0" err="1"/>
              <a:t>usmeravanje</a:t>
            </a:r>
            <a:r>
              <a:rPr lang="en-US" dirty="0"/>
              <a:t> </a:t>
            </a:r>
            <a:r>
              <a:rPr lang="en-US" dirty="0" err="1"/>
              <a:t>pretrage</a:t>
            </a:r>
            <a:r>
              <a:rPr lang="sr-Latn-RS" dirty="0"/>
              <a:t> koja </a:t>
            </a:r>
            <a:r>
              <a:rPr lang="en-US" dirty="0" err="1"/>
              <a:t>kreće</a:t>
            </a:r>
            <a:r>
              <a:rPr lang="en-US" dirty="0"/>
              <a:t> od </a:t>
            </a:r>
            <a:r>
              <a:rPr lang="en-US" dirty="0" err="1"/>
              <a:t>korena</a:t>
            </a:r>
            <a:r>
              <a:rPr lang="en-US" dirty="0"/>
              <a:t> </a:t>
            </a:r>
            <a:r>
              <a:rPr lang="en-US" dirty="0" err="1"/>
              <a:t>i</a:t>
            </a:r>
            <a:r>
              <a:rPr lang="en-US" dirty="0"/>
              <a:t> </a:t>
            </a:r>
            <a:r>
              <a:rPr lang="en-US" dirty="0" err="1"/>
              <a:t>na</a:t>
            </a:r>
            <a:r>
              <a:rPr lang="en-US" dirty="0"/>
              <a:t> </a:t>
            </a:r>
            <a:r>
              <a:rPr lang="en-US" dirty="0" err="1"/>
              <a:t>svakom</a:t>
            </a:r>
            <a:r>
              <a:rPr lang="en-US" dirty="0"/>
              <a:t> </a:t>
            </a:r>
            <a:r>
              <a:rPr lang="en-US" dirty="0" err="1"/>
              <a:t>nivou</a:t>
            </a:r>
            <a:r>
              <a:rPr lang="en-US" dirty="0"/>
              <a:t> </a:t>
            </a:r>
            <a:r>
              <a:rPr lang="en-US" dirty="0" err="1"/>
              <a:t>eliminiše</a:t>
            </a:r>
            <a:r>
              <a:rPr lang="en-US" dirty="0"/>
              <a:t> </a:t>
            </a:r>
            <a:r>
              <a:rPr lang="en-US" dirty="0" err="1"/>
              <a:t>čitave</a:t>
            </a:r>
            <a:r>
              <a:rPr lang="en-US" dirty="0"/>
              <a:t> </a:t>
            </a:r>
            <a:r>
              <a:rPr lang="en-US" dirty="0" err="1"/>
              <a:t>grane</a:t>
            </a:r>
            <a:r>
              <a:rPr lang="en-US" dirty="0"/>
              <a:t> </a:t>
            </a:r>
            <a:r>
              <a:rPr lang="en-US" dirty="0" err="1"/>
              <a:t>koje</a:t>
            </a:r>
            <a:r>
              <a:rPr lang="en-US" dirty="0"/>
              <a:t> ne </a:t>
            </a:r>
            <a:r>
              <a:rPr lang="en-US" dirty="0" err="1"/>
              <a:t>zadovoljavaju</a:t>
            </a:r>
            <a:r>
              <a:rPr lang="en-US" dirty="0"/>
              <a:t> </a:t>
            </a:r>
            <a:r>
              <a:rPr lang="en-US" dirty="0" err="1"/>
              <a:t>kriterijum</a:t>
            </a:r>
            <a:r>
              <a:rPr lang="en-US" dirty="0"/>
              <a:t> </a:t>
            </a:r>
            <a:r>
              <a:rPr lang="en-US" dirty="0" err="1"/>
              <a:t>upita</a:t>
            </a:r>
            <a:r>
              <a:rPr lang="en-US" dirty="0"/>
              <a:t>, </a:t>
            </a:r>
            <a:r>
              <a:rPr lang="en-US" dirty="0" err="1"/>
              <a:t>čime</a:t>
            </a:r>
            <a:r>
              <a:rPr lang="en-US" dirty="0"/>
              <a:t> se </a:t>
            </a:r>
            <a:r>
              <a:rPr lang="en-US" dirty="0" err="1"/>
              <a:t>broj</a:t>
            </a:r>
            <a:r>
              <a:rPr lang="en-US" dirty="0"/>
              <a:t> I/O </a:t>
            </a:r>
            <a:r>
              <a:rPr lang="en-US" dirty="0" err="1"/>
              <a:t>operacija</a:t>
            </a:r>
            <a:r>
              <a:rPr lang="en-US" dirty="0"/>
              <a:t> </a:t>
            </a:r>
            <a:r>
              <a:rPr lang="en-US" dirty="0" err="1"/>
              <a:t>svodi</a:t>
            </a:r>
            <a:r>
              <a:rPr lang="en-US" dirty="0"/>
              <a:t> </a:t>
            </a:r>
            <a:r>
              <a:rPr lang="en-US" dirty="0" err="1"/>
              <a:t>na</a:t>
            </a:r>
            <a:r>
              <a:rPr lang="en-US" dirty="0"/>
              <a:t> </a:t>
            </a:r>
            <a:r>
              <a:rPr lang="en-US" dirty="0" err="1"/>
              <a:t>logaritamsku</a:t>
            </a:r>
            <a:r>
              <a:rPr lang="en-US" dirty="0"/>
              <a:t> </a:t>
            </a:r>
            <a:r>
              <a:rPr lang="en-US" dirty="0" err="1"/>
              <a:t>zavisnost</a:t>
            </a:r>
            <a:r>
              <a:rPr lang="en-US" dirty="0"/>
              <a:t>.</a:t>
            </a:r>
            <a:r>
              <a:rPr lang="sr-Latn-RS" dirty="0"/>
              <a:t> </a:t>
            </a:r>
            <a:r>
              <a:rPr lang="en-US" dirty="0" err="1"/>
              <a:t>Listovi</a:t>
            </a:r>
            <a:r>
              <a:rPr lang="en-US" dirty="0"/>
              <a:t> </a:t>
            </a:r>
            <a:r>
              <a:rPr lang="en-US" dirty="0" err="1"/>
              <a:t>su</a:t>
            </a:r>
            <a:r>
              <a:rPr lang="en-US" dirty="0"/>
              <a:t> </a:t>
            </a:r>
            <a:r>
              <a:rPr lang="en-US" dirty="0" err="1"/>
              <a:t>horizontalno</a:t>
            </a:r>
            <a:r>
              <a:rPr lang="en-US" dirty="0"/>
              <a:t> </a:t>
            </a:r>
            <a:r>
              <a:rPr lang="en-US" dirty="0" err="1"/>
              <a:t>povezani</a:t>
            </a:r>
            <a:r>
              <a:rPr lang="en-US" dirty="0"/>
              <a:t> u </a:t>
            </a:r>
            <a:r>
              <a:rPr lang="en-US" dirty="0" err="1"/>
              <a:t>dvostruko</a:t>
            </a:r>
            <a:r>
              <a:rPr lang="en-US" dirty="0"/>
              <a:t> </a:t>
            </a:r>
            <a:r>
              <a:rPr lang="en-US" dirty="0" err="1"/>
              <a:t>povezanu</a:t>
            </a:r>
            <a:r>
              <a:rPr lang="en-US" dirty="0"/>
              <a:t> </a:t>
            </a:r>
            <a:r>
              <a:rPr lang="en-US" dirty="0" err="1"/>
              <a:t>listu</a:t>
            </a:r>
            <a:r>
              <a:rPr lang="sr-Latn-RS" dirty="0"/>
              <a:t> </a:t>
            </a:r>
            <a:r>
              <a:rPr lang="en-US" dirty="0" err="1"/>
              <a:t>što</a:t>
            </a:r>
            <a:r>
              <a:rPr lang="en-US" dirty="0"/>
              <a:t> </a:t>
            </a:r>
            <a:r>
              <a:rPr lang="en-US" dirty="0" err="1"/>
              <a:t>omogućava</a:t>
            </a:r>
            <a:r>
              <a:rPr lang="en-US" dirty="0"/>
              <a:t> </a:t>
            </a:r>
            <a:r>
              <a:rPr lang="en-US" dirty="0" err="1"/>
              <a:t>efikasan</a:t>
            </a:r>
            <a:r>
              <a:rPr lang="en-US" dirty="0"/>
              <a:t> Range Scan — engine </a:t>
            </a:r>
            <a:r>
              <a:rPr lang="en-US" dirty="0" err="1"/>
              <a:t>jednom</a:t>
            </a:r>
            <a:r>
              <a:rPr lang="en-US" dirty="0"/>
              <a:t> </a:t>
            </a:r>
            <a:r>
              <a:rPr lang="en-US" dirty="0" err="1"/>
              <a:t>navigira</a:t>
            </a:r>
            <a:r>
              <a:rPr lang="en-US" dirty="0"/>
              <a:t> </a:t>
            </a:r>
            <a:r>
              <a:rPr lang="en-US" dirty="0" err="1"/>
              <a:t>vertikalno</a:t>
            </a:r>
            <a:r>
              <a:rPr lang="en-US" dirty="0"/>
              <a:t> do </a:t>
            </a:r>
            <a:r>
              <a:rPr lang="en-US" dirty="0" err="1"/>
              <a:t>prvog</a:t>
            </a:r>
            <a:r>
              <a:rPr lang="en-US" dirty="0"/>
              <a:t> </a:t>
            </a:r>
            <a:r>
              <a:rPr lang="en-US" dirty="0" err="1"/>
              <a:t>ključa</a:t>
            </a:r>
            <a:r>
              <a:rPr lang="en-US" dirty="0"/>
              <a:t>, a </a:t>
            </a:r>
            <a:r>
              <a:rPr lang="en-US" dirty="0" err="1"/>
              <a:t>zatim</a:t>
            </a:r>
            <a:r>
              <a:rPr lang="en-US" dirty="0"/>
              <a:t> </a:t>
            </a:r>
            <a:r>
              <a:rPr lang="en-US" dirty="0" err="1"/>
              <a:t>čita</a:t>
            </a:r>
            <a:r>
              <a:rPr lang="en-US" dirty="0"/>
              <a:t> </a:t>
            </a:r>
            <a:r>
              <a:rPr lang="en-US" dirty="0" err="1"/>
              <a:t>susedne</a:t>
            </a:r>
            <a:r>
              <a:rPr lang="en-US" dirty="0"/>
              <a:t> </a:t>
            </a:r>
            <a:r>
              <a:rPr lang="en-US" dirty="0" err="1"/>
              <a:t>listove</a:t>
            </a:r>
            <a:r>
              <a:rPr lang="en-US" dirty="0"/>
              <a:t> </a:t>
            </a:r>
            <a:r>
              <a:rPr lang="en-US" dirty="0" err="1"/>
              <a:t>horizontalno</a:t>
            </a:r>
            <a:r>
              <a:rPr lang="en-US" dirty="0"/>
              <a:t> bez </a:t>
            </a:r>
            <a:r>
              <a:rPr lang="en-US" dirty="0" err="1"/>
              <a:t>ponovnog</a:t>
            </a:r>
            <a:r>
              <a:rPr lang="en-US" dirty="0"/>
              <a:t> </a:t>
            </a:r>
            <a:r>
              <a:rPr lang="en-US" dirty="0" err="1"/>
              <a:t>obilaska</a:t>
            </a:r>
            <a:r>
              <a:rPr lang="en-US" dirty="0"/>
              <a:t> od </a:t>
            </a:r>
            <a:r>
              <a:rPr lang="en-US" dirty="0" err="1"/>
              <a:t>korena</a:t>
            </a:r>
            <a:r>
              <a:rPr lang="en-US" dirty="0"/>
              <a:t>.</a:t>
            </a:r>
          </a:p>
          <a:p>
            <a:r>
              <a:rPr lang="en-US" dirty="0"/>
              <a:t>Kada se </a:t>
            </a:r>
            <a:r>
              <a:rPr lang="en-US" dirty="0" err="1"/>
              <a:t>stranica</a:t>
            </a:r>
            <a:r>
              <a:rPr lang="en-US" dirty="0"/>
              <a:t> </a:t>
            </a:r>
            <a:r>
              <a:rPr lang="en-US" dirty="0" err="1"/>
              <a:t>popuni</a:t>
            </a:r>
            <a:r>
              <a:rPr lang="en-US" dirty="0"/>
              <a:t>, </a:t>
            </a:r>
            <a:r>
              <a:rPr lang="en-US" dirty="0" err="1"/>
              <a:t>aktivira</a:t>
            </a:r>
            <a:r>
              <a:rPr lang="en-US" dirty="0"/>
              <a:t> se </a:t>
            </a:r>
            <a:r>
              <a:rPr lang="en-US" b="1" dirty="0"/>
              <a:t>Page Split</a:t>
            </a:r>
            <a:r>
              <a:rPr lang="en-US" dirty="0"/>
              <a:t> — </a:t>
            </a:r>
            <a:r>
              <a:rPr lang="en-US" dirty="0" err="1"/>
              <a:t>stranica</a:t>
            </a:r>
            <a:r>
              <a:rPr lang="en-US" dirty="0"/>
              <a:t> se deli </a:t>
            </a:r>
            <a:r>
              <a:rPr lang="en-US" dirty="0" err="1"/>
              <a:t>na</a:t>
            </a:r>
            <a:r>
              <a:rPr lang="en-US" dirty="0"/>
              <a:t> </a:t>
            </a:r>
            <a:r>
              <a:rPr lang="en-US" dirty="0" err="1"/>
              <a:t>dve</a:t>
            </a:r>
            <a:r>
              <a:rPr lang="en-US" dirty="0"/>
              <a:t>, </a:t>
            </a:r>
            <a:r>
              <a:rPr lang="en-US" dirty="0" err="1"/>
              <a:t>polovina</a:t>
            </a:r>
            <a:r>
              <a:rPr lang="en-US" dirty="0"/>
              <a:t> </a:t>
            </a:r>
            <a:r>
              <a:rPr lang="en-US" dirty="0" err="1"/>
              <a:t>ključeva</a:t>
            </a:r>
            <a:r>
              <a:rPr lang="en-US" dirty="0"/>
              <a:t> se </a:t>
            </a:r>
            <a:r>
              <a:rPr lang="en-US" dirty="0" err="1"/>
              <a:t>premešta</a:t>
            </a:r>
            <a:r>
              <a:rPr lang="en-US" dirty="0"/>
              <a:t>, a </a:t>
            </a:r>
            <a:r>
              <a:rPr lang="en-US" dirty="0" err="1"/>
              <a:t>roditeljski</a:t>
            </a:r>
            <a:r>
              <a:rPr lang="en-US" dirty="0"/>
              <a:t> </a:t>
            </a:r>
            <a:r>
              <a:rPr lang="en-US" dirty="0" err="1"/>
              <a:t>čvor</a:t>
            </a:r>
            <a:r>
              <a:rPr lang="en-US" dirty="0"/>
              <a:t> </a:t>
            </a:r>
            <a:r>
              <a:rPr lang="en-US" dirty="0" err="1"/>
              <a:t>dobija</a:t>
            </a:r>
            <a:r>
              <a:rPr lang="en-US" dirty="0"/>
              <a:t> novi </a:t>
            </a:r>
            <a:r>
              <a:rPr lang="en-US" dirty="0" err="1"/>
              <a:t>pokazivač</a:t>
            </a:r>
            <a:r>
              <a:rPr lang="en-US" dirty="0"/>
              <a:t>, </a:t>
            </a:r>
            <a:r>
              <a:rPr lang="en-US" dirty="0" err="1"/>
              <a:t>čime</a:t>
            </a:r>
            <a:r>
              <a:rPr lang="en-US" dirty="0"/>
              <a:t> </a:t>
            </a:r>
            <a:r>
              <a:rPr lang="en-US" dirty="0" err="1"/>
              <a:t>stablo</a:t>
            </a:r>
            <a:r>
              <a:rPr lang="en-US" dirty="0"/>
              <a:t> </a:t>
            </a:r>
            <a:r>
              <a:rPr lang="en-US" dirty="0" err="1"/>
              <a:t>raste</a:t>
            </a:r>
            <a:r>
              <a:rPr lang="en-US" dirty="0"/>
              <a:t> </a:t>
            </a:r>
            <a:r>
              <a:rPr lang="en-US" dirty="0" err="1"/>
              <a:t>vertikalno</a:t>
            </a:r>
            <a:r>
              <a:rPr lang="en-US" dirty="0"/>
              <a:t> </a:t>
            </a:r>
            <a:r>
              <a:rPr lang="en-US" dirty="0" err="1"/>
              <a:t>i</a:t>
            </a:r>
            <a:r>
              <a:rPr lang="en-US" dirty="0"/>
              <a:t> </a:t>
            </a:r>
            <a:r>
              <a:rPr lang="en-US" dirty="0" err="1"/>
              <a:t>povećava</a:t>
            </a:r>
            <a:r>
              <a:rPr lang="en-US" dirty="0"/>
              <a:t> se </a:t>
            </a:r>
            <a:r>
              <a:rPr lang="en-US" dirty="0" err="1"/>
              <a:t>njegova</a:t>
            </a:r>
            <a:r>
              <a:rPr lang="en-US" dirty="0"/>
              <a:t> </a:t>
            </a:r>
            <a:r>
              <a:rPr lang="en-US" dirty="0" err="1"/>
              <a:t>dubina</a:t>
            </a:r>
            <a:r>
              <a:rPr lang="en-US" dirty="0"/>
              <a:t>.</a:t>
            </a:r>
            <a:r>
              <a:rPr lang="sr-Latn-RS" dirty="0"/>
              <a:t> </a:t>
            </a:r>
            <a:r>
              <a:rPr lang="en-US" dirty="0"/>
              <a:t>Da bi se </a:t>
            </a:r>
            <a:r>
              <a:rPr lang="en-US" dirty="0" err="1"/>
              <a:t>odložio</a:t>
            </a:r>
            <a:r>
              <a:rPr lang="en-US" dirty="0"/>
              <a:t> Page Split, Firebird </a:t>
            </a:r>
            <a:r>
              <a:rPr lang="en-US" dirty="0" err="1"/>
              <a:t>koristi</a:t>
            </a:r>
            <a:r>
              <a:rPr lang="en-US" dirty="0"/>
              <a:t> </a:t>
            </a:r>
            <a:r>
              <a:rPr lang="en-US" b="1" dirty="0"/>
              <a:t>Fill Factor</a:t>
            </a:r>
            <a:r>
              <a:rPr lang="en-US" dirty="0"/>
              <a:t> — </a:t>
            </a:r>
            <a:r>
              <a:rPr lang="en-US" dirty="0" err="1"/>
              <a:t>stranice</a:t>
            </a:r>
            <a:r>
              <a:rPr lang="en-US" dirty="0"/>
              <a:t> se </a:t>
            </a:r>
            <a:r>
              <a:rPr lang="en-US" dirty="0" err="1"/>
              <a:t>pune</a:t>
            </a:r>
            <a:r>
              <a:rPr lang="en-US" dirty="0"/>
              <a:t> </a:t>
            </a:r>
            <a:r>
              <a:rPr lang="en-US" dirty="0" err="1"/>
              <a:t>samo</a:t>
            </a:r>
            <a:r>
              <a:rPr lang="en-US" dirty="0"/>
              <a:t> 80-90%, </a:t>
            </a:r>
            <a:r>
              <a:rPr lang="en-US" dirty="0" err="1"/>
              <a:t>ostavljajući</a:t>
            </a:r>
            <a:r>
              <a:rPr lang="en-US" dirty="0"/>
              <a:t> </a:t>
            </a:r>
            <a:r>
              <a:rPr lang="en-US" dirty="0" err="1"/>
              <a:t>rezervni</a:t>
            </a:r>
            <a:r>
              <a:rPr lang="en-US" dirty="0"/>
              <a:t> </a:t>
            </a:r>
            <a:r>
              <a:rPr lang="en-US" dirty="0" err="1"/>
              <a:t>prostor</a:t>
            </a:r>
            <a:r>
              <a:rPr lang="en-US" dirty="0"/>
              <a:t> za </a:t>
            </a:r>
            <a:r>
              <a:rPr lang="en-US" dirty="0" err="1"/>
              <a:t>nove</a:t>
            </a:r>
            <a:r>
              <a:rPr lang="en-US" dirty="0"/>
              <a:t> </a:t>
            </a:r>
            <a:r>
              <a:rPr lang="en-US" dirty="0" err="1"/>
              <a:t>ključeve</a:t>
            </a:r>
            <a:r>
              <a:rPr lang="en-US" dirty="0"/>
              <a:t> </a:t>
            </a:r>
            <a:r>
              <a:rPr lang="en-US" dirty="0" err="1"/>
              <a:t>i</a:t>
            </a:r>
            <a:r>
              <a:rPr lang="en-US" dirty="0"/>
              <a:t> </a:t>
            </a:r>
            <a:r>
              <a:rPr lang="en-US" dirty="0" err="1"/>
              <a:t>sprečavajući</a:t>
            </a:r>
            <a:r>
              <a:rPr lang="en-US" dirty="0"/>
              <a:t> </a:t>
            </a:r>
            <a:r>
              <a:rPr lang="en-US" dirty="0" err="1"/>
              <a:t>preuranjenu</a:t>
            </a:r>
            <a:r>
              <a:rPr lang="en-US" dirty="0"/>
              <a:t> </a:t>
            </a:r>
            <a:r>
              <a:rPr lang="en-US" dirty="0" err="1"/>
              <a:t>fragmentaciju</a:t>
            </a:r>
            <a:r>
              <a:rPr lang="en-US" dirty="0"/>
              <a:t>.</a:t>
            </a:r>
            <a:r>
              <a:rPr lang="sr-Latn-RS" dirty="0"/>
              <a:t> </a:t>
            </a:r>
            <a:r>
              <a:rPr lang="en-US" dirty="0" err="1"/>
              <a:t>Ključna</a:t>
            </a:r>
            <a:r>
              <a:rPr lang="en-US" dirty="0"/>
              <a:t> </a:t>
            </a:r>
            <a:r>
              <a:rPr lang="en-US" dirty="0" err="1"/>
              <a:t>prednost</a:t>
            </a:r>
            <a:r>
              <a:rPr lang="en-US" dirty="0"/>
              <a:t> B+ </a:t>
            </a:r>
            <a:r>
              <a:rPr lang="en-US" dirty="0" err="1"/>
              <a:t>stabla</a:t>
            </a:r>
            <a:r>
              <a:rPr lang="en-US" dirty="0"/>
              <a:t> je </a:t>
            </a:r>
            <a:r>
              <a:rPr lang="en-US" b="1" dirty="0" err="1"/>
              <a:t>konstantna</a:t>
            </a:r>
            <a:r>
              <a:rPr lang="en-US" b="1" dirty="0"/>
              <a:t> </a:t>
            </a:r>
            <a:r>
              <a:rPr lang="en-US" b="1" dirty="0" err="1"/>
              <a:t>dubina</a:t>
            </a:r>
            <a:r>
              <a:rPr lang="en-US" dirty="0"/>
              <a:t> — put od </a:t>
            </a:r>
            <a:r>
              <a:rPr lang="en-US" dirty="0" err="1"/>
              <a:t>korena</a:t>
            </a:r>
            <a:r>
              <a:rPr lang="en-US" dirty="0"/>
              <a:t> do </a:t>
            </a:r>
            <a:r>
              <a:rPr lang="en-US" dirty="0" err="1"/>
              <a:t>bilo</a:t>
            </a:r>
            <a:r>
              <a:rPr lang="en-US" dirty="0"/>
              <a:t> </a:t>
            </a:r>
            <a:r>
              <a:rPr lang="en-US" dirty="0" err="1"/>
              <a:t>kog</a:t>
            </a:r>
            <a:r>
              <a:rPr lang="en-US" dirty="0"/>
              <a:t> </a:t>
            </a:r>
            <a:r>
              <a:rPr lang="en-US" dirty="0" err="1"/>
              <a:t>lista</a:t>
            </a:r>
            <a:r>
              <a:rPr lang="en-US" dirty="0"/>
              <a:t> je </a:t>
            </a:r>
            <a:r>
              <a:rPr lang="en-US" dirty="0" err="1"/>
              <a:t>uvek</a:t>
            </a:r>
            <a:r>
              <a:rPr lang="en-US" dirty="0"/>
              <a:t> </a:t>
            </a:r>
            <a:r>
              <a:rPr lang="en-US" dirty="0" err="1"/>
              <a:t>iste</a:t>
            </a:r>
            <a:r>
              <a:rPr lang="en-US" dirty="0"/>
              <a:t> </a:t>
            </a:r>
            <a:r>
              <a:rPr lang="en-US" dirty="0" err="1"/>
              <a:t>dužine</a:t>
            </a:r>
            <a:r>
              <a:rPr lang="en-US" dirty="0"/>
              <a:t>, </a:t>
            </a:r>
            <a:r>
              <a:rPr lang="en-US" dirty="0" err="1"/>
              <a:t>što</a:t>
            </a:r>
            <a:r>
              <a:rPr lang="en-US" dirty="0"/>
              <a:t> </a:t>
            </a:r>
            <a:r>
              <a:rPr lang="en-US" dirty="0" err="1"/>
              <a:t>garantuje</a:t>
            </a:r>
            <a:r>
              <a:rPr lang="en-US" dirty="0"/>
              <a:t> </a:t>
            </a:r>
            <a:r>
              <a:rPr lang="en-US" dirty="0" err="1"/>
              <a:t>predvidiv</a:t>
            </a:r>
            <a:r>
              <a:rPr lang="en-US" dirty="0"/>
              <a:t> </a:t>
            </a:r>
            <a:r>
              <a:rPr lang="en-US" dirty="0" err="1"/>
              <a:t>i</a:t>
            </a:r>
            <a:r>
              <a:rPr lang="en-US" dirty="0"/>
              <a:t> </a:t>
            </a:r>
            <a:r>
              <a:rPr lang="en-US" dirty="0" err="1"/>
              <a:t>konstantan</a:t>
            </a:r>
            <a:r>
              <a:rPr lang="en-US" dirty="0"/>
              <a:t> </a:t>
            </a:r>
            <a:r>
              <a:rPr lang="en-US" dirty="0" err="1"/>
              <a:t>broj</a:t>
            </a:r>
            <a:r>
              <a:rPr lang="en-US" dirty="0"/>
              <a:t> I/O </a:t>
            </a:r>
            <a:r>
              <a:rPr lang="en-US" dirty="0" err="1"/>
              <a:t>operacija</a:t>
            </a:r>
            <a:r>
              <a:rPr lang="en-US" dirty="0"/>
              <a:t> bez </a:t>
            </a:r>
            <a:r>
              <a:rPr lang="en-US" dirty="0" err="1"/>
              <a:t>obzira</a:t>
            </a:r>
            <a:r>
              <a:rPr lang="en-US" dirty="0"/>
              <a:t> </a:t>
            </a:r>
            <a:r>
              <a:rPr lang="en-US" dirty="0" err="1"/>
              <a:t>na</a:t>
            </a:r>
            <a:r>
              <a:rPr lang="en-US" dirty="0"/>
              <a:t> </a:t>
            </a:r>
            <a:r>
              <a:rPr lang="en-US" dirty="0" err="1"/>
              <a:t>veličinu</a:t>
            </a:r>
            <a:r>
              <a:rPr lang="en-US" dirty="0"/>
              <a:t> </a:t>
            </a:r>
            <a:r>
              <a:rPr lang="en-US" dirty="0" err="1"/>
              <a:t>tabele</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Prefiksna</a:t>
            </a:r>
            <a:r>
              <a:rPr lang="en-US" dirty="0"/>
              <a:t> </a:t>
            </a:r>
            <a:r>
              <a:rPr lang="en-US" dirty="0" err="1"/>
              <a:t>kompresija</a:t>
            </a:r>
            <a:r>
              <a:rPr lang="en-US" dirty="0"/>
              <a:t> je </a:t>
            </a:r>
            <a:r>
              <a:rPr lang="en-US" dirty="0" err="1"/>
              <a:t>tehnika</a:t>
            </a:r>
            <a:r>
              <a:rPr lang="en-US" dirty="0"/>
              <a:t> </a:t>
            </a:r>
            <a:r>
              <a:rPr lang="en-US" dirty="0" err="1"/>
              <a:t>kojom</a:t>
            </a:r>
            <a:r>
              <a:rPr lang="en-US" dirty="0"/>
              <a:t> Firebird </a:t>
            </a:r>
            <a:r>
              <a:rPr lang="en-US" dirty="0" err="1"/>
              <a:t>smanjuje</a:t>
            </a:r>
            <a:r>
              <a:rPr lang="en-US" dirty="0"/>
              <a:t> </a:t>
            </a:r>
            <a:r>
              <a:rPr lang="en-US" dirty="0" err="1"/>
              <a:t>prostor</a:t>
            </a:r>
            <a:r>
              <a:rPr lang="en-US" dirty="0"/>
              <a:t> koji </a:t>
            </a:r>
            <a:r>
              <a:rPr lang="en-US" dirty="0" err="1"/>
              <a:t>indeksi</a:t>
            </a:r>
            <a:r>
              <a:rPr lang="en-US" dirty="0"/>
              <a:t> </a:t>
            </a:r>
            <a:r>
              <a:rPr lang="en-US" dirty="0" err="1"/>
              <a:t>zauzimaju</a:t>
            </a:r>
            <a:r>
              <a:rPr lang="en-US" dirty="0"/>
              <a:t> — </a:t>
            </a:r>
            <a:r>
              <a:rPr lang="en-US" dirty="0" err="1"/>
              <a:t>umesto</a:t>
            </a:r>
            <a:r>
              <a:rPr lang="en-US" dirty="0"/>
              <a:t> da </a:t>
            </a:r>
            <a:r>
              <a:rPr lang="en-US" dirty="0" err="1"/>
              <a:t>čuva</a:t>
            </a:r>
            <a:r>
              <a:rPr lang="en-US" dirty="0"/>
              <a:t> </a:t>
            </a:r>
            <a:r>
              <a:rPr lang="en-US" dirty="0" err="1"/>
              <a:t>svaki</a:t>
            </a:r>
            <a:r>
              <a:rPr lang="en-US" dirty="0"/>
              <a:t> </a:t>
            </a:r>
            <a:r>
              <a:rPr lang="en-US" dirty="0" err="1"/>
              <a:t>ključ</a:t>
            </a:r>
            <a:r>
              <a:rPr lang="en-US" dirty="0"/>
              <a:t> u </a:t>
            </a:r>
            <a:r>
              <a:rPr lang="en-US" dirty="0" err="1"/>
              <a:t>celosti</a:t>
            </a:r>
            <a:r>
              <a:rPr lang="en-US" dirty="0"/>
              <a:t>, </a:t>
            </a:r>
            <a:r>
              <a:rPr lang="en-US" dirty="0" err="1"/>
              <a:t>čuva</a:t>
            </a:r>
            <a:r>
              <a:rPr lang="en-US" dirty="0"/>
              <a:t> </a:t>
            </a:r>
            <a:r>
              <a:rPr lang="en-US" dirty="0" err="1"/>
              <a:t>samo</a:t>
            </a:r>
            <a:r>
              <a:rPr lang="en-US" dirty="0"/>
              <a:t> deo koji se </a:t>
            </a:r>
            <a:r>
              <a:rPr lang="en-US" dirty="0" err="1"/>
              <a:t>razlikuje</a:t>
            </a:r>
            <a:r>
              <a:rPr lang="en-US" dirty="0"/>
              <a:t> od </a:t>
            </a:r>
            <a:r>
              <a:rPr lang="en-US" dirty="0" err="1"/>
              <a:t>prethodnog</a:t>
            </a:r>
            <a:r>
              <a:rPr lang="en-US" dirty="0"/>
              <a:t> </a:t>
            </a:r>
            <a:r>
              <a:rPr lang="en-US" dirty="0" err="1"/>
              <a:t>ključa</a:t>
            </a:r>
            <a:r>
              <a:rPr lang="en-US" dirty="0"/>
              <a:t>.</a:t>
            </a:r>
          </a:p>
          <a:p>
            <a:r>
              <a:rPr lang="en-US" dirty="0"/>
              <a:t>Na </a:t>
            </a:r>
            <a:r>
              <a:rPr lang="en-US" dirty="0" err="1"/>
              <a:t>primeru</a:t>
            </a:r>
            <a:r>
              <a:rPr lang="en-US" dirty="0"/>
              <a:t> </a:t>
            </a:r>
            <a:r>
              <a:rPr lang="en-US" dirty="0" err="1"/>
              <a:t>prezimena</a:t>
            </a:r>
            <a:r>
              <a:rPr lang="en-US" dirty="0"/>
              <a:t> — "Petrov" se </a:t>
            </a:r>
            <a:r>
              <a:rPr lang="en-US" dirty="0" err="1"/>
              <a:t>čuva</a:t>
            </a:r>
            <a:r>
              <a:rPr lang="en-US" dirty="0"/>
              <a:t> </a:t>
            </a:r>
            <a:r>
              <a:rPr lang="en-US" dirty="0" err="1"/>
              <a:t>ceo</a:t>
            </a:r>
            <a:r>
              <a:rPr lang="en-US" dirty="0"/>
              <a:t>, "Petrović" </a:t>
            </a:r>
            <a:r>
              <a:rPr lang="en-US" dirty="0" err="1"/>
              <a:t>čuva</a:t>
            </a:r>
            <a:r>
              <a:rPr lang="en-US" dirty="0"/>
              <a:t> </a:t>
            </a:r>
            <a:r>
              <a:rPr lang="en-US" dirty="0" err="1"/>
              <a:t>samo</a:t>
            </a:r>
            <a:r>
              <a:rPr lang="en-US" dirty="0"/>
              <a:t> "</a:t>
            </a:r>
            <a:r>
              <a:rPr lang="en-US" dirty="0" err="1"/>
              <a:t>ić</a:t>
            </a:r>
            <a:r>
              <a:rPr lang="en-US" dirty="0"/>
              <a:t>" </a:t>
            </a:r>
            <a:r>
              <a:rPr lang="en-US" dirty="0" err="1"/>
              <a:t>jer</a:t>
            </a:r>
            <a:r>
              <a:rPr lang="en-US" dirty="0"/>
              <a:t> </a:t>
            </a:r>
            <a:r>
              <a:rPr lang="en-US" dirty="0" err="1"/>
              <a:t>prvih</a:t>
            </a:r>
            <a:r>
              <a:rPr lang="en-US" dirty="0"/>
              <a:t> 6 </a:t>
            </a:r>
            <a:r>
              <a:rPr lang="en-US" dirty="0" err="1"/>
              <a:t>slova</a:t>
            </a:r>
            <a:r>
              <a:rPr lang="en-US" dirty="0"/>
              <a:t> </a:t>
            </a:r>
            <a:r>
              <a:rPr lang="en-US" dirty="0" err="1"/>
              <a:t>su</a:t>
            </a:r>
            <a:r>
              <a:rPr lang="en-US" dirty="0"/>
              <a:t> </a:t>
            </a:r>
            <a:r>
              <a:rPr lang="en-US" dirty="0" err="1"/>
              <a:t>ista</a:t>
            </a:r>
            <a:r>
              <a:rPr lang="en-US" dirty="0"/>
              <a:t> </a:t>
            </a:r>
            <a:r>
              <a:rPr lang="en-US" dirty="0" err="1"/>
              <a:t>kao</a:t>
            </a:r>
            <a:r>
              <a:rPr lang="en-US" dirty="0"/>
              <a:t> </a:t>
            </a:r>
            <a:r>
              <a:rPr lang="en-US" dirty="0" err="1"/>
              <a:t>kod</a:t>
            </a:r>
            <a:r>
              <a:rPr lang="en-US" dirty="0"/>
              <a:t> "Petrov", a "</a:t>
            </a:r>
            <a:r>
              <a:rPr lang="en-US" dirty="0" err="1"/>
              <a:t>Petronijević</a:t>
            </a:r>
            <a:r>
              <a:rPr lang="en-US" dirty="0"/>
              <a:t>" </a:t>
            </a:r>
            <a:r>
              <a:rPr lang="en-US" dirty="0" err="1"/>
              <a:t>čuva</a:t>
            </a:r>
            <a:r>
              <a:rPr lang="en-US" dirty="0"/>
              <a:t> </a:t>
            </a:r>
            <a:r>
              <a:rPr lang="en-US" dirty="0" err="1"/>
              <a:t>samo</a:t>
            </a:r>
            <a:r>
              <a:rPr lang="en-US" dirty="0"/>
              <a:t> "</a:t>
            </a:r>
            <a:r>
              <a:rPr lang="en-US" dirty="0" err="1"/>
              <a:t>nijević</a:t>
            </a:r>
            <a:r>
              <a:rPr lang="en-US" dirty="0"/>
              <a:t>" </a:t>
            </a:r>
            <a:r>
              <a:rPr lang="en-US" dirty="0" err="1"/>
              <a:t>jer</a:t>
            </a:r>
            <a:r>
              <a:rPr lang="en-US" dirty="0"/>
              <a:t> </a:t>
            </a:r>
            <a:r>
              <a:rPr lang="en-US" dirty="0" err="1"/>
              <a:t>prvih</a:t>
            </a:r>
            <a:r>
              <a:rPr lang="en-US" dirty="0"/>
              <a:t> 5 </a:t>
            </a:r>
            <a:r>
              <a:rPr lang="en-US" dirty="0" err="1"/>
              <a:t>slova</a:t>
            </a:r>
            <a:r>
              <a:rPr lang="en-US" dirty="0"/>
              <a:t> deli </a:t>
            </a:r>
            <a:r>
              <a:rPr lang="en-US" dirty="0" err="1"/>
              <a:t>sa</a:t>
            </a:r>
            <a:r>
              <a:rPr lang="en-US" dirty="0"/>
              <a:t> "Petrov".</a:t>
            </a:r>
          </a:p>
          <a:p>
            <a:r>
              <a:rPr lang="en-US" dirty="0"/>
              <a:t>Ova </a:t>
            </a:r>
            <a:r>
              <a:rPr lang="en-US" dirty="0" err="1"/>
              <a:t>tehnika</a:t>
            </a:r>
            <a:r>
              <a:rPr lang="en-US" dirty="0"/>
              <a:t> </a:t>
            </a:r>
            <a:r>
              <a:rPr lang="en-US" dirty="0" err="1"/>
              <a:t>može</a:t>
            </a:r>
            <a:r>
              <a:rPr lang="en-US" dirty="0"/>
              <a:t> </a:t>
            </a:r>
            <a:r>
              <a:rPr lang="en-US" dirty="0" err="1"/>
              <a:t>smanjiti</a:t>
            </a:r>
            <a:r>
              <a:rPr lang="en-US" dirty="0"/>
              <a:t> </a:t>
            </a:r>
            <a:r>
              <a:rPr lang="en-US" dirty="0" err="1"/>
              <a:t>ukupnu</a:t>
            </a:r>
            <a:r>
              <a:rPr lang="en-US" dirty="0"/>
              <a:t> </a:t>
            </a:r>
            <a:r>
              <a:rPr lang="en-US" dirty="0" err="1"/>
              <a:t>veličinu</a:t>
            </a:r>
            <a:r>
              <a:rPr lang="en-US" dirty="0"/>
              <a:t> </a:t>
            </a:r>
            <a:r>
              <a:rPr lang="en-US" dirty="0" err="1"/>
              <a:t>indeksa</a:t>
            </a:r>
            <a:r>
              <a:rPr lang="en-US" dirty="0"/>
              <a:t> za </a:t>
            </a:r>
            <a:r>
              <a:rPr lang="en-US" dirty="0" err="1"/>
              <a:t>više</a:t>
            </a:r>
            <a:r>
              <a:rPr lang="en-US" dirty="0"/>
              <a:t> od 50%, </a:t>
            </a:r>
            <a:r>
              <a:rPr lang="en-US" dirty="0" err="1"/>
              <a:t>naročito</a:t>
            </a:r>
            <a:r>
              <a:rPr lang="en-US" dirty="0"/>
              <a:t> </a:t>
            </a:r>
            <a:r>
              <a:rPr lang="en-US" dirty="0" err="1"/>
              <a:t>kod</a:t>
            </a:r>
            <a:r>
              <a:rPr lang="en-US" dirty="0"/>
              <a:t> </a:t>
            </a:r>
            <a:r>
              <a:rPr lang="en-US" dirty="0" err="1"/>
              <a:t>kompozitnih</a:t>
            </a:r>
            <a:r>
              <a:rPr lang="en-US" dirty="0"/>
              <a:t> </a:t>
            </a:r>
            <a:r>
              <a:rPr lang="en-US" dirty="0" err="1"/>
              <a:t>indeksa</a:t>
            </a:r>
            <a:r>
              <a:rPr lang="en-US" dirty="0"/>
              <a:t> </a:t>
            </a:r>
            <a:r>
              <a:rPr lang="en-US" dirty="0" err="1"/>
              <a:t>gde</a:t>
            </a:r>
            <a:r>
              <a:rPr lang="en-US" dirty="0"/>
              <a:t> se </a:t>
            </a:r>
            <a:r>
              <a:rPr lang="en-US" dirty="0" err="1"/>
              <a:t>vodeći</a:t>
            </a:r>
            <a:r>
              <a:rPr lang="en-US" dirty="0"/>
              <a:t> </a:t>
            </a:r>
            <a:r>
              <a:rPr lang="en-US" dirty="0" err="1"/>
              <a:t>segmenti</a:t>
            </a:r>
            <a:r>
              <a:rPr lang="en-US" dirty="0"/>
              <a:t> </a:t>
            </a:r>
            <a:r>
              <a:rPr lang="en-US" dirty="0" err="1"/>
              <a:t>ponavljaju</a:t>
            </a:r>
            <a:r>
              <a:rPr lang="en-US" dirty="0"/>
              <a:t> u </a:t>
            </a:r>
            <a:r>
              <a:rPr lang="en-US" dirty="0" err="1"/>
              <a:t>hiljadama</a:t>
            </a:r>
            <a:r>
              <a:rPr lang="en-US" dirty="0"/>
              <a:t> </a:t>
            </a:r>
            <a:r>
              <a:rPr lang="en-US" dirty="0" err="1"/>
              <a:t>redova</a:t>
            </a:r>
            <a:r>
              <a:rPr lang="en-US" dirty="0"/>
              <a:t>.</a:t>
            </a:r>
          </a:p>
          <a:p>
            <a:r>
              <a:rPr lang="en-US" dirty="0" err="1"/>
              <a:t>Kod</a:t>
            </a:r>
            <a:r>
              <a:rPr lang="en-US" dirty="0"/>
              <a:t> non-unique </a:t>
            </a:r>
            <a:r>
              <a:rPr lang="en-US" dirty="0" err="1"/>
              <a:t>indeksa</a:t>
            </a:r>
            <a:r>
              <a:rPr lang="en-US" dirty="0"/>
              <a:t> koji </a:t>
            </a:r>
            <a:r>
              <a:rPr lang="en-US" dirty="0" err="1"/>
              <a:t>dozvoljavaju</a:t>
            </a:r>
            <a:r>
              <a:rPr lang="en-US" dirty="0"/>
              <a:t> </a:t>
            </a:r>
            <a:r>
              <a:rPr lang="en-US" dirty="0" err="1"/>
              <a:t>duplikate</a:t>
            </a:r>
            <a:r>
              <a:rPr lang="en-US" dirty="0"/>
              <a:t>, Firebird ne </a:t>
            </a:r>
            <a:r>
              <a:rPr lang="en-US" dirty="0" err="1"/>
              <a:t>ponavlja</a:t>
            </a:r>
            <a:r>
              <a:rPr lang="en-US" dirty="0"/>
              <a:t> </a:t>
            </a:r>
            <a:r>
              <a:rPr lang="en-US" dirty="0" err="1"/>
              <a:t>isti</a:t>
            </a:r>
            <a:r>
              <a:rPr lang="en-US" dirty="0"/>
              <a:t> </a:t>
            </a:r>
            <a:r>
              <a:rPr lang="en-US" dirty="0" err="1"/>
              <a:t>ključ</a:t>
            </a:r>
            <a:r>
              <a:rPr lang="en-US" dirty="0"/>
              <a:t> za </a:t>
            </a:r>
            <a:r>
              <a:rPr lang="en-US" dirty="0" err="1"/>
              <a:t>svaki</a:t>
            </a:r>
            <a:r>
              <a:rPr lang="en-US" dirty="0"/>
              <a:t> red — </a:t>
            </a:r>
            <a:r>
              <a:rPr lang="en-US" dirty="0" err="1"/>
              <a:t>umesto</a:t>
            </a:r>
            <a:r>
              <a:rPr lang="en-US" dirty="0"/>
              <a:t> toga </a:t>
            </a:r>
            <a:r>
              <a:rPr lang="en-US" dirty="0" err="1"/>
              <a:t>grupiše</a:t>
            </a:r>
            <a:r>
              <a:rPr lang="en-US" dirty="0"/>
              <a:t> </a:t>
            </a:r>
            <a:r>
              <a:rPr lang="en-US" dirty="0" err="1"/>
              <a:t>sve</a:t>
            </a:r>
            <a:r>
              <a:rPr lang="en-US" dirty="0"/>
              <a:t> RDB$DB_KEY </a:t>
            </a:r>
            <a:r>
              <a:rPr lang="en-US" dirty="0" err="1"/>
              <a:t>adrese</a:t>
            </a:r>
            <a:r>
              <a:rPr lang="en-US" dirty="0"/>
              <a:t> pod </a:t>
            </a:r>
            <a:r>
              <a:rPr lang="en-US" dirty="0" err="1"/>
              <a:t>jednom</a:t>
            </a:r>
            <a:r>
              <a:rPr lang="en-US" dirty="0"/>
              <a:t> </a:t>
            </a:r>
            <a:r>
              <a:rPr lang="en-US" dirty="0" err="1"/>
              <a:t>binarnom</a:t>
            </a:r>
            <a:r>
              <a:rPr lang="en-US" dirty="0"/>
              <a:t> </a:t>
            </a:r>
            <a:r>
              <a:rPr lang="en-US" dirty="0" err="1"/>
              <a:t>reprezentacijom</a:t>
            </a:r>
            <a:r>
              <a:rPr lang="en-US" dirty="0"/>
              <a:t> </a:t>
            </a:r>
            <a:r>
              <a:rPr lang="en-US" dirty="0" err="1"/>
              <a:t>ključa</a:t>
            </a:r>
            <a:r>
              <a:rPr lang="en-US" dirty="0"/>
              <a:t>, </a:t>
            </a:r>
            <a:r>
              <a:rPr lang="en-US" dirty="0" err="1"/>
              <a:t>što</a:t>
            </a:r>
            <a:r>
              <a:rPr lang="en-US" dirty="0"/>
              <a:t> </a:t>
            </a:r>
            <a:r>
              <a:rPr lang="en-US" dirty="0" err="1"/>
              <a:t>štedi</a:t>
            </a:r>
            <a:r>
              <a:rPr lang="en-US" dirty="0"/>
              <a:t> </a:t>
            </a:r>
            <a:r>
              <a:rPr lang="en-US" dirty="0" err="1"/>
              <a:t>prostor</a:t>
            </a:r>
            <a:r>
              <a:rPr lang="en-US" dirty="0"/>
              <a:t> u Buffer Pool-u.</a:t>
            </a:r>
          </a:p>
          <a:p>
            <a:r>
              <a:rPr lang="en-US" dirty="0"/>
              <a:t>NULL </a:t>
            </a:r>
            <a:r>
              <a:rPr lang="en-US" dirty="0" err="1"/>
              <a:t>vrednosti</a:t>
            </a:r>
            <a:r>
              <a:rPr lang="en-US" dirty="0"/>
              <a:t> Firebird </a:t>
            </a:r>
            <a:r>
              <a:rPr lang="en-US" dirty="0" err="1"/>
              <a:t>tretira</a:t>
            </a:r>
            <a:r>
              <a:rPr lang="en-US" dirty="0"/>
              <a:t> </a:t>
            </a:r>
            <a:r>
              <a:rPr lang="en-US" dirty="0" err="1"/>
              <a:t>kao</a:t>
            </a:r>
            <a:r>
              <a:rPr lang="en-US" dirty="0"/>
              <a:t> </a:t>
            </a:r>
            <a:r>
              <a:rPr lang="en-US" dirty="0" err="1"/>
              <a:t>ravnopravne</a:t>
            </a:r>
            <a:r>
              <a:rPr lang="en-US" dirty="0"/>
              <a:t> </a:t>
            </a:r>
            <a:r>
              <a:rPr lang="en-US" dirty="0" err="1"/>
              <a:t>elemente</a:t>
            </a:r>
            <a:r>
              <a:rPr lang="en-US" dirty="0"/>
              <a:t> </a:t>
            </a:r>
            <a:r>
              <a:rPr lang="en-US" dirty="0" err="1"/>
              <a:t>indeksa</a:t>
            </a:r>
            <a:r>
              <a:rPr lang="en-US" dirty="0"/>
              <a:t> — </a:t>
            </a:r>
            <a:r>
              <a:rPr lang="en-US" dirty="0" err="1"/>
              <a:t>pozicionira</a:t>
            </a:r>
            <a:r>
              <a:rPr lang="en-US" dirty="0"/>
              <a:t> </a:t>
            </a:r>
            <a:r>
              <a:rPr lang="en-US" dirty="0" err="1"/>
              <a:t>ih</a:t>
            </a:r>
            <a:r>
              <a:rPr lang="en-US" dirty="0"/>
              <a:t> </a:t>
            </a:r>
            <a:r>
              <a:rPr lang="en-US" dirty="0" err="1"/>
              <a:t>kao</a:t>
            </a:r>
            <a:r>
              <a:rPr lang="en-US" dirty="0"/>
              <a:t> </a:t>
            </a:r>
            <a:r>
              <a:rPr lang="en-US" dirty="0" err="1"/>
              <a:t>najmanje</a:t>
            </a:r>
            <a:r>
              <a:rPr lang="en-US" dirty="0"/>
              <a:t> </a:t>
            </a:r>
            <a:r>
              <a:rPr lang="en-US" dirty="0" err="1"/>
              <a:t>moguće</a:t>
            </a:r>
            <a:r>
              <a:rPr lang="en-US" dirty="0"/>
              <a:t> </a:t>
            </a:r>
            <a:r>
              <a:rPr lang="en-US" dirty="0" err="1"/>
              <a:t>vrednosti</a:t>
            </a:r>
            <a:r>
              <a:rPr lang="en-US" dirty="0"/>
              <a:t> </a:t>
            </a:r>
            <a:r>
              <a:rPr lang="en-US" dirty="0" err="1"/>
              <a:t>na</a:t>
            </a:r>
            <a:r>
              <a:rPr lang="en-US" dirty="0"/>
              <a:t> </a:t>
            </a:r>
            <a:r>
              <a:rPr lang="en-US" dirty="0" err="1"/>
              <a:t>samom</a:t>
            </a:r>
            <a:r>
              <a:rPr lang="en-US" dirty="0"/>
              <a:t> </a:t>
            </a:r>
            <a:r>
              <a:rPr lang="en-US" dirty="0" err="1"/>
              <a:t>početku</a:t>
            </a:r>
            <a:r>
              <a:rPr lang="en-US" dirty="0"/>
              <a:t> B+ </a:t>
            </a:r>
            <a:r>
              <a:rPr lang="en-US" dirty="0" err="1"/>
              <a:t>stabla</a:t>
            </a:r>
            <a:r>
              <a:rPr lang="en-US" dirty="0"/>
              <a:t>, </a:t>
            </a:r>
            <a:r>
              <a:rPr lang="en-US" dirty="0" err="1"/>
              <a:t>što</a:t>
            </a:r>
            <a:r>
              <a:rPr lang="en-US" dirty="0"/>
              <a:t> </a:t>
            </a:r>
            <a:r>
              <a:rPr lang="en-US" dirty="0" err="1"/>
              <a:t>znači</a:t>
            </a:r>
            <a:r>
              <a:rPr lang="en-US" dirty="0"/>
              <a:t> da </a:t>
            </a:r>
            <a:r>
              <a:rPr lang="en-US" dirty="0" err="1"/>
              <a:t>upiti</a:t>
            </a:r>
            <a:r>
              <a:rPr lang="en-US" dirty="0"/>
              <a:t> </a:t>
            </a:r>
            <a:r>
              <a:rPr lang="en-US" dirty="0" err="1"/>
              <a:t>sa</a:t>
            </a:r>
            <a:r>
              <a:rPr lang="en-US" dirty="0"/>
              <a:t> IS NULL </a:t>
            </a:r>
            <a:r>
              <a:rPr lang="en-US" dirty="0" err="1"/>
              <a:t>koriste</a:t>
            </a:r>
            <a:r>
              <a:rPr lang="en-US" dirty="0"/>
              <a:t> </a:t>
            </a:r>
            <a:r>
              <a:rPr lang="en-US" dirty="0" err="1"/>
              <a:t>indeksnu</a:t>
            </a:r>
            <a:r>
              <a:rPr lang="en-US" dirty="0"/>
              <a:t> </a:t>
            </a:r>
            <a:r>
              <a:rPr lang="en-US" dirty="0" err="1"/>
              <a:t>navigaciju</a:t>
            </a:r>
            <a:r>
              <a:rPr lang="en-US" dirty="0"/>
              <a:t> bez </a:t>
            </a:r>
            <a:r>
              <a:rPr lang="en-US" dirty="0" err="1"/>
              <a:t>skupog</a:t>
            </a:r>
            <a:r>
              <a:rPr lang="en-US" dirty="0"/>
              <a:t> Full Table Scan-a.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a:t>
            </a:r>
            <a:r>
              <a:rPr lang="en-US" dirty="0" err="1"/>
              <a:t>Firebirdu</a:t>
            </a:r>
            <a:r>
              <a:rPr lang="en-US" dirty="0"/>
              <a:t> </a:t>
            </a:r>
            <a:r>
              <a:rPr lang="en-US" dirty="0" err="1"/>
              <a:t>postoje</a:t>
            </a:r>
            <a:r>
              <a:rPr lang="en-US" dirty="0"/>
              <a:t> </a:t>
            </a:r>
            <a:r>
              <a:rPr lang="en-US" dirty="0" err="1"/>
              <a:t>četiri</a:t>
            </a:r>
            <a:r>
              <a:rPr lang="en-US" dirty="0"/>
              <a:t> </a:t>
            </a:r>
            <a:r>
              <a:rPr lang="en-US" dirty="0" err="1"/>
              <a:t>tipa</a:t>
            </a:r>
            <a:r>
              <a:rPr lang="en-US" dirty="0"/>
              <a:t> </a:t>
            </a:r>
            <a:r>
              <a:rPr lang="en-US" dirty="0" err="1"/>
              <a:t>indeksa</a:t>
            </a:r>
            <a:r>
              <a:rPr lang="en-US" dirty="0"/>
              <a:t>, a </a:t>
            </a:r>
            <a:r>
              <a:rPr lang="en-US" dirty="0" err="1"/>
              <a:t>svaki</a:t>
            </a:r>
            <a:r>
              <a:rPr lang="en-US" dirty="0"/>
              <a:t> </a:t>
            </a:r>
            <a:r>
              <a:rPr lang="en-US" dirty="0" err="1"/>
              <a:t>ima</a:t>
            </a:r>
            <a:r>
              <a:rPr lang="en-US" dirty="0"/>
              <a:t> </a:t>
            </a:r>
            <a:r>
              <a:rPr lang="en-US" dirty="0" err="1"/>
              <a:t>specifičnu</a:t>
            </a:r>
            <a:r>
              <a:rPr lang="en-US" dirty="0"/>
              <a:t> </a:t>
            </a:r>
            <a:r>
              <a:rPr lang="en-US" dirty="0" err="1"/>
              <a:t>ulogu</a:t>
            </a:r>
            <a:r>
              <a:rPr lang="en-US" dirty="0"/>
              <a:t> u </a:t>
            </a:r>
            <a:r>
              <a:rPr lang="en-US" dirty="0" err="1"/>
              <a:t>održavanju</a:t>
            </a:r>
            <a:r>
              <a:rPr lang="en-US" dirty="0"/>
              <a:t> </a:t>
            </a:r>
            <a:r>
              <a:rPr lang="en-US" dirty="0" err="1"/>
              <a:t>performansi</a:t>
            </a:r>
            <a:r>
              <a:rPr lang="en-US" dirty="0"/>
              <a:t> </a:t>
            </a:r>
            <a:r>
              <a:rPr lang="en-US" dirty="0" err="1"/>
              <a:t>i</a:t>
            </a:r>
            <a:r>
              <a:rPr lang="en-US" dirty="0"/>
              <a:t> </a:t>
            </a:r>
            <a:r>
              <a:rPr lang="en-US" dirty="0" err="1"/>
              <a:t>integriteta</a:t>
            </a:r>
            <a:r>
              <a:rPr lang="en-US" dirty="0"/>
              <a:t> </a:t>
            </a:r>
            <a:r>
              <a:rPr lang="en-US" dirty="0" err="1"/>
              <a:t>baze</a:t>
            </a:r>
            <a:r>
              <a:rPr lang="en-US" dirty="0"/>
              <a:t>.</a:t>
            </a:r>
          </a:p>
          <a:p>
            <a:r>
              <a:rPr lang="en-US" dirty="0" err="1"/>
              <a:t>Primarni</a:t>
            </a:r>
            <a:r>
              <a:rPr lang="en-US" dirty="0"/>
              <a:t> </a:t>
            </a:r>
            <a:r>
              <a:rPr lang="en-US" dirty="0" err="1"/>
              <a:t>ključ</a:t>
            </a:r>
            <a:r>
              <a:rPr lang="en-US" dirty="0"/>
              <a:t> se </a:t>
            </a:r>
            <a:r>
              <a:rPr lang="en-US" dirty="0" err="1"/>
              <a:t>automatski</a:t>
            </a:r>
            <a:r>
              <a:rPr lang="en-US" dirty="0"/>
              <a:t> </a:t>
            </a:r>
            <a:r>
              <a:rPr lang="en-US" dirty="0" err="1"/>
              <a:t>kreira</a:t>
            </a:r>
            <a:r>
              <a:rPr lang="en-US" dirty="0"/>
              <a:t> </a:t>
            </a:r>
            <a:r>
              <a:rPr lang="en-US" dirty="0" err="1"/>
              <a:t>pri</a:t>
            </a:r>
            <a:r>
              <a:rPr lang="en-US" dirty="0"/>
              <a:t> </a:t>
            </a:r>
            <a:r>
              <a:rPr lang="en-US" dirty="0" err="1"/>
              <a:t>definisanju</a:t>
            </a:r>
            <a:r>
              <a:rPr lang="en-US" dirty="0"/>
              <a:t> PRIMARY KEY </a:t>
            </a:r>
            <a:r>
              <a:rPr lang="en-US" dirty="0" err="1"/>
              <a:t>ograničenja</a:t>
            </a:r>
            <a:r>
              <a:rPr lang="en-US" dirty="0"/>
              <a:t> </a:t>
            </a:r>
            <a:r>
              <a:rPr lang="en-US" dirty="0" err="1"/>
              <a:t>i</a:t>
            </a:r>
            <a:r>
              <a:rPr lang="en-US" dirty="0"/>
              <a:t> </a:t>
            </a:r>
            <a:r>
              <a:rPr lang="en-US" dirty="0" err="1"/>
              <a:t>ima</a:t>
            </a:r>
            <a:r>
              <a:rPr lang="en-US" dirty="0"/>
              <a:t> </a:t>
            </a:r>
            <a:r>
              <a:rPr lang="en-US" dirty="0" err="1"/>
              <a:t>najnižu</a:t>
            </a:r>
            <a:r>
              <a:rPr lang="en-US" dirty="0"/>
              <a:t> </a:t>
            </a:r>
            <a:r>
              <a:rPr lang="en-US" dirty="0" err="1"/>
              <a:t>moguću</a:t>
            </a:r>
            <a:r>
              <a:rPr lang="en-US" dirty="0"/>
              <a:t> </a:t>
            </a:r>
            <a:r>
              <a:rPr lang="en-US" dirty="0" err="1"/>
              <a:t>selektivnost</a:t>
            </a:r>
            <a:r>
              <a:rPr lang="en-US" dirty="0"/>
              <a:t> </a:t>
            </a:r>
            <a:r>
              <a:rPr lang="en-US" dirty="0" err="1"/>
              <a:t>jer</a:t>
            </a:r>
            <a:r>
              <a:rPr lang="en-US" dirty="0"/>
              <a:t> je </a:t>
            </a:r>
            <a:r>
              <a:rPr lang="en-US" dirty="0" err="1"/>
              <a:t>svaki</a:t>
            </a:r>
            <a:r>
              <a:rPr lang="en-US" dirty="0"/>
              <a:t> red </a:t>
            </a:r>
            <a:r>
              <a:rPr lang="en-US" dirty="0" err="1"/>
              <a:t>jedinstven</a:t>
            </a:r>
            <a:r>
              <a:rPr lang="en-US" dirty="0"/>
              <a:t> — </a:t>
            </a:r>
            <a:r>
              <a:rPr lang="en-US" dirty="0" err="1"/>
              <a:t>preporučuje</a:t>
            </a:r>
            <a:r>
              <a:rPr lang="en-US" dirty="0"/>
              <a:t> se </a:t>
            </a:r>
            <a:r>
              <a:rPr lang="en-US" dirty="0" err="1"/>
              <a:t>uski</a:t>
            </a:r>
            <a:r>
              <a:rPr lang="en-US" dirty="0"/>
              <a:t> tip </a:t>
            </a:r>
            <a:r>
              <a:rPr lang="en-US" dirty="0" err="1"/>
              <a:t>podatka</a:t>
            </a:r>
            <a:r>
              <a:rPr lang="en-US" dirty="0"/>
              <a:t> </a:t>
            </a:r>
            <a:r>
              <a:rPr lang="en-US" dirty="0" err="1"/>
              <a:t>poput</a:t>
            </a:r>
            <a:r>
              <a:rPr lang="en-US" dirty="0"/>
              <a:t> BIGINT </a:t>
            </a:r>
            <a:r>
              <a:rPr lang="en-US" dirty="0" err="1"/>
              <a:t>kako</a:t>
            </a:r>
            <a:r>
              <a:rPr lang="en-US" dirty="0"/>
              <a:t> bi </a:t>
            </a:r>
            <a:r>
              <a:rPr lang="en-US" dirty="0" err="1"/>
              <a:t>stablo</a:t>
            </a:r>
            <a:r>
              <a:rPr lang="en-US" dirty="0"/>
              <a:t> </a:t>
            </a:r>
            <a:r>
              <a:rPr lang="en-US" dirty="0" err="1"/>
              <a:t>bilo</a:t>
            </a:r>
            <a:r>
              <a:rPr lang="en-US" dirty="0"/>
              <a:t> </a:t>
            </a:r>
            <a:r>
              <a:rPr lang="en-US" dirty="0" err="1"/>
              <a:t>što</a:t>
            </a:r>
            <a:r>
              <a:rPr lang="en-US" dirty="0"/>
              <a:t> </a:t>
            </a:r>
            <a:r>
              <a:rPr lang="en-US" dirty="0" err="1"/>
              <a:t>pliće</a:t>
            </a:r>
            <a:r>
              <a:rPr lang="en-US" dirty="0"/>
              <a:t>.</a:t>
            </a:r>
          </a:p>
          <a:p>
            <a:r>
              <a:rPr lang="en-US" dirty="0" err="1"/>
              <a:t>Unikatni</a:t>
            </a:r>
            <a:r>
              <a:rPr lang="en-US" dirty="0"/>
              <a:t> </a:t>
            </a:r>
            <a:r>
              <a:rPr lang="en-US" dirty="0" err="1"/>
              <a:t>indeks</a:t>
            </a:r>
            <a:r>
              <a:rPr lang="en-US" dirty="0"/>
              <a:t> </a:t>
            </a:r>
            <a:r>
              <a:rPr lang="en-US" dirty="0" err="1"/>
              <a:t>koristi</a:t>
            </a:r>
            <a:r>
              <a:rPr lang="en-US" dirty="0"/>
              <a:t> </a:t>
            </a:r>
            <a:r>
              <a:rPr lang="en-US" dirty="0" err="1"/>
              <a:t>samo</a:t>
            </a:r>
            <a:r>
              <a:rPr lang="en-US" dirty="0"/>
              <a:t> B+ </a:t>
            </a:r>
            <a:r>
              <a:rPr lang="en-US" dirty="0" err="1"/>
              <a:t>stablo</a:t>
            </a:r>
            <a:r>
              <a:rPr lang="en-US" dirty="0"/>
              <a:t> </a:t>
            </a:r>
            <a:r>
              <a:rPr lang="en-US" dirty="0" err="1"/>
              <a:t>kao</a:t>
            </a:r>
            <a:r>
              <a:rPr lang="en-US" dirty="0"/>
              <a:t> </a:t>
            </a:r>
            <a:r>
              <a:rPr lang="en-US" dirty="0" err="1"/>
              <a:t>zaštitnu</a:t>
            </a:r>
            <a:r>
              <a:rPr lang="en-US" dirty="0"/>
              <a:t> </a:t>
            </a:r>
            <a:r>
              <a:rPr lang="en-US" dirty="0" err="1"/>
              <a:t>barijeru</a:t>
            </a:r>
            <a:r>
              <a:rPr lang="en-US" dirty="0"/>
              <a:t> </a:t>
            </a:r>
            <a:r>
              <a:rPr lang="en-US" dirty="0" err="1"/>
              <a:t>integriteta</a:t>
            </a:r>
            <a:r>
              <a:rPr lang="en-US" dirty="0"/>
              <a:t> — </a:t>
            </a:r>
            <a:r>
              <a:rPr lang="en-US" dirty="0" err="1"/>
              <a:t>pri</a:t>
            </a:r>
            <a:r>
              <a:rPr lang="en-US" dirty="0"/>
              <a:t> </a:t>
            </a:r>
            <a:r>
              <a:rPr lang="en-US" dirty="0" err="1"/>
              <a:t>svakom</a:t>
            </a:r>
            <a:r>
              <a:rPr lang="en-US" dirty="0"/>
              <a:t> INSERT-u engine </a:t>
            </a:r>
            <a:r>
              <a:rPr lang="en-US" dirty="0" err="1"/>
              <a:t>navigira</a:t>
            </a:r>
            <a:r>
              <a:rPr lang="en-US" dirty="0"/>
              <a:t> do </a:t>
            </a:r>
            <a:r>
              <a:rPr lang="en-US" dirty="0" err="1"/>
              <a:t>odgovarajućeg</a:t>
            </a:r>
            <a:r>
              <a:rPr lang="en-US" dirty="0"/>
              <a:t> </a:t>
            </a:r>
            <a:r>
              <a:rPr lang="en-US" dirty="0" err="1"/>
              <a:t>lista</a:t>
            </a:r>
            <a:r>
              <a:rPr lang="en-US" dirty="0"/>
              <a:t> </a:t>
            </a:r>
            <a:r>
              <a:rPr lang="en-US" dirty="0" err="1"/>
              <a:t>i</a:t>
            </a:r>
            <a:r>
              <a:rPr lang="en-US" dirty="0"/>
              <a:t> </a:t>
            </a:r>
            <a:r>
              <a:rPr lang="en-US" dirty="0" err="1"/>
              <a:t>ako</a:t>
            </a:r>
            <a:r>
              <a:rPr lang="en-US" dirty="0"/>
              <a:t> </a:t>
            </a:r>
            <a:r>
              <a:rPr lang="en-US" dirty="0" err="1"/>
              <a:t>pronađe</a:t>
            </a:r>
            <a:r>
              <a:rPr lang="en-US" dirty="0"/>
              <a:t> </a:t>
            </a:r>
            <a:r>
              <a:rPr lang="en-US" dirty="0" err="1"/>
              <a:t>identičan</a:t>
            </a:r>
            <a:r>
              <a:rPr lang="en-US" dirty="0"/>
              <a:t> </a:t>
            </a:r>
            <a:r>
              <a:rPr lang="en-US" dirty="0" err="1"/>
              <a:t>ključ</a:t>
            </a:r>
            <a:r>
              <a:rPr lang="en-US" dirty="0"/>
              <a:t>, </a:t>
            </a:r>
            <a:r>
              <a:rPr lang="en-US" dirty="0" err="1"/>
              <a:t>transakcija</a:t>
            </a:r>
            <a:r>
              <a:rPr lang="en-US" dirty="0"/>
              <a:t> se </a:t>
            </a:r>
            <a:r>
              <a:rPr lang="en-US" dirty="0" err="1"/>
              <a:t>odbija</a:t>
            </a:r>
            <a:r>
              <a:rPr lang="en-US" dirty="0"/>
              <a:t> pre </a:t>
            </a:r>
            <a:r>
              <a:rPr lang="en-US" dirty="0" err="1"/>
              <a:t>nego</a:t>
            </a:r>
            <a:r>
              <a:rPr lang="en-US" dirty="0"/>
              <a:t> </a:t>
            </a:r>
            <a:r>
              <a:rPr lang="en-US" dirty="0" err="1"/>
              <a:t>što</a:t>
            </a:r>
            <a:r>
              <a:rPr lang="en-US" dirty="0"/>
              <a:t> se </a:t>
            </a:r>
            <a:r>
              <a:rPr lang="en-US" dirty="0" err="1"/>
              <a:t>išta</a:t>
            </a:r>
            <a:r>
              <a:rPr lang="en-US" dirty="0"/>
              <a:t> </a:t>
            </a:r>
            <a:r>
              <a:rPr lang="en-US" dirty="0" err="1"/>
              <a:t>upiše</a:t>
            </a:r>
            <a:r>
              <a:rPr lang="en-US" dirty="0"/>
              <a:t> </a:t>
            </a:r>
            <a:r>
              <a:rPr lang="en-US" dirty="0" err="1"/>
              <a:t>na</a:t>
            </a:r>
            <a:r>
              <a:rPr lang="en-US" dirty="0"/>
              <a:t> disk.</a:t>
            </a:r>
          </a:p>
          <a:p>
            <a:r>
              <a:rPr lang="en-US" dirty="0" err="1"/>
              <a:t>Strani</a:t>
            </a:r>
            <a:r>
              <a:rPr lang="en-US" dirty="0"/>
              <a:t> </a:t>
            </a:r>
            <a:r>
              <a:rPr lang="en-US" dirty="0" err="1"/>
              <a:t>ključ</a:t>
            </a:r>
            <a:r>
              <a:rPr lang="en-US" dirty="0"/>
              <a:t> se </a:t>
            </a:r>
            <a:r>
              <a:rPr lang="en-US" dirty="0" err="1"/>
              <a:t>automatski</a:t>
            </a:r>
            <a:r>
              <a:rPr lang="en-US" dirty="0"/>
              <a:t> </a:t>
            </a:r>
            <a:r>
              <a:rPr lang="en-US" dirty="0" err="1"/>
              <a:t>kreira</a:t>
            </a:r>
            <a:r>
              <a:rPr lang="en-US" dirty="0"/>
              <a:t> </a:t>
            </a:r>
            <a:r>
              <a:rPr lang="en-US" dirty="0" err="1"/>
              <a:t>na</a:t>
            </a:r>
            <a:r>
              <a:rPr lang="en-US" dirty="0"/>
              <a:t> </a:t>
            </a:r>
            <a:r>
              <a:rPr lang="en-US" dirty="0" err="1"/>
              <a:t>strani</a:t>
            </a:r>
            <a:r>
              <a:rPr lang="en-US" dirty="0"/>
              <a:t> "</a:t>
            </a:r>
            <a:r>
              <a:rPr lang="en-US" dirty="0" err="1"/>
              <a:t>deteta</a:t>
            </a:r>
            <a:r>
              <a:rPr lang="en-US" dirty="0"/>
              <a:t>" </a:t>
            </a:r>
            <a:r>
              <a:rPr lang="en-US" dirty="0" err="1"/>
              <a:t>i</a:t>
            </a:r>
            <a:r>
              <a:rPr lang="en-US" dirty="0"/>
              <a:t> </a:t>
            </a:r>
            <a:r>
              <a:rPr lang="en-US" dirty="0" err="1"/>
              <a:t>omogućava</a:t>
            </a:r>
            <a:r>
              <a:rPr lang="en-US" dirty="0"/>
              <a:t> da engine </a:t>
            </a:r>
            <a:r>
              <a:rPr lang="en-US" dirty="0" err="1"/>
              <a:t>pri</a:t>
            </a:r>
            <a:r>
              <a:rPr lang="en-US" dirty="0"/>
              <a:t> </a:t>
            </a:r>
            <a:r>
              <a:rPr lang="en-US" dirty="0" err="1"/>
              <a:t>brisanju</a:t>
            </a:r>
            <a:r>
              <a:rPr lang="en-US" dirty="0"/>
              <a:t> </a:t>
            </a:r>
            <a:r>
              <a:rPr lang="en-US" dirty="0" err="1"/>
              <a:t>roditelja</a:t>
            </a:r>
            <a:r>
              <a:rPr lang="en-US" dirty="0"/>
              <a:t> </a:t>
            </a:r>
            <a:r>
              <a:rPr lang="en-US" dirty="0" err="1"/>
              <a:t>trenutno</a:t>
            </a:r>
            <a:r>
              <a:rPr lang="en-US" dirty="0"/>
              <a:t> </a:t>
            </a:r>
            <a:r>
              <a:rPr lang="en-US" dirty="0" err="1"/>
              <a:t>proveri</a:t>
            </a:r>
            <a:r>
              <a:rPr lang="en-US" dirty="0"/>
              <a:t> </a:t>
            </a:r>
            <a:r>
              <a:rPr lang="en-US" dirty="0" err="1"/>
              <a:t>postojanje</a:t>
            </a:r>
            <a:r>
              <a:rPr lang="en-US" dirty="0"/>
              <a:t> </a:t>
            </a:r>
            <a:r>
              <a:rPr lang="en-US" dirty="0" err="1"/>
              <a:t>zavisnih</a:t>
            </a:r>
            <a:r>
              <a:rPr lang="en-US" dirty="0"/>
              <a:t> </a:t>
            </a:r>
            <a:r>
              <a:rPr lang="en-US" dirty="0" err="1"/>
              <a:t>zapisa</a:t>
            </a:r>
            <a:r>
              <a:rPr lang="en-US" dirty="0"/>
              <a:t> bez </a:t>
            </a:r>
            <a:r>
              <a:rPr lang="en-US" dirty="0" err="1"/>
              <a:t>skeniranja</a:t>
            </a:r>
            <a:r>
              <a:rPr lang="en-US" dirty="0"/>
              <a:t> </a:t>
            </a:r>
            <a:r>
              <a:rPr lang="en-US" dirty="0" err="1"/>
              <a:t>cele</a:t>
            </a:r>
            <a:r>
              <a:rPr lang="en-US" dirty="0"/>
              <a:t> </a:t>
            </a:r>
            <a:r>
              <a:rPr lang="en-US" dirty="0" err="1"/>
              <a:t>tabele</a:t>
            </a:r>
            <a:r>
              <a:rPr lang="en-US" dirty="0"/>
              <a:t> — bez </a:t>
            </a:r>
            <a:r>
              <a:rPr lang="en-US" dirty="0" err="1"/>
              <a:t>ovog</a:t>
            </a:r>
            <a:r>
              <a:rPr lang="en-US" dirty="0"/>
              <a:t> </a:t>
            </a:r>
            <a:r>
              <a:rPr lang="en-US" dirty="0" err="1"/>
              <a:t>indeksa</a:t>
            </a:r>
            <a:r>
              <a:rPr lang="en-US" dirty="0"/>
              <a:t> </a:t>
            </a:r>
            <a:r>
              <a:rPr lang="en-US" dirty="0" err="1"/>
              <a:t>svaka</a:t>
            </a:r>
            <a:r>
              <a:rPr lang="en-US" dirty="0"/>
              <a:t> </a:t>
            </a:r>
            <a:r>
              <a:rPr lang="en-US" dirty="0" err="1"/>
              <a:t>provera</a:t>
            </a:r>
            <a:r>
              <a:rPr lang="en-US" dirty="0"/>
              <a:t> </a:t>
            </a:r>
            <a:r>
              <a:rPr lang="en-US" dirty="0" err="1"/>
              <a:t>integriteta</a:t>
            </a:r>
            <a:r>
              <a:rPr lang="en-US" dirty="0"/>
              <a:t> </a:t>
            </a:r>
            <a:r>
              <a:rPr lang="en-US" dirty="0" err="1"/>
              <a:t>bila</a:t>
            </a:r>
            <a:r>
              <a:rPr lang="en-US" dirty="0"/>
              <a:t> bi Full Table Scan.</a:t>
            </a:r>
          </a:p>
          <a:p>
            <a:r>
              <a:rPr lang="en-US" dirty="0"/>
              <a:t>Expression </a:t>
            </a:r>
            <a:r>
              <a:rPr lang="en-US" dirty="0" err="1"/>
              <a:t>indeks</a:t>
            </a:r>
            <a:r>
              <a:rPr lang="en-US" dirty="0"/>
              <a:t> se </a:t>
            </a:r>
            <a:r>
              <a:rPr lang="en-US" dirty="0" err="1"/>
              <a:t>razlikuje</a:t>
            </a:r>
            <a:r>
              <a:rPr lang="en-US" dirty="0"/>
              <a:t> od </a:t>
            </a:r>
            <a:r>
              <a:rPr lang="en-US" dirty="0" err="1"/>
              <a:t>ostalih</a:t>
            </a:r>
            <a:r>
              <a:rPr lang="en-US" dirty="0"/>
              <a:t> po tome </a:t>
            </a:r>
            <a:r>
              <a:rPr lang="en-US" dirty="0" err="1"/>
              <a:t>što</a:t>
            </a:r>
            <a:r>
              <a:rPr lang="en-US" dirty="0"/>
              <a:t> se </a:t>
            </a:r>
            <a:r>
              <a:rPr lang="en-US" dirty="0" err="1"/>
              <a:t>izraz</a:t>
            </a:r>
            <a:r>
              <a:rPr lang="en-US" dirty="0"/>
              <a:t> (</a:t>
            </a:r>
            <a:r>
              <a:rPr lang="en-US" dirty="0" err="1"/>
              <a:t>npr</a:t>
            </a:r>
            <a:r>
              <a:rPr lang="en-US" dirty="0"/>
              <a:t>. UPPER(LAST_NAME) </a:t>
            </a:r>
            <a:r>
              <a:rPr lang="en-US" dirty="0" err="1"/>
              <a:t>ili</a:t>
            </a:r>
            <a:r>
              <a:rPr lang="en-US" dirty="0"/>
              <a:t> CASE) </a:t>
            </a:r>
            <a:r>
              <a:rPr lang="en-US" dirty="0" err="1"/>
              <a:t>izračunava</a:t>
            </a:r>
            <a:r>
              <a:rPr lang="en-US" dirty="0"/>
              <a:t> </a:t>
            </a:r>
            <a:r>
              <a:rPr lang="en-US" dirty="0" err="1"/>
              <a:t>jednom</a:t>
            </a:r>
            <a:r>
              <a:rPr lang="en-US" dirty="0"/>
              <a:t> </a:t>
            </a:r>
            <a:r>
              <a:rPr lang="en-US" dirty="0" err="1"/>
              <a:t>pri</a:t>
            </a:r>
            <a:r>
              <a:rPr lang="en-US" dirty="0"/>
              <a:t> </a:t>
            </a:r>
            <a:r>
              <a:rPr lang="en-US" dirty="0" err="1"/>
              <a:t>upisu</a:t>
            </a:r>
            <a:r>
              <a:rPr lang="en-US" dirty="0"/>
              <a:t> </a:t>
            </a:r>
            <a:r>
              <a:rPr lang="en-US" dirty="0" err="1"/>
              <a:t>i</a:t>
            </a:r>
            <a:r>
              <a:rPr lang="en-US" dirty="0"/>
              <a:t> </a:t>
            </a:r>
            <a:r>
              <a:rPr lang="en-US" dirty="0" err="1"/>
              <a:t>trajno</a:t>
            </a:r>
            <a:r>
              <a:rPr lang="en-US" dirty="0"/>
              <a:t> </a:t>
            </a:r>
            <a:r>
              <a:rPr lang="en-US" dirty="0" err="1"/>
              <a:t>čuva</a:t>
            </a:r>
            <a:r>
              <a:rPr lang="en-US" dirty="0"/>
              <a:t> u B+ </a:t>
            </a:r>
            <a:r>
              <a:rPr lang="en-US" dirty="0" err="1"/>
              <a:t>stablu</a:t>
            </a:r>
            <a:r>
              <a:rPr lang="en-US" dirty="0"/>
              <a:t> — </a:t>
            </a:r>
            <a:r>
              <a:rPr lang="en-US" dirty="0" err="1"/>
              <a:t>pri</a:t>
            </a:r>
            <a:r>
              <a:rPr lang="en-US" dirty="0"/>
              <a:t> </a:t>
            </a:r>
            <a:r>
              <a:rPr lang="en-US" dirty="0" err="1"/>
              <a:t>pretrazi</a:t>
            </a:r>
            <a:r>
              <a:rPr lang="en-US" dirty="0"/>
              <a:t> optimizer </a:t>
            </a:r>
            <a:r>
              <a:rPr lang="en-US" dirty="0" err="1"/>
              <a:t>direktno</a:t>
            </a:r>
            <a:r>
              <a:rPr lang="en-US" dirty="0"/>
              <a:t> </a:t>
            </a:r>
            <a:r>
              <a:rPr lang="en-US" dirty="0" err="1"/>
              <a:t>poredi</a:t>
            </a:r>
            <a:r>
              <a:rPr lang="en-US" dirty="0"/>
              <a:t> </a:t>
            </a:r>
            <a:r>
              <a:rPr lang="en-US" dirty="0" err="1"/>
              <a:t>vrednosti</a:t>
            </a:r>
            <a:r>
              <a:rPr lang="en-US" dirty="0"/>
              <a:t> </a:t>
            </a:r>
            <a:r>
              <a:rPr lang="en-US" dirty="0" err="1"/>
              <a:t>sa</a:t>
            </a:r>
            <a:r>
              <a:rPr lang="en-US" dirty="0"/>
              <a:t> </a:t>
            </a:r>
            <a:r>
              <a:rPr lang="en-US" dirty="0" err="1"/>
              <a:t>već</a:t>
            </a:r>
            <a:r>
              <a:rPr lang="en-US" dirty="0"/>
              <a:t> </a:t>
            </a:r>
            <a:r>
              <a:rPr lang="en-US" dirty="0" err="1"/>
              <a:t>izračunatim</a:t>
            </a:r>
            <a:r>
              <a:rPr lang="en-US" dirty="0"/>
              <a:t> </a:t>
            </a:r>
            <a:r>
              <a:rPr lang="en-US" dirty="0" err="1"/>
              <a:t>ključevima</a:t>
            </a:r>
            <a:r>
              <a:rPr lang="en-US" dirty="0"/>
              <a:t>, </a:t>
            </a:r>
            <a:r>
              <a:rPr lang="en-US" dirty="0" err="1"/>
              <a:t>čime</a:t>
            </a:r>
            <a:r>
              <a:rPr lang="en-US" dirty="0"/>
              <a:t> se </a:t>
            </a:r>
            <a:r>
              <a:rPr lang="en-US" dirty="0" err="1"/>
              <a:t>potpuno</a:t>
            </a:r>
            <a:r>
              <a:rPr lang="en-US" dirty="0"/>
              <a:t> </a:t>
            </a:r>
            <a:r>
              <a:rPr lang="en-US" dirty="0" err="1"/>
              <a:t>eliminiše</a:t>
            </a:r>
            <a:r>
              <a:rPr lang="en-US" dirty="0"/>
              <a:t> </a:t>
            </a:r>
            <a:r>
              <a:rPr lang="en-US" dirty="0" err="1"/>
              <a:t>potreba</a:t>
            </a:r>
            <a:r>
              <a:rPr lang="en-US" dirty="0"/>
              <a:t> za Full Table Scan-</a:t>
            </a:r>
            <a:r>
              <a:rPr lang="en-US" dirty="0" err="1"/>
              <a:t>om.</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Selektivnost</a:t>
            </a:r>
            <a:r>
              <a:rPr lang="en-US" dirty="0"/>
              <a:t> je </a:t>
            </a:r>
            <a:r>
              <a:rPr lang="en-US" dirty="0" err="1"/>
              <a:t>numerička</a:t>
            </a:r>
            <a:r>
              <a:rPr lang="en-US" dirty="0"/>
              <a:t> </a:t>
            </a:r>
            <a:r>
              <a:rPr lang="en-US" dirty="0" err="1"/>
              <a:t>vrednost</a:t>
            </a:r>
            <a:r>
              <a:rPr lang="en-US" dirty="0"/>
              <a:t> </a:t>
            </a:r>
            <a:r>
              <a:rPr lang="en-US" dirty="0" err="1"/>
              <a:t>između</a:t>
            </a:r>
            <a:r>
              <a:rPr lang="en-US" dirty="0"/>
              <a:t> 0 </a:t>
            </a:r>
            <a:r>
              <a:rPr lang="en-US" dirty="0" err="1"/>
              <a:t>i</a:t>
            </a:r>
            <a:r>
              <a:rPr lang="en-US" dirty="0"/>
              <a:t> 1 </a:t>
            </a:r>
            <a:r>
              <a:rPr lang="en-US" dirty="0" err="1"/>
              <a:t>koja</a:t>
            </a:r>
            <a:r>
              <a:rPr lang="en-US" dirty="0"/>
              <a:t> </a:t>
            </a:r>
            <a:r>
              <a:rPr lang="en-US" dirty="0" err="1"/>
              <a:t>govori</a:t>
            </a:r>
            <a:r>
              <a:rPr lang="en-US" dirty="0"/>
              <a:t> </a:t>
            </a:r>
            <a:r>
              <a:rPr lang="en-US" dirty="0" err="1"/>
              <a:t>optimizatoru</a:t>
            </a:r>
            <a:r>
              <a:rPr lang="en-US" dirty="0"/>
              <a:t> </a:t>
            </a:r>
            <a:r>
              <a:rPr lang="en-US" dirty="0" err="1"/>
              <a:t>koliko</a:t>
            </a:r>
            <a:r>
              <a:rPr lang="en-US" dirty="0"/>
              <a:t> je </a:t>
            </a:r>
            <a:r>
              <a:rPr lang="en-US" dirty="0" err="1"/>
              <a:t>indeks</a:t>
            </a:r>
            <a:r>
              <a:rPr lang="en-US" dirty="0"/>
              <a:t> "</a:t>
            </a:r>
            <a:r>
              <a:rPr lang="en-US" dirty="0" err="1"/>
              <a:t>jedinstven</a:t>
            </a:r>
            <a:r>
              <a:rPr lang="en-US" dirty="0"/>
              <a:t>" — </a:t>
            </a:r>
            <a:r>
              <a:rPr lang="en-US" dirty="0" err="1"/>
              <a:t>izračunava</a:t>
            </a:r>
            <a:r>
              <a:rPr lang="en-US" dirty="0"/>
              <a:t> se </a:t>
            </a:r>
            <a:r>
              <a:rPr lang="en-US" dirty="0" err="1"/>
              <a:t>kao</a:t>
            </a:r>
            <a:r>
              <a:rPr lang="en-US" dirty="0"/>
              <a:t> 1 </a:t>
            </a:r>
            <a:r>
              <a:rPr lang="en-US" dirty="0" err="1"/>
              <a:t>podeljen</a:t>
            </a:r>
            <a:r>
              <a:rPr lang="en-US" dirty="0"/>
              <a:t> </a:t>
            </a:r>
            <a:r>
              <a:rPr lang="en-US" dirty="0" err="1"/>
              <a:t>brojem</a:t>
            </a:r>
            <a:r>
              <a:rPr lang="en-US" dirty="0"/>
              <a:t> </a:t>
            </a:r>
            <a:r>
              <a:rPr lang="en-US" dirty="0" err="1"/>
              <a:t>unikatnih</a:t>
            </a:r>
            <a:r>
              <a:rPr lang="en-US" dirty="0"/>
              <a:t> </a:t>
            </a:r>
            <a:r>
              <a:rPr lang="en-US" dirty="0" err="1"/>
              <a:t>ključeva</a:t>
            </a:r>
            <a:r>
              <a:rPr lang="en-US" dirty="0"/>
              <a:t>.</a:t>
            </a:r>
          </a:p>
          <a:p>
            <a:r>
              <a:rPr lang="en-US" dirty="0" err="1"/>
              <a:t>Vrednost</a:t>
            </a:r>
            <a:r>
              <a:rPr lang="en-US" dirty="0"/>
              <a:t> </a:t>
            </a:r>
            <a:r>
              <a:rPr lang="en-US" dirty="0" err="1"/>
              <a:t>blizu</a:t>
            </a:r>
            <a:r>
              <a:rPr lang="en-US" dirty="0"/>
              <a:t> 0 </a:t>
            </a:r>
            <a:r>
              <a:rPr lang="en-US" dirty="0" err="1"/>
              <a:t>znači</a:t>
            </a:r>
            <a:r>
              <a:rPr lang="en-US" dirty="0"/>
              <a:t> </a:t>
            </a:r>
            <a:r>
              <a:rPr lang="en-US" dirty="0" err="1"/>
              <a:t>odličan</a:t>
            </a:r>
            <a:r>
              <a:rPr lang="en-US" dirty="0"/>
              <a:t> </a:t>
            </a:r>
            <a:r>
              <a:rPr lang="en-US" dirty="0" err="1"/>
              <a:t>indeks</a:t>
            </a:r>
            <a:r>
              <a:rPr lang="en-US" dirty="0"/>
              <a:t> — </a:t>
            </a:r>
            <a:r>
              <a:rPr lang="en-US" dirty="0" err="1"/>
              <a:t>kao</a:t>
            </a:r>
            <a:r>
              <a:rPr lang="en-US" dirty="0"/>
              <a:t> </a:t>
            </a:r>
            <a:r>
              <a:rPr lang="en-US" dirty="0" err="1"/>
              <a:t>kod</a:t>
            </a:r>
            <a:r>
              <a:rPr lang="en-US" dirty="0"/>
              <a:t> </a:t>
            </a:r>
            <a:r>
              <a:rPr lang="en-US" dirty="0" err="1"/>
              <a:t>primarnog</a:t>
            </a:r>
            <a:r>
              <a:rPr lang="en-US" dirty="0"/>
              <a:t> </a:t>
            </a:r>
            <a:r>
              <a:rPr lang="en-US" dirty="0" err="1"/>
              <a:t>ključa</a:t>
            </a:r>
            <a:r>
              <a:rPr lang="en-US" dirty="0"/>
              <a:t> </a:t>
            </a:r>
            <a:r>
              <a:rPr lang="en-US" dirty="0" err="1"/>
              <a:t>gde</a:t>
            </a:r>
            <a:r>
              <a:rPr lang="en-US" dirty="0"/>
              <a:t> je </a:t>
            </a:r>
            <a:r>
              <a:rPr lang="en-US" dirty="0" err="1"/>
              <a:t>svaki</a:t>
            </a:r>
            <a:r>
              <a:rPr lang="en-US" dirty="0"/>
              <a:t> red </a:t>
            </a:r>
            <a:r>
              <a:rPr lang="en-US" dirty="0" err="1"/>
              <a:t>jedinstven</a:t>
            </a:r>
            <a:r>
              <a:rPr lang="en-US" dirty="0"/>
              <a:t>, pa ga optimizer </a:t>
            </a:r>
            <a:r>
              <a:rPr lang="en-US" dirty="0" err="1"/>
              <a:t>uvek</a:t>
            </a:r>
            <a:r>
              <a:rPr lang="en-US" dirty="0"/>
              <a:t> </a:t>
            </a:r>
            <a:r>
              <a:rPr lang="en-US" dirty="0" err="1"/>
              <a:t>koristi</a:t>
            </a:r>
            <a:r>
              <a:rPr lang="en-US" dirty="0"/>
              <a:t> za </a:t>
            </a:r>
            <a:r>
              <a:rPr lang="en-US" dirty="0" err="1"/>
              <a:t>pretragu</a:t>
            </a:r>
            <a:r>
              <a:rPr lang="en-US" dirty="0"/>
              <a:t>.</a:t>
            </a:r>
            <a:r>
              <a:rPr lang="sr-Latn-RS" dirty="0"/>
              <a:t> </a:t>
            </a:r>
            <a:r>
              <a:rPr lang="en-US" dirty="0" err="1"/>
              <a:t>Vrednost</a:t>
            </a:r>
            <a:r>
              <a:rPr lang="en-US" dirty="0"/>
              <a:t> </a:t>
            </a:r>
            <a:r>
              <a:rPr lang="en-US" dirty="0" err="1"/>
              <a:t>blizu</a:t>
            </a:r>
            <a:r>
              <a:rPr lang="en-US" dirty="0"/>
              <a:t> 1 </a:t>
            </a:r>
            <a:r>
              <a:rPr lang="en-US" dirty="0" err="1"/>
              <a:t>znači</a:t>
            </a:r>
            <a:r>
              <a:rPr lang="en-US" dirty="0"/>
              <a:t> </a:t>
            </a:r>
            <a:r>
              <a:rPr lang="en-US" dirty="0" err="1"/>
              <a:t>loš</a:t>
            </a:r>
            <a:r>
              <a:rPr lang="en-US" dirty="0"/>
              <a:t> </a:t>
            </a:r>
            <a:r>
              <a:rPr lang="en-US" dirty="0" err="1"/>
              <a:t>indeks</a:t>
            </a:r>
            <a:r>
              <a:rPr lang="en-US" dirty="0"/>
              <a:t> </a:t>
            </a:r>
            <a:r>
              <a:rPr lang="en-US" dirty="0" err="1"/>
              <a:t>sa</a:t>
            </a:r>
            <a:r>
              <a:rPr lang="en-US" dirty="0"/>
              <a:t> </a:t>
            </a:r>
            <a:r>
              <a:rPr lang="en-US" dirty="0" err="1"/>
              <a:t>mnogo</a:t>
            </a:r>
            <a:r>
              <a:rPr lang="en-US" dirty="0"/>
              <a:t> </a:t>
            </a:r>
            <a:r>
              <a:rPr lang="en-US" dirty="0" err="1"/>
              <a:t>duplikata</a:t>
            </a:r>
            <a:r>
              <a:rPr lang="en-US" dirty="0"/>
              <a:t> — optimizer ga </a:t>
            </a:r>
            <a:r>
              <a:rPr lang="en-US" dirty="0" err="1"/>
              <a:t>svesno</a:t>
            </a:r>
            <a:r>
              <a:rPr lang="en-US" dirty="0"/>
              <a:t> </a:t>
            </a:r>
            <a:r>
              <a:rPr lang="en-US" dirty="0" err="1"/>
              <a:t>ignoriše</a:t>
            </a:r>
            <a:r>
              <a:rPr lang="en-US" dirty="0"/>
              <a:t> </a:t>
            </a:r>
            <a:r>
              <a:rPr lang="en-US" dirty="0" err="1"/>
              <a:t>jer</a:t>
            </a:r>
            <a:r>
              <a:rPr lang="en-US" dirty="0"/>
              <a:t> </a:t>
            </a:r>
            <a:r>
              <a:rPr lang="en-US" dirty="0" err="1"/>
              <a:t>procenjuje</a:t>
            </a:r>
            <a:r>
              <a:rPr lang="en-US" dirty="0"/>
              <a:t> da je Full Table Scan </a:t>
            </a:r>
            <a:r>
              <a:rPr lang="en-US" dirty="0" err="1"/>
              <a:t>brži</a:t>
            </a:r>
            <a:r>
              <a:rPr lang="en-US" dirty="0"/>
              <a:t> od </a:t>
            </a:r>
            <a:r>
              <a:rPr lang="en-US" dirty="0" err="1"/>
              <a:t>skakanja</a:t>
            </a:r>
            <a:r>
              <a:rPr lang="en-US" dirty="0"/>
              <a:t> po </a:t>
            </a:r>
            <a:r>
              <a:rPr lang="en-US" dirty="0" err="1"/>
              <a:t>indeksu</a:t>
            </a:r>
            <a:r>
              <a:rPr lang="en-US" dirty="0"/>
              <a:t>.</a:t>
            </a:r>
            <a:r>
              <a:rPr lang="sr-Latn-RS" dirty="0"/>
              <a:t> </a:t>
            </a:r>
            <a:r>
              <a:rPr lang="en-US" dirty="0"/>
              <a:t>Problem </a:t>
            </a:r>
            <a:r>
              <a:rPr lang="en-US" dirty="0" err="1"/>
              <a:t>nastaje</a:t>
            </a:r>
            <a:r>
              <a:rPr lang="en-US" dirty="0"/>
              <a:t> </a:t>
            </a:r>
            <a:r>
              <a:rPr lang="en-US" dirty="0" err="1"/>
              <a:t>jer</a:t>
            </a:r>
            <a:r>
              <a:rPr lang="en-US" dirty="0"/>
              <a:t> se </a:t>
            </a:r>
            <a:r>
              <a:rPr lang="en-US" dirty="0" err="1"/>
              <a:t>selektivnost</a:t>
            </a:r>
            <a:r>
              <a:rPr lang="en-US" dirty="0"/>
              <a:t> ne </a:t>
            </a:r>
            <a:r>
              <a:rPr lang="en-US" dirty="0" err="1"/>
              <a:t>ažurira</a:t>
            </a:r>
            <a:r>
              <a:rPr lang="en-US" dirty="0"/>
              <a:t> </a:t>
            </a:r>
            <a:r>
              <a:rPr lang="en-US" dirty="0" err="1"/>
              <a:t>automatski</a:t>
            </a:r>
            <a:r>
              <a:rPr lang="en-US" dirty="0"/>
              <a:t> </a:t>
            </a:r>
            <a:r>
              <a:rPr lang="en-US" dirty="0" err="1"/>
              <a:t>pri</a:t>
            </a:r>
            <a:r>
              <a:rPr lang="en-US" dirty="0"/>
              <a:t> </a:t>
            </a:r>
            <a:r>
              <a:rPr lang="en-US" dirty="0" err="1"/>
              <a:t>svakom</a:t>
            </a:r>
            <a:r>
              <a:rPr lang="en-US" dirty="0"/>
              <a:t> INSERT, UPDATE </a:t>
            </a:r>
            <a:r>
              <a:rPr lang="en-US" dirty="0" err="1"/>
              <a:t>ili</a:t>
            </a:r>
            <a:r>
              <a:rPr lang="en-US" dirty="0"/>
              <a:t> DELETE — to bi </a:t>
            </a:r>
            <a:r>
              <a:rPr lang="en-US" dirty="0" err="1"/>
              <a:t>drastično</a:t>
            </a:r>
            <a:r>
              <a:rPr lang="en-US" dirty="0"/>
              <a:t> </a:t>
            </a:r>
            <a:r>
              <a:rPr lang="en-US" dirty="0" err="1"/>
              <a:t>usporilo</a:t>
            </a:r>
            <a:r>
              <a:rPr lang="en-US" dirty="0"/>
              <a:t> </a:t>
            </a:r>
            <a:r>
              <a:rPr lang="en-US" dirty="0" err="1"/>
              <a:t>upis</a:t>
            </a:r>
            <a:r>
              <a:rPr lang="en-US" dirty="0"/>
              <a:t>, pa </a:t>
            </a:r>
            <a:r>
              <a:rPr lang="en-US" dirty="0" err="1"/>
              <a:t>tokom</a:t>
            </a:r>
            <a:r>
              <a:rPr lang="en-US" dirty="0"/>
              <a:t> </a:t>
            </a:r>
            <a:r>
              <a:rPr lang="en-US" dirty="0" err="1"/>
              <a:t>vremena</a:t>
            </a:r>
            <a:r>
              <a:rPr lang="en-US" dirty="0"/>
              <a:t> </a:t>
            </a:r>
            <a:r>
              <a:rPr lang="en-US" dirty="0" err="1"/>
              <a:t>statistika</a:t>
            </a:r>
            <a:r>
              <a:rPr lang="en-US" dirty="0"/>
              <a:t> u RDB$INDICES </a:t>
            </a:r>
            <a:r>
              <a:rPr lang="en-US" dirty="0" err="1"/>
              <a:t>prestaje</a:t>
            </a:r>
            <a:r>
              <a:rPr lang="en-US" dirty="0"/>
              <a:t> da </a:t>
            </a:r>
            <a:r>
              <a:rPr lang="en-US" dirty="0" err="1"/>
              <a:t>odgovara</a:t>
            </a:r>
            <a:r>
              <a:rPr lang="en-US" dirty="0"/>
              <a:t> </a:t>
            </a:r>
            <a:r>
              <a:rPr lang="en-US" dirty="0" err="1"/>
              <a:t>stvarnom</a:t>
            </a:r>
            <a:r>
              <a:rPr lang="en-US" dirty="0"/>
              <a:t> </a:t>
            </a:r>
            <a:r>
              <a:rPr lang="en-US" dirty="0" err="1"/>
              <a:t>stanju</a:t>
            </a:r>
            <a:r>
              <a:rPr lang="en-US" dirty="0"/>
              <a:t> </a:t>
            </a:r>
            <a:r>
              <a:rPr lang="en-US" dirty="0" err="1"/>
              <a:t>podataka</a:t>
            </a:r>
            <a:r>
              <a:rPr lang="en-US" dirty="0"/>
              <a:t>.</a:t>
            </a:r>
            <a:r>
              <a:rPr lang="sr-Latn-RS" dirty="0"/>
              <a:t> </a:t>
            </a:r>
            <a:r>
              <a:rPr lang="en-US" dirty="0" err="1"/>
              <a:t>Posledica</a:t>
            </a:r>
            <a:r>
              <a:rPr lang="en-US" dirty="0"/>
              <a:t> je da optimizer </a:t>
            </a:r>
            <a:r>
              <a:rPr lang="en-US" dirty="0" err="1"/>
              <a:t>donosi</a:t>
            </a:r>
            <a:r>
              <a:rPr lang="en-US" dirty="0"/>
              <a:t> </a:t>
            </a:r>
            <a:r>
              <a:rPr lang="en-US" dirty="0" err="1"/>
              <a:t>pogrešne</a:t>
            </a:r>
            <a:r>
              <a:rPr lang="en-US" dirty="0"/>
              <a:t> </a:t>
            </a:r>
            <a:r>
              <a:rPr lang="en-US" dirty="0" err="1"/>
              <a:t>odluke</a:t>
            </a:r>
            <a:r>
              <a:rPr lang="en-US" dirty="0"/>
              <a:t> — </a:t>
            </a:r>
            <a:r>
              <a:rPr lang="en-US" dirty="0" err="1"/>
              <a:t>bira</a:t>
            </a:r>
            <a:r>
              <a:rPr lang="en-US" dirty="0"/>
              <a:t> Full Table Scan </a:t>
            </a:r>
            <a:r>
              <a:rPr lang="en-US" dirty="0" err="1"/>
              <a:t>tamo</a:t>
            </a:r>
            <a:r>
              <a:rPr lang="en-US" dirty="0"/>
              <a:t> </a:t>
            </a:r>
            <a:r>
              <a:rPr lang="en-US" dirty="0" err="1"/>
              <a:t>gde</a:t>
            </a:r>
            <a:r>
              <a:rPr lang="en-US" dirty="0"/>
              <a:t> bi Index Scan bio </a:t>
            </a:r>
            <a:r>
              <a:rPr lang="en-US" dirty="0" err="1"/>
              <a:t>brži</a:t>
            </a:r>
            <a:r>
              <a:rPr lang="en-US" dirty="0"/>
              <a:t>, </a:t>
            </a:r>
            <a:r>
              <a:rPr lang="en-US" dirty="0" err="1"/>
              <a:t>ili</a:t>
            </a:r>
            <a:r>
              <a:rPr lang="en-US" dirty="0"/>
              <a:t> </a:t>
            </a:r>
            <a:r>
              <a:rPr lang="en-US" dirty="0" err="1"/>
              <a:t>koristi</a:t>
            </a:r>
            <a:r>
              <a:rPr lang="en-US" dirty="0"/>
              <a:t> </a:t>
            </a:r>
            <a:r>
              <a:rPr lang="en-US" dirty="0" err="1"/>
              <a:t>loš</a:t>
            </a:r>
            <a:r>
              <a:rPr lang="en-US" dirty="0"/>
              <a:t> </a:t>
            </a:r>
            <a:r>
              <a:rPr lang="en-US" dirty="0" err="1"/>
              <a:t>indeks</a:t>
            </a:r>
            <a:r>
              <a:rPr lang="en-US" dirty="0"/>
              <a:t> </a:t>
            </a:r>
            <a:r>
              <a:rPr lang="en-US" dirty="0" err="1"/>
              <a:t>umesto</a:t>
            </a:r>
            <a:r>
              <a:rPr lang="en-US" dirty="0"/>
              <a:t> da ga </a:t>
            </a:r>
            <a:r>
              <a:rPr lang="en-US" dirty="0" err="1"/>
              <a:t>ignoriše</a:t>
            </a:r>
            <a:r>
              <a:rPr lang="en-US" dirty="0"/>
              <a:t>.</a:t>
            </a:r>
            <a:r>
              <a:rPr lang="sr-Latn-RS" dirty="0"/>
              <a:t> </a:t>
            </a:r>
            <a:r>
              <a:rPr lang="en-US" dirty="0" err="1"/>
              <a:t>Rešenje</a:t>
            </a:r>
            <a:r>
              <a:rPr lang="en-US" dirty="0"/>
              <a:t> je </a:t>
            </a:r>
            <a:r>
              <a:rPr lang="en-US" dirty="0" err="1"/>
              <a:t>redovno</a:t>
            </a:r>
            <a:r>
              <a:rPr lang="en-US" dirty="0"/>
              <a:t> </a:t>
            </a:r>
            <a:r>
              <a:rPr lang="en-US" dirty="0" err="1"/>
              <a:t>pokretanje</a:t>
            </a:r>
            <a:r>
              <a:rPr lang="en-US" dirty="0"/>
              <a:t> </a:t>
            </a:r>
            <a:r>
              <a:rPr lang="en-US" dirty="0" err="1"/>
              <a:t>komande</a:t>
            </a:r>
            <a:r>
              <a:rPr lang="en-US" dirty="0"/>
              <a:t> SET STATISTICS INDEX, </a:t>
            </a:r>
            <a:r>
              <a:rPr lang="en-US" dirty="0" err="1"/>
              <a:t>koja</a:t>
            </a:r>
            <a:r>
              <a:rPr lang="en-US" dirty="0"/>
              <a:t> </a:t>
            </a:r>
            <a:r>
              <a:rPr lang="en-US" dirty="0" err="1"/>
              <a:t>prolazi</a:t>
            </a:r>
            <a:r>
              <a:rPr lang="en-US" dirty="0"/>
              <a:t> </a:t>
            </a:r>
            <a:r>
              <a:rPr lang="en-US" dirty="0" err="1"/>
              <a:t>kroz</a:t>
            </a:r>
            <a:r>
              <a:rPr lang="en-US" dirty="0"/>
              <a:t> </a:t>
            </a:r>
            <a:r>
              <a:rPr lang="en-US" dirty="0" err="1"/>
              <a:t>celokupno</a:t>
            </a:r>
            <a:r>
              <a:rPr lang="en-US" dirty="0"/>
              <a:t> B+ </a:t>
            </a:r>
            <a:r>
              <a:rPr lang="en-US" dirty="0" err="1"/>
              <a:t>stablo</a:t>
            </a:r>
            <a:r>
              <a:rPr lang="en-US" dirty="0"/>
              <a:t>, </a:t>
            </a:r>
            <a:r>
              <a:rPr lang="en-US" dirty="0" err="1"/>
              <a:t>prebroji</a:t>
            </a:r>
            <a:r>
              <a:rPr lang="en-US" dirty="0"/>
              <a:t> </a:t>
            </a:r>
            <a:r>
              <a:rPr lang="en-US" dirty="0" err="1"/>
              <a:t>unikatne</a:t>
            </a:r>
            <a:r>
              <a:rPr lang="en-US" dirty="0"/>
              <a:t> </a:t>
            </a:r>
            <a:r>
              <a:rPr lang="en-US" dirty="0" err="1"/>
              <a:t>ključeve</a:t>
            </a:r>
            <a:r>
              <a:rPr lang="en-US" dirty="0"/>
              <a:t> </a:t>
            </a:r>
            <a:r>
              <a:rPr lang="en-US" dirty="0" err="1"/>
              <a:t>i</a:t>
            </a:r>
            <a:r>
              <a:rPr lang="en-US" dirty="0"/>
              <a:t> </a:t>
            </a:r>
            <a:r>
              <a:rPr lang="en-US" dirty="0" err="1"/>
              <a:t>upiše</a:t>
            </a:r>
            <a:r>
              <a:rPr lang="en-US" dirty="0"/>
              <a:t> </a:t>
            </a:r>
            <a:r>
              <a:rPr lang="en-US" dirty="0" err="1"/>
              <a:t>osveženu</a:t>
            </a:r>
            <a:r>
              <a:rPr lang="en-US" dirty="0"/>
              <a:t> </a:t>
            </a:r>
            <a:r>
              <a:rPr lang="en-US" dirty="0" err="1"/>
              <a:t>vrednost</a:t>
            </a:r>
            <a:r>
              <a:rPr lang="en-US" dirty="0"/>
              <a:t> </a:t>
            </a:r>
            <a:r>
              <a:rPr lang="en-US" dirty="0" err="1"/>
              <a:t>selektivnosti</a:t>
            </a:r>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Firebird optimizer </a:t>
            </a:r>
            <a:r>
              <a:rPr lang="en-US" dirty="0" err="1"/>
              <a:t>generiše</a:t>
            </a:r>
            <a:r>
              <a:rPr lang="en-US" dirty="0"/>
              <a:t> plan </a:t>
            </a:r>
            <a:r>
              <a:rPr lang="en-US" dirty="0" err="1"/>
              <a:t>izvršavanja</a:t>
            </a:r>
            <a:r>
              <a:rPr lang="en-US" dirty="0"/>
              <a:t> za </a:t>
            </a:r>
            <a:r>
              <a:rPr lang="en-US" dirty="0" err="1"/>
              <a:t>svaki</a:t>
            </a:r>
            <a:r>
              <a:rPr lang="en-US" dirty="0"/>
              <a:t> SQL </a:t>
            </a:r>
            <a:r>
              <a:rPr lang="en-US" dirty="0" err="1"/>
              <a:t>upit</a:t>
            </a:r>
            <a:r>
              <a:rPr lang="en-US" dirty="0"/>
              <a:t> — taj plan </a:t>
            </a:r>
            <a:r>
              <a:rPr lang="en-US" dirty="0" err="1"/>
              <a:t>nam</a:t>
            </a:r>
            <a:r>
              <a:rPr lang="en-US" dirty="0"/>
              <a:t> </a:t>
            </a:r>
            <a:r>
              <a:rPr lang="en-US" dirty="0" err="1"/>
              <a:t>tačno</a:t>
            </a:r>
            <a:r>
              <a:rPr lang="en-US" dirty="0"/>
              <a:t> </a:t>
            </a:r>
            <a:r>
              <a:rPr lang="en-US" dirty="0" err="1"/>
              <a:t>govori</a:t>
            </a:r>
            <a:r>
              <a:rPr lang="en-US" dirty="0"/>
              <a:t> </a:t>
            </a:r>
            <a:r>
              <a:rPr lang="en-US" dirty="0" err="1"/>
              <a:t>koju</a:t>
            </a:r>
            <a:r>
              <a:rPr lang="en-US" dirty="0"/>
              <a:t> </a:t>
            </a:r>
            <a:r>
              <a:rPr lang="en-US" dirty="0" err="1"/>
              <a:t>strategiju</a:t>
            </a:r>
            <a:r>
              <a:rPr lang="en-US" dirty="0"/>
              <a:t> </a:t>
            </a:r>
            <a:r>
              <a:rPr lang="en-US" dirty="0" err="1"/>
              <a:t>pristupa</a:t>
            </a:r>
            <a:r>
              <a:rPr lang="en-US" dirty="0"/>
              <a:t> </a:t>
            </a:r>
            <a:r>
              <a:rPr lang="en-US" dirty="0" err="1"/>
              <a:t>podacima</a:t>
            </a:r>
            <a:r>
              <a:rPr lang="en-US" dirty="0"/>
              <a:t> je optimizer </a:t>
            </a:r>
            <a:r>
              <a:rPr lang="en-US" dirty="0" err="1"/>
              <a:t>izabrao</a:t>
            </a:r>
            <a:r>
              <a:rPr lang="en-US" dirty="0"/>
              <a:t>.</a:t>
            </a:r>
          </a:p>
          <a:p>
            <a:r>
              <a:rPr lang="en-US" b="1" dirty="0"/>
              <a:t>Index Seek</a:t>
            </a:r>
            <a:r>
              <a:rPr lang="en-US" dirty="0"/>
              <a:t> je </a:t>
            </a:r>
            <a:r>
              <a:rPr lang="en-US" dirty="0" err="1"/>
              <a:t>najbrža</a:t>
            </a:r>
            <a:r>
              <a:rPr lang="en-US" dirty="0"/>
              <a:t> </a:t>
            </a:r>
            <a:r>
              <a:rPr lang="en-US" dirty="0" err="1"/>
              <a:t>strategija</a:t>
            </a:r>
            <a:r>
              <a:rPr lang="en-US" dirty="0"/>
              <a:t> — </a:t>
            </a:r>
            <a:r>
              <a:rPr lang="en-US" dirty="0" err="1"/>
              <a:t>koristi</a:t>
            </a:r>
            <a:r>
              <a:rPr lang="en-US" dirty="0"/>
              <a:t> se </a:t>
            </a:r>
            <a:r>
              <a:rPr lang="en-US" dirty="0" err="1"/>
              <a:t>kada</a:t>
            </a:r>
            <a:r>
              <a:rPr lang="en-US" dirty="0"/>
              <a:t> </a:t>
            </a:r>
            <a:r>
              <a:rPr lang="en-US" dirty="0" err="1"/>
              <a:t>upit</a:t>
            </a:r>
            <a:r>
              <a:rPr lang="en-US" dirty="0"/>
              <a:t> </a:t>
            </a:r>
            <a:r>
              <a:rPr lang="en-US" dirty="0" err="1"/>
              <a:t>traži</a:t>
            </a:r>
            <a:r>
              <a:rPr lang="en-US" dirty="0"/>
              <a:t> </a:t>
            </a:r>
            <a:r>
              <a:rPr lang="en-US" dirty="0" err="1"/>
              <a:t>konkretnu</a:t>
            </a:r>
            <a:r>
              <a:rPr lang="en-US" dirty="0"/>
              <a:t>, </a:t>
            </a:r>
            <a:r>
              <a:rPr lang="en-US" dirty="0" err="1"/>
              <a:t>unikatnu</a:t>
            </a:r>
            <a:r>
              <a:rPr lang="en-US" dirty="0"/>
              <a:t> </a:t>
            </a:r>
            <a:r>
              <a:rPr lang="en-US" dirty="0" err="1"/>
              <a:t>vrednost</a:t>
            </a:r>
            <a:r>
              <a:rPr lang="en-US" dirty="0"/>
              <a:t> </a:t>
            </a:r>
            <a:r>
              <a:rPr lang="en-US" dirty="0" err="1"/>
              <a:t>poput</a:t>
            </a:r>
            <a:r>
              <a:rPr lang="en-US" dirty="0"/>
              <a:t> </a:t>
            </a:r>
            <a:r>
              <a:rPr lang="en-US" dirty="0" err="1"/>
              <a:t>primarnog</a:t>
            </a:r>
            <a:r>
              <a:rPr lang="en-US" dirty="0"/>
              <a:t> </a:t>
            </a:r>
            <a:r>
              <a:rPr lang="en-US" dirty="0" err="1"/>
              <a:t>ključa</a:t>
            </a:r>
            <a:r>
              <a:rPr lang="en-US" dirty="0"/>
              <a:t>. Engine </a:t>
            </a:r>
            <a:r>
              <a:rPr lang="en-US" dirty="0" err="1"/>
              <a:t>vertikalno</a:t>
            </a:r>
            <a:r>
              <a:rPr lang="en-US" dirty="0"/>
              <a:t> </a:t>
            </a:r>
            <a:r>
              <a:rPr lang="en-US" dirty="0" err="1"/>
              <a:t>navigira</a:t>
            </a:r>
            <a:r>
              <a:rPr lang="en-US" dirty="0"/>
              <a:t> </a:t>
            </a:r>
            <a:r>
              <a:rPr lang="en-US" dirty="0" err="1"/>
              <a:t>kroz</a:t>
            </a:r>
            <a:r>
              <a:rPr lang="en-US" dirty="0"/>
              <a:t> B+ </a:t>
            </a:r>
            <a:r>
              <a:rPr lang="en-US" dirty="0" err="1"/>
              <a:t>stablo</a:t>
            </a:r>
            <a:r>
              <a:rPr lang="en-US" dirty="0"/>
              <a:t> od </a:t>
            </a:r>
            <a:r>
              <a:rPr lang="en-US" dirty="0" err="1"/>
              <a:t>korena</a:t>
            </a:r>
            <a:r>
              <a:rPr lang="en-US" dirty="0"/>
              <a:t> do </a:t>
            </a:r>
            <a:r>
              <a:rPr lang="en-US" dirty="0" err="1"/>
              <a:t>lista</a:t>
            </a:r>
            <a:r>
              <a:rPr lang="en-US" dirty="0"/>
              <a:t> </a:t>
            </a:r>
            <a:r>
              <a:rPr lang="en-US" dirty="0" err="1"/>
              <a:t>i</a:t>
            </a:r>
            <a:r>
              <a:rPr lang="en-US" dirty="0"/>
              <a:t> </a:t>
            </a:r>
            <a:r>
              <a:rPr lang="en-US" dirty="0" err="1"/>
              <a:t>direktno</a:t>
            </a:r>
            <a:r>
              <a:rPr lang="en-US" dirty="0"/>
              <a:t> </a:t>
            </a:r>
            <a:r>
              <a:rPr lang="en-US" dirty="0" err="1"/>
              <a:t>pristupa</a:t>
            </a:r>
            <a:r>
              <a:rPr lang="en-US" dirty="0"/>
              <a:t> </a:t>
            </a:r>
            <a:r>
              <a:rPr lang="en-US" dirty="0" err="1"/>
              <a:t>tačno</a:t>
            </a:r>
            <a:r>
              <a:rPr lang="en-US" dirty="0"/>
              <a:t> </a:t>
            </a:r>
            <a:r>
              <a:rPr lang="en-US" dirty="0" err="1"/>
              <a:t>jednom</a:t>
            </a:r>
            <a:r>
              <a:rPr lang="en-US" dirty="0"/>
              <a:t> </a:t>
            </a:r>
            <a:r>
              <a:rPr lang="en-US" dirty="0" err="1"/>
              <a:t>zapisu</a:t>
            </a:r>
            <a:r>
              <a:rPr lang="en-US" dirty="0"/>
              <a:t>, </a:t>
            </a:r>
            <a:r>
              <a:rPr lang="en-US" dirty="0" err="1"/>
              <a:t>sa</a:t>
            </a:r>
            <a:r>
              <a:rPr lang="en-US" dirty="0"/>
              <a:t> </a:t>
            </a:r>
            <a:r>
              <a:rPr lang="en-US" dirty="0" err="1"/>
              <a:t>logaritamskom</a:t>
            </a:r>
            <a:r>
              <a:rPr lang="en-US" dirty="0"/>
              <a:t> </a:t>
            </a:r>
            <a:r>
              <a:rPr lang="en-US" dirty="0" err="1"/>
              <a:t>brzinom</a:t>
            </a:r>
            <a:r>
              <a:rPr lang="en-US" dirty="0"/>
              <a:t> O(log n).</a:t>
            </a:r>
          </a:p>
          <a:p>
            <a:r>
              <a:rPr lang="en-US" b="1" dirty="0"/>
              <a:t>Index Scan</a:t>
            </a:r>
            <a:r>
              <a:rPr lang="en-US" dirty="0"/>
              <a:t> se </a:t>
            </a:r>
            <a:r>
              <a:rPr lang="en-US" dirty="0" err="1"/>
              <a:t>koristi</a:t>
            </a:r>
            <a:r>
              <a:rPr lang="en-US" dirty="0"/>
              <a:t> </a:t>
            </a:r>
            <a:r>
              <a:rPr lang="en-US" dirty="0" err="1"/>
              <a:t>kada</a:t>
            </a:r>
            <a:r>
              <a:rPr lang="en-US" dirty="0"/>
              <a:t> </a:t>
            </a:r>
            <a:r>
              <a:rPr lang="en-US" dirty="0" err="1"/>
              <a:t>upit</a:t>
            </a:r>
            <a:r>
              <a:rPr lang="en-US" dirty="0"/>
              <a:t> </a:t>
            </a:r>
            <a:r>
              <a:rPr lang="en-US" dirty="0" err="1"/>
              <a:t>traži</a:t>
            </a:r>
            <a:r>
              <a:rPr lang="en-US" dirty="0"/>
              <a:t> </a:t>
            </a:r>
            <a:r>
              <a:rPr lang="en-US" dirty="0" err="1"/>
              <a:t>opseg</a:t>
            </a:r>
            <a:r>
              <a:rPr lang="en-US" dirty="0"/>
              <a:t> </a:t>
            </a:r>
            <a:r>
              <a:rPr lang="en-US" dirty="0" err="1"/>
              <a:t>vrednosti</a:t>
            </a:r>
            <a:r>
              <a:rPr lang="en-US" dirty="0"/>
              <a:t> — engine </a:t>
            </a:r>
            <a:r>
              <a:rPr lang="en-US" dirty="0" err="1"/>
              <a:t>pronađe</a:t>
            </a:r>
            <a:r>
              <a:rPr lang="en-US" dirty="0"/>
              <a:t> </a:t>
            </a:r>
            <a:r>
              <a:rPr lang="en-US" dirty="0" err="1"/>
              <a:t>prvi</a:t>
            </a:r>
            <a:r>
              <a:rPr lang="en-US" dirty="0"/>
              <a:t> </a:t>
            </a:r>
            <a:r>
              <a:rPr lang="en-US" dirty="0" err="1"/>
              <a:t>ključ</a:t>
            </a:r>
            <a:r>
              <a:rPr lang="en-US" dirty="0"/>
              <a:t> u </a:t>
            </a:r>
            <a:r>
              <a:rPr lang="en-US" dirty="0" err="1"/>
              <a:t>opsegu</a:t>
            </a:r>
            <a:r>
              <a:rPr lang="en-US" dirty="0"/>
              <a:t>, a </a:t>
            </a:r>
            <a:r>
              <a:rPr lang="en-US" dirty="0" err="1"/>
              <a:t>zatim</a:t>
            </a:r>
            <a:r>
              <a:rPr lang="en-US" dirty="0"/>
              <a:t> </a:t>
            </a:r>
            <a:r>
              <a:rPr lang="en-US" dirty="0" err="1"/>
              <a:t>horizontalno</a:t>
            </a:r>
            <a:r>
              <a:rPr lang="en-US" dirty="0"/>
              <a:t> </a:t>
            </a:r>
            <a:r>
              <a:rPr lang="en-US" dirty="0" err="1"/>
              <a:t>čita</a:t>
            </a:r>
            <a:r>
              <a:rPr lang="en-US" dirty="0"/>
              <a:t> </a:t>
            </a:r>
            <a:r>
              <a:rPr lang="en-US" dirty="0" err="1"/>
              <a:t>susedne</a:t>
            </a:r>
            <a:r>
              <a:rPr lang="en-US" dirty="0"/>
              <a:t> </a:t>
            </a:r>
            <a:r>
              <a:rPr lang="en-US" dirty="0" err="1"/>
              <a:t>listove</a:t>
            </a:r>
            <a:r>
              <a:rPr lang="en-US" dirty="0"/>
              <a:t> B+ </a:t>
            </a:r>
            <a:r>
              <a:rPr lang="en-US" dirty="0" err="1"/>
              <a:t>stabla</a:t>
            </a:r>
            <a:r>
              <a:rPr lang="en-US" dirty="0"/>
              <a:t> </a:t>
            </a:r>
            <a:r>
              <a:rPr lang="en-US" dirty="0" err="1"/>
              <a:t>dok</a:t>
            </a:r>
            <a:r>
              <a:rPr lang="en-US" dirty="0"/>
              <a:t> ne </a:t>
            </a:r>
            <a:r>
              <a:rPr lang="en-US" dirty="0" err="1"/>
              <a:t>dođe</a:t>
            </a:r>
            <a:r>
              <a:rPr lang="en-US" dirty="0"/>
              <a:t> do </a:t>
            </a:r>
            <a:r>
              <a:rPr lang="en-US" dirty="0" err="1"/>
              <a:t>kraja</a:t>
            </a:r>
            <a:r>
              <a:rPr lang="en-US" dirty="0"/>
              <a:t> </a:t>
            </a:r>
            <a:r>
              <a:rPr lang="en-US" dirty="0" err="1"/>
              <a:t>opsega</a:t>
            </a:r>
            <a:r>
              <a:rPr lang="en-US" dirty="0"/>
              <a:t>, bez </a:t>
            </a:r>
            <a:r>
              <a:rPr lang="en-US" dirty="0" err="1"/>
              <a:t>ponovnog</a:t>
            </a:r>
            <a:r>
              <a:rPr lang="en-US" dirty="0"/>
              <a:t> </a:t>
            </a:r>
            <a:r>
              <a:rPr lang="en-US" dirty="0" err="1"/>
              <a:t>obilaska</a:t>
            </a:r>
            <a:r>
              <a:rPr lang="en-US" dirty="0"/>
              <a:t> od </a:t>
            </a:r>
            <a:r>
              <a:rPr lang="en-US" dirty="0" err="1"/>
              <a:t>korena</a:t>
            </a:r>
            <a:r>
              <a:rPr lang="en-US" dirty="0"/>
              <a:t>.</a:t>
            </a:r>
          </a:p>
          <a:p>
            <a:r>
              <a:rPr lang="en-US" b="1" dirty="0"/>
              <a:t>NATURAL</a:t>
            </a:r>
            <a:r>
              <a:rPr lang="en-US" dirty="0"/>
              <a:t> </a:t>
            </a:r>
            <a:r>
              <a:rPr lang="en-US" dirty="0" err="1"/>
              <a:t>znači</a:t>
            </a:r>
            <a:r>
              <a:rPr lang="en-US" dirty="0"/>
              <a:t> da optimizer </a:t>
            </a:r>
            <a:r>
              <a:rPr lang="en-US" dirty="0" err="1"/>
              <a:t>nije</a:t>
            </a:r>
            <a:r>
              <a:rPr lang="en-US" dirty="0"/>
              <a:t> </a:t>
            </a:r>
            <a:r>
              <a:rPr lang="en-US" dirty="0" err="1"/>
              <a:t>pronašao</a:t>
            </a:r>
            <a:r>
              <a:rPr lang="en-US" dirty="0"/>
              <a:t> </a:t>
            </a:r>
            <a:r>
              <a:rPr lang="en-US" dirty="0" err="1"/>
              <a:t>adekvatan</a:t>
            </a:r>
            <a:r>
              <a:rPr lang="en-US" dirty="0"/>
              <a:t> </a:t>
            </a:r>
            <a:r>
              <a:rPr lang="en-US" dirty="0" err="1"/>
              <a:t>indeks</a:t>
            </a:r>
            <a:r>
              <a:rPr lang="en-US" dirty="0"/>
              <a:t> </a:t>
            </a:r>
            <a:r>
              <a:rPr lang="en-US" dirty="0" err="1"/>
              <a:t>ili</a:t>
            </a:r>
            <a:r>
              <a:rPr lang="en-US" dirty="0"/>
              <a:t> je </a:t>
            </a:r>
            <a:r>
              <a:rPr lang="en-US" dirty="0" err="1"/>
              <a:t>selektivnost</a:t>
            </a:r>
            <a:r>
              <a:rPr lang="en-US" dirty="0"/>
              <a:t> </a:t>
            </a:r>
            <a:r>
              <a:rPr lang="en-US" dirty="0" err="1"/>
              <a:t>toliko</a:t>
            </a:r>
            <a:r>
              <a:rPr lang="en-US" dirty="0"/>
              <a:t> </a:t>
            </a:r>
            <a:r>
              <a:rPr lang="en-US" dirty="0" err="1"/>
              <a:t>loša</a:t>
            </a:r>
            <a:r>
              <a:rPr lang="en-US" dirty="0"/>
              <a:t> da je </a:t>
            </a:r>
            <a:r>
              <a:rPr lang="en-US" dirty="0" err="1"/>
              <a:t>procenio</a:t>
            </a:r>
            <a:r>
              <a:rPr lang="en-US" dirty="0"/>
              <a:t> </a:t>
            </a:r>
            <a:r>
              <a:rPr lang="en-US" dirty="0" err="1"/>
              <a:t>kako</a:t>
            </a:r>
            <a:r>
              <a:rPr lang="en-US" dirty="0"/>
              <a:t> je </a:t>
            </a:r>
            <a:r>
              <a:rPr lang="en-US" dirty="0" err="1"/>
              <a:t>brže</a:t>
            </a:r>
            <a:r>
              <a:rPr lang="en-US" dirty="0"/>
              <a:t> </a:t>
            </a:r>
            <a:r>
              <a:rPr lang="en-US" dirty="0" err="1"/>
              <a:t>čitati</a:t>
            </a:r>
            <a:r>
              <a:rPr lang="en-US" dirty="0"/>
              <a:t> </a:t>
            </a:r>
            <a:r>
              <a:rPr lang="en-US" dirty="0" err="1"/>
              <a:t>celu</a:t>
            </a:r>
            <a:r>
              <a:rPr lang="en-US" dirty="0"/>
              <a:t> </a:t>
            </a:r>
            <a:r>
              <a:rPr lang="en-US" dirty="0" err="1"/>
              <a:t>tabelu</a:t>
            </a:r>
            <a:r>
              <a:rPr lang="en-US" dirty="0"/>
              <a:t> — engine </a:t>
            </a:r>
            <a:r>
              <a:rPr lang="en-US" dirty="0" err="1"/>
              <a:t>učitava</a:t>
            </a:r>
            <a:r>
              <a:rPr lang="en-US" dirty="0"/>
              <a:t> </a:t>
            </a:r>
            <a:r>
              <a:rPr lang="en-US" dirty="0" err="1"/>
              <a:t>svaku</a:t>
            </a:r>
            <a:r>
              <a:rPr lang="en-US" dirty="0"/>
              <a:t> </a:t>
            </a:r>
            <a:r>
              <a:rPr lang="en-US" dirty="0" err="1"/>
              <a:t>stranicu</a:t>
            </a:r>
            <a:r>
              <a:rPr lang="en-US" dirty="0"/>
              <a:t> </a:t>
            </a:r>
            <a:r>
              <a:rPr lang="en-US" dirty="0" err="1"/>
              <a:t>tabele</a:t>
            </a:r>
            <a:r>
              <a:rPr lang="en-US" dirty="0"/>
              <a:t> </a:t>
            </a:r>
            <a:r>
              <a:rPr lang="en-US" dirty="0" err="1"/>
              <a:t>redom</a:t>
            </a:r>
            <a:r>
              <a:rPr lang="en-US" dirty="0"/>
              <a:t> </a:t>
            </a:r>
            <a:r>
              <a:rPr lang="en-US" dirty="0" err="1"/>
              <a:t>i</a:t>
            </a:r>
            <a:r>
              <a:rPr lang="en-US" dirty="0"/>
              <a:t> </a:t>
            </a:r>
            <a:r>
              <a:rPr lang="en-US" dirty="0" err="1"/>
              <a:t>proverava</a:t>
            </a:r>
            <a:r>
              <a:rPr lang="en-US" dirty="0"/>
              <a:t> </a:t>
            </a:r>
            <a:r>
              <a:rPr lang="en-US" dirty="0" err="1"/>
              <a:t>svaki</a:t>
            </a:r>
            <a:r>
              <a:rPr lang="en-US" dirty="0"/>
              <a:t> red, </a:t>
            </a:r>
            <a:r>
              <a:rPr lang="en-US" dirty="0" err="1"/>
              <a:t>što</a:t>
            </a:r>
            <a:r>
              <a:rPr lang="en-US" dirty="0"/>
              <a:t> je </a:t>
            </a:r>
            <a:r>
              <a:rPr lang="en-US" dirty="0" err="1"/>
              <a:t>linearna</a:t>
            </a:r>
            <a:r>
              <a:rPr lang="en-US" dirty="0"/>
              <a:t> </a:t>
            </a:r>
            <a:r>
              <a:rPr lang="en-US" dirty="0" err="1"/>
              <a:t>složenost</a:t>
            </a:r>
            <a:r>
              <a:rPr lang="en-US" dirty="0"/>
              <a:t> O(n).</a:t>
            </a:r>
          </a:p>
          <a:p>
            <a:r>
              <a:rPr lang="en-US" dirty="0"/>
              <a:t>Na </a:t>
            </a:r>
            <a:r>
              <a:rPr lang="en-US" dirty="0" err="1"/>
              <a:t>malim</a:t>
            </a:r>
            <a:r>
              <a:rPr lang="en-US" dirty="0"/>
              <a:t> </a:t>
            </a:r>
            <a:r>
              <a:rPr lang="en-US" dirty="0" err="1"/>
              <a:t>tabelama</a:t>
            </a:r>
            <a:r>
              <a:rPr lang="en-US" dirty="0"/>
              <a:t> NATURAL </a:t>
            </a:r>
            <a:r>
              <a:rPr lang="en-US" dirty="0" err="1"/>
              <a:t>nije</a:t>
            </a:r>
            <a:r>
              <a:rPr lang="en-US" dirty="0"/>
              <a:t> problem, </a:t>
            </a:r>
            <a:r>
              <a:rPr lang="en-US" dirty="0" err="1"/>
              <a:t>ali</a:t>
            </a:r>
            <a:r>
              <a:rPr lang="en-US" dirty="0"/>
              <a:t> </a:t>
            </a:r>
            <a:r>
              <a:rPr lang="en-US" dirty="0" err="1"/>
              <a:t>na</a:t>
            </a:r>
            <a:r>
              <a:rPr lang="en-US" dirty="0"/>
              <a:t> </a:t>
            </a:r>
            <a:r>
              <a:rPr lang="en-US" dirty="0" err="1"/>
              <a:t>tabelama</a:t>
            </a:r>
            <a:r>
              <a:rPr lang="en-US" dirty="0"/>
              <a:t> </a:t>
            </a:r>
            <a:r>
              <a:rPr lang="en-US" dirty="0" err="1"/>
              <a:t>sa</a:t>
            </a:r>
            <a:r>
              <a:rPr lang="en-US" dirty="0"/>
              <a:t> </a:t>
            </a:r>
            <a:r>
              <a:rPr lang="en-US" dirty="0" err="1"/>
              <a:t>milionima</a:t>
            </a:r>
            <a:r>
              <a:rPr lang="en-US" dirty="0"/>
              <a:t> </a:t>
            </a:r>
            <a:r>
              <a:rPr lang="en-US" dirty="0" err="1"/>
              <a:t>redova</a:t>
            </a:r>
            <a:r>
              <a:rPr lang="en-US" dirty="0"/>
              <a:t> </a:t>
            </a:r>
            <a:r>
              <a:rPr lang="en-US" dirty="0" err="1"/>
              <a:t>predstavlja</a:t>
            </a:r>
            <a:r>
              <a:rPr lang="en-US" dirty="0"/>
              <a:t> </a:t>
            </a:r>
            <a:r>
              <a:rPr lang="en-US" dirty="0" err="1"/>
              <a:t>glavni</a:t>
            </a:r>
            <a:r>
              <a:rPr lang="en-US" dirty="0"/>
              <a:t> </a:t>
            </a:r>
            <a:r>
              <a:rPr lang="en-US" dirty="0" err="1"/>
              <a:t>uzrok</a:t>
            </a:r>
            <a:r>
              <a:rPr lang="en-US" dirty="0"/>
              <a:t> </a:t>
            </a:r>
            <a:r>
              <a:rPr lang="en-US" dirty="0" err="1"/>
              <a:t>zagušenja</a:t>
            </a:r>
            <a:r>
              <a:rPr lang="en-US" dirty="0"/>
              <a:t> </a:t>
            </a:r>
            <a:r>
              <a:rPr lang="en-US" dirty="0" err="1"/>
              <a:t>sistema</a:t>
            </a:r>
            <a:r>
              <a:rPr lang="en-US" dirty="0"/>
              <a:t> — </a:t>
            </a:r>
            <a:r>
              <a:rPr lang="en-US" dirty="0" err="1"/>
              <a:t>svaki</a:t>
            </a:r>
            <a:r>
              <a:rPr lang="en-US" dirty="0"/>
              <a:t> red se </a:t>
            </a:r>
            <a:r>
              <a:rPr lang="en-US" dirty="0" err="1"/>
              <a:t>proverava</a:t>
            </a:r>
            <a:r>
              <a:rPr lang="en-US" dirty="0"/>
              <a:t> bez </a:t>
            </a:r>
            <a:r>
              <a:rPr lang="en-US" dirty="0" err="1"/>
              <a:t>obzira</a:t>
            </a:r>
            <a:r>
              <a:rPr lang="en-US" dirty="0"/>
              <a:t> </a:t>
            </a:r>
            <a:r>
              <a:rPr lang="en-US" dirty="0" err="1"/>
              <a:t>na</a:t>
            </a:r>
            <a:r>
              <a:rPr lang="en-US" dirty="0"/>
              <a:t> to da li </a:t>
            </a:r>
            <a:r>
              <a:rPr lang="en-US" dirty="0" err="1"/>
              <a:t>zadovoljava</a:t>
            </a:r>
            <a:r>
              <a:rPr lang="en-US" dirty="0"/>
              <a:t> </a:t>
            </a:r>
            <a:r>
              <a:rPr lang="en-US" dirty="0" err="1"/>
              <a:t>uslov</a:t>
            </a:r>
            <a:r>
              <a:rPr lang="en-US" dirty="0"/>
              <a:t> </a:t>
            </a:r>
            <a:r>
              <a:rPr lang="en-US" dirty="0" err="1"/>
              <a:t>upita</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Firebird </a:t>
            </a:r>
            <a:r>
              <a:rPr lang="en-US" dirty="0" err="1"/>
              <a:t>indeksi</a:t>
            </a:r>
            <a:r>
              <a:rPr lang="en-US" dirty="0"/>
              <a:t> </a:t>
            </a:r>
            <a:r>
              <a:rPr lang="en-US" dirty="0" err="1"/>
              <a:t>su</a:t>
            </a:r>
            <a:r>
              <a:rPr lang="en-US" dirty="0"/>
              <a:t> </a:t>
            </a:r>
            <a:r>
              <a:rPr lang="en-US" dirty="0" err="1"/>
              <a:t>implementirani</a:t>
            </a:r>
            <a:r>
              <a:rPr lang="en-US" dirty="0"/>
              <a:t> </a:t>
            </a:r>
            <a:r>
              <a:rPr lang="en-US" dirty="0" err="1"/>
              <a:t>kao</a:t>
            </a:r>
            <a:r>
              <a:rPr lang="en-US" dirty="0"/>
              <a:t> B+ </a:t>
            </a:r>
            <a:r>
              <a:rPr lang="en-US" dirty="0" err="1"/>
              <a:t>stabla</a:t>
            </a:r>
            <a:r>
              <a:rPr lang="en-US" dirty="0"/>
              <a:t> </a:t>
            </a:r>
            <a:r>
              <a:rPr lang="en-US" dirty="0" err="1"/>
              <a:t>čija</a:t>
            </a:r>
            <a:r>
              <a:rPr lang="en-US" dirty="0"/>
              <a:t> </a:t>
            </a:r>
            <a:r>
              <a:rPr lang="en-US" dirty="0" err="1"/>
              <a:t>dubina</a:t>
            </a:r>
            <a:r>
              <a:rPr lang="en-US" dirty="0"/>
              <a:t> </a:t>
            </a:r>
            <a:r>
              <a:rPr lang="en-US" dirty="0" err="1"/>
              <a:t>direktno</a:t>
            </a:r>
            <a:r>
              <a:rPr lang="en-US" dirty="0"/>
              <a:t> </a:t>
            </a:r>
            <a:r>
              <a:rPr lang="en-US" dirty="0" err="1"/>
              <a:t>određuje</a:t>
            </a:r>
            <a:r>
              <a:rPr lang="en-US" dirty="0"/>
              <a:t> </a:t>
            </a:r>
            <a:r>
              <a:rPr lang="en-US" dirty="0" err="1"/>
              <a:t>broj</a:t>
            </a:r>
            <a:r>
              <a:rPr lang="en-US" dirty="0"/>
              <a:t> I/O </a:t>
            </a:r>
            <a:r>
              <a:rPr lang="en-US" dirty="0" err="1"/>
              <a:t>operacija</a:t>
            </a:r>
            <a:r>
              <a:rPr lang="en-US" dirty="0"/>
              <a:t> — </a:t>
            </a:r>
            <a:r>
              <a:rPr lang="en-US" dirty="0" err="1"/>
              <a:t>što</a:t>
            </a:r>
            <a:r>
              <a:rPr lang="en-US" dirty="0"/>
              <a:t> je </a:t>
            </a:r>
            <a:r>
              <a:rPr lang="en-US" dirty="0" err="1"/>
              <a:t>stablo</a:t>
            </a:r>
            <a:r>
              <a:rPr lang="en-US" dirty="0"/>
              <a:t> </a:t>
            </a:r>
            <a:r>
              <a:rPr lang="en-US" dirty="0" err="1"/>
              <a:t>pliće</a:t>
            </a:r>
            <a:r>
              <a:rPr lang="en-US" dirty="0"/>
              <a:t>, to je </a:t>
            </a:r>
            <a:r>
              <a:rPr lang="en-US" dirty="0" err="1"/>
              <a:t>pretraga</a:t>
            </a:r>
            <a:r>
              <a:rPr lang="en-US" dirty="0"/>
              <a:t> </a:t>
            </a:r>
            <a:r>
              <a:rPr lang="en-US" dirty="0" err="1"/>
              <a:t>brža</a:t>
            </a:r>
            <a:r>
              <a:rPr lang="en-US" dirty="0"/>
              <a:t>, bez </a:t>
            </a:r>
            <a:r>
              <a:rPr lang="en-US" dirty="0" err="1"/>
              <a:t>obzira</a:t>
            </a:r>
            <a:r>
              <a:rPr lang="en-US" dirty="0"/>
              <a:t> </a:t>
            </a:r>
            <a:r>
              <a:rPr lang="en-US" dirty="0" err="1"/>
              <a:t>na</a:t>
            </a:r>
            <a:r>
              <a:rPr lang="en-US" dirty="0"/>
              <a:t> </a:t>
            </a:r>
            <a:r>
              <a:rPr lang="en-US" dirty="0" err="1"/>
              <a:t>veličinu</a:t>
            </a:r>
            <a:r>
              <a:rPr lang="en-US" dirty="0"/>
              <a:t> </a:t>
            </a:r>
            <a:r>
              <a:rPr lang="en-US" dirty="0" err="1"/>
              <a:t>tabele</a:t>
            </a:r>
            <a:r>
              <a:rPr lang="en-US" dirty="0"/>
              <a:t>.</a:t>
            </a:r>
          </a:p>
          <a:p>
            <a:r>
              <a:rPr lang="en-US" dirty="0"/>
              <a:t>MGA </a:t>
            </a:r>
            <a:r>
              <a:rPr lang="en-US" dirty="0" err="1"/>
              <a:t>arhitektura</a:t>
            </a:r>
            <a:r>
              <a:rPr lang="en-US" dirty="0"/>
              <a:t>, </a:t>
            </a:r>
            <a:r>
              <a:rPr lang="en-US" dirty="0" err="1"/>
              <a:t>iako</a:t>
            </a:r>
            <a:r>
              <a:rPr lang="en-US" dirty="0"/>
              <a:t> </a:t>
            </a:r>
            <a:r>
              <a:rPr lang="en-US" dirty="0" err="1"/>
              <a:t>omogućava</a:t>
            </a:r>
            <a:r>
              <a:rPr lang="en-US" dirty="0"/>
              <a:t> </a:t>
            </a:r>
            <a:r>
              <a:rPr lang="en-US" dirty="0" err="1"/>
              <a:t>istovremeni</a:t>
            </a:r>
            <a:r>
              <a:rPr lang="en-US" dirty="0"/>
              <a:t> rad </a:t>
            </a:r>
            <a:r>
              <a:rPr lang="en-US" dirty="0" err="1"/>
              <a:t>više</a:t>
            </a:r>
            <a:r>
              <a:rPr lang="en-US" dirty="0"/>
              <a:t> </a:t>
            </a:r>
            <a:r>
              <a:rPr lang="en-US" dirty="0" err="1"/>
              <a:t>korisnika</a:t>
            </a:r>
            <a:r>
              <a:rPr lang="en-US" dirty="0"/>
              <a:t> bez </a:t>
            </a:r>
            <a:r>
              <a:rPr lang="en-US" dirty="0" err="1"/>
              <a:t>zaključavanja</a:t>
            </a:r>
            <a:r>
              <a:rPr lang="en-US" dirty="0"/>
              <a:t>, </a:t>
            </a:r>
            <a:r>
              <a:rPr lang="en-US" dirty="0" err="1"/>
              <a:t>ima</a:t>
            </a:r>
            <a:r>
              <a:rPr lang="en-US" dirty="0"/>
              <a:t> </a:t>
            </a:r>
            <a:r>
              <a:rPr lang="en-US" dirty="0" err="1"/>
              <a:t>svoju</a:t>
            </a:r>
            <a:r>
              <a:rPr lang="en-US" dirty="0"/>
              <a:t> </a:t>
            </a:r>
            <a:r>
              <a:rPr lang="en-US" dirty="0" err="1"/>
              <a:t>cenu</a:t>
            </a:r>
            <a:r>
              <a:rPr lang="en-US" dirty="0"/>
              <a:t> — </a:t>
            </a:r>
            <a:r>
              <a:rPr lang="en-US" dirty="0" err="1"/>
              <a:t>svaki</a:t>
            </a:r>
            <a:r>
              <a:rPr lang="en-US" dirty="0"/>
              <a:t> UPDATE </a:t>
            </a:r>
            <a:r>
              <a:rPr lang="en-US" dirty="0" err="1"/>
              <a:t>kreira</a:t>
            </a:r>
            <a:r>
              <a:rPr lang="en-US" dirty="0"/>
              <a:t> </a:t>
            </a:r>
            <a:r>
              <a:rPr lang="en-US" dirty="0" err="1"/>
              <a:t>novu</a:t>
            </a:r>
            <a:r>
              <a:rPr lang="en-US" dirty="0"/>
              <a:t> </a:t>
            </a:r>
            <a:r>
              <a:rPr lang="en-US" dirty="0" err="1"/>
              <a:t>verziju</a:t>
            </a:r>
            <a:r>
              <a:rPr lang="en-US" dirty="0"/>
              <a:t> </a:t>
            </a:r>
            <a:r>
              <a:rPr lang="en-US" dirty="0" err="1"/>
              <a:t>zapisa</a:t>
            </a:r>
            <a:r>
              <a:rPr lang="en-US" dirty="0"/>
              <a:t>, </a:t>
            </a:r>
            <a:r>
              <a:rPr lang="en-US" dirty="0" err="1"/>
              <a:t>što</a:t>
            </a:r>
            <a:r>
              <a:rPr lang="en-US" dirty="0"/>
              <a:t> </a:t>
            </a:r>
            <a:r>
              <a:rPr lang="en-US" dirty="0" err="1"/>
              <a:t>tokom</a:t>
            </a:r>
            <a:r>
              <a:rPr lang="en-US" dirty="0"/>
              <a:t> </a:t>
            </a:r>
            <a:r>
              <a:rPr lang="en-US" dirty="0" err="1"/>
              <a:t>vremena</a:t>
            </a:r>
            <a:r>
              <a:rPr lang="en-US" dirty="0"/>
              <a:t> </a:t>
            </a:r>
            <a:r>
              <a:rPr lang="en-US" dirty="0" err="1"/>
              <a:t>dovodi</a:t>
            </a:r>
            <a:r>
              <a:rPr lang="en-US" dirty="0"/>
              <a:t> do Index Bloat-a </a:t>
            </a:r>
            <a:r>
              <a:rPr lang="en-US" dirty="0" err="1"/>
              <a:t>i</a:t>
            </a:r>
            <a:r>
              <a:rPr lang="en-US" dirty="0"/>
              <a:t> </a:t>
            </a:r>
            <a:r>
              <a:rPr lang="en-US" dirty="0" err="1"/>
              <a:t>degradacije</a:t>
            </a:r>
            <a:r>
              <a:rPr lang="en-US" dirty="0"/>
              <a:t> </a:t>
            </a:r>
            <a:r>
              <a:rPr lang="en-US" dirty="0" err="1"/>
              <a:t>performansi</a:t>
            </a:r>
            <a:r>
              <a:rPr lang="en-US" dirty="0"/>
              <a:t>.</a:t>
            </a:r>
          </a:p>
          <a:p>
            <a:r>
              <a:rPr lang="en-US" dirty="0"/>
              <a:t>Garbage Collector </a:t>
            </a:r>
            <a:r>
              <a:rPr lang="en-US" dirty="0" err="1"/>
              <a:t>čisti</a:t>
            </a:r>
            <a:r>
              <a:rPr lang="en-US" dirty="0"/>
              <a:t> </a:t>
            </a:r>
            <a:r>
              <a:rPr lang="en-US" dirty="0" err="1"/>
              <a:t>zastarele</a:t>
            </a:r>
            <a:r>
              <a:rPr lang="en-US" dirty="0"/>
              <a:t> </a:t>
            </a:r>
            <a:r>
              <a:rPr lang="en-US" dirty="0" err="1"/>
              <a:t>verzije</a:t>
            </a:r>
            <a:r>
              <a:rPr lang="en-US" dirty="0"/>
              <a:t>, </a:t>
            </a:r>
            <a:r>
              <a:rPr lang="en-US" dirty="0" err="1"/>
              <a:t>ali</a:t>
            </a:r>
            <a:r>
              <a:rPr lang="en-US" dirty="0"/>
              <a:t> ga </a:t>
            </a:r>
            <a:r>
              <a:rPr lang="en-US" dirty="0" err="1"/>
              <a:t>blokira</a:t>
            </a:r>
            <a:r>
              <a:rPr lang="en-US" dirty="0"/>
              <a:t> OAT (Oldest Active Transaction) — </a:t>
            </a:r>
            <a:r>
              <a:rPr lang="en-US" dirty="0" err="1"/>
              <a:t>dugačke</a:t>
            </a:r>
            <a:r>
              <a:rPr lang="en-US" dirty="0"/>
              <a:t> </a:t>
            </a:r>
            <a:r>
              <a:rPr lang="en-US" dirty="0" err="1"/>
              <a:t>otvorene</a:t>
            </a:r>
            <a:r>
              <a:rPr lang="en-US" dirty="0"/>
              <a:t> </a:t>
            </a:r>
            <a:r>
              <a:rPr lang="en-US" dirty="0" err="1"/>
              <a:t>transakcije</a:t>
            </a:r>
            <a:r>
              <a:rPr lang="en-US" dirty="0"/>
              <a:t> </a:t>
            </a:r>
            <a:r>
              <a:rPr lang="en-US" dirty="0" err="1"/>
              <a:t>su</a:t>
            </a:r>
            <a:r>
              <a:rPr lang="en-US" dirty="0"/>
              <a:t> </a:t>
            </a:r>
            <a:r>
              <a:rPr lang="en-US" dirty="0" err="1"/>
              <a:t>najveći</a:t>
            </a:r>
            <a:r>
              <a:rPr lang="en-US" dirty="0"/>
              <a:t> </a:t>
            </a:r>
            <a:r>
              <a:rPr lang="en-US" dirty="0" err="1"/>
              <a:t>neprijatelj</a:t>
            </a:r>
            <a:r>
              <a:rPr lang="en-US" dirty="0"/>
              <a:t> </a:t>
            </a:r>
            <a:r>
              <a:rPr lang="en-US" dirty="0" err="1"/>
              <a:t>performansi</a:t>
            </a:r>
            <a:r>
              <a:rPr lang="en-US" dirty="0"/>
              <a:t> </a:t>
            </a:r>
            <a:r>
              <a:rPr lang="en-US" dirty="0" err="1"/>
              <a:t>jer</a:t>
            </a:r>
            <a:r>
              <a:rPr lang="en-US" dirty="0"/>
              <a:t> </a:t>
            </a:r>
            <a:r>
              <a:rPr lang="en-US" dirty="0" err="1"/>
              <a:t>sprečavaju</a:t>
            </a:r>
            <a:r>
              <a:rPr lang="en-US" dirty="0"/>
              <a:t> </a:t>
            </a:r>
            <a:r>
              <a:rPr lang="en-US" dirty="0" err="1"/>
              <a:t>čišćenje</a:t>
            </a:r>
            <a:r>
              <a:rPr lang="en-US" dirty="0"/>
              <a:t> </a:t>
            </a:r>
            <a:r>
              <a:rPr lang="en-US" dirty="0" err="1"/>
              <a:t>i</a:t>
            </a:r>
            <a:r>
              <a:rPr lang="en-US" dirty="0"/>
              <a:t> </a:t>
            </a:r>
            <a:r>
              <a:rPr lang="en-US" dirty="0" err="1"/>
              <a:t>dozvoljavaju</a:t>
            </a:r>
            <a:r>
              <a:rPr lang="en-US" dirty="0"/>
              <a:t> </a:t>
            </a:r>
            <a:r>
              <a:rPr lang="en-US" dirty="0" err="1"/>
              <a:t>nekontrolisano</a:t>
            </a:r>
            <a:r>
              <a:rPr lang="en-US" dirty="0"/>
              <a:t> </a:t>
            </a:r>
            <a:r>
              <a:rPr lang="en-US" dirty="0" err="1"/>
              <a:t>rast</a:t>
            </a:r>
            <a:r>
              <a:rPr lang="en-US" dirty="0"/>
              <a:t> </a:t>
            </a:r>
            <a:r>
              <a:rPr lang="en-US" dirty="0" err="1"/>
              <a:t>lanca</a:t>
            </a:r>
            <a:r>
              <a:rPr lang="en-US" dirty="0"/>
              <a:t> </a:t>
            </a:r>
            <a:r>
              <a:rPr lang="en-US" dirty="0" err="1"/>
              <a:t>verzija</a:t>
            </a:r>
            <a:r>
              <a:rPr lang="en-US" dirty="0"/>
              <a:t>.</a:t>
            </a:r>
          </a:p>
          <a:p>
            <a:r>
              <a:rPr lang="en-US" dirty="0" err="1"/>
              <a:t>Selektivnost</a:t>
            </a:r>
            <a:r>
              <a:rPr lang="en-US" dirty="0"/>
              <a:t> je </a:t>
            </a:r>
            <a:r>
              <a:rPr lang="en-US" dirty="0" err="1"/>
              <a:t>parametar</a:t>
            </a:r>
            <a:r>
              <a:rPr lang="en-US" dirty="0"/>
              <a:t> koji optimizer </a:t>
            </a:r>
            <a:r>
              <a:rPr lang="en-US" dirty="0" err="1"/>
              <a:t>koristi</a:t>
            </a:r>
            <a:r>
              <a:rPr lang="en-US" dirty="0"/>
              <a:t> za </a:t>
            </a:r>
            <a:r>
              <a:rPr lang="en-US" dirty="0" err="1"/>
              <a:t>donošenje</a:t>
            </a:r>
            <a:r>
              <a:rPr lang="en-US" dirty="0"/>
              <a:t> </a:t>
            </a:r>
            <a:r>
              <a:rPr lang="en-US" dirty="0" err="1"/>
              <a:t>odluka</a:t>
            </a:r>
            <a:r>
              <a:rPr lang="en-US" dirty="0"/>
              <a:t>, </a:t>
            </a:r>
            <a:r>
              <a:rPr lang="en-US" dirty="0" err="1"/>
              <a:t>ali</a:t>
            </a:r>
            <a:r>
              <a:rPr lang="en-US" dirty="0"/>
              <a:t> </a:t>
            </a:r>
            <a:r>
              <a:rPr lang="en-US" dirty="0" err="1"/>
              <a:t>kako</a:t>
            </a:r>
            <a:r>
              <a:rPr lang="en-US" dirty="0"/>
              <a:t> se ne </a:t>
            </a:r>
            <a:r>
              <a:rPr lang="en-US" dirty="0" err="1"/>
              <a:t>ažurira</a:t>
            </a:r>
            <a:r>
              <a:rPr lang="en-US" dirty="0"/>
              <a:t> </a:t>
            </a:r>
            <a:r>
              <a:rPr lang="en-US" dirty="0" err="1"/>
              <a:t>automatski</a:t>
            </a:r>
            <a:r>
              <a:rPr lang="en-US" dirty="0"/>
              <a:t>, </a:t>
            </a:r>
            <a:r>
              <a:rPr lang="en-US" dirty="0" err="1"/>
              <a:t>zastarela</a:t>
            </a:r>
            <a:r>
              <a:rPr lang="en-US" dirty="0"/>
              <a:t> </a:t>
            </a:r>
            <a:r>
              <a:rPr lang="en-US" dirty="0" err="1"/>
              <a:t>statistika</a:t>
            </a:r>
            <a:r>
              <a:rPr lang="en-US" dirty="0"/>
              <a:t> </a:t>
            </a:r>
            <a:r>
              <a:rPr lang="en-US" dirty="0" err="1"/>
              <a:t>vodi</a:t>
            </a:r>
            <a:r>
              <a:rPr lang="en-US" dirty="0"/>
              <a:t> do </a:t>
            </a:r>
            <a:r>
              <a:rPr lang="en-US" dirty="0" err="1"/>
              <a:t>pogrešnih</a:t>
            </a:r>
            <a:r>
              <a:rPr lang="en-US" dirty="0"/>
              <a:t> </a:t>
            </a:r>
            <a:r>
              <a:rPr lang="en-US" dirty="0" err="1"/>
              <a:t>planova</a:t>
            </a:r>
            <a:r>
              <a:rPr lang="en-US" dirty="0"/>
              <a:t> </a:t>
            </a:r>
            <a:r>
              <a:rPr lang="en-US" dirty="0" err="1"/>
              <a:t>izvršavanja</a:t>
            </a:r>
            <a:r>
              <a:rPr lang="en-US" dirty="0"/>
              <a:t> — </a:t>
            </a:r>
            <a:r>
              <a:rPr lang="en-US" dirty="0" err="1"/>
              <a:t>redovno</a:t>
            </a:r>
            <a:r>
              <a:rPr lang="en-US" dirty="0"/>
              <a:t> </a:t>
            </a:r>
            <a:r>
              <a:rPr lang="en-US" dirty="0" err="1"/>
              <a:t>pokretanje</a:t>
            </a:r>
            <a:r>
              <a:rPr lang="en-US" dirty="0"/>
              <a:t> SET STATISTICS INDEX je </a:t>
            </a:r>
            <a:r>
              <a:rPr lang="en-US" dirty="0" err="1"/>
              <a:t>obaveza</a:t>
            </a:r>
            <a:r>
              <a:rPr lang="en-US" dirty="0"/>
              <a:t> </a:t>
            </a:r>
            <a:r>
              <a:rPr lang="en-US" dirty="0" err="1"/>
              <a:t>svakog</a:t>
            </a:r>
            <a:r>
              <a:rPr lang="en-US" dirty="0"/>
              <a:t> </a:t>
            </a:r>
            <a:r>
              <a:rPr lang="en-US" dirty="0" err="1"/>
              <a:t>administratora</a:t>
            </a:r>
            <a:r>
              <a:rPr lang="en-US" dirty="0"/>
              <a:t>.</a:t>
            </a:r>
          </a:p>
          <a:p>
            <a:r>
              <a:rPr lang="en-US" dirty="0"/>
              <a:t>Expression </a:t>
            </a:r>
            <a:r>
              <a:rPr lang="en-US" dirty="0" err="1"/>
              <a:t>indeksi</a:t>
            </a:r>
            <a:r>
              <a:rPr lang="en-US" dirty="0"/>
              <a:t> </a:t>
            </a:r>
            <a:r>
              <a:rPr lang="en-US" dirty="0" err="1"/>
              <a:t>su</a:t>
            </a:r>
            <a:r>
              <a:rPr lang="en-US" dirty="0"/>
              <a:t> </a:t>
            </a:r>
            <a:r>
              <a:rPr lang="en-US" dirty="0" err="1"/>
              <a:t>moćan</a:t>
            </a:r>
            <a:r>
              <a:rPr lang="en-US" dirty="0"/>
              <a:t> </a:t>
            </a:r>
            <a:r>
              <a:rPr lang="en-US" dirty="0" err="1"/>
              <a:t>alat</a:t>
            </a:r>
            <a:r>
              <a:rPr lang="en-US" dirty="0"/>
              <a:t> </a:t>
            </a:r>
            <a:r>
              <a:rPr lang="en-US" dirty="0" err="1"/>
              <a:t>jer</a:t>
            </a:r>
            <a:r>
              <a:rPr lang="en-US" dirty="0"/>
              <a:t> se </a:t>
            </a:r>
            <a:r>
              <a:rPr lang="en-US" dirty="0" err="1"/>
              <a:t>izraz</a:t>
            </a:r>
            <a:r>
              <a:rPr lang="en-US" dirty="0"/>
              <a:t> </a:t>
            </a:r>
            <a:r>
              <a:rPr lang="en-US" dirty="0" err="1"/>
              <a:t>izračunava</a:t>
            </a:r>
            <a:r>
              <a:rPr lang="en-US" dirty="0"/>
              <a:t> </a:t>
            </a:r>
            <a:r>
              <a:rPr lang="en-US" dirty="0" err="1"/>
              <a:t>jednom</a:t>
            </a:r>
            <a:r>
              <a:rPr lang="en-US" dirty="0"/>
              <a:t> </a:t>
            </a:r>
            <a:r>
              <a:rPr lang="en-US" dirty="0" err="1"/>
              <a:t>pri</a:t>
            </a:r>
            <a:r>
              <a:rPr lang="en-US" dirty="0"/>
              <a:t> </a:t>
            </a:r>
            <a:r>
              <a:rPr lang="en-US" dirty="0" err="1"/>
              <a:t>upisu</a:t>
            </a:r>
            <a:r>
              <a:rPr lang="en-US" dirty="0"/>
              <a:t> </a:t>
            </a:r>
            <a:r>
              <a:rPr lang="en-US" dirty="0" err="1"/>
              <a:t>i</a:t>
            </a:r>
            <a:r>
              <a:rPr lang="en-US" dirty="0"/>
              <a:t> </a:t>
            </a:r>
            <a:r>
              <a:rPr lang="en-US" dirty="0" err="1"/>
              <a:t>trajno</a:t>
            </a:r>
            <a:r>
              <a:rPr lang="en-US" dirty="0"/>
              <a:t> </a:t>
            </a:r>
            <a:r>
              <a:rPr lang="en-US" dirty="0" err="1"/>
              <a:t>čuva</a:t>
            </a:r>
            <a:r>
              <a:rPr lang="en-US" dirty="0"/>
              <a:t> u B+ </a:t>
            </a:r>
            <a:r>
              <a:rPr lang="en-US" dirty="0" err="1"/>
              <a:t>stablu</a:t>
            </a:r>
            <a:r>
              <a:rPr lang="en-US" dirty="0"/>
              <a:t>, </a:t>
            </a:r>
            <a:r>
              <a:rPr lang="en-US" dirty="0" err="1"/>
              <a:t>čime</a:t>
            </a:r>
            <a:r>
              <a:rPr lang="en-US" dirty="0"/>
              <a:t> se </a:t>
            </a:r>
            <a:r>
              <a:rPr lang="en-US" dirty="0" err="1"/>
              <a:t>pri</a:t>
            </a:r>
            <a:r>
              <a:rPr lang="en-US" dirty="0"/>
              <a:t> </a:t>
            </a:r>
            <a:r>
              <a:rPr lang="en-US" dirty="0" err="1"/>
              <a:t>pretrazi</a:t>
            </a:r>
            <a:r>
              <a:rPr lang="en-US" dirty="0"/>
              <a:t> </a:t>
            </a:r>
            <a:r>
              <a:rPr lang="en-US" dirty="0" err="1"/>
              <a:t>potpuno</a:t>
            </a:r>
            <a:r>
              <a:rPr lang="en-US" dirty="0"/>
              <a:t> </a:t>
            </a:r>
            <a:r>
              <a:rPr lang="en-US" dirty="0" err="1"/>
              <a:t>eliminiše</a:t>
            </a:r>
            <a:r>
              <a:rPr lang="en-US" dirty="0"/>
              <a:t> </a:t>
            </a:r>
            <a:r>
              <a:rPr lang="en-US" dirty="0" err="1"/>
              <a:t>potreba</a:t>
            </a:r>
            <a:r>
              <a:rPr lang="en-US" dirty="0"/>
              <a:t> za </a:t>
            </a:r>
            <a:r>
              <a:rPr lang="en-US" dirty="0" err="1"/>
              <a:t>ponovnim</a:t>
            </a:r>
            <a:r>
              <a:rPr lang="en-US" dirty="0"/>
              <a:t> </a:t>
            </a:r>
            <a:r>
              <a:rPr lang="en-US" dirty="0" err="1"/>
              <a:t>izračunavanjem</a:t>
            </a:r>
            <a:r>
              <a:rPr lang="en-US" dirty="0"/>
              <a:t> </a:t>
            </a:r>
            <a:r>
              <a:rPr lang="en-US" dirty="0" err="1"/>
              <a:t>i</a:t>
            </a:r>
            <a:r>
              <a:rPr lang="en-US" dirty="0"/>
              <a:t> Full Table Scan-om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201168" y="0"/>
            <a:ext cx="8942832" cy="54864"/>
          </a:xfrm>
          <a:prstGeom prst="rect">
            <a:avLst/>
          </a:prstGeom>
          <a:solidFill>
            <a:schemeClr val="bg1">
              <a:lumMod val="50000"/>
            </a:schemeClr>
          </a:solidFill>
          <a:ln/>
        </p:spPr>
        <p:txBody>
          <a:bodyPr/>
          <a:lstStyle/>
          <a:p>
            <a:endParaRPr lang="en-US"/>
          </a:p>
        </p:txBody>
      </p:sp>
      <p:sp>
        <p:nvSpPr>
          <p:cNvPr id="4" name="Text 2"/>
          <p:cNvSpPr/>
          <p:nvPr/>
        </p:nvSpPr>
        <p:spPr>
          <a:xfrm>
            <a:off x="457200" y="1097280"/>
            <a:ext cx="8229600" cy="64008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Interna struktura i organizacija</a:t>
            </a:r>
            <a:endParaRPr lang="en-US" sz="4400" dirty="0"/>
          </a:p>
        </p:txBody>
      </p:sp>
      <p:sp>
        <p:nvSpPr>
          <p:cNvPr id="5" name="Text 3"/>
          <p:cNvSpPr/>
          <p:nvPr/>
        </p:nvSpPr>
        <p:spPr>
          <a:xfrm>
            <a:off x="457200" y="1691640"/>
            <a:ext cx="8229600" cy="640080"/>
          </a:xfrm>
          <a:prstGeom prst="rect">
            <a:avLst/>
          </a:prstGeom>
          <a:noFill/>
          <a:ln/>
        </p:spPr>
        <p:txBody>
          <a:bodyPr wrap="square" lIns="0" tIns="0" rIns="0" bIns="0" rtlCol="0" anchor="ctr"/>
          <a:lstStyle/>
          <a:p>
            <a:pPr marL="0" indent="0" algn="ctr">
              <a:buNone/>
            </a:pPr>
            <a:r>
              <a:rPr lang="en-US" sz="4400" b="1" dirty="0">
                <a:solidFill>
                  <a:schemeClr val="tx2">
                    <a:lumMod val="40000"/>
                    <a:lumOff val="60000"/>
                  </a:schemeClr>
                </a:solidFill>
                <a:latin typeface="Calibri" pitchFamily="34" charset="0"/>
                <a:ea typeface="Calibri" pitchFamily="34" charset="-122"/>
                <a:cs typeface="Calibri" pitchFamily="34" charset="-120"/>
              </a:rPr>
              <a:t>indeksa u Firebird bazi podataka</a:t>
            </a:r>
            <a:endParaRPr lang="en-US" sz="4400" dirty="0">
              <a:solidFill>
                <a:schemeClr val="tx2">
                  <a:lumMod val="40000"/>
                  <a:lumOff val="60000"/>
                </a:schemeClr>
              </a:solidFill>
            </a:endParaRPr>
          </a:p>
        </p:txBody>
      </p:sp>
      <p:sp>
        <p:nvSpPr>
          <p:cNvPr id="6" name="Text 4"/>
          <p:cNvSpPr/>
          <p:nvPr/>
        </p:nvSpPr>
        <p:spPr>
          <a:xfrm>
            <a:off x="660399" y="3510643"/>
            <a:ext cx="3563257" cy="365760"/>
          </a:xfrm>
          <a:prstGeom prst="rect">
            <a:avLst/>
          </a:prstGeom>
          <a:noFill/>
          <a:ln/>
        </p:spPr>
        <p:txBody>
          <a:bodyPr wrap="square" lIns="0" tIns="0" rIns="0" bIns="0" rtlCol="0" anchor="ctr"/>
          <a:lstStyle/>
          <a:p>
            <a:pPr marL="0" indent="0">
              <a:buNone/>
            </a:pPr>
            <a:r>
              <a:rPr lang="sr-Latn-RS" sz="1400" i="1" dirty="0">
                <a:solidFill>
                  <a:schemeClr val="bg1"/>
                </a:solidFill>
                <a:latin typeface="Calibri" pitchFamily="34" charset="0"/>
                <a:ea typeface="Calibri" pitchFamily="34" charset="-122"/>
                <a:cs typeface="Calibri" pitchFamily="34" charset="-120"/>
              </a:rPr>
              <a:t>Student:  </a:t>
            </a:r>
            <a:r>
              <a:rPr lang="en-US" sz="1400" i="1" dirty="0">
                <a:solidFill>
                  <a:schemeClr val="bg1"/>
                </a:solidFill>
                <a:latin typeface="Calibri" pitchFamily="34" charset="0"/>
                <a:ea typeface="Calibri" pitchFamily="34" charset="-122"/>
                <a:cs typeface="Calibri" pitchFamily="34" charset="-120"/>
              </a:rPr>
              <a:t>Jefimija </a:t>
            </a:r>
            <a:r>
              <a:rPr lang="en-US" sz="1400" i="1" dirty="0" err="1">
                <a:solidFill>
                  <a:schemeClr val="bg1"/>
                </a:solidFill>
                <a:latin typeface="Calibri" pitchFamily="34" charset="0"/>
                <a:ea typeface="Calibri" pitchFamily="34" charset="-122"/>
                <a:cs typeface="Calibri" pitchFamily="34" charset="-120"/>
              </a:rPr>
              <a:t>Stamenovi</a:t>
            </a:r>
            <a:r>
              <a:rPr lang="sr-Latn-RS" sz="1400" i="1" dirty="0">
                <a:solidFill>
                  <a:schemeClr val="bg1"/>
                </a:solidFill>
                <a:latin typeface="Calibri" pitchFamily="34" charset="0"/>
                <a:ea typeface="Calibri" pitchFamily="34" charset="-122"/>
                <a:cs typeface="Calibri" pitchFamily="34" charset="-120"/>
              </a:rPr>
              <a:t>ć 1820/2024</a:t>
            </a:r>
            <a:endParaRPr lang="en-US" sz="1400" i="1" dirty="0">
              <a:solidFill>
                <a:schemeClr val="bg1"/>
              </a:solidFill>
            </a:endParaRPr>
          </a:p>
        </p:txBody>
      </p:sp>
      <p:sp>
        <p:nvSpPr>
          <p:cNvPr id="7" name="Text 5"/>
          <p:cNvSpPr/>
          <p:nvPr/>
        </p:nvSpPr>
        <p:spPr>
          <a:xfrm>
            <a:off x="660399" y="3863340"/>
            <a:ext cx="3526971" cy="365760"/>
          </a:xfrm>
          <a:prstGeom prst="rect">
            <a:avLst/>
          </a:prstGeom>
          <a:noFill/>
          <a:ln/>
        </p:spPr>
        <p:txBody>
          <a:bodyPr wrap="square" lIns="0" tIns="0" rIns="0" bIns="0" rtlCol="0" anchor="ctr"/>
          <a:lstStyle/>
          <a:p>
            <a:pPr marL="0" indent="0">
              <a:buNone/>
            </a:pPr>
            <a:r>
              <a:rPr lang="en-US" sz="1400" i="1" dirty="0">
                <a:solidFill>
                  <a:schemeClr val="bg1"/>
                </a:solidFill>
                <a:latin typeface="Calibri" pitchFamily="34" charset="0"/>
                <a:ea typeface="Calibri" pitchFamily="34" charset="-122"/>
                <a:cs typeface="Calibri" pitchFamily="34" charset="-120"/>
              </a:rPr>
              <a:t>Mentor: dr Aleksandar S. Stanimirović</a:t>
            </a:r>
            <a:endParaRPr lang="en-US" sz="1400" dirty="0">
              <a:solidFill>
                <a:schemeClr val="bg1"/>
              </a:solidFill>
            </a:endParaRPr>
          </a:p>
        </p:txBody>
      </p:sp>
      <p:sp>
        <p:nvSpPr>
          <p:cNvPr id="8" name="Shape 6"/>
          <p:cNvSpPr/>
          <p:nvPr/>
        </p:nvSpPr>
        <p:spPr>
          <a:xfrm>
            <a:off x="0" y="4800600"/>
            <a:ext cx="9144000" cy="342900"/>
          </a:xfrm>
          <a:prstGeom prst="rect">
            <a:avLst/>
          </a:prstGeom>
          <a:solidFill>
            <a:schemeClr val="tx2">
              <a:lumMod val="75000"/>
            </a:schemeClr>
          </a:solidFill>
          <a:ln>
            <a:solidFill>
              <a:schemeClr val="tx2">
                <a:lumMod val="50000"/>
              </a:schemeClr>
            </a:solidFill>
          </a:ln>
        </p:spPr>
        <p:txBody>
          <a:bodyPr/>
          <a:lstStyle/>
          <a:p>
            <a:endParaRPr lang="en-US"/>
          </a:p>
        </p:txBody>
      </p:sp>
      <p:sp>
        <p:nvSpPr>
          <p:cNvPr id="9" name="Text 7"/>
          <p:cNvSpPr/>
          <p:nvPr/>
        </p:nvSpPr>
        <p:spPr>
          <a:xfrm>
            <a:off x="274320" y="4818888"/>
            <a:ext cx="8595360" cy="301752"/>
          </a:xfrm>
          <a:prstGeom prst="rect">
            <a:avLst/>
          </a:prstGeom>
          <a:noFill/>
          <a:ln/>
        </p:spPr>
        <p:txBody>
          <a:bodyPr wrap="square" lIns="0" tIns="0" rIns="0" bIns="0" rtlCol="0" anchor="ctr"/>
          <a:lstStyle/>
          <a:p>
            <a:pPr algn="ctr"/>
            <a:r>
              <a:rPr lang="en-US" sz="1000" b="1" dirty="0">
                <a:solidFill>
                  <a:schemeClr val="bg1"/>
                </a:solidFill>
                <a:latin typeface="Calibri" pitchFamily="34" charset="0"/>
                <a:ea typeface="Calibri" pitchFamily="34" charset="-122"/>
                <a:cs typeface="Calibri" pitchFamily="34" charset="-120"/>
              </a:rPr>
              <a:t>Elektronski fakultet u </a:t>
            </a:r>
            <a:r>
              <a:rPr lang="en-US" sz="1000" b="1" dirty="0" err="1">
                <a:solidFill>
                  <a:schemeClr val="bg1"/>
                </a:solidFill>
                <a:latin typeface="Calibri" pitchFamily="34" charset="0"/>
                <a:ea typeface="Calibri" pitchFamily="34" charset="-122"/>
                <a:cs typeface="Calibri" pitchFamily="34" charset="-120"/>
              </a:rPr>
              <a:t>Nišu</a:t>
            </a:r>
            <a:r>
              <a:rPr lang="sr-Latn-RS" sz="1000" b="1" dirty="0">
                <a:solidFill>
                  <a:schemeClr val="bg1"/>
                </a:solidFill>
                <a:latin typeface="Calibri" pitchFamily="34" charset="0"/>
                <a:ea typeface="Calibri" pitchFamily="34" charset="-122"/>
                <a:cs typeface="Calibri" pitchFamily="34" charset="-120"/>
              </a:rPr>
              <a:t> </a:t>
            </a:r>
            <a:r>
              <a:rPr lang="en-US" sz="1000" b="1" dirty="0">
                <a:solidFill>
                  <a:schemeClr val="bg1"/>
                </a:solidFill>
                <a:latin typeface="Calibri" pitchFamily="34" charset="0"/>
                <a:ea typeface="Calibri" pitchFamily="34" charset="-122"/>
                <a:cs typeface="Calibri" pitchFamily="34" charset="-120"/>
              </a:rPr>
              <a:t>·</a:t>
            </a:r>
            <a:r>
              <a:rPr lang="sr-Latn-RS" sz="1000" b="1" dirty="0">
                <a:solidFill>
                  <a:schemeClr val="bg1"/>
                </a:solidFill>
                <a:latin typeface="Calibri" pitchFamily="34" charset="0"/>
                <a:ea typeface="Calibri" pitchFamily="34" charset="-122"/>
                <a:cs typeface="Calibri" pitchFamily="34" charset="-120"/>
              </a:rPr>
              <a:t> </a:t>
            </a:r>
            <a:r>
              <a:rPr lang="en-US" sz="1000" b="1" dirty="0">
                <a:solidFill>
                  <a:schemeClr val="bg1"/>
                </a:solidFill>
                <a:latin typeface="Calibri" pitchFamily="34" charset="0"/>
                <a:ea typeface="Calibri" pitchFamily="34" charset="-122"/>
                <a:cs typeface="Calibri" pitchFamily="34" charset="-120"/>
              </a:rPr>
              <a:t>Master </a:t>
            </a:r>
            <a:r>
              <a:rPr lang="en-US" sz="1000" b="1" dirty="0" err="1">
                <a:solidFill>
                  <a:schemeClr val="bg1"/>
                </a:solidFill>
                <a:latin typeface="Calibri" pitchFamily="34" charset="0"/>
                <a:ea typeface="Calibri" pitchFamily="34" charset="-122"/>
                <a:cs typeface="Calibri" pitchFamily="34" charset="-120"/>
              </a:rPr>
              <a:t>akademske</a:t>
            </a:r>
            <a:r>
              <a:rPr lang="en-US" sz="1000" b="1" dirty="0">
                <a:solidFill>
                  <a:schemeClr val="bg1"/>
                </a:solidFill>
                <a:latin typeface="Calibri" pitchFamily="34" charset="0"/>
                <a:ea typeface="Calibri" pitchFamily="34" charset="-122"/>
                <a:cs typeface="Calibri" pitchFamily="34" charset="-120"/>
              </a:rPr>
              <a:t> </a:t>
            </a:r>
            <a:r>
              <a:rPr lang="en-US" sz="1000" b="1" dirty="0" err="1">
                <a:solidFill>
                  <a:schemeClr val="bg1"/>
                </a:solidFill>
                <a:latin typeface="Calibri" pitchFamily="34" charset="0"/>
                <a:ea typeface="Calibri" pitchFamily="34" charset="-122"/>
                <a:cs typeface="Calibri" pitchFamily="34" charset="-120"/>
              </a:rPr>
              <a:t>studije</a:t>
            </a:r>
            <a:r>
              <a:rPr lang="en-US" sz="1000" b="1" dirty="0">
                <a:solidFill>
                  <a:schemeClr val="bg1"/>
                </a:solidFill>
                <a:latin typeface="Calibri" pitchFamily="34" charset="0"/>
                <a:ea typeface="Calibri" pitchFamily="34" charset="-122"/>
                <a:cs typeface="Calibri" pitchFamily="34" charset="-120"/>
              </a:rPr>
              <a:t>  ·  Sistemi za upravljanje </a:t>
            </a:r>
            <a:r>
              <a:rPr lang="en-US" sz="1000" b="1" dirty="0" err="1">
                <a:solidFill>
                  <a:schemeClr val="bg1"/>
                </a:solidFill>
                <a:latin typeface="Calibri" pitchFamily="34" charset="0"/>
                <a:ea typeface="Calibri" pitchFamily="34" charset="-122"/>
                <a:cs typeface="Calibri" pitchFamily="34" charset="-120"/>
              </a:rPr>
              <a:t>bazama</a:t>
            </a:r>
            <a:r>
              <a:rPr lang="en-US" sz="1000" b="1" dirty="0">
                <a:solidFill>
                  <a:schemeClr val="bg1"/>
                </a:solidFill>
                <a:latin typeface="Calibri" pitchFamily="34" charset="0"/>
                <a:ea typeface="Calibri" pitchFamily="34" charset="-122"/>
                <a:cs typeface="Calibri" pitchFamily="34" charset="-120"/>
              </a:rPr>
              <a:t> </a:t>
            </a:r>
            <a:r>
              <a:rPr lang="en-US" sz="1000" b="1" dirty="0" err="1">
                <a:solidFill>
                  <a:schemeClr val="bg1"/>
                </a:solidFill>
                <a:latin typeface="Calibri" pitchFamily="34" charset="0"/>
                <a:ea typeface="Calibri" pitchFamily="34" charset="-122"/>
                <a:cs typeface="Calibri" pitchFamily="34" charset="-120"/>
              </a:rPr>
              <a:t>podataka</a:t>
            </a:r>
            <a:r>
              <a:rPr lang="sr-Latn-RS" sz="1000" b="1" dirty="0">
                <a:solidFill>
                  <a:schemeClr val="bg1"/>
                </a:solidFill>
                <a:latin typeface="Calibri" pitchFamily="34" charset="0"/>
                <a:ea typeface="Calibri" pitchFamily="34" charset="-122"/>
                <a:cs typeface="Calibri" pitchFamily="34" charset="-120"/>
              </a:rPr>
              <a:t> </a:t>
            </a:r>
            <a:r>
              <a:rPr lang="en-US" sz="1000" b="1" dirty="0">
                <a:solidFill>
                  <a:schemeClr val="bg1"/>
                </a:solidFill>
                <a:latin typeface="Calibri" pitchFamily="34" charset="0"/>
                <a:ea typeface="Calibri" pitchFamily="34" charset="-122"/>
                <a:cs typeface="Calibri" pitchFamily="34" charset="-120"/>
              </a:rPr>
              <a:t>·  Mart 2026. </a:t>
            </a:r>
            <a:endParaRPr lang="en-US" sz="1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Sadržaj prezentacije</a:t>
            </a:r>
            <a:endParaRPr lang="en-US" sz="2800" dirty="0"/>
          </a:p>
        </p:txBody>
      </p:sp>
      <p:sp>
        <p:nvSpPr>
          <p:cNvPr id="5" name="Shape 3"/>
          <p:cNvSpPr/>
          <p:nvPr/>
        </p:nvSpPr>
        <p:spPr>
          <a:xfrm>
            <a:off x="228600" y="94114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941144"/>
            <a:ext cx="502920" cy="804672"/>
          </a:xfrm>
          <a:prstGeom prst="rect">
            <a:avLst/>
          </a:prstGeom>
          <a:solidFill>
            <a:srgbClr val="1B2A4A"/>
          </a:solidFill>
          <a:ln>
            <a:solidFill>
              <a:schemeClr val="bg1"/>
            </a:solidFill>
          </a:ln>
        </p:spPr>
        <p:txBody>
          <a:bodyPr/>
          <a:lstStyle/>
          <a:p>
            <a:endParaRPr lang="en-US"/>
          </a:p>
        </p:txBody>
      </p:sp>
      <p:sp>
        <p:nvSpPr>
          <p:cNvPr id="7" name="Text 5"/>
          <p:cNvSpPr/>
          <p:nvPr/>
        </p:nvSpPr>
        <p:spPr>
          <a:xfrm>
            <a:off x="246888" y="110573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01</a:t>
            </a:r>
            <a:endParaRPr lang="en-US" sz="2400" dirty="0">
              <a:solidFill>
                <a:schemeClr val="bg1"/>
              </a:solidFill>
            </a:endParaRPr>
          </a:p>
        </p:txBody>
      </p:sp>
      <p:sp>
        <p:nvSpPr>
          <p:cNvPr id="8" name="Text 6"/>
          <p:cNvSpPr/>
          <p:nvPr/>
        </p:nvSpPr>
        <p:spPr>
          <a:xfrm>
            <a:off x="822960" y="100515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Kontekst i motivacija</a:t>
            </a:r>
            <a:endParaRPr lang="en-US" dirty="0"/>
          </a:p>
        </p:txBody>
      </p:sp>
      <p:sp>
        <p:nvSpPr>
          <p:cNvPr id="9" name="Text 7"/>
          <p:cNvSpPr/>
          <p:nvPr/>
        </p:nvSpPr>
        <p:spPr>
          <a:xfrm>
            <a:off x="822960" y="138005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Zašto su indeksi kritični za skalabilnost?</a:t>
            </a:r>
            <a:endParaRPr lang="en-US" sz="1200" dirty="0"/>
          </a:p>
        </p:txBody>
      </p:sp>
      <p:sp>
        <p:nvSpPr>
          <p:cNvPr id="10" name="Shape 8"/>
          <p:cNvSpPr/>
          <p:nvPr/>
        </p:nvSpPr>
        <p:spPr>
          <a:xfrm>
            <a:off x="228600" y="190126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228600" y="1901264"/>
            <a:ext cx="502920" cy="804672"/>
          </a:xfrm>
          <a:prstGeom prst="rect">
            <a:avLst/>
          </a:prstGeom>
          <a:solidFill>
            <a:srgbClr val="1B2A4A"/>
          </a:solidFill>
          <a:ln>
            <a:solidFill>
              <a:schemeClr val="bg1"/>
            </a:solidFill>
          </a:ln>
        </p:spPr>
        <p:txBody>
          <a:bodyPr/>
          <a:lstStyle/>
          <a:p>
            <a:endParaRPr lang="en-US"/>
          </a:p>
        </p:txBody>
      </p:sp>
      <p:sp>
        <p:nvSpPr>
          <p:cNvPr id="12" name="Text 10"/>
          <p:cNvSpPr/>
          <p:nvPr/>
        </p:nvSpPr>
        <p:spPr>
          <a:xfrm>
            <a:off x="246888" y="206585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02</a:t>
            </a:r>
            <a:endParaRPr lang="en-US" sz="2400" dirty="0">
              <a:solidFill>
                <a:schemeClr val="bg1"/>
              </a:solidFill>
            </a:endParaRPr>
          </a:p>
        </p:txBody>
      </p:sp>
      <p:sp>
        <p:nvSpPr>
          <p:cNvPr id="13" name="Text 11"/>
          <p:cNvSpPr/>
          <p:nvPr/>
        </p:nvSpPr>
        <p:spPr>
          <a:xfrm>
            <a:off x="822960" y="196527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Fizička arhitektura (ODS)</a:t>
            </a:r>
            <a:endParaRPr lang="en-US" dirty="0"/>
          </a:p>
        </p:txBody>
      </p:sp>
      <p:sp>
        <p:nvSpPr>
          <p:cNvPr id="14" name="Text 12"/>
          <p:cNvSpPr/>
          <p:nvPr/>
        </p:nvSpPr>
        <p:spPr>
          <a:xfrm>
            <a:off x="822960" y="234017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Stranice, slotovi i RDB$DB_KEY</a:t>
            </a:r>
            <a:endParaRPr lang="en-US" sz="1200" dirty="0"/>
          </a:p>
        </p:txBody>
      </p:sp>
      <p:sp>
        <p:nvSpPr>
          <p:cNvPr id="15" name="Shape 13"/>
          <p:cNvSpPr/>
          <p:nvPr/>
        </p:nvSpPr>
        <p:spPr>
          <a:xfrm>
            <a:off x="228600" y="286138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28600" y="2861384"/>
            <a:ext cx="502920" cy="804672"/>
          </a:xfrm>
          <a:prstGeom prst="rect">
            <a:avLst/>
          </a:prstGeom>
          <a:solidFill>
            <a:srgbClr val="1B2A4A"/>
          </a:solidFill>
          <a:ln>
            <a:solidFill>
              <a:schemeClr val="bg1"/>
            </a:solidFill>
          </a:ln>
        </p:spPr>
        <p:txBody>
          <a:bodyPr/>
          <a:lstStyle/>
          <a:p>
            <a:endParaRPr lang="en-US"/>
          </a:p>
        </p:txBody>
      </p:sp>
      <p:sp>
        <p:nvSpPr>
          <p:cNvPr id="17" name="Text 15"/>
          <p:cNvSpPr/>
          <p:nvPr/>
        </p:nvSpPr>
        <p:spPr>
          <a:xfrm>
            <a:off x="246888" y="302597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03</a:t>
            </a:r>
            <a:endParaRPr lang="en-US" sz="2400" dirty="0">
              <a:solidFill>
                <a:schemeClr val="bg1"/>
              </a:solidFill>
            </a:endParaRPr>
          </a:p>
        </p:txBody>
      </p:sp>
      <p:sp>
        <p:nvSpPr>
          <p:cNvPr id="18" name="Text 16"/>
          <p:cNvSpPr/>
          <p:nvPr/>
        </p:nvSpPr>
        <p:spPr>
          <a:xfrm>
            <a:off x="822960" y="292539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MGA i verzije zapisa</a:t>
            </a:r>
            <a:endParaRPr lang="en-US" dirty="0"/>
          </a:p>
        </p:txBody>
      </p:sp>
      <p:sp>
        <p:nvSpPr>
          <p:cNvPr id="19" name="Text 17"/>
          <p:cNvSpPr/>
          <p:nvPr/>
        </p:nvSpPr>
        <p:spPr>
          <a:xfrm>
            <a:off x="822960" y="330029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MVCC, Index Bloat, Garbage Collection</a:t>
            </a:r>
            <a:endParaRPr lang="en-US" sz="1200" dirty="0"/>
          </a:p>
        </p:txBody>
      </p:sp>
      <p:sp>
        <p:nvSpPr>
          <p:cNvPr id="20" name="Shape 18"/>
          <p:cNvSpPr/>
          <p:nvPr/>
        </p:nvSpPr>
        <p:spPr>
          <a:xfrm>
            <a:off x="228600" y="382150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228600" y="3821504"/>
            <a:ext cx="502920" cy="804672"/>
          </a:xfrm>
          <a:prstGeom prst="rect">
            <a:avLst/>
          </a:prstGeom>
          <a:solidFill>
            <a:srgbClr val="1B2A4A"/>
          </a:solidFill>
          <a:ln>
            <a:solidFill>
              <a:schemeClr val="bg1"/>
            </a:solidFill>
          </a:ln>
        </p:spPr>
        <p:txBody>
          <a:bodyPr/>
          <a:lstStyle/>
          <a:p>
            <a:endParaRPr lang="en-US"/>
          </a:p>
        </p:txBody>
      </p:sp>
      <p:sp>
        <p:nvSpPr>
          <p:cNvPr id="22" name="Text 20"/>
          <p:cNvSpPr/>
          <p:nvPr/>
        </p:nvSpPr>
        <p:spPr>
          <a:xfrm>
            <a:off x="246888" y="398609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04</a:t>
            </a:r>
            <a:endParaRPr lang="en-US" sz="2400" dirty="0">
              <a:solidFill>
                <a:schemeClr val="bg1"/>
              </a:solidFill>
            </a:endParaRPr>
          </a:p>
        </p:txBody>
      </p:sp>
      <p:sp>
        <p:nvSpPr>
          <p:cNvPr id="23" name="Text 21"/>
          <p:cNvSpPr/>
          <p:nvPr/>
        </p:nvSpPr>
        <p:spPr>
          <a:xfrm>
            <a:off x="822960" y="388551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B+ stablo</a:t>
            </a:r>
            <a:endParaRPr lang="en-US" dirty="0"/>
          </a:p>
        </p:txBody>
      </p:sp>
      <p:sp>
        <p:nvSpPr>
          <p:cNvPr id="24" name="Text 22"/>
          <p:cNvSpPr/>
          <p:nvPr/>
        </p:nvSpPr>
        <p:spPr>
          <a:xfrm>
            <a:off x="822960" y="426041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Struktura, Page Split i Fill Factor</a:t>
            </a:r>
            <a:endParaRPr lang="en-US" sz="1200" dirty="0"/>
          </a:p>
        </p:txBody>
      </p:sp>
      <p:sp>
        <p:nvSpPr>
          <p:cNvPr id="25" name="Shape 23"/>
          <p:cNvSpPr/>
          <p:nvPr/>
        </p:nvSpPr>
        <p:spPr>
          <a:xfrm>
            <a:off x="4754880" y="94114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4754880" y="941144"/>
            <a:ext cx="502920" cy="804672"/>
          </a:xfrm>
          <a:prstGeom prst="rect">
            <a:avLst/>
          </a:prstGeom>
          <a:solidFill>
            <a:srgbClr val="1B2A4A"/>
          </a:solidFill>
          <a:ln>
            <a:solidFill>
              <a:schemeClr val="bg1"/>
            </a:solidFill>
          </a:ln>
        </p:spPr>
        <p:txBody>
          <a:bodyPr/>
          <a:lstStyle/>
          <a:p>
            <a:endParaRPr lang="en-US"/>
          </a:p>
        </p:txBody>
      </p:sp>
      <p:sp>
        <p:nvSpPr>
          <p:cNvPr id="27" name="Text 25"/>
          <p:cNvSpPr/>
          <p:nvPr/>
        </p:nvSpPr>
        <p:spPr>
          <a:xfrm>
            <a:off x="4773168" y="110573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05</a:t>
            </a:r>
            <a:endParaRPr lang="en-US" sz="2400" dirty="0">
              <a:solidFill>
                <a:schemeClr val="bg1"/>
              </a:solidFill>
            </a:endParaRPr>
          </a:p>
        </p:txBody>
      </p:sp>
      <p:sp>
        <p:nvSpPr>
          <p:cNvPr id="28" name="Text 26"/>
          <p:cNvSpPr/>
          <p:nvPr/>
        </p:nvSpPr>
        <p:spPr>
          <a:xfrm>
            <a:off x="5349240" y="100515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Kompresija i optimizacija</a:t>
            </a:r>
            <a:endParaRPr lang="en-US" dirty="0"/>
          </a:p>
        </p:txBody>
      </p:sp>
      <p:sp>
        <p:nvSpPr>
          <p:cNvPr id="29" name="Text 27"/>
          <p:cNvSpPr/>
          <p:nvPr/>
        </p:nvSpPr>
        <p:spPr>
          <a:xfrm>
            <a:off x="5349240" y="138005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Prefiksna kompresija, NULL, duplikati</a:t>
            </a:r>
            <a:endParaRPr lang="en-US" sz="1200" dirty="0"/>
          </a:p>
        </p:txBody>
      </p:sp>
      <p:sp>
        <p:nvSpPr>
          <p:cNvPr id="30" name="Shape 28"/>
          <p:cNvSpPr/>
          <p:nvPr/>
        </p:nvSpPr>
        <p:spPr>
          <a:xfrm>
            <a:off x="4754880" y="190126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4754880" y="1901264"/>
            <a:ext cx="502920" cy="804672"/>
          </a:xfrm>
          <a:prstGeom prst="rect">
            <a:avLst/>
          </a:prstGeom>
          <a:solidFill>
            <a:srgbClr val="1B2A4A"/>
          </a:solidFill>
          <a:ln>
            <a:solidFill>
              <a:schemeClr val="bg1"/>
            </a:solidFill>
          </a:ln>
        </p:spPr>
        <p:txBody>
          <a:bodyPr/>
          <a:lstStyle/>
          <a:p>
            <a:endParaRPr lang="en-US"/>
          </a:p>
        </p:txBody>
      </p:sp>
      <p:sp>
        <p:nvSpPr>
          <p:cNvPr id="32" name="Text 30"/>
          <p:cNvSpPr/>
          <p:nvPr/>
        </p:nvSpPr>
        <p:spPr>
          <a:xfrm>
            <a:off x="4773168" y="206585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06</a:t>
            </a:r>
            <a:endParaRPr lang="en-US" sz="2400" dirty="0">
              <a:solidFill>
                <a:schemeClr val="bg1"/>
              </a:solidFill>
            </a:endParaRPr>
          </a:p>
        </p:txBody>
      </p:sp>
      <p:sp>
        <p:nvSpPr>
          <p:cNvPr id="33" name="Text 31"/>
          <p:cNvSpPr/>
          <p:nvPr/>
        </p:nvSpPr>
        <p:spPr>
          <a:xfrm>
            <a:off x="5349240" y="196527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Tipovi indeksa i statistika</a:t>
            </a:r>
            <a:endParaRPr lang="en-US" dirty="0"/>
          </a:p>
        </p:txBody>
      </p:sp>
      <p:sp>
        <p:nvSpPr>
          <p:cNvPr id="34" name="Text 32"/>
          <p:cNvSpPr/>
          <p:nvPr/>
        </p:nvSpPr>
        <p:spPr>
          <a:xfrm>
            <a:off x="5349240" y="234017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Expression, kompozitni, selektivnost</a:t>
            </a:r>
            <a:endParaRPr lang="en-US" sz="1200" dirty="0"/>
          </a:p>
        </p:txBody>
      </p:sp>
      <p:sp>
        <p:nvSpPr>
          <p:cNvPr id="35" name="Shape 33"/>
          <p:cNvSpPr/>
          <p:nvPr/>
        </p:nvSpPr>
        <p:spPr>
          <a:xfrm>
            <a:off x="4754880" y="2861384"/>
            <a:ext cx="4297680" cy="804672"/>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36" name="Shape 34"/>
          <p:cNvSpPr/>
          <p:nvPr/>
        </p:nvSpPr>
        <p:spPr>
          <a:xfrm>
            <a:off x="4754880" y="2861384"/>
            <a:ext cx="502920" cy="804672"/>
          </a:xfrm>
          <a:prstGeom prst="rect">
            <a:avLst/>
          </a:prstGeom>
          <a:solidFill>
            <a:srgbClr val="1B2A4A"/>
          </a:solidFill>
          <a:ln>
            <a:solidFill>
              <a:schemeClr val="bg1"/>
            </a:solidFill>
          </a:ln>
        </p:spPr>
        <p:txBody>
          <a:bodyPr/>
          <a:lstStyle/>
          <a:p>
            <a:endParaRPr lang="en-US"/>
          </a:p>
        </p:txBody>
      </p:sp>
      <p:sp>
        <p:nvSpPr>
          <p:cNvPr id="37" name="Text 35"/>
          <p:cNvSpPr/>
          <p:nvPr/>
        </p:nvSpPr>
        <p:spPr>
          <a:xfrm>
            <a:off x="4773168" y="3025976"/>
            <a:ext cx="475488" cy="475488"/>
          </a:xfrm>
          <a:prstGeom prst="rect">
            <a:avLst/>
          </a:prstGeom>
          <a:noFill/>
          <a:ln/>
        </p:spPr>
        <p:txBody>
          <a:bodyPr wrap="square" lIns="0" tIns="0" rIns="0" bIns="0" rtlCol="0" anchor="ctr"/>
          <a:lstStyle/>
          <a:p>
            <a:pPr marL="0" indent="0" algn="ctr">
              <a:buNone/>
            </a:pPr>
            <a:r>
              <a:rPr lang="en-US" sz="2400" b="1" dirty="0">
                <a:solidFill>
                  <a:schemeClr val="bg1"/>
                </a:solidFill>
                <a:latin typeface="Calibri" pitchFamily="34" charset="0"/>
                <a:ea typeface="Calibri" pitchFamily="34" charset="-122"/>
                <a:cs typeface="Calibri" pitchFamily="34" charset="-120"/>
              </a:rPr>
              <a:t>07</a:t>
            </a:r>
            <a:endParaRPr lang="en-US" sz="2400" dirty="0">
              <a:solidFill>
                <a:schemeClr val="bg1"/>
              </a:solidFill>
            </a:endParaRPr>
          </a:p>
        </p:txBody>
      </p:sp>
      <p:sp>
        <p:nvSpPr>
          <p:cNvPr id="38" name="Text 36"/>
          <p:cNvSpPr/>
          <p:nvPr/>
        </p:nvSpPr>
        <p:spPr>
          <a:xfrm>
            <a:off x="5349240" y="2925392"/>
            <a:ext cx="36118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Execution Plans</a:t>
            </a:r>
            <a:endParaRPr lang="en-US" dirty="0"/>
          </a:p>
        </p:txBody>
      </p:sp>
      <p:sp>
        <p:nvSpPr>
          <p:cNvPr id="39" name="Text 37"/>
          <p:cNvSpPr/>
          <p:nvPr/>
        </p:nvSpPr>
        <p:spPr>
          <a:xfrm>
            <a:off x="5349240" y="3300296"/>
            <a:ext cx="3611880"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NATURAL vs INDEX — praktični primeri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Kontekst i motivacija</a:t>
            </a:r>
            <a:endParaRPr lang="en-US" sz="2800" dirty="0"/>
          </a:p>
        </p:txBody>
      </p:sp>
      <p:sp>
        <p:nvSpPr>
          <p:cNvPr id="5" name="Shape 3"/>
          <p:cNvSpPr/>
          <p:nvPr/>
        </p:nvSpPr>
        <p:spPr>
          <a:xfrm>
            <a:off x="228600" y="777240"/>
            <a:ext cx="2560320" cy="2309364"/>
          </a:xfrm>
          <a:prstGeom prst="rect">
            <a:avLst/>
          </a:prstGeom>
          <a:solidFill>
            <a:srgbClr val="1B2A4A"/>
          </a:solidFill>
          <a:ln>
            <a:solidFill>
              <a:schemeClr val="bg1"/>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210312" y="1358132"/>
            <a:ext cx="2560320" cy="731520"/>
          </a:xfrm>
          <a:prstGeom prst="rect">
            <a:avLst/>
          </a:prstGeom>
          <a:noFill/>
          <a:ln/>
        </p:spPr>
        <p:txBody>
          <a:bodyPr wrap="square" lIns="0" tIns="0" rIns="0" bIns="0" rtlCol="0" anchor="ctr"/>
          <a:lstStyle/>
          <a:p>
            <a:pPr marL="0" indent="0" algn="ctr">
              <a:buNone/>
            </a:pPr>
            <a:r>
              <a:rPr lang="en-US" sz="5200" b="1" dirty="0">
                <a:solidFill>
                  <a:schemeClr val="bg1"/>
                </a:solidFill>
                <a:latin typeface="Calibri" pitchFamily="34" charset="0"/>
                <a:ea typeface="Calibri" pitchFamily="34" charset="-122"/>
                <a:cs typeface="Calibri" pitchFamily="34" charset="-120"/>
              </a:rPr>
              <a:t>O(n)</a:t>
            </a:r>
            <a:endParaRPr lang="en-US" sz="5200" dirty="0">
              <a:solidFill>
                <a:schemeClr val="bg1"/>
              </a:solidFill>
            </a:endParaRPr>
          </a:p>
        </p:txBody>
      </p:sp>
      <p:sp>
        <p:nvSpPr>
          <p:cNvPr id="7" name="Text 5"/>
          <p:cNvSpPr/>
          <p:nvPr/>
        </p:nvSpPr>
        <p:spPr>
          <a:xfrm>
            <a:off x="210312" y="2071364"/>
            <a:ext cx="2560320" cy="32004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Full Table Scan</a:t>
            </a:r>
            <a:endParaRPr lang="en-US" sz="1400" b="1" dirty="0">
              <a:solidFill>
                <a:schemeClr val="bg1"/>
              </a:solidFill>
            </a:endParaRPr>
          </a:p>
        </p:txBody>
      </p:sp>
      <p:sp>
        <p:nvSpPr>
          <p:cNvPr id="8" name="Text 6"/>
          <p:cNvSpPr/>
          <p:nvPr/>
        </p:nvSpPr>
        <p:spPr>
          <a:xfrm>
            <a:off x="2807208" y="1664640"/>
            <a:ext cx="457200" cy="457200"/>
          </a:xfrm>
          <a:prstGeom prst="rect">
            <a:avLst/>
          </a:prstGeom>
          <a:noFill/>
          <a:ln/>
        </p:spPr>
        <p:txBody>
          <a:bodyPr wrap="square" lIns="0" tIns="0" rIns="0" bIns="0" rtlCol="0" anchor="ctr"/>
          <a:lstStyle/>
          <a:p>
            <a:pPr marL="0" indent="0" algn="ctr">
              <a:buNone/>
            </a:pPr>
            <a:r>
              <a:rPr lang="en-US" sz="3600" b="1" dirty="0">
                <a:solidFill>
                  <a:srgbClr val="1B2A4A"/>
                </a:solidFill>
                <a:latin typeface="Calibri" pitchFamily="34" charset="0"/>
                <a:ea typeface="Calibri" pitchFamily="34" charset="-122"/>
                <a:cs typeface="Calibri" pitchFamily="34" charset="-120"/>
              </a:rPr>
              <a:t>→</a:t>
            </a:r>
            <a:endParaRPr lang="en-US" sz="3600" dirty="0">
              <a:solidFill>
                <a:srgbClr val="1B2A4A"/>
              </a:solidFill>
            </a:endParaRPr>
          </a:p>
        </p:txBody>
      </p:sp>
      <p:sp>
        <p:nvSpPr>
          <p:cNvPr id="9" name="Shape 7"/>
          <p:cNvSpPr/>
          <p:nvPr/>
        </p:nvSpPr>
        <p:spPr>
          <a:xfrm>
            <a:off x="3337560" y="777240"/>
            <a:ext cx="2560320" cy="2309364"/>
          </a:xfrm>
          <a:prstGeom prst="rect">
            <a:avLst/>
          </a:prstGeom>
          <a:solidFill>
            <a:schemeClr val="bg1"/>
          </a:solidFill>
          <a:ln>
            <a:solidFill>
              <a:srgbClr val="1B2A4A"/>
            </a:solidFill>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3337561" y="1358132"/>
            <a:ext cx="2560320" cy="731520"/>
          </a:xfrm>
          <a:prstGeom prst="rect">
            <a:avLst/>
          </a:prstGeom>
          <a:noFill/>
          <a:ln/>
        </p:spPr>
        <p:txBody>
          <a:bodyPr wrap="square" lIns="0" tIns="0" rIns="0" bIns="0" rtlCol="0" anchor="ctr"/>
          <a:lstStyle/>
          <a:p>
            <a:pPr marL="0" indent="0" algn="ctr">
              <a:buNone/>
            </a:pPr>
            <a:r>
              <a:rPr lang="en-US" sz="4400" b="1" dirty="0">
                <a:solidFill>
                  <a:schemeClr val="bg2">
                    <a:lumMod val="50000"/>
                  </a:schemeClr>
                </a:solidFill>
                <a:latin typeface="Calibri" pitchFamily="34" charset="0"/>
                <a:ea typeface="Calibri" pitchFamily="34" charset="-122"/>
                <a:cs typeface="Calibri" pitchFamily="34" charset="-120"/>
              </a:rPr>
              <a:t>O(log n)</a:t>
            </a:r>
            <a:endParaRPr lang="en-US" sz="4400" dirty="0">
              <a:solidFill>
                <a:schemeClr val="bg2">
                  <a:lumMod val="50000"/>
                </a:schemeClr>
              </a:solidFill>
            </a:endParaRPr>
          </a:p>
        </p:txBody>
      </p:sp>
      <p:sp>
        <p:nvSpPr>
          <p:cNvPr id="11" name="Text 9"/>
          <p:cNvSpPr/>
          <p:nvPr/>
        </p:nvSpPr>
        <p:spPr>
          <a:xfrm>
            <a:off x="3337561" y="2071364"/>
            <a:ext cx="2560320" cy="320040"/>
          </a:xfrm>
          <a:prstGeom prst="rect">
            <a:avLst/>
          </a:prstGeom>
          <a:noFill/>
          <a:ln/>
        </p:spPr>
        <p:txBody>
          <a:bodyPr wrap="square" lIns="0" tIns="0" rIns="0" bIns="0" rtlCol="0" anchor="ctr"/>
          <a:lstStyle/>
          <a:p>
            <a:pPr marL="0" indent="0" algn="ctr">
              <a:buNone/>
            </a:pPr>
            <a:r>
              <a:rPr lang="en-US" sz="1400" b="1" dirty="0">
                <a:solidFill>
                  <a:schemeClr val="bg2">
                    <a:lumMod val="50000"/>
                  </a:schemeClr>
                </a:solidFill>
                <a:latin typeface="Calibri" pitchFamily="34" charset="0"/>
                <a:ea typeface="Calibri" pitchFamily="34" charset="-122"/>
                <a:cs typeface="Calibri" pitchFamily="34" charset="-120"/>
              </a:rPr>
              <a:t>Index Scan</a:t>
            </a:r>
            <a:endParaRPr lang="en-US" sz="1400" b="1" dirty="0">
              <a:solidFill>
                <a:schemeClr val="bg2">
                  <a:lumMod val="50000"/>
                </a:schemeClr>
              </a:solidFill>
            </a:endParaRPr>
          </a:p>
        </p:txBody>
      </p:sp>
      <p:sp>
        <p:nvSpPr>
          <p:cNvPr id="12" name="Shape 10"/>
          <p:cNvSpPr/>
          <p:nvPr/>
        </p:nvSpPr>
        <p:spPr>
          <a:xfrm>
            <a:off x="6035039" y="777240"/>
            <a:ext cx="3005443" cy="111600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6035040" y="777240"/>
            <a:ext cx="64008" cy="1116000"/>
          </a:xfrm>
          <a:prstGeom prst="rect">
            <a:avLst/>
          </a:prstGeom>
          <a:solidFill>
            <a:srgbClr val="1B2A4A"/>
          </a:solidFill>
          <a:ln/>
        </p:spPr>
        <p:txBody>
          <a:bodyPr/>
          <a:lstStyle/>
          <a:p>
            <a:endParaRPr lang="en-US"/>
          </a:p>
        </p:txBody>
      </p:sp>
      <p:sp>
        <p:nvSpPr>
          <p:cNvPr id="14" name="Text 12"/>
          <p:cNvSpPr/>
          <p:nvPr/>
        </p:nvSpPr>
        <p:spPr>
          <a:xfrm>
            <a:off x="6172200" y="803040"/>
            <a:ext cx="26974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Problem</a:t>
            </a:r>
            <a:endParaRPr lang="en-US" dirty="0"/>
          </a:p>
        </p:txBody>
      </p:sp>
      <p:sp>
        <p:nvSpPr>
          <p:cNvPr id="15" name="Text 13"/>
          <p:cNvSpPr/>
          <p:nvPr/>
        </p:nvSpPr>
        <p:spPr>
          <a:xfrm>
            <a:off x="6172200" y="1124712"/>
            <a:ext cx="2804274" cy="726764"/>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Tabele sa milionima redova — Full Scan je neprihvatljiv.</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Svaki indeks košta: </a:t>
            </a:r>
            <a:r>
              <a:rPr lang="en-US" sz="1200" dirty="0" err="1">
                <a:solidFill>
                  <a:srgbClr val="475569"/>
                </a:solidFill>
                <a:latin typeface="Calibri" pitchFamily="34" charset="0"/>
                <a:ea typeface="Calibri" pitchFamily="34" charset="-122"/>
                <a:cs typeface="Calibri" pitchFamily="34" charset="-120"/>
              </a:rPr>
              <a:t>prostor</a:t>
            </a:r>
            <a:r>
              <a:rPr lang="en-US" sz="1200" dirty="0">
                <a:solidFill>
                  <a:srgbClr val="475569"/>
                </a:solidFill>
                <a:latin typeface="Calibri" pitchFamily="34" charset="0"/>
                <a:ea typeface="Calibri" pitchFamily="34" charset="-122"/>
                <a:cs typeface="Calibri" pitchFamily="34" charset="-120"/>
              </a:rPr>
              <a:t>, I/O operacija pri upisu.</a:t>
            </a:r>
            <a:endParaRPr lang="en-US" sz="1200" dirty="0"/>
          </a:p>
        </p:txBody>
      </p:sp>
      <p:sp>
        <p:nvSpPr>
          <p:cNvPr id="16" name="Shape 14"/>
          <p:cNvSpPr/>
          <p:nvPr/>
        </p:nvSpPr>
        <p:spPr>
          <a:xfrm>
            <a:off x="6035039" y="1970604"/>
            <a:ext cx="3005443" cy="111600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7" name="Shape 15"/>
          <p:cNvSpPr/>
          <p:nvPr/>
        </p:nvSpPr>
        <p:spPr>
          <a:xfrm>
            <a:off x="6038886" y="1970604"/>
            <a:ext cx="60162" cy="1116000"/>
          </a:xfrm>
          <a:prstGeom prst="rect">
            <a:avLst/>
          </a:prstGeom>
          <a:solidFill>
            <a:schemeClr val="bg2">
              <a:lumMod val="75000"/>
            </a:schemeClr>
          </a:solidFill>
          <a:ln>
            <a:solidFill>
              <a:schemeClr val="bg2">
                <a:lumMod val="75000"/>
              </a:schemeClr>
            </a:solidFill>
          </a:ln>
        </p:spPr>
        <p:txBody>
          <a:bodyPr/>
          <a:lstStyle/>
          <a:p>
            <a:endParaRPr lang="en-US">
              <a:solidFill>
                <a:srgbClr val="A0C1D5"/>
              </a:solidFill>
            </a:endParaRPr>
          </a:p>
        </p:txBody>
      </p:sp>
      <p:sp>
        <p:nvSpPr>
          <p:cNvPr id="18" name="Text 16"/>
          <p:cNvSpPr/>
          <p:nvPr/>
        </p:nvSpPr>
        <p:spPr>
          <a:xfrm>
            <a:off x="6172200" y="2056530"/>
            <a:ext cx="26974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Trade-off</a:t>
            </a:r>
            <a:endParaRPr lang="en-US" dirty="0"/>
          </a:p>
        </p:txBody>
      </p:sp>
      <p:sp>
        <p:nvSpPr>
          <p:cNvPr id="19" name="Text 17"/>
          <p:cNvSpPr/>
          <p:nvPr/>
        </p:nvSpPr>
        <p:spPr>
          <a:xfrm>
            <a:off x="6172200" y="2399898"/>
            <a:ext cx="2697480" cy="402336"/>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Brzina čitanja vs. cena upisa.</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Firebird: B+ stablo + MGA </a:t>
            </a:r>
            <a:r>
              <a:rPr lang="en-US" sz="1200" dirty="0" err="1">
                <a:solidFill>
                  <a:srgbClr val="475569"/>
                </a:solidFill>
                <a:latin typeface="Calibri" pitchFamily="34" charset="0"/>
                <a:ea typeface="Calibri" pitchFamily="34" charset="-122"/>
                <a:cs typeface="Calibri" pitchFamily="34" charset="-120"/>
              </a:rPr>
              <a:t>arhitektura</a:t>
            </a:r>
            <a:endParaRPr lang="en-US" sz="1200" dirty="0"/>
          </a:p>
        </p:txBody>
      </p:sp>
      <p:sp>
        <p:nvSpPr>
          <p:cNvPr id="20" name="Shape 18"/>
          <p:cNvSpPr/>
          <p:nvPr/>
        </p:nvSpPr>
        <p:spPr>
          <a:xfrm>
            <a:off x="228600" y="3378956"/>
            <a:ext cx="8811882" cy="132588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228600" y="3378956"/>
            <a:ext cx="137160" cy="1325880"/>
          </a:xfrm>
          <a:prstGeom prst="rect">
            <a:avLst/>
          </a:prstGeom>
          <a:solidFill>
            <a:schemeClr val="bg1">
              <a:lumMod val="50000"/>
            </a:schemeClr>
          </a:solidFill>
          <a:ln>
            <a:solidFill>
              <a:schemeClr val="bg1">
                <a:lumMod val="50000"/>
              </a:schemeClr>
            </a:solidFill>
          </a:ln>
        </p:spPr>
        <p:txBody>
          <a:bodyPr/>
          <a:lstStyle/>
          <a:p>
            <a:endParaRPr lang="en-US"/>
          </a:p>
        </p:txBody>
      </p:sp>
      <p:sp>
        <p:nvSpPr>
          <p:cNvPr id="22" name="Text 20"/>
          <p:cNvSpPr/>
          <p:nvPr/>
        </p:nvSpPr>
        <p:spPr>
          <a:xfrm>
            <a:off x="457200" y="3452108"/>
            <a:ext cx="841248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Specifičnost Firebirda</a:t>
            </a:r>
            <a:endParaRPr lang="en-US" dirty="0"/>
          </a:p>
        </p:txBody>
      </p:sp>
      <p:sp>
        <p:nvSpPr>
          <p:cNvPr id="23" name="Text 21"/>
          <p:cNvSpPr/>
          <p:nvPr/>
        </p:nvSpPr>
        <p:spPr>
          <a:xfrm>
            <a:off x="457200" y="3816236"/>
            <a:ext cx="8519274" cy="815448"/>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Firebird koristi Multi-Generational Architecture (MGA) — svaki UPDATE kreira novu verziju zapisa umesto prepisivanja. </a:t>
            </a:r>
            <a:endParaRPr lang="sr-Latn-RS" sz="1200" dirty="0">
              <a:solidFill>
                <a:srgbClr val="475569"/>
              </a:solidFill>
              <a:latin typeface="Calibri" pitchFamily="34" charset="0"/>
              <a:ea typeface="Calibri" pitchFamily="34" charset="-122"/>
              <a:cs typeface="Calibri" pitchFamily="34" charset="-120"/>
            </a:endParaRPr>
          </a:p>
          <a:p>
            <a:pPr marL="0" indent="0">
              <a:buNone/>
            </a:pPr>
            <a:r>
              <a:rPr lang="en-US" sz="1200" dirty="0" err="1">
                <a:solidFill>
                  <a:srgbClr val="475569"/>
                </a:solidFill>
                <a:latin typeface="Calibri" pitchFamily="34" charset="0"/>
                <a:ea typeface="Calibri" pitchFamily="34" charset="-122"/>
                <a:cs typeface="Calibri" pitchFamily="34" charset="-120"/>
              </a:rPr>
              <a:t>Indeksi</a:t>
            </a:r>
            <a:r>
              <a:rPr lang="en-US" sz="1200" dirty="0">
                <a:solidFill>
                  <a:srgbClr val="475569"/>
                </a:solidFill>
                <a:latin typeface="Calibri" pitchFamily="34" charset="0"/>
                <a:ea typeface="Calibri" pitchFamily="34" charset="-122"/>
                <a:cs typeface="Calibri" pitchFamily="34" charset="-120"/>
              </a:rPr>
              <a:t> moraju pratiti </a:t>
            </a:r>
            <a:r>
              <a:rPr lang="en-US" sz="1200" dirty="0" err="1">
                <a:solidFill>
                  <a:srgbClr val="475569"/>
                </a:solidFill>
                <a:latin typeface="Calibri" pitchFamily="34" charset="0"/>
                <a:ea typeface="Calibri" pitchFamily="34" charset="-122"/>
                <a:cs typeface="Calibri" pitchFamily="34" charset="-120"/>
              </a:rPr>
              <a:t>ove</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verzije</a:t>
            </a:r>
            <a:r>
              <a:rPr lang="en-US" sz="1200" dirty="0">
                <a:solidFill>
                  <a:srgbClr val="475569"/>
                </a:solidFill>
                <a:latin typeface="Calibri" pitchFamily="34" charset="0"/>
                <a:ea typeface="Calibri" pitchFamily="34" charset="-122"/>
                <a:cs typeface="Calibri" pitchFamily="34" charset="-120"/>
              </a:rPr>
              <a:t> što dovodi do fenomena </a:t>
            </a:r>
            <a:r>
              <a:rPr lang="en-US" sz="1200" b="1" dirty="0">
                <a:solidFill>
                  <a:srgbClr val="475569"/>
                </a:solidFill>
                <a:latin typeface="Calibri" pitchFamily="34" charset="0"/>
                <a:ea typeface="Calibri" pitchFamily="34" charset="-122"/>
                <a:cs typeface="Calibri" pitchFamily="34" charset="-120"/>
              </a:rPr>
              <a:t>Index Bloat</a:t>
            </a:r>
            <a:r>
              <a:rPr lang="en-US" sz="1200" dirty="0">
                <a:solidFill>
                  <a:srgbClr val="475569"/>
                </a:solidFill>
                <a:latin typeface="Calibri" pitchFamily="34" charset="0"/>
                <a:ea typeface="Calibri" pitchFamily="34" charset="-122"/>
                <a:cs typeface="Calibri" pitchFamily="34" charset="-120"/>
              </a:rPr>
              <a:t>. Razumevanje fizičke strukture indeksa je preduslov za optimizaciju.</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solidFill>
                <a:schemeClr val="accent2">
                  <a:lumMod val="40000"/>
                  <a:lumOff val="60000"/>
                </a:schemeClr>
              </a:solidFill>
            </a:endParaRPr>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Fizička arhitektura — On-Disk Structure (ODS)</a:t>
            </a:r>
            <a:endParaRPr lang="en-US" sz="2800" dirty="0"/>
          </a:p>
        </p:txBody>
      </p:sp>
      <p:sp>
        <p:nvSpPr>
          <p:cNvPr id="5" name="Shape 3"/>
          <p:cNvSpPr/>
          <p:nvPr/>
        </p:nvSpPr>
        <p:spPr>
          <a:xfrm>
            <a:off x="228600" y="777240"/>
            <a:ext cx="8686800" cy="8229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777240"/>
            <a:ext cx="1005840" cy="822960"/>
          </a:xfrm>
          <a:prstGeom prst="rect">
            <a:avLst/>
          </a:prstGeom>
          <a:solidFill>
            <a:srgbClr val="1B2A4A"/>
          </a:solidFill>
          <a:ln/>
        </p:spPr>
        <p:txBody>
          <a:bodyPr/>
          <a:lstStyle/>
          <a:p>
            <a:endParaRPr lang="en-US"/>
          </a:p>
        </p:txBody>
      </p:sp>
      <p:sp>
        <p:nvSpPr>
          <p:cNvPr id="7" name="Text 5"/>
          <p:cNvSpPr/>
          <p:nvPr/>
        </p:nvSpPr>
        <p:spPr>
          <a:xfrm>
            <a:off x="246888" y="960120"/>
            <a:ext cx="96926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0x01</a:t>
            </a:r>
            <a:endParaRPr lang="en-US" sz="2000" dirty="0"/>
          </a:p>
        </p:txBody>
      </p:sp>
      <p:sp>
        <p:nvSpPr>
          <p:cNvPr id="8" name="Text 6"/>
          <p:cNvSpPr/>
          <p:nvPr/>
        </p:nvSpPr>
        <p:spPr>
          <a:xfrm>
            <a:off x="1371600" y="868680"/>
            <a:ext cx="3200400" cy="32004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Header Page</a:t>
            </a:r>
            <a:endParaRPr lang="en-US" dirty="0"/>
          </a:p>
        </p:txBody>
      </p:sp>
      <p:sp>
        <p:nvSpPr>
          <p:cNvPr id="9" name="Text 7"/>
          <p:cNvSpPr/>
          <p:nvPr/>
        </p:nvSpPr>
        <p:spPr>
          <a:xfrm>
            <a:off x="1371600" y="1197864"/>
            <a:ext cx="740664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ODS verzija, Page Size, poslednja transakcija</a:t>
            </a:r>
            <a:endParaRPr lang="en-US" sz="1200" dirty="0"/>
          </a:p>
        </p:txBody>
      </p:sp>
      <p:sp>
        <p:nvSpPr>
          <p:cNvPr id="10" name="Shape 8"/>
          <p:cNvSpPr/>
          <p:nvPr/>
        </p:nvSpPr>
        <p:spPr>
          <a:xfrm>
            <a:off x="228600" y="1755648"/>
            <a:ext cx="8686800" cy="8229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228600" y="1755648"/>
            <a:ext cx="1005840" cy="822960"/>
          </a:xfrm>
          <a:prstGeom prst="rect">
            <a:avLst/>
          </a:prstGeom>
          <a:solidFill>
            <a:srgbClr val="1B2A4A"/>
          </a:solidFill>
          <a:ln/>
        </p:spPr>
        <p:txBody>
          <a:bodyPr/>
          <a:lstStyle/>
          <a:p>
            <a:endParaRPr lang="en-US"/>
          </a:p>
        </p:txBody>
      </p:sp>
      <p:sp>
        <p:nvSpPr>
          <p:cNvPr id="12" name="Text 10"/>
          <p:cNvSpPr/>
          <p:nvPr/>
        </p:nvSpPr>
        <p:spPr>
          <a:xfrm>
            <a:off x="246888" y="1938528"/>
            <a:ext cx="96926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0x05</a:t>
            </a:r>
            <a:endParaRPr lang="en-US" sz="2000" dirty="0"/>
          </a:p>
        </p:txBody>
      </p:sp>
      <p:sp>
        <p:nvSpPr>
          <p:cNvPr id="13" name="Text 11"/>
          <p:cNvSpPr/>
          <p:nvPr/>
        </p:nvSpPr>
        <p:spPr>
          <a:xfrm>
            <a:off x="1371600" y="1847088"/>
            <a:ext cx="3200400" cy="32004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Data Page</a:t>
            </a:r>
            <a:endParaRPr lang="en-US" dirty="0"/>
          </a:p>
        </p:txBody>
      </p:sp>
      <p:sp>
        <p:nvSpPr>
          <p:cNvPr id="14" name="Text 12"/>
          <p:cNvSpPr/>
          <p:nvPr/>
        </p:nvSpPr>
        <p:spPr>
          <a:xfrm>
            <a:off x="1371600" y="2176272"/>
            <a:ext cx="740664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Stvarni podaci — redovi tabela</a:t>
            </a:r>
            <a:endParaRPr lang="en-US" sz="1200" dirty="0"/>
          </a:p>
        </p:txBody>
      </p:sp>
      <p:sp>
        <p:nvSpPr>
          <p:cNvPr id="15" name="Shape 13"/>
          <p:cNvSpPr/>
          <p:nvPr/>
        </p:nvSpPr>
        <p:spPr>
          <a:xfrm>
            <a:off x="228600" y="2734056"/>
            <a:ext cx="8686800" cy="8229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28600" y="2734056"/>
            <a:ext cx="1005840" cy="822960"/>
          </a:xfrm>
          <a:prstGeom prst="rect">
            <a:avLst/>
          </a:prstGeom>
          <a:solidFill>
            <a:schemeClr val="bg2">
              <a:lumMod val="75000"/>
            </a:schemeClr>
          </a:solidFill>
          <a:ln/>
        </p:spPr>
        <p:txBody>
          <a:bodyPr/>
          <a:lstStyle/>
          <a:p>
            <a:endParaRPr lang="en-US"/>
          </a:p>
        </p:txBody>
      </p:sp>
      <p:sp>
        <p:nvSpPr>
          <p:cNvPr id="17" name="Text 15"/>
          <p:cNvSpPr/>
          <p:nvPr/>
        </p:nvSpPr>
        <p:spPr>
          <a:xfrm>
            <a:off x="246888" y="2916936"/>
            <a:ext cx="96926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0x06</a:t>
            </a:r>
            <a:endParaRPr lang="en-US" sz="2000" dirty="0"/>
          </a:p>
        </p:txBody>
      </p:sp>
      <p:sp>
        <p:nvSpPr>
          <p:cNvPr id="18" name="Text 16"/>
          <p:cNvSpPr/>
          <p:nvPr/>
        </p:nvSpPr>
        <p:spPr>
          <a:xfrm>
            <a:off x="1371600" y="2825496"/>
            <a:ext cx="3200400" cy="32004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Index Root Page</a:t>
            </a:r>
            <a:endParaRPr lang="en-US" dirty="0"/>
          </a:p>
        </p:txBody>
      </p:sp>
      <p:sp>
        <p:nvSpPr>
          <p:cNvPr id="19" name="Text 17"/>
          <p:cNvSpPr/>
          <p:nvPr/>
        </p:nvSpPr>
        <p:spPr>
          <a:xfrm>
            <a:off x="1371600" y="3154680"/>
            <a:ext cx="740664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Katalog svih indeksa i pokazivači na B+ stabla</a:t>
            </a:r>
            <a:endParaRPr lang="en-US" sz="1200" dirty="0"/>
          </a:p>
        </p:txBody>
      </p:sp>
      <p:sp>
        <p:nvSpPr>
          <p:cNvPr id="20" name="Shape 18"/>
          <p:cNvSpPr/>
          <p:nvPr/>
        </p:nvSpPr>
        <p:spPr>
          <a:xfrm>
            <a:off x="228600" y="3712464"/>
            <a:ext cx="8686800" cy="8229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228600" y="3712464"/>
            <a:ext cx="1005840" cy="822960"/>
          </a:xfrm>
          <a:prstGeom prst="rect">
            <a:avLst/>
          </a:prstGeom>
          <a:solidFill>
            <a:schemeClr val="bg2">
              <a:lumMod val="75000"/>
            </a:schemeClr>
          </a:solidFill>
          <a:ln/>
        </p:spPr>
        <p:txBody>
          <a:bodyPr/>
          <a:lstStyle/>
          <a:p>
            <a:endParaRPr lang="en-US"/>
          </a:p>
        </p:txBody>
      </p:sp>
      <p:sp>
        <p:nvSpPr>
          <p:cNvPr id="22" name="Text 20"/>
          <p:cNvSpPr/>
          <p:nvPr/>
        </p:nvSpPr>
        <p:spPr>
          <a:xfrm>
            <a:off x="246888" y="3895344"/>
            <a:ext cx="96926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0x07</a:t>
            </a:r>
            <a:endParaRPr lang="en-US" sz="2000" dirty="0"/>
          </a:p>
        </p:txBody>
      </p:sp>
      <p:sp>
        <p:nvSpPr>
          <p:cNvPr id="23" name="Text 21"/>
          <p:cNvSpPr/>
          <p:nvPr/>
        </p:nvSpPr>
        <p:spPr>
          <a:xfrm>
            <a:off x="1371600" y="3803904"/>
            <a:ext cx="3200400" cy="32004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Index B-Tree</a:t>
            </a:r>
            <a:r>
              <a:rPr lang="sr-Latn-RS" b="1" dirty="0">
                <a:solidFill>
                  <a:srgbClr val="1B2A4A"/>
                </a:solidFill>
                <a:latin typeface="Calibri" pitchFamily="34" charset="0"/>
                <a:ea typeface="Calibri" pitchFamily="34" charset="-122"/>
                <a:cs typeface="Calibri" pitchFamily="34" charset="-120"/>
              </a:rPr>
              <a:t> Page</a:t>
            </a:r>
            <a:endParaRPr lang="en-US" dirty="0"/>
          </a:p>
        </p:txBody>
      </p:sp>
      <p:sp>
        <p:nvSpPr>
          <p:cNvPr id="24" name="Text 22"/>
          <p:cNvSpPr/>
          <p:nvPr/>
        </p:nvSpPr>
        <p:spPr>
          <a:xfrm>
            <a:off x="1371600" y="4133088"/>
            <a:ext cx="740664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Sortirani ključevi i navigacioni pokazivači</a:t>
            </a:r>
            <a:endParaRPr lang="en-US" sz="1200" dirty="0"/>
          </a:p>
        </p:txBody>
      </p:sp>
      <p:sp>
        <p:nvSpPr>
          <p:cNvPr id="25" name="Text 23"/>
          <p:cNvSpPr/>
          <p:nvPr/>
        </p:nvSpPr>
        <p:spPr>
          <a:xfrm>
            <a:off x="228600" y="4709160"/>
            <a:ext cx="8686800" cy="32004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Fizička adresa = Broj stranice × Page Size  →  direktno adresiranje bez pretraživanja</a:t>
            </a:r>
            <a:endParaRPr lang="en-US" sz="1600" b="1" dirty="0">
              <a:solidFill>
                <a:srgbClr val="1B2A4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RDB$DB_KEY — fizička adresa svakog zapisa</a:t>
            </a:r>
            <a:endParaRPr lang="en-US" sz="2800" dirty="0"/>
          </a:p>
        </p:txBody>
      </p:sp>
      <p:sp>
        <p:nvSpPr>
          <p:cNvPr id="5" name="Shape 3"/>
          <p:cNvSpPr/>
          <p:nvPr/>
        </p:nvSpPr>
        <p:spPr>
          <a:xfrm>
            <a:off x="228600" y="777240"/>
            <a:ext cx="8686800" cy="1234440"/>
          </a:xfrm>
          <a:prstGeom prst="rect">
            <a:avLst/>
          </a:prstGeom>
          <a:solidFill>
            <a:srgbClr val="1B2A4A"/>
          </a:solidFill>
          <a:ln>
            <a:noFill/>
          </a:ln>
          <a:effectLst>
            <a:outerShdw blurRad="50800" dist="38100" dir="5400000" algn="t" rotWithShape="0">
              <a:prstClr val="black">
                <a:alpha val="40000"/>
              </a:prstClr>
            </a:outerShdw>
          </a:effectLst>
        </p:spPr>
        <p:txBody>
          <a:bodyPr/>
          <a:lstStyle/>
          <a:p>
            <a:endParaRPr lang="en-US">
              <a:solidFill>
                <a:schemeClr val="bg1"/>
              </a:solidFill>
            </a:endParaRPr>
          </a:p>
        </p:txBody>
      </p:sp>
      <p:sp>
        <p:nvSpPr>
          <p:cNvPr id="6" name="Text 4"/>
          <p:cNvSpPr/>
          <p:nvPr/>
        </p:nvSpPr>
        <p:spPr>
          <a:xfrm>
            <a:off x="320040" y="868680"/>
            <a:ext cx="8412480"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8 bajtova = Page Number (4B) + Slot Index (4B)</a:t>
            </a:r>
            <a:endParaRPr lang="en-US" sz="2000" dirty="0">
              <a:solidFill>
                <a:schemeClr val="bg1"/>
              </a:solidFill>
            </a:endParaRPr>
          </a:p>
        </p:txBody>
      </p:sp>
      <p:sp>
        <p:nvSpPr>
          <p:cNvPr id="7" name="Text 5"/>
          <p:cNvSpPr/>
          <p:nvPr/>
        </p:nvSpPr>
        <p:spPr>
          <a:xfrm>
            <a:off x="320040" y="1353312"/>
            <a:ext cx="841248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Indeksi u listovima B+ stabla čuvaju RDB$DB_KEY — ne vrednosti podataka.</a:t>
            </a:r>
            <a:endParaRPr lang="en-US" sz="1400" b="1" dirty="0">
              <a:solidFill>
                <a:schemeClr val="bg1"/>
              </a:solidFill>
            </a:endParaRPr>
          </a:p>
        </p:txBody>
      </p:sp>
      <p:sp>
        <p:nvSpPr>
          <p:cNvPr id="8" name="Shape 6"/>
          <p:cNvSpPr/>
          <p:nvPr/>
        </p:nvSpPr>
        <p:spPr>
          <a:xfrm>
            <a:off x="228600" y="2148840"/>
            <a:ext cx="4206240" cy="118872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228600" y="2148840"/>
            <a:ext cx="64008" cy="1188720"/>
          </a:xfrm>
          <a:prstGeom prst="rect">
            <a:avLst/>
          </a:prstGeom>
          <a:solidFill>
            <a:schemeClr val="bg2">
              <a:lumMod val="75000"/>
            </a:schemeClr>
          </a:solidFill>
          <a:ln/>
        </p:spPr>
        <p:txBody>
          <a:bodyPr/>
          <a:lstStyle/>
          <a:p>
            <a:endParaRPr lang="en-US"/>
          </a:p>
        </p:txBody>
      </p:sp>
      <p:sp>
        <p:nvSpPr>
          <p:cNvPr id="10" name="Text 8"/>
          <p:cNvSpPr/>
          <p:nvPr/>
        </p:nvSpPr>
        <p:spPr>
          <a:xfrm>
            <a:off x="365760" y="2221992"/>
            <a:ext cx="402336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Page Number (4 bajta)</a:t>
            </a:r>
            <a:endParaRPr lang="en-US" dirty="0"/>
          </a:p>
        </p:txBody>
      </p:sp>
      <p:sp>
        <p:nvSpPr>
          <p:cNvPr id="11" name="Text 9"/>
          <p:cNvSpPr/>
          <p:nvPr/>
        </p:nvSpPr>
        <p:spPr>
          <a:xfrm>
            <a:off x="365760" y="2628900"/>
            <a:ext cx="4023360" cy="635507"/>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Direktan skok na fizičku lokaciju u .fdb fajlu.</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Baza ne pretražuje — izračunava </a:t>
            </a:r>
            <a:r>
              <a:rPr lang="en-US" sz="1400" dirty="0" err="1">
                <a:solidFill>
                  <a:srgbClr val="475569"/>
                </a:solidFill>
                <a:latin typeface="Calibri" pitchFamily="34" charset="0"/>
                <a:ea typeface="Calibri" pitchFamily="34" charset="-122"/>
                <a:cs typeface="Calibri" pitchFamily="34" charset="-120"/>
              </a:rPr>
              <a:t>adresu</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trenutno</a:t>
            </a:r>
            <a:endParaRPr lang="en-US" sz="1400" dirty="0"/>
          </a:p>
        </p:txBody>
      </p:sp>
      <p:sp>
        <p:nvSpPr>
          <p:cNvPr id="12" name="Shape 10"/>
          <p:cNvSpPr/>
          <p:nvPr/>
        </p:nvSpPr>
        <p:spPr>
          <a:xfrm>
            <a:off x="4709160" y="2148840"/>
            <a:ext cx="4206240" cy="118872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4709160" y="2148840"/>
            <a:ext cx="64008" cy="1188720"/>
          </a:xfrm>
          <a:prstGeom prst="rect">
            <a:avLst/>
          </a:prstGeom>
          <a:solidFill>
            <a:schemeClr val="bg1">
              <a:lumMod val="50000"/>
            </a:schemeClr>
          </a:solidFill>
          <a:ln/>
        </p:spPr>
        <p:txBody>
          <a:bodyPr/>
          <a:lstStyle/>
          <a:p>
            <a:endParaRPr lang="en-US"/>
          </a:p>
        </p:txBody>
      </p:sp>
      <p:sp>
        <p:nvSpPr>
          <p:cNvPr id="14" name="Text 12"/>
          <p:cNvSpPr/>
          <p:nvPr/>
        </p:nvSpPr>
        <p:spPr>
          <a:xfrm>
            <a:off x="4846320" y="2221992"/>
            <a:ext cx="402336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Slot Index (4 bajta)</a:t>
            </a:r>
            <a:endParaRPr lang="en-US" dirty="0"/>
          </a:p>
        </p:txBody>
      </p:sp>
      <p:sp>
        <p:nvSpPr>
          <p:cNvPr id="15" name="Text 13"/>
          <p:cNvSpPr/>
          <p:nvPr/>
        </p:nvSpPr>
        <p:spPr>
          <a:xfrm>
            <a:off x="4846320" y="2628900"/>
            <a:ext cx="4023360" cy="635508"/>
          </a:xfrm>
          <a:prstGeom prst="rect">
            <a:avLst/>
          </a:prstGeom>
          <a:noFill/>
          <a:ln/>
        </p:spPr>
        <p:txBody>
          <a:bodyPr wrap="square" lIns="0" tIns="0" rIns="0" bIns="0" rtlCol="0" anchor="t"/>
          <a:lstStyle/>
          <a:p>
            <a:pPr marL="0" indent="0">
              <a:buNone/>
            </a:pPr>
            <a:r>
              <a:rPr lang="sr-Latn-RS" sz="1400" dirty="0">
                <a:solidFill>
                  <a:srgbClr val="475569"/>
                </a:solidFill>
                <a:latin typeface="Calibri" pitchFamily="34" charset="0"/>
                <a:ea typeface="Calibri" pitchFamily="34" charset="-122"/>
                <a:cs typeface="Calibri" pitchFamily="34" charset="-120"/>
              </a:rPr>
              <a:t>Pozicija</a:t>
            </a:r>
            <a:r>
              <a:rPr lang="en-US" sz="1400" dirty="0">
                <a:solidFill>
                  <a:srgbClr val="475569"/>
                </a:solidFill>
                <a:latin typeface="Calibri" pitchFamily="34" charset="0"/>
                <a:ea typeface="Calibri" pitchFamily="34" charset="-122"/>
                <a:cs typeface="Calibri" pitchFamily="34" charset="-120"/>
              </a:rPr>
              <a:t> u tabeli slotova na dnu Data Page</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Omogućava pomeranje zapisa bez </a:t>
            </a:r>
            <a:r>
              <a:rPr lang="en-US" sz="1400" dirty="0" err="1">
                <a:solidFill>
                  <a:srgbClr val="475569"/>
                </a:solidFill>
                <a:latin typeface="Calibri" pitchFamily="34" charset="0"/>
                <a:ea typeface="Calibri" pitchFamily="34" charset="-122"/>
                <a:cs typeface="Calibri" pitchFamily="34" charset="-120"/>
              </a:rPr>
              <a:t>ažuriranja</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indeksa</a:t>
            </a:r>
            <a:endParaRPr lang="en-US" sz="1400" dirty="0"/>
          </a:p>
        </p:txBody>
      </p:sp>
      <p:sp>
        <p:nvSpPr>
          <p:cNvPr id="16" name="Shape 14"/>
          <p:cNvSpPr/>
          <p:nvPr/>
        </p:nvSpPr>
        <p:spPr>
          <a:xfrm>
            <a:off x="228600" y="3474720"/>
            <a:ext cx="8686800" cy="118872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7" name="Shape 15"/>
          <p:cNvSpPr/>
          <p:nvPr/>
        </p:nvSpPr>
        <p:spPr>
          <a:xfrm>
            <a:off x="228600" y="3474720"/>
            <a:ext cx="64008" cy="1188720"/>
          </a:xfrm>
          <a:prstGeom prst="rect">
            <a:avLst/>
          </a:prstGeom>
          <a:solidFill>
            <a:srgbClr val="1B2A4A"/>
          </a:solidFill>
          <a:ln/>
        </p:spPr>
        <p:txBody>
          <a:bodyPr/>
          <a:lstStyle/>
          <a:p>
            <a:endParaRPr lang="en-US"/>
          </a:p>
        </p:txBody>
      </p:sp>
      <p:sp>
        <p:nvSpPr>
          <p:cNvPr id="18" name="Text 16"/>
          <p:cNvSpPr/>
          <p:nvPr/>
        </p:nvSpPr>
        <p:spPr>
          <a:xfrm>
            <a:off x="365760" y="3547872"/>
            <a:ext cx="8503920" cy="292608"/>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Zašto je ovo važno?</a:t>
            </a:r>
            <a:endParaRPr lang="en-US" dirty="0"/>
          </a:p>
        </p:txBody>
      </p:sp>
      <p:sp>
        <p:nvSpPr>
          <p:cNvPr id="19" name="Text 17"/>
          <p:cNvSpPr/>
          <p:nvPr/>
        </p:nvSpPr>
        <p:spPr>
          <a:xfrm>
            <a:off x="365760" y="3977640"/>
            <a:ext cx="8503920" cy="612648"/>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Tabela slotova omogućava da se zapis fizički premesti unutar stranice (zbog MGA), a da svi indeksi koji na njega pokazuju ostanu validni — broj slota se ne menja. Bez ovog sistema, svaka promena dužine zapisa zahtevala bi hitno ažuriranje SVIH </a:t>
            </a:r>
            <a:r>
              <a:rPr lang="en-US" sz="1400" dirty="0" err="1">
                <a:solidFill>
                  <a:srgbClr val="475569"/>
                </a:solidFill>
                <a:latin typeface="Calibri" pitchFamily="34" charset="0"/>
                <a:ea typeface="Calibri" pitchFamily="34" charset="-122"/>
                <a:cs typeface="Calibri" pitchFamily="34" charset="-120"/>
              </a:rPr>
              <a:t>indeksa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MGA arhitektura — verzije zapisa i Index Bloat</a:t>
            </a:r>
            <a:endParaRPr lang="en-US" sz="2800" dirty="0"/>
          </a:p>
        </p:txBody>
      </p:sp>
      <p:sp>
        <p:nvSpPr>
          <p:cNvPr id="5" name="Shape 3"/>
          <p:cNvSpPr/>
          <p:nvPr/>
        </p:nvSpPr>
        <p:spPr>
          <a:xfrm>
            <a:off x="274320" y="777240"/>
            <a:ext cx="1828800" cy="1005840"/>
          </a:xfrm>
          <a:prstGeom prst="rect">
            <a:avLst/>
          </a:prstGeom>
          <a:solidFill>
            <a:srgbClr val="1B2A4A"/>
          </a:solidFill>
          <a:ln>
            <a:solidFill>
              <a:schemeClr val="bg2"/>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274320" y="868680"/>
            <a:ext cx="18288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INSERT</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original</a:t>
            </a:r>
            <a:endParaRPr lang="en-US" sz="1600" dirty="0"/>
          </a:p>
        </p:txBody>
      </p:sp>
      <p:sp>
        <p:nvSpPr>
          <p:cNvPr id="7" name="Text 5"/>
          <p:cNvSpPr/>
          <p:nvPr/>
        </p:nvSpPr>
        <p:spPr>
          <a:xfrm>
            <a:off x="2121408" y="1097280"/>
            <a:ext cx="274320" cy="457200"/>
          </a:xfrm>
          <a:prstGeom prst="rect">
            <a:avLst/>
          </a:prstGeom>
          <a:noFill/>
          <a:ln/>
        </p:spPr>
        <p:txBody>
          <a:bodyPr wrap="square" lIns="0" tIns="0" rIns="0" bIns="0" rtlCol="0" anchor="ctr"/>
          <a:lstStyle/>
          <a:p>
            <a:pPr marL="0" indent="0" algn="ctr">
              <a:buNone/>
            </a:pPr>
            <a:r>
              <a:rPr lang="en-US" sz="2400" b="1" dirty="0">
                <a:solidFill>
                  <a:srgbClr val="1B2A4A"/>
                </a:solidFill>
                <a:latin typeface="Calibri" pitchFamily="34" charset="0"/>
                <a:ea typeface="Calibri" pitchFamily="34" charset="-122"/>
                <a:cs typeface="Calibri" pitchFamily="34" charset="-120"/>
              </a:rPr>
              <a:t>→</a:t>
            </a:r>
            <a:endParaRPr lang="en-US" sz="2400" dirty="0">
              <a:solidFill>
                <a:srgbClr val="1B2A4A"/>
              </a:solidFill>
            </a:endParaRPr>
          </a:p>
        </p:txBody>
      </p:sp>
      <p:sp>
        <p:nvSpPr>
          <p:cNvPr id="8" name="Shape 6"/>
          <p:cNvSpPr/>
          <p:nvPr/>
        </p:nvSpPr>
        <p:spPr>
          <a:xfrm>
            <a:off x="2423160" y="777240"/>
            <a:ext cx="1828800" cy="1005840"/>
          </a:xfrm>
          <a:prstGeom prst="rect">
            <a:avLst/>
          </a:prstGeom>
          <a:solidFill>
            <a:schemeClr val="accent2">
              <a:lumMod val="50000"/>
            </a:schemeClr>
          </a:solidFill>
          <a:ln>
            <a:solidFill>
              <a:schemeClr val="bg2"/>
            </a:solidFill>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2423160" y="868680"/>
            <a:ext cx="18288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UPDATE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v2 (nova)</a:t>
            </a:r>
            <a:endParaRPr lang="en-US" sz="1600" dirty="0"/>
          </a:p>
        </p:txBody>
      </p:sp>
      <p:sp>
        <p:nvSpPr>
          <p:cNvPr id="10" name="Text 8"/>
          <p:cNvSpPr/>
          <p:nvPr/>
        </p:nvSpPr>
        <p:spPr>
          <a:xfrm>
            <a:off x="4270248" y="1097280"/>
            <a:ext cx="274320" cy="457200"/>
          </a:xfrm>
          <a:prstGeom prst="rect">
            <a:avLst/>
          </a:prstGeom>
          <a:noFill/>
          <a:ln/>
        </p:spPr>
        <p:txBody>
          <a:bodyPr wrap="square" lIns="0" tIns="0" rIns="0" bIns="0" rtlCol="0" anchor="ctr"/>
          <a:lstStyle/>
          <a:p>
            <a:pPr marL="0" indent="0" algn="ctr">
              <a:buNone/>
            </a:pPr>
            <a:r>
              <a:rPr lang="en-US" sz="2400" b="1" dirty="0">
                <a:solidFill>
                  <a:srgbClr val="1B2A4A"/>
                </a:solidFill>
                <a:latin typeface="Calibri" pitchFamily="34" charset="0"/>
                <a:ea typeface="Calibri" pitchFamily="34" charset="-122"/>
                <a:cs typeface="Calibri" pitchFamily="34" charset="-120"/>
              </a:rPr>
              <a:t>→</a:t>
            </a:r>
            <a:endParaRPr lang="en-US" sz="2400" dirty="0">
              <a:solidFill>
                <a:srgbClr val="1B2A4A"/>
              </a:solidFill>
            </a:endParaRPr>
          </a:p>
        </p:txBody>
      </p:sp>
      <p:sp>
        <p:nvSpPr>
          <p:cNvPr id="11" name="Shape 9"/>
          <p:cNvSpPr/>
          <p:nvPr/>
        </p:nvSpPr>
        <p:spPr>
          <a:xfrm>
            <a:off x="4572000" y="777240"/>
            <a:ext cx="1828800" cy="1005840"/>
          </a:xfrm>
          <a:prstGeom prst="rect">
            <a:avLst/>
          </a:prstGeom>
          <a:solidFill>
            <a:schemeClr val="tx1">
              <a:lumMod val="65000"/>
              <a:lumOff val="35000"/>
            </a:schemeClr>
          </a:solidFill>
          <a:ln>
            <a:solidFill>
              <a:schemeClr val="bg2"/>
            </a:solidFill>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4572000" y="868680"/>
            <a:ext cx="18288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UPDATE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v3 (nova)</a:t>
            </a:r>
            <a:endParaRPr lang="en-US" sz="1600" dirty="0"/>
          </a:p>
        </p:txBody>
      </p:sp>
      <p:sp>
        <p:nvSpPr>
          <p:cNvPr id="13" name="Text 11"/>
          <p:cNvSpPr/>
          <p:nvPr/>
        </p:nvSpPr>
        <p:spPr>
          <a:xfrm>
            <a:off x="6419088" y="1097280"/>
            <a:ext cx="274320" cy="457200"/>
          </a:xfrm>
          <a:prstGeom prst="rect">
            <a:avLst/>
          </a:prstGeom>
          <a:noFill/>
          <a:ln/>
        </p:spPr>
        <p:txBody>
          <a:bodyPr wrap="square" lIns="0" tIns="0" rIns="0" bIns="0" rtlCol="0" anchor="ctr"/>
          <a:lstStyle/>
          <a:p>
            <a:pPr marL="0" indent="0" algn="ctr">
              <a:buNone/>
            </a:pPr>
            <a:r>
              <a:rPr lang="en-US" sz="2400" b="1" dirty="0">
                <a:solidFill>
                  <a:srgbClr val="1B2A4A"/>
                </a:solidFill>
                <a:latin typeface="Calibri" pitchFamily="34" charset="0"/>
                <a:ea typeface="Calibri" pitchFamily="34" charset="-122"/>
                <a:cs typeface="Calibri" pitchFamily="34" charset="-120"/>
              </a:rPr>
              <a:t>→</a:t>
            </a:r>
            <a:endParaRPr lang="en-US" sz="2400" dirty="0">
              <a:solidFill>
                <a:srgbClr val="1B2A4A"/>
              </a:solidFill>
            </a:endParaRPr>
          </a:p>
        </p:txBody>
      </p:sp>
      <p:sp>
        <p:nvSpPr>
          <p:cNvPr id="14" name="Shape 12"/>
          <p:cNvSpPr/>
          <p:nvPr/>
        </p:nvSpPr>
        <p:spPr>
          <a:xfrm>
            <a:off x="6720840" y="777240"/>
            <a:ext cx="1828800" cy="1005840"/>
          </a:xfrm>
          <a:prstGeom prst="rect">
            <a:avLst/>
          </a:prstGeom>
          <a:solidFill>
            <a:schemeClr val="tx1">
              <a:lumMod val="50000"/>
              <a:lumOff val="50000"/>
            </a:schemeClr>
          </a:solidFill>
          <a:ln>
            <a:solidFill>
              <a:schemeClr val="bg2"/>
            </a:solidFill>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720840" y="868680"/>
            <a:ext cx="18288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GC čisti</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stare</a:t>
            </a:r>
            <a:endParaRPr lang="en-US" sz="1600" dirty="0"/>
          </a:p>
        </p:txBody>
      </p:sp>
      <p:sp>
        <p:nvSpPr>
          <p:cNvPr id="16" name="Shape 14"/>
          <p:cNvSpPr/>
          <p:nvPr/>
        </p:nvSpPr>
        <p:spPr>
          <a:xfrm>
            <a:off x="228600" y="196596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7" name="Shape 15"/>
          <p:cNvSpPr/>
          <p:nvPr/>
        </p:nvSpPr>
        <p:spPr>
          <a:xfrm>
            <a:off x="228600" y="1965960"/>
            <a:ext cx="64008" cy="1234440"/>
          </a:xfrm>
          <a:prstGeom prst="rect">
            <a:avLst/>
          </a:prstGeom>
          <a:solidFill>
            <a:schemeClr val="bg2">
              <a:lumMod val="75000"/>
            </a:schemeClr>
          </a:solidFill>
          <a:ln/>
        </p:spPr>
        <p:txBody>
          <a:bodyPr/>
          <a:lstStyle/>
          <a:p>
            <a:endParaRPr lang="en-US"/>
          </a:p>
        </p:txBody>
      </p:sp>
      <p:sp>
        <p:nvSpPr>
          <p:cNvPr id="18" name="Text 16"/>
          <p:cNvSpPr/>
          <p:nvPr/>
        </p:nvSpPr>
        <p:spPr>
          <a:xfrm>
            <a:off x="365760" y="2039112"/>
            <a:ext cx="397764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Posledica: Index Bloat</a:t>
            </a:r>
            <a:endParaRPr lang="en-US" sz="1600" dirty="0"/>
          </a:p>
        </p:txBody>
      </p:sp>
      <p:sp>
        <p:nvSpPr>
          <p:cNvPr id="19" name="Text 17"/>
          <p:cNvSpPr/>
          <p:nvPr/>
        </p:nvSpPr>
        <p:spPr>
          <a:xfrm>
            <a:off x="365760" y="2377440"/>
            <a:ext cx="3977640" cy="749808"/>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Indeksne stranice pune se pokazivačima na stare verzije.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B+ stablo raste i postaje dublje — više I/O operacija.</a:t>
            </a:r>
            <a:endParaRPr lang="en-US" sz="1200" dirty="0"/>
          </a:p>
        </p:txBody>
      </p:sp>
      <p:sp>
        <p:nvSpPr>
          <p:cNvPr id="20" name="Shape 18"/>
          <p:cNvSpPr/>
          <p:nvPr/>
        </p:nvSpPr>
        <p:spPr>
          <a:xfrm>
            <a:off x="4572000" y="1965960"/>
            <a:ext cx="4343400" cy="12344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572000" y="1965960"/>
            <a:ext cx="64008" cy="1234440"/>
          </a:xfrm>
          <a:prstGeom prst="rect">
            <a:avLst/>
          </a:prstGeom>
          <a:solidFill>
            <a:schemeClr val="tx1">
              <a:lumMod val="50000"/>
              <a:lumOff val="50000"/>
            </a:schemeClr>
          </a:solidFill>
          <a:ln/>
        </p:spPr>
        <p:txBody>
          <a:bodyPr/>
          <a:lstStyle/>
          <a:p>
            <a:endParaRPr lang="en-US"/>
          </a:p>
        </p:txBody>
      </p:sp>
      <p:sp>
        <p:nvSpPr>
          <p:cNvPr id="22" name="Text 20"/>
          <p:cNvSpPr/>
          <p:nvPr/>
        </p:nvSpPr>
        <p:spPr>
          <a:xfrm>
            <a:off x="4709160" y="2039112"/>
            <a:ext cx="41605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Rešenje: Rekreacija indeksa</a:t>
            </a:r>
            <a:endParaRPr lang="en-US" sz="1600" dirty="0"/>
          </a:p>
        </p:txBody>
      </p:sp>
      <p:sp>
        <p:nvSpPr>
          <p:cNvPr id="23" name="Text 21"/>
          <p:cNvSpPr/>
          <p:nvPr/>
        </p:nvSpPr>
        <p:spPr>
          <a:xfrm>
            <a:off x="4709160" y="2377440"/>
            <a:ext cx="4160520" cy="749808"/>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ALTER INDEX ... INACTIVE → ACTIVE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Gradi novo stablo od nule, odbacuje sve stare </a:t>
            </a:r>
            <a:r>
              <a:rPr lang="en-US" sz="1200" dirty="0" err="1">
                <a:solidFill>
                  <a:srgbClr val="475569"/>
                </a:solidFill>
                <a:latin typeface="Calibri" pitchFamily="34" charset="0"/>
                <a:ea typeface="Calibri" pitchFamily="34" charset="-122"/>
                <a:cs typeface="Calibri" pitchFamily="34" charset="-120"/>
              </a:rPr>
              <a:t>verzije</a:t>
            </a:r>
            <a:r>
              <a:rPr lang="sr-Latn-RS" sz="1200" dirty="0">
                <a:solidFill>
                  <a:srgbClr val="475569"/>
                </a:solidFill>
                <a:latin typeface="Calibri" pitchFamily="34" charset="0"/>
                <a:ea typeface="Calibri" pitchFamily="34" charset="-122"/>
                <a:cs typeface="Calibri" pitchFamily="34" charset="-120"/>
              </a:rPr>
              <a:t>.</a:t>
            </a:r>
            <a:endParaRPr lang="en-US" sz="1200" dirty="0"/>
          </a:p>
        </p:txBody>
      </p:sp>
      <p:sp>
        <p:nvSpPr>
          <p:cNvPr id="24" name="Shape 22"/>
          <p:cNvSpPr/>
          <p:nvPr/>
        </p:nvSpPr>
        <p:spPr>
          <a:xfrm>
            <a:off x="228600" y="3337560"/>
            <a:ext cx="8686800" cy="1441474"/>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5" name="Shape 23"/>
          <p:cNvSpPr/>
          <p:nvPr/>
        </p:nvSpPr>
        <p:spPr>
          <a:xfrm>
            <a:off x="228600" y="3337560"/>
            <a:ext cx="64008" cy="1440000"/>
          </a:xfrm>
          <a:prstGeom prst="rect">
            <a:avLst/>
          </a:prstGeom>
          <a:solidFill>
            <a:srgbClr val="1B2A4A"/>
          </a:solidFill>
          <a:ln/>
        </p:spPr>
        <p:txBody>
          <a:bodyPr/>
          <a:lstStyle/>
          <a:p>
            <a:endParaRPr lang="en-US"/>
          </a:p>
        </p:txBody>
      </p:sp>
      <p:sp>
        <p:nvSpPr>
          <p:cNvPr id="26" name="Text 24"/>
          <p:cNvSpPr/>
          <p:nvPr/>
        </p:nvSpPr>
        <p:spPr>
          <a:xfrm>
            <a:off x="365760" y="3410712"/>
            <a:ext cx="85039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Garbage Collection (GC)</a:t>
            </a:r>
            <a:endParaRPr lang="en-US" sz="1600" dirty="0"/>
          </a:p>
        </p:txBody>
      </p:sp>
      <p:sp>
        <p:nvSpPr>
          <p:cNvPr id="27" name="Text 25"/>
          <p:cNvSpPr/>
          <p:nvPr/>
        </p:nvSpPr>
        <p:spPr>
          <a:xfrm>
            <a:off x="365760" y="3776472"/>
            <a:ext cx="8503920" cy="996696"/>
          </a:xfrm>
          <a:prstGeom prst="rect">
            <a:avLst/>
          </a:prstGeom>
          <a:noFill/>
          <a:ln/>
        </p:spPr>
        <p:txBody>
          <a:bodyPr wrap="square" lIns="0" tIns="0" rIns="0" bIns="0" rtlCol="0" anchor="t"/>
          <a:lstStyle/>
          <a:p>
            <a:pPr marL="171450" indent="-171450">
              <a:buSzPct val="150000"/>
              <a:buFont typeface="Arial" panose="020B0604020202020204" pitchFamily="34" charset="0"/>
              <a:buChar char="•"/>
            </a:pPr>
            <a:r>
              <a:rPr lang="en-US" sz="1200" dirty="0">
                <a:solidFill>
                  <a:srgbClr val="475569"/>
                </a:solidFill>
                <a:latin typeface="Calibri" pitchFamily="34" charset="0"/>
                <a:ea typeface="Calibri" pitchFamily="34" charset="-122"/>
                <a:cs typeface="Calibri" pitchFamily="34" charset="-120"/>
              </a:rPr>
              <a:t>Cooperative GC: SELECT upiti čiste stare verzije usput</a:t>
            </a:r>
            <a:endParaRPr lang="en-US" sz="1200" dirty="0"/>
          </a:p>
          <a:p>
            <a:pPr marL="171450" indent="-171450">
              <a:buSzPct val="150000"/>
              <a:buFont typeface="Arial" panose="020B0604020202020204" pitchFamily="34" charset="0"/>
              <a:buChar char="•"/>
            </a:pPr>
            <a:r>
              <a:rPr lang="en-US" sz="1200" dirty="0">
                <a:solidFill>
                  <a:srgbClr val="475569"/>
                </a:solidFill>
                <a:latin typeface="Calibri" pitchFamily="34" charset="0"/>
                <a:ea typeface="Calibri" pitchFamily="34" charset="-122"/>
                <a:cs typeface="Calibri" pitchFamily="34" charset="-120"/>
              </a:rPr>
              <a:t>Background GC: posebna nit u </a:t>
            </a:r>
            <a:r>
              <a:rPr lang="en-US" sz="1200" dirty="0" err="1">
                <a:solidFill>
                  <a:srgbClr val="475569"/>
                </a:solidFill>
                <a:latin typeface="Calibri" pitchFamily="34" charset="0"/>
                <a:ea typeface="Calibri" pitchFamily="34" charset="-122"/>
                <a:cs typeface="Calibri" pitchFamily="34" charset="-120"/>
              </a:rPr>
              <a:t>SuperServer</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modelu</a:t>
            </a:r>
            <a:endParaRPr lang="sr-Latn-RS" sz="1200" dirty="0"/>
          </a:p>
          <a:p>
            <a:pPr marL="171450" indent="-171450">
              <a:buSzPct val="150000"/>
              <a:buFont typeface="Arial" panose="020B0604020202020204" pitchFamily="34" charset="0"/>
              <a:buChar char="•"/>
            </a:pPr>
            <a:r>
              <a:rPr lang="en-US" sz="1200" dirty="0">
                <a:solidFill>
                  <a:srgbClr val="475569"/>
                </a:solidFill>
                <a:latin typeface="Calibri" pitchFamily="34" charset="0"/>
                <a:ea typeface="Calibri" pitchFamily="34" charset="-122"/>
                <a:cs typeface="Calibri" pitchFamily="34" charset="-120"/>
              </a:rPr>
              <a:t>Sweeping: sistematsko skeniranje cele baze (gfix -sweep)</a:t>
            </a:r>
            <a:endParaRPr lang="en-US" sz="1200" dirty="0"/>
          </a:p>
          <a:p>
            <a:pPr marL="0" indent="0">
              <a:buNone/>
            </a:pPr>
            <a:endParaRPr lang="en-US" sz="1200" dirty="0"/>
          </a:p>
          <a:p>
            <a:pPr marL="0" indent="0">
              <a:buNone/>
            </a:pPr>
            <a:r>
              <a:rPr lang="en-US" sz="1400" b="1" dirty="0">
                <a:solidFill>
                  <a:srgbClr val="475569"/>
                </a:solidFill>
                <a:latin typeface="Calibri" pitchFamily="34" charset="0"/>
                <a:ea typeface="Calibri" pitchFamily="34" charset="-122"/>
                <a:cs typeface="Calibri" pitchFamily="34" charset="-120"/>
              </a:rPr>
              <a:t>Oldest Active Transaction (OAT) blokira GC — sve verzije nastale posle OAT-a moraju ostati netaknute!</a:t>
            </a:r>
            <a:endParaRPr lang="en-US" sz="1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 stablo — struktura indeksa u Firebirdu</a:t>
            </a:r>
            <a:endParaRPr lang="en-US" sz="2800" dirty="0"/>
          </a:p>
        </p:txBody>
      </p:sp>
      <p:sp>
        <p:nvSpPr>
          <p:cNvPr id="5" name="Shape 3"/>
          <p:cNvSpPr/>
          <p:nvPr/>
        </p:nvSpPr>
        <p:spPr>
          <a:xfrm>
            <a:off x="3657600" y="822960"/>
            <a:ext cx="1828800" cy="685800"/>
          </a:xfrm>
          <a:prstGeom prst="rect">
            <a:avLst/>
          </a:prstGeom>
          <a:solidFill>
            <a:srgbClr val="1B2A4A"/>
          </a:solidFill>
          <a:ln>
            <a:solidFill>
              <a:schemeClr val="bg2">
                <a:lumMod val="90000"/>
              </a:schemeClr>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3749040" y="896112"/>
            <a:ext cx="1452688"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Koren (Root)</a:t>
            </a:r>
            <a:endParaRPr lang="en-US" sz="1600" dirty="0"/>
          </a:p>
        </p:txBody>
      </p:sp>
      <p:sp>
        <p:nvSpPr>
          <p:cNvPr id="7" name="Text 5"/>
          <p:cNvSpPr/>
          <p:nvPr/>
        </p:nvSpPr>
        <p:spPr>
          <a:xfrm>
            <a:off x="3749040" y="1207008"/>
            <a:ext cx="1645920" cy="256032"/>
          </a:xfrm>
          <a:prstGeom prst="rect">
            <a:avLst/>
          </a:prstGeom>
          <a:noFill/>
          <a:ln/>
        </p:spPr>
        <p:txBody>
          <a:bodyPr wrap="square" lIns="0" tIns="0" rIns="0" bIns="0" rtlCol="0" anchor="ctr"/>
          <a:lstStyle/>
          <a:p>
            <a:pPr marL="0" indent="0">
              <a:buNone/>
            </a:pPr>
            <a:r>
              <a:rPr lang="en-US" sz="1400" dirty="0">
                <a:solidFill>
                  <a:schemeClr val="bg1">
                    <a:lumMod val="95000"/>
                  </a:schemeClr>
                </a:solidFill>
                <a:latin typeface="Calibri" pitchFamily="34" charset="0"/>
                <a:ea typeface="Calibri" pitchFamily="34" charset="-122"/>
                <a:cs typeface="Calibri" pitchFamily="34" charset="-120"/>
              </a:rPr>
              <a:t>1 čvor</a:t>
            </a:r>
            <a:endParaRPr lang="en-US" sz="1400" dirty="0">
              <a:solidFill>
                <a:schemeClr val="bg1">
                  <a:lumMod val="95000"/>
                </a:schemeClr>
              </a:solidFill>
            </a:endParaRPr>
          </a:p>
        </p:txBody>
      </p:sp>
      <p:sp>
        <p:nvSpPr>
          <p:cNvPr id="8" name="Shape 6"/>
          <p:cNvSpPr/>
          <p:nvPr/>
        </p:nvSpPr>
        <p:spPr>
          <a:xfrm>
            <a:off x="2057400" y="1737360"/>
            <a:ext cx="5029200" cy="685800"/>
          </a:xfrm>
          <a:prstGeom prst="rect">
            <a:avLst/>
          </a:prstGeom>
          <a:solidFill>
            <a:srgbClr val="243660"/>
          </a:solidFill>
          <a:ln>
            <a:solidFill>
              <a:schemeClr val="bg2">
                <a:lumMod val="90000"/>
              </a:schemeClr>
            </a:solidFill>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2148840" y="1810512"/>
            <a:ext cx="276606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Grane</a:t>
            </a:r>
            <a:endParaRPr lang="en-US" sz="1600" dirty="0"/>
          </a:p>
        </p:txBody>
      </p:sp>
      <p:sp>
        <p:nvSpPr>
          <p:cNvPr id="10" name="Text 8"/>
          <p:cNvSpPr/>
          <p:nvPr/>
        </p:nvSpPr>
        <p:spPr>
          <a:xfrm>
            <a:off x="2148840" y="2121408"/>
            <a:ext cx="4846320" cy="256032"/>
          </a:xfrm>
          <a:prstGeom prst="rect">
            <a:avLst/>
          </a:prstGeom>
          <a:noFill/>
          <a:ln/>
        </p:spPr>
        <p:txBody>
          <a:bodyPr wrap="square" lIns="0" tIns="0" rIns="0" bIns="0" rtlCol="0" anchor="ctr"/>
          <a:lstStyle/>
          <a:p>
            <a:pPr marL="0" indent="0">
              <a:buNone/>
            </a:pPr>
            <a:r>
              <a:rPr lang="en-US" sz="1400" dirty="0">
                <a:solidFill>
                  <a:schemeClr val="bg1">
                    <a:lumMod val="95000"/>
                  </a:schemeClr>
                </a:solidFill>
                <a:latin typeface="Calibri" pitchFamily="34" charset="0"/>
                <a:ea typeface="Calibri" pitchFamily="34" charset="-122"/>
                <a:cs typeface="Calibri" pitchFamily="34" charset="-120"/>
              </a:rPr>
              <a:t>navigacioni čvorovi</a:t>
            </a:r>
            <a:endParaRPr lang="en-US" sz="1400" dirty="0">
              <a:solidFill>
                <a:schemeClr val="bg1">
                  <a:lumMod val="95000"/>
                </a:schemeClr>
              </a:solidFill>
            </a:endParaRPr>
          </a:p>
        </p:txBody>
      </p:sp>
      <p:sp>
        <p:nvSpPr>
          <p:cNvPr id="11" name="Shape 9"/>
          <p:cNvSpPr/>
          <p:nvPr/>
        </p:nvSpPr>
        <p:spPr>
          <a:xfrm>
            <a:off x="457200" y="2651760"/>
            <a:ext cx="8229600" cy="685800"/>
          </a:xfrm>
          <a:prstGeom prst="rect">
            <a:avLst/>
          </a:prstGeom>
          <a:solidFill>
            <a:schemeClr val="accent2">
              <a:lumMod val="75000"/>
            </a:schemeClr>
          </a:solidFill>
          <a:ln>
            <a:solidFill>
              <a:schemeClr val="bg2">
                <a:lumMod val="90000"/>
              </a:schemeClr>
            </a:solidFill>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548640" y="2724912"/>
            <a:ext cx="45262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Listovi (Leaf Pages)</a:t>
            </a:r>
            <a:endParaRPr lang="en-US" sz="1600" dirty="0"/>
          </a:p>
        </p:txBody>
      </p:sp>
      <p:sp>
        <p:nvSpPr>
          <p:cNvPr id="13" name="Text 11"/>
          <p:cNvSpPr/>
          <p:nvPr/>
        </p:nvSpPr>
        <p:spPr>
          <a:xfrm>
            <a:off x="548640" y="3035808"/>
            <a:ext cx="8046720" cy="256032"/>
          </a:xfrm>
          <a:prstGeom prst="rect">
            <a:avLst/>
          </a:prstGeom>
          <a:noFill/>
          <a:ln/>
        </p:spPr>
        <p:txBody>
          <a:bodyPr wrap="square" lIns="0" tIns="0" rIns="0" bIns="0" rtlCol="0" anchor="ctr"/>
          <a:lstStyle/>
          <a:p>
            <a:r>
              <a:rPr lang="en-US" sz="1400" dirty="0" err="1">
                <a:solidFill>
                  <a:schemeClr val="bg1">
                    <a:lumMod val="95000"/>
                  </a:schemeClr>
                </a:solidFill>
                <a:latin typeface="Calibri" pitchFamily="34" charset="0"/>
                <a:ea typeface="Calibri" pitchFamily="34" charset="-122"/>
                <a:cs typeface="Calibri" pitchFamily="34" charset="-120"/>
              </a:rPr>
              <a:t>dvostruko</a:t>
            </a:r>
            <a:r>
              <a:rPr lang="en-US" sz="1400" dirty="0">
                <a:solidFill>
                  <a:schemeClr val="bg1">
                    <a:lumMod val="95000"/>
                  </a:schemeClr>
                </a:solidFill>
                <a:latin typeface="Calibri" pitchFamily="34" charset="0"/>
                <a:ea typeface="Calibri" pitchFamily="34" charset="-122"/>
                <a:cs typeface="Calibri" pitchFamily="34" charset="-120"/>
              </a:rPr>
              <a:t> </a:t>
            </a:r>
            <a:r>
              <a:rPr lang="en-US" sz="1400" dirty="0" err="1">
                <a:solidFill>
                  <a:schemeClr val="bg1">
                    <a:lumMod val="95000"/>
                  </a:schemeClr>
                </a:solidFill>
                <a:latin typeface="Calibri" pitchFamily="34" charset="0"/>
                <a:ea typeface="Calibri" pitchFamily="34" charset="-122"/>
                <a:cs typeface="Calibri" pitchFamily="34" charset="-120"/>
              </a:rPr>
              <a:t>povezana</a:t>
            </a:r>
            <a:r>
              <a:rPr lang="en-US" sz="1400" dirty="0">
                <a:solidFill>
                  <a:schemeClr val="bg1">
                    <a:lumMod val="95000"/>
                  </a:schemeClr>
                </a:solidFill>
                <a:latin typeface="Calibri" pitchFamily="34" charset="0"/>
                <a:ea typeface="Calibri" pitchFamily="34" charset="-122"/>
                <a:cs typeface="Calibri" pitchFamily="34" charset="-120"/>
              </a:rPr>
              <a:t> </a:t>
            </a:r>
            <a:r>
              <a:rPr lang="en-US" sz="1400" dirty="0" err="1">
                <a:solidFill>
                  <a:schemeClr val="bg1">
                    <a:lumMod val="95000"/>
                  </a:schemeClr>
                </a:solidFill>
                <a:latin typeface="Calibri" pitchFamily="34" charset="0"/>
                <a:ea typeface="Calibri" pitchFamily="34" charset="-122"/>
                <a:cs typeface="Calibri" pitchFamily="34" charset="-120"/>
              </a:rPr>
              <a:t>lista</a:t>
            </a:r>
            <a:r>
              <a:rPr lang="sr-Latn-RS" sz="1400" dirty="0">
                <a:solidFill>
                  <a:schemeClr val="bg1">
                    <a:lumMod val="95000"/>
                  </a:schemeClr>
                </a:solidFill>
                <a:latin typeface="Calibri" pitchFamily="34" charset="0"/>
                <a:ea typeface="Calibri" pitchFamily="34" charset="-122"/>
                <a:cs typeface="Calibri" pitchFamily="34" charset="-120"/>
              </a:rPr>
              <a:t> → </a:t>
            </a:r>
            <a:r>
              <a:rPr lang="en-US" sz="1400" dirty="0" err="1">
                <a:solidFill>
                  <a:schemeClr val="bg1">
                    <a:lumMod val="95000"/>
                  </a:schemeClr>
                </a:solidFill>
                <a:latin typeface="Calibri" pitchFamily="34" charset="0"/>
                <a:ea typeface="Calibri" pitchFamily="34" charset="-122"/>
                <a:cs typeface="Calibri" pitchFamily="34" charset="-120"/>
              </a:rPr>
              <a:t>ključ</a:t>
            </a:r>
            <a:r>
              <a:rPr lang="en-US" sz="1400" dirty="0">
                <a:solidFill>
                  <a:schemeClr val="bg1">
                    <a:lumMod val="95000"/>
                  </a:schemeClr>
                </a:solidFill>
                <a:latin typeface="Calibri" pitchFamily="34" charset="0"/>
                <a:ea typeface="Calibri" pitchFamily="34" charset="-122"/>
                <a:cs typeface="Calibri" pitchFamily="34" charset="-120"/>
              </a:rPr>
              <a:t> + RDB$DB_KEY </a:t>
            </a:r>
            <a:endParaRPr lang="en-US" sz="1400" dirty="0">
              <a:solidFill>
                <a:schemeClr val="bg1">
                  <a:lumMod val="95000"/>
                </a:schemeClr>
              </a:solidFill>
            </a:endParaRPr>
          </a:p>
        </p:txBody>
      </p:sp>
      <p:sp>
        <p:nvSpPr>
          <p:cNvPr id="14" name="Shape 12"/>
          <p:cNvSpPr/>
          <p:nvPr/>
        </p:nvSpPr>
        <p:spPr>
          <a:xfrm>
            <a:off x="228600" y="3520440"/>
            <a:ext cx="2743200" cy="1417320"/>
          </a:xfrm>
          <a:prstGeom prst="rect">
            <a:avLst/>
          </a:prstGeom>
          <a:solidFill>
            <a:srgbClr val="FFFFFF"/>
          </a:solidFill>
          <a:ln w="12700">
            <a:solidFill>
              <a:schemeClr val="bg2">
                <a:lumMod val="90000"/>
              </a:schemeClr>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228600" y="3520440"/>
            <a:ext cx="64008" cy="1417320"/>
          </a:xfrm>
          <a:prstGeom prst="rect">
            <a:avLst/>
          </a:prstGeom>
          <a:solidFill>
            <a:schemeClr val="bg2">
              <a:lumMod val="75000"/>
            </a:schemeClr>
          </a:solidFill>
          <a:ln/>
        </p:spPr>
        <p:txBody>
          <a:bodyPr/>
          <a:lstStyle/>
          <a:p>
            <a:endParaRPr lang="en-US"/>
          </a:p>
        </p:txBody>
      </p:sp>
      <p:sp>
        <p:nvSpPr>
          <p:cNvPr id="16" name="Text 14"/>
          <p:cNvSpPr/>
          <p:nvPr/>
        </p:nvSpPr>
        <p:spPr>
          <a:xfrm>
            <a:off x="365760" y="3593592"/>
            <a:ext cx="25603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Page Split</a:t>
            </a:r>
            <a:endParaRPr lang="en-US" sz="1600" dirty="0"/>
          </a:p>
        </p:txBody>
      </p:sp>
      <p:sp>
        <p:nvSpPr>
          <p:cNvPr id="17" name="Text 15"/>
          <p:cNvSpPr/>
          <p:nvPr/>
        </p:nvSpPr>
        <p:spPr>
          <a:xfrm>
            <a:off x="365760" y="3959352"/>
            <a:ext cx="2560320" cy="905256"/>
          </a:xfrm>
          <a:prstGeom prst="rect">
            <a:avLst/>
          </a:prstGeom>
          <a:noFill/>
          <a:ln/>
        </p:spPr>
        <p:txBody>
          <a:bodyPr wrap="square" lIns="0" tIns="0" rIns="0" bIns="0" rtlCol="0" anchor="t"/>
          <a:lstStyle/>
          <a:p>
            <a:r>
              <a:rPr lang="en-US" sz="1400" dirty="0">
                <a:solidFill>
                  <a:srgbClr val="475569"/>
                </a:solidFill>
                <a:latin typeface="Calibri" pitchFamily="34" charset="0"/>
                <a:ea typeface="Calibri" pitchFamily="34" charset="-122"/>
                <a:cs typeface="Calibri" pitchFamily="34" charset="-120"/>
              </a:rPr>
              <a:t>Kad je stranica puna → deli se na 2.</a:t>
            </a:r>
            <a:endParaRPr lang="en-US" sz="1400" dirty="0"/>
          </a:p>
          <a:p>
            <a:r>
              <a:rPr lang="en-US" sz="1400" dirty="0">
                <a:solidFill>
                  <a:srgbClr val="475569"/>
                </a:solidFill>
                <a:latin typeface="Calibri" pitchFamily="34" charset="0"/>
                <a:ea typeface="Calibri" pitchFamily="34" charset="-122"/>
                <a:cs typeface="Calibri" pitchFamily="34" charset="-120"/>
              </a:rPr>
              <a:t>Roditeljski čvor dobija novi </a:t>
            </a:r>
            <a:r>
              <a:rPr lang="en-US" sz="1400" dirty="0" err="1">
                <a:solidFill>
                  <a:srgbClr val="475569"/>
                </a:solidFill>
                <a:latin typeface="Calibri" pitchFamily="34" charset="0"/>
                <a:ea typeface="Calibri" pitchFamily="34" charset="-122"/>
                <a:cs typeface="Calibri" pitchFamily="34" charset="-120"/>
              </a:rPr>
              <a:t>pokazivač</a:t>
            </a:r>
            <a:r>
              <a:rPr lang="sr-Latn-RS" sz="1400" dirty="0">
                <a:solidFill>
                  <a:srgbClr val="475569"/>
                </a:solidFill>
                <a:latin typeface="Calibri" pitchFamily="34" charset="0"/>
                <a:ea typeface="Calibri" pitchFamily="34" charset="-122"/>
                <a:cs typeface="Calibri" pitchFamily="34" charset="-120"/>
              </a:rPr>
              <a:t>.</a:t>
            </a:r>
            <a:endParaRPr lang="en-US" sz="1400" dirty="0"/>
          </a:p>
          <a:p>
            <a:r>
              <a:rPr lang="en-US" sz="1400" dirty="0">
                <a:solidFill>
                  <a:srgbClr val="475569"/>
                </a:solidFill>
                <a:latin typeface="Calibri" pitchFamily="34" charset="0"/>
                <a:ea typeface="Calibri" pitchFamily="34" charset="-122"/>
                <a:cs typeface="Calibri" pitchFamily="34" charset="-120"/>
              </a:rPr>
              <a:t>Stablo </a:t>
            </a:r>
            <a:r>
              <a:rPr lang="en-US" sz="1400" dirty="0" err="1">
                <a:solidFill>
                  <a:srgbClr val="475569"/>
                </a:solidFill>
                <a:latin typeface="Calibri" pitchFamily="34" charset="0"/>
                <a:ea typeface="Calibri" pitchFamily="34" charset="-122"/>
                <a:cs typeface="Calibri" pitchFamily="34" charset="-120"/>
              </a:rPr>
              <a:t>raste</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vertikalno</a:t>
            </a:r>
            <a:r>
              <a:rPr lang="sr-Latn-RS" sz="1400" dirty="0">
                <a:solidFill>
                  <a:srgbClr val="475569"/>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3154680" y="3520440"/>
            <a:ext cx="2834640" cy="1417320"/>
          </a:xfrm>
          <a:prstGeom prst="rect">
            <a:avLst/>
          </a:prstGeom>
          <a:solidFill>
            <a:srgbClr val="FFFFFF"/>
          </a:solidFill>
          <a:ln w="12700">
            <a:solidFill>
              <a:schemeClr val="bg2">
                <a:lumMod val="90000"/>
              </a:schemeClr>
            </a:solidFill>
            <a:prstDash val="solid"/>
          </a:ln>
          <a:effectLst>
            <a:outerShdw blurRad="101600" dist="38100" dir="8100000" algn="bl" rotWithShape="0">
              <a:srgbClr val="000000">
                <a:alpha val="18000"/>
              </a:srgbClr>
            </a:outerShdw>
          </a:effectLst>
        </p:spPr>
        <p:txBody>
          <a:bodyPr/>
          <a:lstStyle/>
          <a:p>
            <a:endParaRPr lang="en-US"/>
          </a:p>
        </p:txBody>
      </p:sp>
      <p:sp>
        <p:nvSpPr>
          <p:cNvPr id="19" name="Shape 17"/>
          <p:cNvSpPr/>
          <p:nvPr/>
        </p:nvSpPr>
        <p:spPr>
          <a:xfrm>
            <a:off x="3154680" y="3520440"/>
            <a:ext cx="64008" cy="1417320"/>
          </a:xfrm>
          <a:prstGeom prst="rect">
            <a:avLst/>
          </a:prstGeom>
          <a:solidFill>
            <a:schemeClr val="bg1">
              <a:lumMod val="50000"/>
            </a:schemeClr>
          </a:solidFill>
          <a:ln/>
        </p:spPr>
        <p:txBody>
          <a:bodyPr/>
          <a:lstStyle/>
          <a:p>
            <a:endParaRPr lang="en-US"/>
          </a:p>
        </p:txBody>
      </p:sp>
      <p:sp>
        <p:nvSpPr>
          <p:cNvPr id="20" name="Text 18"/>
          <p:cNvSpPr/>
          <p:nvPr/>
        </p:nvSpPr>
        <p:spPr>
          <a:xfrm>
            <a:off x="3291840" y="3593592"/>
            <a:ext cx="265176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Fill Factor</a:t>
            </a:r>
            <a:endParaRPr lang="en-US" sz="1600" dirty="0"/>
          </a:p>
        </p:txBody>
      </p:sp>
      <p:sp>
        <p:nvSpPr>
          <p:cNvPr id="21" name="Text 19"/>
          <p:cNvSpPr/>
          <p:nvPr/>
        </p:nvSpPr>
        <p:spPr>
          <a:xfrm>
            <a:off x="3291840" y="3959352"/>
            <a:ext cx="2651760" cy="905256"/>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Firebird puni stranicu 80–90%.</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Ostavlja bafer za </a:t>
            </a:r>
            <a:r>
              <a:rPr lang="en-US" sz="1400" dirty="0" err="1">
                <a:solidFill>
                  <a:srgbClr val="475569"/>
                </a:solidFill>
                <a:latin typeface="Calibri" pitchFamily="34" charset="0"/>
                <a:ea typeface="Calibri" pitchFamily="34" charset="-122"/>
                <a:cs typeface="Calibri" pitchFamily="34" charset="-120"/>
              </a:rPr>
              <a:t>nove</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ključeve</a:t>
            </a:r>
            <a:r>
              <a:rPr lang="sr-Latn-RS" sz="1400" dirty="0">
                <a:solidFill>
                  <a:srgbClr val="475569"/>
                </a:solidFill>
                <a:latin typeface="Calibri" pitchFamily="34" charset="0"/>
                <a:ea typeface="Calibri" pitchFamily="34" charset="-122"/>
                <a:cs typeface="Calibri" pitchFamily="34" charset="-120"/>
              </a:rPr>
              <a:t>.</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Spečava preuranjeni Page Split</a:t>
            </a:r>
            <a:r>
              <a:rPr lang="sr-Latn-RS" sz="1400" dirty="0">
                <a:solidFill>
                  <a:srgbClr val="475569"/>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172200" y="3520440"/>
            <a:ext cx="2743200" cy="1417320"/>
          </a:xfrm>
          <a:prstGeom prst="rect">
            <a:avLst/>
          </a:prstGeom>
          <a:solidFill>
            <a:srgbClr val="FFFFFF"/>
          </a:solidFill>
          <a:ln w="12700">
            <a:solidFill>
              <a:schemeClr val="bg2">
                <a:lumMod val="90000"/>
              </a:schemeClr>
            </a:solidFill>
            <a:prstDash val="solid"/>
          </a:ln>
          <a:effectLst>
            <a:outerShdw blurRad="101600" dist="38100" dir="8100000" algn="bl" rotWithShape="0">
              <a:srgbClr val="000000">
                <a:alpha val="18000"/>
              </a:srgbClr>
            </a:outerShdw>
          </a:effectLst>
        </p:spPr>
        <p:txBody>
          <a:bodyPr/>
          <a:lstStyle/>
          <a:p>
            <a:endParaRPr lang="en-US"/>
          </a:p>
        </p:txBody>
      </p:sp>
      <p:sp>
        <p:nvSpPr>
          <p:cNvPr id="23" name="Shape 21"/>
          <p:cNvSpPr/>
          <p:nvPr/>
        </p:nvSpPr>
        <p:spPr>
          <a:xfrm>
            <a:off x="6172200" y="3520440"/>
            <a:ext cx="64008" cy="1417320"/>
          </a:xfrm>
          <a:prstGeom prst="rect">
            <a:avLst/>
          </a:prstGeom>
          <a:solidFill>
            <a:srgbClr val="1B2A4A"/>
          </a:solidFill>
          <a:ln/>
        </p:spPr>
        <p:txBody>
          <a:bodyPr/>
          <a:lstStyle/>
          <a:p>
            <a:endParaRPr lang="en-US"/>
          </a:p>
        </p:txBody>
      </p:sp>
      <p:sp>
        <p:nvSpPr>
          <p:cNvPr id="24" name="Text 22"/>
          <p:cNvSpPr/>
          <p:nvPr/>
        </p:nvSpPr>
        <p:spPr>
          <a:xfrm>
            <a:off x="6309360" y="3593592"/>
            <a:ext cx="25603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Dubina stabla</a:t>
            </a:r>
            <a:endParaRPr lang="en-US" sz="1600" dirty="0"/>
          </a:p>
        </p:txBody>
      </p:sp>
      <p:sp>
        <p:nvSpPr>
          <p:cNvPr id="25" name="Text 23"/>
          <p:cNvSpPr/>
          <p:nvPr/>
        </p:nvSpPr>
        <p:spPr>
          <a:xfrm>
            <a:off x="6309360" y="3959352"/>
            <a:ext cx="2560320" cy="905256"/>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Konstantan broj I/O operacija do bilo </a:t>
            </a:r>
            <a:r>
              <a:rPr lang="en-US" sz="1400" dirty="0" err="1">
                <a:solidFill>
                  <a:srgbClr val="475569"/>
                </a:solidFill>
                <a:latin typeface="Calibri" pitchFamily="34" charset="0"/>
                <a:ea typeface="Calibri" pitchFamily="34" charset="-122"/>
                <a:cs typeface="Calibri" pitchFamily="34" charset="-120"/>
              </a:rPr>
              <a:t>kog</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zapisa</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Manja dubina = </a:t>
            </a:r>
            <a:r>
              <a:rPr lang="en-US" sz="1400" dirty="0" err="1">
                <a:solidFill>
                  <a:srgbClr val="475569"/>
                </a:solidFill>
                <a:latin typeface="Calibri" pitchFamily="34" charset="0"/>
                <a:ea typeface="Calibri" pitchFamily="34" charset="-122"/>
                <a:cs typeface="Calibri" pitchFamily="34" charset="-120"/>
              </a:rPr>
              <a:t>brži</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upiti</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gstat -i </a:t>
            </a:r>
            <a:r>
              <a:rPr lang="en-US" sz="1400" dirty="0" err="1">
                <a:solidFill>
                  <a:srgbClr val="475569"/>
                </a:solidFill>
                <a:latin typeface="Calibri" pitchFamily="34" charset="0"/>
                <a:ea typeface="Calibri" pitchFamily="34" charset="-122"/>
                <a:cs typeface="Calibri" pitchFamily="34" charset="-120"/>
              </a:rPr>
              <a:t>prikazuje</a:t>
            </a:r>
            <a:r>
              <a:rPr lang="en-US" sz="1400" dirty="0">
                <a:solidFill>
                  <a:srgbClr val="475569"/>
                </a:solidFill>
                <a:latin typeface="Calibri" pitchFamily="34" charset="0"/>
                <a:ea typeface="Calibri" pitchFamily="34" charset="-122"/>
                <a:cs typeface="Calibri" pitchFamily="34" charset="-120"/>
              </a:rPr>
              <a:t> </a:t>
            </a:r>
            <a:r>
              <a:rPr lang="sr-Latn-RS" sz="1400" dirty="0">
                <a:solidFill>
                  <a:srgbClr val="475569"/>
                </a:solidFill>
                <a:latin typeface="Calibri" pitchFamily="34" charset="0"/>
                <a:ea typeface="Calibri" pitchFamily="34" charset="-122"/>
                <a:cs typeface="Calibri" pitchFamily="34" charset="-120"/>
              </a:rPr>
              <a:t>dubinu stabla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Prefiksna kompresija, duplikati i NULL vrednosti</a:t>
            </a:r>
            <a:endParaRPr lang="en-US" sz="2800" dirty="0"/>
          </a:p>
        </p:txBody>
      </p:sp>
      <p:sp>
        <p:nvSpPr>
          <p:cNvPr id="5" name="Shape 3"/>
          <p:cNvSpPr/>
          <p:nvPr/>
        </p:nvSpPr>
        <p:spPr>
          <a:xfrm>
            <a:off x="228600" y="777239"/>
            <a:ext cx="5303520" cy="2449039"/>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777240"/>
            <a:ext cx="5303520" cy="347472"/>
          </a:xfrm>
          <a:prstGeom prst="rect">
            <a:avLst/>
          </a:prstGeom>
          <a:solidFill>
            <a:srgbClr val="1B2A4A"/>
          </a:solidFill>
          <a:ln/>
        </p:spPr>
        <p:txBody>
          <a:bodyPr/>
          <a:lstStyle/>
          <a:p>
            <a:endParaRPr lang="en-US"/>
          </a:p>
        </p:txBody>
      </p:sp>
      <p:sp>
        <p:nvSpPr>
          <p:cNvPr id="7" name="Text 5"/>
          <p:cNvSpPr/>
          <p:nvPr/>
        </p:nvSpPr>
        <p:spPr>
          <a:xfrm>
            <a:off x="320040" y="795528"/>
            <a:ext cx="5120640" cy="310896"/>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Prefiksna kompresija — primer</a:t>
            </a:r>
            <a:endParaRPr lang="en-US" sz="1600" dirty="0"/>
          </a:p>
        </p:txBody>
      </p:sp>
      <p:sp>
        <p:nvSpPr>
          <p:cNvPr id="8" name="Shape 6"/>
          <p:cNvSpPr/>
          <p:nvPr/>
        </p:nvSpPr>
        <p:spPr>
          <a:xfrm>
            <a:off x="320040" y="1188719"/>
            <a:ext cx="1440000" cy="414000"/>
          </a:xfrm>
          <a:prstGeom prst="rect">
            <a:avLst/>
          </a:prstGeom>
          <a:solidFill>
            <a:schemeClr val="tx1">
              <a:lumMod val="65000"/>
              <a:lumOff val="35000"/>
            </a:schemeClr>
          </a:solidFill>
          <a:ln/>
        </p:spPr>
        <p:txBody>
          <a:bodyPr/>
          <a:lstStyle/>
          <a:p>
            <a:endParaRPr lang="en-US"/>
          </a:p>
        </p:txBody>
      </p:sp>
      <p:sp>
        <p:nvSpPr>
          <p:cNvPr id="9" name="Text 7"/>
          <p:cNvSpPr/>
          <p:nvPr/>
        </p:nvSpPr>
        <p:spPr>
          <a:xfrm>
            <a:off x="320040" y="1188720"/>
            <a:ext cx="1371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Petrov</a:t>
            </a:r>
            <a:endParaRPr lang="en-US" sz="1200" dirty="0"/>
          </a:p>
        </p:txBody>
      </p:sp>
      <p:sp>
        <p:nvSpPr>
          <p:cNvPr id="10" name="Text 8"/>
          <p:cNvSpPr/>
          <p:nvPr/>
        </p:nvSpPr>
        <p:spPr>
          <a:xfrm>
            <a:off x="1860715" y="1234440"/>
            <a:ext cx="1920240" cy="274320"/>
          </a:xfrm>
          <a:prstGeom prst="rect">
            <a:avLst/>
          </a:prstGeom>
          <a:noFill/>
          <a:ln/>
        </p:spPr>
        <p:txBody>
          <a:bodyPr wrap="square" lIns="0" tIns="0" rIns="0" bIns="0" rtlCol="0" anchor="ctr"/>
          <a:lstStyle/>
          <a:p>
            <a:pPr marL="0" indent="0">
              <a:buNone/>
            </a:pPr>
            <a:r>
              <a:rPr lang="en-US" sz="1200" dirty="0">
                <a:solidFill>
                  <a:srgbClr val="1B2A4A"/>
                </a:solidFill>
                <a:latin typeface="Consolas" pitchFamily="34" charset="0"/>
                <a:ea typeface="Consolas" pitchFamily="34" charset="-122"/>
                <a:cs typeface="Consolas" pitchFamily="34" charset="-120"/>
              </a:rPr>
              <a:t>Prefix=0, Suffix=6</a:t>
            </a:r>
            <a:endParaRPr lang="en-US" sz="1200" dirty="0">
              <a:solidFill>
                <a:srgbClr val="1B2A4A"/>
              </a:solidFill>
            </a:endParaRPr>
          </a:p>
        </p:txBody>
      </p:sp>
      <p:sp>
        <p:nvSpPr>
          <p:cNvPr id="11" name="Text 9"/>
          <p:cNvSpPr/>
          <p:nvPr/>
        </p:nvSpPr>
        <p:spPr>
          <a:xfrm>
            <a:off x="3749040" y="1234440"/>
            <a:ext cx="1691640"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 čuva: "Petrov"</a:t>
            </a:r>
            <a:endParaRPr lang="en-US" sz="1200" dirty="0">
              <a:solidFill>
                <a:srgbClr val="1B2A4A"/>
              </a:solidFill>
            </a:endParaRPr>
          </a:p>
        </p:txBody>
      </p:sp>
      <p:sp>
        <p:nvSpPr>
          <p:cNvPr id="12" name="Shape 10"/>
          <p:cNvSpPr/>
          <p:nvPr/>
        </p:nvSpPr>
        <p:spPr>
          <a:xfrm>
            <a:off x="320040" y="1691640"/>
            <a:ext cx="1440000" cy="414000"/>
          </a:xfrm>
          <a:prstGeom prst="rect">
            <a:avLst/>
          </a:prstGeom>
          <a:solidFill>
            <a:schemeClr val="bg1">
              <a:lumMod val="50000"/>
            </a:schemeClr>
          </a:solidFill>
          <a:ln/>
        </p:spPr>
        <p:txBody>
          <a:bodyPr/>
          <a:lstStyle/>
          <a:p>
            <a:endParaRPr lang="en-US"/>
          </a:p>
        </p:txBody>
      </p:sp>
      <p:sp>
        <p:nvSpPr>
          <p:cNvPr id="13" name="Text 11"/>
          <p:cNvSpPr/>
          <p:nvPr/>
        </p:nvSpPr>
        <p:spPr>
          <a:xfrm>
            <a:off x="320040" y="1691640"/>
            <a:ext cx="1371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Petrović</a:t>
            </a:r>
            <a:endParaRPr lang="en-US" sz="1200" dirty="0"/>
          </a:p>
        </p:txBody>
      </p:sp>
      <p:sp>
        <p:nvSpPr>
          <p:cNvPr id="14" name="Text 12"/>
          <p:cNvSpPr/>
          <p:nvPr/>
        </p:nvSpPr>
        <p:spPr>
          <a:xfrm>
            <a:off x="1860715" y="1737360"/>
            <a:ext cx="1920240" cy="274320"/>
          </a:xfrm>
          <a:prstGeom prst="rect">
            <a:avLst/>
          </a:prstGeom>
          <a:noFill/>
          <a:ln/>
        </p:spPr>
        <p:txBody>
          <a:bodyPr wrap="square" lIns="0" tIns="0" rIns="0" bIns="0" rtlCol="0" anchor="ctr"/>
          <a:lstStyle/>
          <a:p>
            <a:pPr marL="0" indent="0">
              <a:buNone/>
            </a:pPr>
            <a:r>
              <a:rPr lang="en-US" sz="1200" dirty="0">
                <a:solidFill>
                  <a:srgbClr val="1B2A4A"/>
                </a:solidFill>
                <a:latin typeface="Consolas" pitchFamily="34" charset="0"/>
                <a:ea typeface="Consolas" pitchFamily="34" charset="-122"/>
                <a:cs typeface="Consolas" pitchFamily="34" charset="-120"/>
              </a:rPr>
              <a:t>Prefix=6, Suffix=2</a:t>
            </a:r>
            <a:endParaRPr lang="en-US" sz="1200" dirty="0">
              <a:solidFill>
                <a:srgbClr val="1B2A4A"/>
              </a:solidFill>
            </a:endParaRPr>
          </a:p>
        </p:txBody>
      </p:sp>
      <p:sp>
        <p:nvSpPr>
          <p:cNvPr id="15" name="Text 13"/>
          <p:cNvSpPr/>
          <p:nvPr/>
        </p:nvSpPr>
        <p:spPr>
          <a:xfrm>
            <a:off x="3749040" y="1737360"/>
            <a:ext cx="1691640"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 čuva: "ić"</a:t>
            </a:r>
            <a:endParaRPr lang="en-US" sz="1200" dirty="0">
              <a:solidFill>
                <a:srgbClr val="1B2A4A"/>
              </a:solidFill>
            </a:endParaRPr>
          </a:p>
        </p:txBody>
      </p:sp>
      <p:sp>
        <p:nvSpPr>
          <p:cNvPr id="16" name="Shape 14"/>
          <p:cNvSpPr/>
          <p:nvPr/>
        </p:nvSpPr>
        <p:spPr>
          <a:xfrm>
            <a:off x="320040" y="2194560"/>
            <a:ext cx="1440000" cy="414000"/>
          </a:xfrm>
          <a:prstGeom prst="rect">
            <a:avLst/>
          </a:prstGeom>
          <a:solidFill>
            <a:schemeClr val="tx2"/>
          </a:solidFill>
          <a:ln/>
        </p:spPr>
        <p:txBody>
          <a:bodyPr/>
          <a:lstStyle/>
          <a:p>
            <a:endParaRPr lang="en-US"/>
          </a:p>
        </p:txBody>
      </p:sp>
      <p:sp>
        <p:nvSpPr>
          <p:cNvPr id="17" name="Text 15"/>
          <p:cNvSpPr/>
          <p:nvPr/>
        </p:nvSpPr>
        <p:spPr>
          <a:xfrm>
            <a:off x="320040" y="2194560"/>
            <a:ext cx="1371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Petronijević</a:t>
            </a:r>
            <a:endParaRPr lang="en-US" sz="1200" dirty="0"/>
          </a:p>
        </p:txBody>
      </p:sp>
      <p:sp>
        <p:nvSpPr>
          <p:cNvPr id="18" name="Text 16"/>
          <p:cNvSpPr/>
          <p:nvPr/>
        </p:nvSpPr>
        <p:spPr>
          <a:xfrm>
            <a:off x="1860715" y="2240280"/>
            <a:ext cx="1920240" cy="274320"/>
          </a:xfrm>
          <a:prstGeom prst="rect">
            <a:avLst/>
          </a:prstGeom>
          <a:noFill/>
          <a:ln/>
        </p:spPr>
        <p:txBody>
          <a:bodyPr wrap="square" lIns="0" tIns="0" rIns="0" bIns="0" rtlCol="0" anchor="ctr"/>
          <a:lstStyle/>
          <a:p>
            <a:pPr marL="0" indent="0">
              <a:buNone/>
            </a:pPr>
            <a:r>
              <a:rPr lang="en-US" sz="1200" dirty="0">
                <a:solidFill>
                  <a:srgbClr val="1B2A4A"/>
                </a:solidFill>
                <a:latin typeface="Consolas" pitchFamily="34" charset="0"/>
                <a:ea typeface="Consolas" pitchFamily="34" charset="-122"/>
                <a:cs typeface="Consolas" pitchFamily="34" charset="-120"/>
              </a:rPr>
              <a:t>Prefix=5, Suffix=7</a:t>
            </a:r>
            <a:endParaRPr lang="en-US" sz="1200" dirty="0">
              <a:solidFill>
                <a:srgbClr val="1B2A4A"/>
              </a:solidFill>
            </a:endParaRPr>
          </a:p>
        </p:txBody>
      </p:sp>
      <p:sp>
        <p:nvSpPr>
          <p:cNvPr id="19" name="Text 17"/>
          <p:cNvSpPr/>
          <p:nvPr/>
        </p:nvSpPr>
        <p:spPr>
          <a:xfrm>
            <a:off x="3749040" y="2240280"/>
            <a:ext cx="1691640"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 čuva: "nijević"</a:t>
            </a:r>
            <a:endParaRPr lang="en-US" sz="1200" dirty="0">
              <a:solidFill>
                <a:srgbClr val="1B2A4A"/>
              </a:solidFill>
            </a:endParaRPr>
          </a:p>
        </p:txBody>
      </p:sp>
      <p:sp>
        <p:nvSpPr>
          <p:cNvPr id="20" name="Text 18"/>
          <p:cNvSpPr/>
          <p:nvPr/>
        </p:nvSpPr>
        <p:spPr>
          <a:xfrm>
            <a:off x="320040" y="2872681"/>
            <a:ext cx="512064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Ušteda prostora do 50%+ za </a:t>
            </a:r>
            <a:r>
              <a:rPr lang="en-US" sz="1400" b="1" dirty="0" err="1">
                <a:solidFill>
                  <a:srgbClr val="1B2A4A"/>
                </a:solidFill>
                <a:latin typeface="Calibri" pitchFamily="34" charset="0"/>
                <a:ea typeface="Calibri" pitchFamily="34" charset="-122"/>
                <a:cs typeface="Calibri" pitchFamily="34" charset="-120"/>
              </a:rPr>
              <a:t>kompozitne</a:t>
            </a:r>
            <a:r>
              <a:rPr lang="en-US" sz="1400" b="1" dirty="0">
                <a:solidFill>
                  <a:srgbClr val="1B2A4A"/>
                </a:solidFill>
                <a:latin typeface="Calibri" pitchFamily="34" charset="0"/>
                <a:ea typeface="Calibri" pitchFamily="34" charset="-122"/>
                <a:cs typeface="Calibri" pitchFamily="34" charset="-120"/>
              </a:rPr>
              <a:t> </a:t>
            </a:r>
            <a:r>
              <a:rPr lang="en-US" sz="1400" b="1" dirty="0" err="1">
                <a:solidFill>
                  <a:srgbClr val="1B2A4A"/>
                </a:solidFill>
                <a:latin typeface="Calibri" pitchFamily="34" charset="0"/>
                <a:ea typeface="Calibri" pitchFamily="34" charset="-122"/>
                <a:cs typeface="Calibri" pitchFamily="34" charset="-120"/>
              </a:rPr>
              <a:t>indekse</a:t>
            </a:r>
            <a:r>
              <a:rPr lang="sr-Latn-RS" sz="1400" b="1" dirty="0">
                <a:solidFill>
                  <a:srgbClr val="1B2A4A"/>
                </a:solidFill>
                <a:latin typeface="Calibri" pitchFamily="34" charset="0"/>
                <a:ea typeface="Calibri" pitchFamily="34" charset="-122"/>
                <a:cs typeface="Calibri" pitchFamily="34" charset="-120"/>
              </a:rPr>
              <a:t>!</a:t>
            </a:r>
            <a:endParaRPr lang="en-US" sz="1400" b="1" dirty="0">
              <a:solidFill>
                <a:srgbClr val="1B2A4A"/>
              </a:solidFill>
            </a:endParaRPr>
          </a:p>
        </p:txBody>
      </p:sp>
      <p:sp>
        <p:nvSpPr>
          <p:cNvPr id="21" name="Shape 19"/>
          <p:cNvSpPr/>
          <p:nvPr/>
        </p:nvSpPr>
        <p:spPr>
          <a:xfrm>
            <a:off x="5715000" y="777240"/>
            <a:ext cx="3200400" cy="137160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2" name="Shape 20"/>
          <p:cNvSpPr/>
          <p:nvPr/>
        </p:nvSpPr>
        <p:spPr>
          <a:xfrm>
            <a:off x="5715000" y="777240"/>
            <a:ext cx="64008" cy="1371600"/>
          </a:xfrm>
          <a:prstGeom prst="rect">
            <a:avLst/>
          </a:prstGeom>
          <a:solidFill>
            <a:srgbClr val="1B2A4A"/>
          </a:solidFill>
          <a:ln/>
        </p:spPr>
        <p:txBody>
          <a:bodyPr/>
          <a:lstStyle/>
          <a:p>
            <a:endParaRPr lang="en-US"/>
          </a:p>
        </p:txBody>
      </p:sp>
      <p:sp>
        <p:nvSpPr>
          <p:cNvPr id="23" name="Text 21"/>
          <p:cNvSpPr/>
          <p:nvPr/>
        </p:nvSpPr>
        <p:spPr>
          <a:xfrm>
            <a:off x="5852160" y="850392"/>
            <a:ext cx="30175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Duplikati</a:t>
            </a:r>
            <a:endParaRPr lang="en-US" sz="1600" dirty="0"/>
          </a:p>
        </p:txBody>
      </p:sp>
      <p:sp>
        <p:nvSpPr>
          <p:cNvPr id="24" name="Text 22"/>
          <p:cNvSpPr/>
          <p:nvPr/>
        </p:nvSpPr>
        <p:spPr>
          <a:xfrm>
            <a:off x="5852160" y="1261872"/>
            <a:ext cx="3017520" cy="813816"/>
          </a:xfrm>
          <a:prstGeom prst="rect">
            <a:avLst/>
          </a:prstGeom>
          <a:noFill/>
          <a:ln/>
        </p:spPr>
        <p:txBody>
          <a:bodyPr wrap="square" lIns="0" tIns="0" rIns="0" bIns="0" rtlCol="0" anchor="t"/>
          <a:lstStyle/>
          <a:p>
            <a:pPr marL="0" indent="0">
              <a:buNone/>
            </a:pPr>
            <a:r>
              <a:rPr lang="en-US" sz="1200" dirty="0">
                <a:solidFill>
                  <a:srgbClr val="475569"/>
                </a:solidFill>
                <a:ea typeface="Calibri" pitchFamily="34" charset="-122"/>
                <a:cs typeface="Calibri" pitchFamily="34" charset="-120"/>
              </a:rPr>
              <a:t>Non-unique indeksi grupišu iste ključeve.</a:t>
            </a:r>
            <a:endParaRPr lang="en-US" sz="1200" dirty="0"/>
          </a:p>
          <a:p>
            <a:pPr marL="0" indent="0">
              <a:buNone/>
            </a:pPr>
            <a:r>
              <a:rPr lang="en-US" sz="1200" dirty="0">
                <a:solidFill>
                  <a:srgbClr val="475569"/>
                </a:solidFill>
                <a:ea typeface="Calibri" pitchFamily="34" charset="-122"/>
                <a:cs typeface="Calibri" pitchFamily="34" charset="-120"/>
              </a:rPr>
              <a:t>Lista RDB$DB_KEY vrednosti pod jednim unosom.</a:t>
            </a:r>
            <a:endParaRPr lang="en-US" sz="1200" dirty="0"/>
          </a:p>
          <a:p>
            <a:pPr marL="0" indent="0">
              <a:buNone/>
            </a:pPr>
            <a:r>
              <a:rPr lang="en-US" sz="1200" dirty="0">
                <a:solidFill>
                  <a:srgbClr val="475569"/>
                </a:solidFill>
                <a:ea typeface="Calibri" pitchFamily="34" charset="-122"/>
                <a:cs typeface="Calibri" pitchFamily="34" charset="-120"/>
              </a:rPr>
              <a:t>Kompaktno — štedi prostor u Buffer Pool-u.</a:t>
            </a:r>
            <a:endParaRPr lang="en-US" sz="1200" dirty="0"/>
          </a:p>
        </p:txBody>
      </p:sp>
      <p:sp>
        <p:nvSpPr>
          <p:cNvPr id="25" name="Shape 23"/>
          <p:cNvSpPr/>
          <p:nvPr/>
        </p:nvSpPr>
        <p:spPr>
          <a:xfrm>
            <a:off x="5715000" y="2286000"/>
            <a:ext cx="3200400" cy="15087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5715000" y="2286000"/>
            <a:ext cx="64008" cy="1508760"/>
          </a:xfrm>
          <a:prstGeom prst="rect">
            <a:avLst/>
          </a:prstGeom>
          <a:solidFill>
            <a:schemeClr val="bg1">
              <a:lumMod val="50000"/>
            </a:schemeClr>
          </a:solidFill>
          <a:ln>
            <a:solidFill>
              <a:schemeClr val="bg2">
                <a:lumMod val="90000"/>
              </a:schemeClr>
            </a:solidFill>
          </a:ln>
        </p:spPr>
        <p:txBody>
          <a:bodyPr/>
          <a:lstStyle/>
          <a:p>
            <a:endParaRPr lang="en-US"/>
          </a:p>
        </p:txBody>
      </p:sp>
      <p:sp>
        <p:nvSpPr>
          <p:cNvPr id="27" name="Text 25"/>
          <p:cNvSpPr/>
          <p:nvPr/>
        </p:nvSpPr>
        <p:spPr>
          <a:xfrm>
            <a:off x="5852160" y="2359152"/>
            <a:ext cx="30175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NULL vrednosti</a:t>
            </a:r>
            <a:endParaRPr lang="en-US" sz="1600" dirty="0"/>
          </a:p>
        </p:txBody>
      </p:sp>
      <p:sp>
        <p:nvSpPr>
          <p:cNvPr id="28" name="Text 26"/>
          <p:cNvSpPr/>
          <p:nvPr/>
        </p:nvSpPr>
        <p:spPr>
          <a:xfrm>
            <a:off x="5852160" y="2724912"/>
            <a:ext cx="3017520" cy="996696"/>
          </a:xfrm>
          <a:prstGeom prst="rect">
            <a:avLst/>
          </a:prstGeom>
          <a:noFill/>
          <a:ln/>
        </p:spPr>
        <p:txBody>
          <a:bodyPr wrap="square" lIns="0" tIns="0" rIns="0" bIns="0" rtlCol="0" anchor="t"/>
          <a:lstStyle/>
          <a:p>
            <a:pPr marL="0" indent="0">
              <a:buNone/>
            </a:pPr>
            <a:r>
              <a:rPr lang="en-US" sz="1200" dirty="0">
                <a:solidFill>
                  <a:srgbClr val="475569"/>
                </a:solidFill>
                <a:ea typeface="Calibri" pitchFamily="34" charset="-122"/>
                <a:cs typeface="Calibri" pitchFamily="34" charset="-120"/>
              </a:rPr>
              <a:t>NULL = najmanji ključ → na početku B+ stabla.</a:t>
            </a:r>
            <a:endParaRPr lang="en-US" sz="1200" dirty="0"/>
          </a:p>
          <a:p>
            <a:pPr marL="0" indent="0">
              <a:buNone/>
            </a:pPr>
            <a:r>
              <a:rPr lang="en-US" sz="1200" dirty="0">
                <a:solidFill>
                  <a:srgbClr val="475569"/>
                </a:solidFill>
                <a:ea typeface="Calibri" pitchFamily="34" charset="-122"/>
                <a:cs typeface="Calibri" pitchFamily="34" charset="-120"/>
              </a:rPr>
              <a:t>IS NULL koristi indeks — </a:t>
            </a:r>
            <a:r>
              <a:rPr lang="en-US" sz="1200" b="1" dirty="0">
                <a:solidFill>
                  <a:srgbClr val="475569"/>
                </a:solidFill>
                <a:ea typeface="Calibri" pitchFamily="34" charset="-122"/>
                <a:cs typeface="Calibri" pitchFamily="34" charset="-120"/>
              </a:rPr>
              <a:t>nema Full Table Scan</a:t>
            </a:r>
            <a:endParaRPr lang="en-US" sz="1200" b="1" dirty="0"/>
          </a:p>
          <a:p>
            <a:pPr marL="0" indent="0">
              <a:buNone/>
            </a:pPr>
            <a:r>
              <a:rPr lang="en-US" sz="1200" dirty="0">
                <a:solidFill>
                  <a:srgbClr val="475569"/>
                </a:solidFill>
                <a:ea typeface="Calibri" pitchFamily="34" charset="-122"/>
                <a:cs typeface="Calibri" pitchFamily="34" charset="-120"/>
              </a:rPr>
              <a:t>Firebird tretira NULL kao ravnopravnu vrednost.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Tipovi indeksa i njihova primena</a:t>
            </a:r>
            <a:endParaRPr lang="en-US" sz="2800" dirty="0"/>
          </a:p>
        </p:txBody>
      </p:sp>
      <p:sp>
        <p:nvSpPr>
          <p:cNvPr id="5" name="Shape 3"/>
          <p:cNvSpPr/>
          <p:nvPr/>
        </p:nvSpPr>
        <p:spPr>
          <a:xfrm>
            <a:off x="228600" y="863505"/>
            <a:ext cx="4251960" cy="16916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863505"/>
            <a:ext cx="4251960" cy="384048"/>
          </a:xfrm>
          <a:prstGeom prst="rect">
            <a:avLst/>
          </a:prstGeom>
          <a:solidFill>
            <a:schemeClr val="accent2">
              <a:lumMod val="75000"/>
            </a:schemeClr>
          </a:solidFill>
          <a:ln/>
        </p:spPr>
        <p:txBody>
          <a:bodyPr/>
          <a:lstStyle/>
          <a:p>
            <a:endParaRPr lang="en-US"/>
          </a:p>
        </p:txBody>
      </p:sp>
      <p:sp>
        <p:nvSpPr>
          <p:cNvPr id="7" name="Text 5"/>
          <p:cNvSpPr/>
          <p:nvPr/>
        </p:nvSpPr>
        <p:spPr>
          <a:xfrm>
            <a:off x="338328" y="918369"/>
            <a:ext cx="402336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Primarni ključ</a:t>
            </a:r>
            <a:endParaRPr lang="en-US" sz="1600" dirty="0"/>
          </a:p>
        </p:txBody>
      </p:sp>
      <p:sp>
        <p:nvSpPr>
          <p:cNvPr id="8" name="Text 6"/>
          <p:cNvSpPr/>
          <p:nvPr/>
        </p:nvSpPr>
        <p:spPr>
          <a:xfrm>
            <a:off x="338328" y="1338993"/>
            <a:ext cx="4023360" cy="114300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AUTO kreiran pri PRIMARY KEY.</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Najniža selektivnost (svaki red jedinstven).</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Preporučiti uski tip — BIGINT.</a:t>
            </a:r>
            <a:endParaRPr lang="en-US" sz="1400" dirty="0"/>
          </a:p>
        </p:txBody>
      </p:sp>
      <p:sp>
        <p:nvSpPr>
          <p:cNvPr id="9" name="Shape 7"/>
          <p:cNvSpPr/>
          <p:nvPr/>
        </p:nvSpPr>
        <p:spPr>
          <a:xfrm>
            <a:off x="4709160" y="863505"/>
            <a:ext cx="4251960" cy="16916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4709160" y="863505"/>
            <a:ext cx="4251960" cy="384048"/>
          </a:xfrm>
          <a:prstGeom prst="rect">
            <a:avLst/>
          </a:prstGeom>
          <a:solidFill>
            <a:srgbClr val="243660"/>
          </a:solidFill>
          <a:ln/>
        </p:spPr>
        <p:txBody>
          <a:bodyPr/>
          <a:lstStyle/>
          <a:p>
            <a:endParaRPr lang="en-US"/>
          </a:p>
        </p:txBody>
      </p:sp>
      <p:sp>
        <p:nvSpPr>
          <p:cNvPr id="11" name="Text 9"/>
          <p:cNvSpPr/>
          <p:nvPr/>
        </p:nvSpPr>
        <p:spPr>
          <a:xfrm>
            <a:off x="4818888" y="918369"/>
            <a:ext cx="402336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Unikatni indeks</a:t>
            </a:r>
            <a:endParaRPr lang="en-US" sz="1600" dirty="0"/>
          </a:p>
        </p:txBody>
      </p:sp>
      <p:sp>
        <p:nvSpPr>
          <p:cNvPr id="12" name="Text 10"/>
          <p:cNvSpPr/>
          <p:nvPr/>
        </p:nvSpPr>
        <p:spPr>
          <a:xfrm>
            <a:off x="4818888" y="1338993"/>
            <a:ext cx="4023360" cy="114300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B+ stablo kao zaštitna barijera.</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Provera jedinstvenosti </a:t>
            </a:r>
            <a:r>
              <a:rPr lang="en-US" sz="1400" dirty="0" err="1">
                <a:solidFill>
                  <a:srgbClr val="475569"/>
                </a:solidFill>
                <a:latin typeface="Calibri" pitchFamily="34" charset="0"/>
                <a:ea typeface="Calibri" pitchFamily="34" charset="-122"/>
                <a:cs typeface="Calibri" pitchFamily="34" charset="-120"/>
              </a:rPr>
              <a:t>pri</a:t>
            </a:r>
            <a:r>
              <a:rPr lang="en-US" sz="1400" dirty="0">
                <a:solidFill>
                  <a:srgbClr val="475569"/>
                </a:solidFill>
                <a:latin typeface="Calibri" pitchFamily="34" charset="0"/>
                <a:ea typeface="Calibri" pitchFamily="34" charset="-122"/>
                <a:cs typeface="Calibri" pitchFamily="34" charset="-120"/>
              </a:rPr>
              <a:t> </a:t>
            </a:r>
            <a:r>
              <a:rPr lang="en-US" sz="1400" dirty="0" err="1">
                <a:solidFill>
                  <a:srgbClr val="475569"/>
                </a:solidFill>
                <a:latin typeface="Calibri" pitchFamily="34" charset="0"/>
                <a:ea typeface="Calibri" pitchFamily="34" charset="-122"/>
                <a:cs typeface="Calibri" pitchFamily="34" charset="-120"/>
              </a:rPr>
              <a:t>svako</a:t>
            </a:r>
            <a:r>
              <a:rPr lang="sr-Latn-RS" sz="1400" dirty="0">
                <a:solidFill>
                  <a:srgbClr val="475569"/>
                </a:solidFill>
                <a:latin typeface="Calibri" pitchFamily="34" charset="0"/>
                <a:ea typeface="Calibri" pitchFamily="34" charset="-122"/>
                <a:cs typeface="Calibri" pitchFamily="34" charset="-120"/>
              </a:rPr>
              <a:t>j operaciji</a:t>
            </a:r>
            <a:r>
              <a:rPr lang="en-US" sz="1400" dirty="0">
                <a:solidFill>
                  <a:srgbClr val="475569"/>
                </a:solidFill>
                <a:latin typeface="Calibri" pitchFamily="34" charset="0"/>
                <a:ea typeface="Calibri" pitchFamily="34" charset="-122"/>
                <a:cs typeface="Calibri" pitchFamily="34" charset="-120"/>
              </a:rPr>
              <a:t> INSERT.</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Greška pre upisa na disk.</a:t>
            </a:r>
            <a:endParaRPr lang="en-US" sz="1400" dirty="0"/>
          </a:p>
        </p:txBody>
      </p:sp>
      <p:sp>
        <p:nvSpPr>
          <p:cNvPr id="13" name="Shape 11"/>
          <p:cNvSpPr/>
          <p:nvPr/>
        </p:nvSpPr>
        <p:spPr>
          <a:xfrm>
            <a:off x="228600" y="2783745"/>
            <a:ext cx="4251960" cy="16916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4" name="Shape 12"/>
          <p:cNvSpPr/>
          <p:nvPr/>
        </p:nvSpPr>
        <p:spPr>
          <a:xfrm>
            <a:off x="228600" y="2783745"/>
            <a:ext cx="4251960" cy="384048"/>
          </a:xfrm>
          <a:prstGeom prst="rect">
            <a:avLst/>
          </a:prstGeom>
          <a:solidFill>
            <a:schemeClr val="tx2"/>
          </a:solidFill>
          <a:ln/>
        </p:spPr>
        <p:txBody>
          <a:bodyPr/>
          <a:lstStyle/>
          <a:p>
            <a:endParaRPr lang="en-US"/>
          </a:p>
        </p:txBody>
      </p:sp>
      <p:sp>
        <p:nvSpPr>
          <p:cNvPr id="15" name="Text 13"/>
          <p:cNvSpPr/>
          <p:nvPr/>
        </p:nvSpPr>
        <p:spPr>
          <a:xfrm>
            <a:off x="338328" y="2838609"/>
            <a:ext cx="402336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Strani ključ (FK)</a:t>
            </a:r>
            <a:endParaRPr lang="en-US" sz="1600" dirty="0"/>
          </a:p>
        </p:txBody>
      </p:sp>
      <p:sp>
        <p:nvSpPr>
          <p:cNvPr id="16" name="Text 14"/>
          <p:cNvSpPr/>
          <p:nvPr/>
        </p:nvSpPr>
        <p:spPr>
          <a:xfrm>
            <a:off x="338328" y="3259233"/>
            <a:ext cx="4023360" cy="114300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AUTO kreiran na strani "deteta".</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Validacija bez Full Scan roditeljske tabele.</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Brisanje roditelja — instant provera.</a:t>
            </a:r>
            <a:endParaRPr lang="en-US" sz="1400" dirty="0"/>
          </a:p>
        </p:txBody>
      </p:sp>
      <p:sp>
        <p:nvSpPr>
          <p:cNvPr id="17" name="Shape 15"/>
          <p:cNvSpPr/>
          <p:nvPr/>
        </p:nvSpPr>
        <p:spPr>
          <a:xfrm>
            <a:off x="4709160" y="2783745"/>
            <a:ext cx="4251960" cy="16916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4709160" y="2783745"/>
            <a:ext cx="4251960" cy="384048"/>
          </a:xfrm>
          <a:prstGeom prst="rect">
            <a:avLst/>
          </a:prstGeom>
          <a:solidFill>
            <a:schemeClr val="accent1">
              <a:lumMod val="75000"/>
            </a:schemeClr>
          </a:solidFill>
          <a:ln/>
        </p:spPr>
        <p:txBody>
          <a:bodyPr/>
          <a:lstStyle/>
          <a:p>
            <a:endParaRPr lang="en-US"/>
          </a:p>
        </p:txBody>
      </p:sp>
      <p:sp>
        <p:nvSpPr>
          <p:cNvPr id="19" name="Text 17"/>
          <p:cNvSpPr/>
          <p:nvPr/>
        </p:nvSpPr>
        <p:spPr>
          <a:xfrm>
            <a:off x="4818888" y="2838609"/>
            <a:ext cx="402336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Expression indeks</a:t>
            </a:r>
            <a:endParaRPr lang="en-US" sz="1600" dirty="0"/>
          </a:p>
        </p:txBody>
      </p:sp>
      <p:sp>
        <p:nvSpPr>
          <p:cNvPr id="20" name="Text 18"/>
          <p:cNvSpPr/>
          <p:nvPr/>
        </p:nvSpPr>
        <p:spPr>
          <a:xfrm>
            <a:off x="4818888" y="3259233"/>
            <a:ext cx="4023360" cy="114300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Indeks nad UPPER(LAST_NAME) ili CASE.</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Izraz se izračunava pri upisu, NE pri čitanju.</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Isti ključevi za optimizer — </a:t>
            </a:r>
            <a:r>
              <a:rPr lang="en-US" sz="1400" b="1" dirty="0">
                <a:solidFill>
                  <a:srgbClr val="475569"/>
                </a:solidFill>
                <a:latin typeface="Calibri" pitchFamily="34" charset="0"/>
                <a:ea typeface="Calibri" pitchFamily="34" charset="-122"/>
                <a:cs typeface="Calibri" pitchFamily="34" charset="-120"/>
              </a:rPr>
              <a:t>nema Full Scan</a:t>
            </a:r>
            <a:endParaRPr lang="en-US" sz="1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Statistika indeksa i selektivnost</a:t>
            </a:r>
            <a:endParaRPr lang="en-US" sz="2800" dirty="0"/>
          </a:p>
        </p:txBody>
      </p:sp>
      <p:sp>
        <p:nvSpPr>
          <p:cNvPr id="5" name="Shape 3"/>
          <p:cNvSpPr/>
          <p:nvPr/>
        </p:nvSpPr>
        <p:spPr>
          <a:xfrm>
            <a:off x="228600" y="777240"/>
            <a:ext cx="8686800" cy="914400"/>
          </a:xfrm>
          <a:prstGeom prst="rect">
            <a:avLst/>
          </a:prstGeom>
          <a:solidFill>
            <a:srgbClr val="1B2A4A"/>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320040" y="868680"/>
            <a:ext cx="841248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Selektivnost  =  1 / broj unikatnih ključeva</a:t>
            </a:r>
            <a:endParaRPr lang="en-US" sz="2000" b="1" dirty="0">
              <a:solidFill>
                <a:schemeClr val="bg1"/>
              </a:solidFill>
            </a:endParaRPr>
          </a:p>
        </p:txBody>
      </p:sp>
      <p:sp>
        <p:nvSpPr>
          <p:cNvPr id="7" name="Shape 5"/>
          <p:cNvSpPr/>
          <p:nvPr/>
        </p:nvSpPr>
        <p:spPr>
          <a:xfrm>
            <a:off x="228600" y="1874520"/>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8" name="Shape 6"/>
          <p:cNvSpPr/>
          <p:nvPr/>
        </p:nvSpPr>
        <p:spPr>
          <a:xfrm>
            <a:off x="228600" y="1874520"/>
            <a:ext cx="64008" cy="1371600"/>
          </a:xfrm>
          <a:prstGeom prst="rect">
            <a:avLst/>
          </a:prstGeom>
          <a:solidFill>
            <a:schemeClr val="tx2"/>
          </a:solidFill>
          <a:ln/>
        </p:spPr>
        <p:txBody>
          <a:bodyPr/>
          <a:lstStyle/>
          <a:p>
            <a:endParaRPr lang="en-US"/>
          </a:p>
        </p:txBody>
      </p:sp>
      <p:sp>
        <p:nvSpPr>
          <p:cNvPr id="9" name="Text 7"/>
          <p:cNvSpPr/>
          <p:nvPr/>
        </p:nvSpPr>
        <p:spPr>
          <a:xfrm>
            <a:off x="365760" y="1947672"/>
            <a:ext cx="25603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Blizu 0 — DOBAR indeks</a:t>
            </a:r>
            <a:endParaRPr lang="en-US" sz="1600" dirty="0"/>
          </a:p>
        </p:txBody>
      </p:sp>
      <p:sp>
        <p:nvSpPr>
          <p:cNvPr id="10" name="Text 8"/>
          <p:cNvSpPr/>
          <p:nvPr/>
        </p:nvSpPr>
        <p:spPr>
          <a:xfrm>
            <a:off x="365760" y="2313432"/>
            <a:ext cx="2560320" cy="859536"/>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Primarni ključ (EMP_NO).</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Svaki red jedinstven.</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Optimizator UVEK koristi.</a:t>
            </a:r>
            <a:endParaRPr lang="en-US" sz="1400" dirty="0"/>
          </a:p>
        </p:txBody>
      </p:sp>
      <p:sp>
        <p:nvSpPr>
          <p:cNvPr id="11" name="Shape 9"/>
          <p:cNvSpPr/>
          <p:nvPr/>
        </p:nvSpPr>
        <p:spPr>
          <a:xfrm>
            <a:off x="3200400" y="1874520"/>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3200400" y="1874520"/>
            <a:ext cx="64008" cy="1371600"/>
          </a:xfrm>
          <a:prstGeom prst="rect">
            <a:avLst/>
          </a:prstGeom>
          <a:solidFill>
            <a:schemeClr val="tx2">
              <a:lumMod val="60000"/>
              <a:lumOff val="40000"/>
            </a:schemeClr>
          </a:solidFill>
          <a:ln/>
        </p:spPr>
        <p:txBody>
          <a:bodyPr/>
          <a:lstStyle/>
          <a:p>
            <a:endParaRPr lang="en-US"/>
          </a:p>
        </p:txBody>
      </p:sp>
      <p:sp>
        <p:nvSpPr>
          <p:cNvPr id="13" name="Text 11"/>
          <p:cNvSpPr/>
          <p:nvPr/>
        </p:nvSpPr>
        <p:spPr>
          <a:xfrm>
            <a:off x="3337560" y="1947672"/>
            <a:ext cx="25603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Blizu 1 — LOŠ indeks</a:t>
            </a:r>
            <a:endParaRPr lang="en-US" sz="1600" dirty="0"/>
          </a:p>
        </p:txBody>
      </p:sp>
      <p:sp>
        <p:nvSpPr>
          <p:cNvPr id="14" name="Text 12"/>
          <p:cNvSpPr/>
          <p:nvPr/>
        </p:nvSpPr>
        <p:spPr>
          <a:xfrm>
            <a:off x="3337560" y="2313432"/>
            <a:ext cx="2560320" cy="859536"/>
          </a:xfrm>
          <a:prstGeom prst="rect">
            <a:avLst/>
          </a:prstGeom>
          <a:noFill/>
          <a:ln/>
        </p:spPr>
        <p:txBody>
          <a:bodyPr wrap="square" lIns="0" tIns="0" rIns="0" bIns="0" rtlCol="0" anchor="t"/>
          <a:lstStyle/>
          <a:p>
            <a:pPr marL="0" indent="0">
              <a:buNone/>
            </a:pPr>
            <a:r>
              <a:rPr lang="en-US" sz="1400" dirty="0" err="1">
                <a:solidFill>
                  <a:srgbClr val="475569"/>
                </a:solidFill>
                <a:latin typeface="Calibri" pitchFamily="34" charset="0"/>
                <a:ea typeface="Calibri" pitchFamily="34" charset="-122"/>
                <a:cs typeface="Calibri" pitchFamily="34" charset="-120"/>
              </a:rPr>
              <a:t>Optimizator</a:t>
            </a:r>
            <a:r>
              <a:rPr lang="en-US" sz="1400" dirty="0">
                <a:solidFill>
                  <a:srgbClr val="475569"/>
                </a:solidFill>
                <a:latin typeface="Calibri" pitchFamily="34" charset="0"/>
                <a:ea typeface="Calibri" pitchFamily="34" charset="-122"/>
                <a:cs typeface="Calibri" pitchFamily="34" charset="-120"/>
              </a:rPr>
              <a:t> IGNORIŠE.</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Full Scan je brži.</a:t>
            </a:r>
            <a:endParaRPr lang="en-US" sz="1400" dirty="0"/>
          </a:p>
        </p:txBody>
      </p:sp>
      <p:sp>
        <p:nvSpPr>
          <p:cNvPr id="15" name="Shape 13"/>
          <p:cNvSpPr/>
          <p:nvPr/>
        </p:nvSpPr>
        <p:spPr>
          <a:xfrm>
            <a:off x="6172200" y="1874520"/>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6172200" y="1874520"/>
            <a:ext cx="64008" cy="1371600"/>
          </a:xfrm>
          <a:prstGeom prst="rect">
            <a:avLst/>
          </a:prstGeom>
          <a:solidFill>
            <a:schemeClr val="tx2">
              <a:lumMod val="40000"/>
              <a:lumOff val="60000"/>
            </a:schemeClr>
          </a:solidFill>
          <a:ln/>
        </p:spPr>
        <p:txBody>
          <a:bodyPr/>
          <a:lstStyle/>
          <a:p>
            <a:endParaRPr lang="en-US"/>
          </a:p>
        </p:txBody>
      </p:sp>
      <p:sp>
        <p:nvSpPr>
          <p:cNvPr id="17" name="Text 15"/>
          <p:cNvSpPr/>
          <p:nvPr/>
        </p:nvSpPr>
        <p:spPr>
          <a:xfrm>
            <a:off x="6309360" y="1947672"/>
            <a:ext cx="25603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SET STATISTICS</a:t>
            </a:r>
            <a:endParaRPr lang="en-US" sz="1600" dirty="0"/>
          </a:p>
        </p:txBody>
      </p:sp>
      <p:sp>
        <p:nvSpPr>
          <p:cNvPr id="18" name="Text 16"/>
          <p:cNvSpPr/>
          <p:nvPr/>
        </p:nvSpPr>
        <p:spPr>
          <a:xfrm>
            <a:off x="6309360" y="2304288"/>
            <a:ext cx="2560320" cy="8686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Rekalkulacija selektivnosti.</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Neophodna posle masovnih</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INSERT/DELETE operacija.</a:t>
            </a:r>
            <a:endParaRPr lang="en-US" sz="1400" dirty="0"/>
          </a:p>
        </p:txBody>
      </p:sp>
      <p:sp>
        <p:nvSpPr>
          <p:cNvPr id="19" name="Shape 17"/>
          <p:cNvSpPr/>
          <p:nvPr/>
        </p:nvSpPr>
        <p:spPr>
          <a:xfrm>
            <a:off x="228600" y="3401568"/>
            <a:ext cx="8686800" cy="12801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228600" y="3401568"/>
            <a:ext cx="64008" cy="1280160"/>
          </a:xfrm>
          <a:prstGeom prst="rect">
            <a:avLst/>
          </a:prstGeom>
          <a:solidFill>
            <a:schemeClr val="accent2">
              <a:lumMod val="50000"/>
            </a:schemeClr>
          </a:solidFill>
          <a:ln/>
        </p:spPr>
        <p:txBody>
          <a:bodyPr/>
          <a:lstStyle/>
          <a:p>
            <a:endParaRPr lang="en-US"/>
          </a:p>
        </p:txBody>
      </p:sp>
      <p:sp>
        <p:nvSpPr>
          <p:cNvPr id="21" name="Text 19"/>
          <p:cNvSpPr/>
          <p:nvPr/>
        </p:nvSpPr>
        <p:spPr>
          <a:xfrm>
            <a:off x="365760" y="3474720"/>
            <a:ext cx="850392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Zašto statistika zastareva?</a:t>
            </a:r>
            <a:endParaRPr lang="en-US" sz="1600" dirty="0"/>
          </a:p>
        </p:txBody>
      </p:sp>
      <p:sp>
        <p:nvSpPr>
          <p:cNvPr id="22" name="Text 20"/>
          <p:cNvSpPr/>
          <p:nvPr/>
        </p:nvSpPr>
        <p:spPr>
          <a:xfrm>
            <a:off x="365760" y="3767328"/>
            <a:ext cx="8503920" cy="768096"/>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Selektivnost se NE ažurira pri </a:t>
            </a:r>
            <a:r>
              <a:rPr lang="en-US" sz="1400" dirty="0" err="1">
                <a:solidFill>
                  <a:srgbClr val="475569"/>
                </a:solidFill>
                <a:latin typeface="Calibri" pitchFamily="34" charset="0"/>
                <a:ea typeface="Calibri" pitchFamily="34" charset="-122"/>
                <a:cs typeface="Calibri" pitchFamily="34" charset="-120"/>
              </a:rPr>
              <a:t>svakom</a:t>
            </a:r>
            <a:r>
              <a:rPr lang="en-US" sz="1400" dirty="0">
                <a:solidFill>
                  <a:srgbClr val="475569"/>
                </a:solidFill>
                <a:latin typeface="Calibri" pitchFamily="34" charset="0"/>
                <a:ea typeface="Calibri" pitchFamily="34" charset="-122"/>
                <a:cs typeface="Calibri" pitchFamily="34" charset="-120"/>
              </a:rPr>
              <a:t> INSERT</a:t>
            </a:r>
            <a:r>
              <a:rPr lang="sr-Latn-RS" sz="1400" dirty="0">
                <a:solidFill>
                  <a:srgbClr val="475569"/>
                </a:solidFill>
                <a:latin typeface="Calibri" pitchFamily="34" charset="0"/>
                <a:ea typeface="Calibri" pitchFamily="34" charset="-122"/>
                <a:cs typeface="Calibri" pitchFamily="34" charset="-120"/>
              </a:rPr>
              <a:t>/UPDATE/DELETE</a:t>
            </a:r>
            <a:r>
              <a:rPr lang="en-US" sz="1400" dirty="0">
                <a:solidFill>
                  <a:srgbClr val="475569"/>
                </a:solidFill>
                <a:latin typeface="Calibri" pitchFamily="34" charset="0"/>
                <a:ea typeface="Calibri" pitchFamily="34" charset="-122"/>
                <a:cs typeface="Calibri" pitchFamily="34" charset="-120"/>
              </a:rPr>
              <a:t> — to bi drastično usporilo upis. Tokom vremena, statistika u RDB$INDICES prestaje da odgovara stvarnoj distribuciji ključeva. Optimizator tada donosi loše odluke — bira Full Scan tamo gde bi INDEX Scan bio </a:t>
            </a:r>
            <a:r>
              <a:rPr lang="en-US" sz="1400" dirty="0" err="1">
                <a:solidFill>
                  <a:srgbClr val="475569"/>
                </a:solidFill>
                <a:latin typeface="Calibri" pitchFamily="34" charset="0"/>
                <a:ea typeface="Calibri" pitchFamily="34" charset="-122"/>
                <a:cs typeface="Calibri" pitchFamily="34" charset="-120"/>
              </a:rPr>
              <a:t>brži</a:t>
            </a:r>
            <a:r>
              <a:rPr lang="en-US" sz="1400" dirty="0">
                <a:solidFill>
                  <a:srgbClr val="475569"/>
                </a:solidFill>
                <a:latin typeface="Calibri" pitchFamily="34" charset="0"/>
                <a:ea typeface="Calibri" pitchFamily="34" charset="-122"/>
                <a:cs typeface="Calibri" pitchFamily="34" charset="-120"/>
              </a:rPr>
              <a:t>.</a:t>
            </a:r>
            <a:endParaRPr lang="sr-Latn-RS" sz="1400" dirty="0">
              <a:solidFill>
                <a:srgbClr val="475569"/>
              </a:solidFill>
              <a:latin typeface="Calibri" pitchFamily="34" charset="0"/>
              <a:ea typeface="Calibri" pitchFamily="34" charset="-122"/>
              <a:cs typeface="Calibri" pitchFamily="34" charset="-120"/>
            </a:endParaRPr>
          </a:p>
          <a:p>
            <a:pPr marL="0" indent="0">
              <a:buNone/>
            </a:pPr>
            <a:r>
              <a:rPr lang="en-US" sz="1400" b="1" dirty="0" err="1">
                <a:solidFill>
                  <a:schemeClr val="tx2"/>
                </a:solidFill>
                <a:latin typeface="Calibri" pitchFamily="34" charset="0"/>
                <a:ea typeface="Calibri" pitchFamily="34" charset="-122"/>
                <a:cs typeface="Calibri" pitchFamily="34" charset="-120"/>
              </a:rPr>
              <a:t>Rešenje</a:t>
            </a:r>
            <a:r>
              <a:rPr lang="en-US" sz="1400" b="1" dirty="0">
                <a:solidFill>
                  <a:schemeClr val="tx2"/>
                </a:solidFill>
                <a:latin typeface="Calibri" pitchFamily="34" charset="0"/>
                <a:ea typeface="Calibri" pitchFamily="34" charset="-122"/>
                <a:cs typeface="Calibri" pitchFamily="34" charset="-120"/>
              </a:rPr>
              <a:t>: redovno pokretati SET STATISTICS INDEX.</a:t>
            </a:r>
            <a:endParaRPr lang="en-US" sz="1400" b="1" dirty="0">
              <a:solidFill>
                <a:schemeClr val="tx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137160" y="0"/>
            <a:ext cx="9006840" cy="658368"/>
          </a:xfrm>
          <a:prstGeom prst="rect">
            <a:avLst/>
          </a:prstGeom>
          <a:solidFill>
            <a:srgbClr val="1B2A4A"/>
          </a:solidFill>
          <a:ln/>
        </p:spPr>
        <p:txBody>
          <a:bodyPr/>
          <a:lstStyle/>
          <a:p>
            <a:endParaRPr lang="en-US"/>
          </a:p>
        </p:txBody>
      </p:sp>
      <p:sp>
        <p:nvSpPr>
          <p:cNvPr id="4" name="Text 2"/>
          <p:cNvSpPr/>
          <p:nvPr/>
        </p:nvSpPr>
        <p:spPr>
          <a:xfrm>
            <a:off x="274320" y="64008"/>
            <a:ext cx="859536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Execution Plans — NATURAL vs INDEX Scan</a:t>
            </a:r>
            <a:endParaRPr lang="en-US" sz="2800" dirty="0"/>
          </a:p>
        </p:txBody>
      </p:sp>
      <p:sp>
        <p:nvSpPr>
          <p:cNvPr id="5" name="Shape 3"/>
          <p:cNvSpPr/>
          <p:nvPr/>
        </p:nvSpPr>
        <p:spPr>
          <a:xfrm>
            <a:off x="228600" y="804672"/>
            <a:ext cx="8686800" cy="1115568"/>
          </a:xfrm>
          <a:prstGeom prst="rect">
            <a:avLst/>
          </a:prstGeom>
          <a:solidFill>
            <a:srgbClr val="FFFFFF"/>
          </a:solidFill>
          <a:ln w="12700">
            <a:solidFill>
              <a:schemeClr val="bg1">
                <a:lumMod val="85000"/>
              </a:schemeClr>
            </a:solidFill>
            <a:prstDash val="solid"/>
          </a:ln>
          <a:effectLst>
            <a:glow rad="101600">
              <a:schemeClr val="bg1">
                <a:lumMod val="85000"/>
                <a:alpha val="60000"/>
              </a:schemeClr>
            </a:glow>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804672"/>
            <a:ext cx="1371600" cy="1115568"/>
          </a:xfrm>
          <a:prstGeom prst="rect">
            <a:avLst/>
          </a:prstGeom>
          <a:solidFill>
            <a:schemeClr val="bg1">
              <a:lumMod val="50000"/>
            </a:schemeClr>
          </a:solidFill>
          <a:ln/>
        </p:spPr>
        <p:txBody>
          <a:bodyPr/>
          <a:lstStyle/>
          <a:p>
            <a:endParaRPr lang="en-US"/>
          </a:p>
        </p:txBody>
      </p:sp>
      <p:sp>
        <p:nvSpPr>
          <p:cNvPr id="7" name="Text 5"/>
          <p:cNvSpPr/>
          <p:nvPr/>
        </p:nvSpPr>
        <p:spPr>
          <a:xfrm>
            <a:off x="246888" y="1124712"/>
            <a:ext cx="1335024" cy="47548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Index Seek</a:t>
            </a:r>
            <a:endParaRPr lang="en-US" dirty="0"/>
          </a:p>
        </p:txBody>
      </p:sp>
      <p:sp>
        <p:nvSpPr>
          <p:cNvPr id="8" name="Shape 6"/>
          <p:cNvSpPr/>
          <p:nvPr/>
        </p:nvSpPr>
        <p:spPr>
          <a:xfrm>
            <a:off x="1691640" y="914400"/>
            <a:ext cx="4433115" cy="384048"/>
          </a:xfrm>
          <a:prstGeom prst="rect">
            <a:avLst/>
          </a:prstGeom>
          <a:solidFill>
            <a:schemeClr val="tx2"/>
          </a:solidFill>
          <a:ln/>
        </p:spPr>
        <p:txBody>
          <a:bodyPr/>
          <a:lstStyle/>
          <a:p>
            <a:endParaRPr lang="en-US" sz="1400"/>
          </a:p>
        </p:txBody>
      </p:sp>
      <p:sp>
        <p:nvSpPr>
          <p:cNvPr id="9" name="Text 7"/>
          <p:cNvSpPr/>
          <p:nvPr/>
        </p:nvSpPr>
        <p:spPr>
          <a:xfrm>
            <a:off x="1783080" y="932688"/>
            <a:ext cx="4572000" cy="347472"/>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PLAN (EMPLOYEE INDEX (RDB$PRIMARY7))</a:t>
            </a:r>
            <a:endParaRPr lang="en-US" sz="1400" b="1" dirty="0">
              <a:solidFill>
                <a:schemeClr val="bg1"/>
              </a:solidFill>
            </a:endParaRPr>
          </a:p>
        </p:txBody>
      </p:sp>
      <p:sp>
        <p:nvSpPr>
          <p:cNvPr id="10" name="Text 8"/>
          <p:cNvSpPr/>
          <p:nvPr/>
        </p:nvSpPr>
        <p:spPr>
          <a:xfrm>
            <a:off x="6216195" y="914400"/>
            <a:ext cx="2607765" cy="896112"/>
          </a:xfrm>
          <a:prstGeom prst="rect">
            <a:avLst/>
          </a:prstGeom>
          <a:noFill/>
          <a:ln/>
        </p:spPr>
        <p:txBody>
          <a:bodyPr wrap="square" lIns="0" tIns="0" rIns="0" bIns="0" rtlCol="0" anchor="t"/>
          <a:lstStyle/>
          <a:p>
            <a:pPr marL="0" indent="0">
              <a:buNone/>
            </a:pPr>
            <a:r>
              <a:rPr lang="en-US" sz="1400" dirty="0">
                <a:solidFill>
                  <a:srgbClr val="475569"/>
                </a:solidFill>
                <a:ea typeface="Calibri" pitchFamily="34" charset="-122"/>
                <a:cs typeface="Calibri" pitchFamily="34" charset="-120"/>
              </a:rPr>
              <a:t>Direktan pristup po primarnom ključu.</a:t>
            </a:r>
            <a:endParaRPr lang="en-US" sz="1400" dirty="0"/>
          </a:p>
          <a:p>
            <a:pPr marL="0" indent="0">
              <a:buNone/>
            </a:pPr>
            <a:r>
              <a:rPr lang="en-US" sz="1400" dirty="0">
                <a:solidFill>
                  <a:srgbClr val="475569"/>
                </a:solidFill>
                <a:ea typeface="Calibri" pitchFamily="34" charset="-122"/>
                <a:cs typeface="Calibri" pitchFamily="34" charset="-120"/>
              </a:rPr>
              <a:t>Logaritamska brzina O(log n).</a:t>
            </a:r>
            <a:endParaRPr lang="en-US" sz="1400" dirty="0"/>
          </a:p>
        </p:txBody>
      </p:sp>
      <p:sp>
        <p:nvSpPr>
          <p:cNvPr id="11" name="Shape 9"/>
          <p:cNvSpPr/>
          <p:nvPr/>
        </p:nvSpPr>
        <p:spPr>
          <a:xfrm>
            <a:off x="228600" y="2084832"/>
            <a:ext cx="8686800" cy="1115568"/>
          </a:xfrm>
          <a:prstGeom prst="rect">
            <a:avLst/>
          </a:prstGeom>
          <a:solidFill>
            <a:srgbClr val="FFFFFF"/>
          </a:solidFill>
          <a:ln w="12700">
            <a:solidFill>
              <a:schemeClr val="bg1">
                <a:lumMod val="85000"/>
              </a:schemeClr>
            </a:solidFill>
            <a:prstDash val="solid"/>
          </a:ln>
          <a:effectLst>
            <a:glow rad="101600">
              <a:schemeClr val="bg1">
                <a:lumMod val="85000"/>
                <a:alpha val="60000"/>
              </a:schemeClr>
            </a:glow>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228600" y="2084832"/>
            <a:ext cx="1371600" cy="1115568"/>
          </a:xfrm>
          <a:prstGeom prst="rect">
            <a:avLst/>
          </a:prstGeom>
          <a:solidFill>
            <a:schemeClr val="tx2"/>
          </a:solidFill>
          <a:ln/>
        </p:spPr>
        <p:txBody>
          <a:bodyPr/>
          <a:lstStyle/>
          <a:p>
            <a:endParaRPr lang="en-US"/>
          </a:p>
        </p:txBody>
      </p:sp>
      <p:sp>
        <p:nvSpPr>
          <p:cNvPr id="13" name="Text 11"/>
          <p:cNvSpPr/>
          <p:nvPr/>
        </p:nvSpPr>
        <p:spPr>
          <a:xfrm>
            <a:off x="246888" y="2404872"/>
            <a:ext cx="1335024" cy="47548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Index Scan</a:t>
            </a:r>
            <a:endParaRPr lang="en-US" dirty="0"/>
          </a:p>
        </p:txBody>
      </p:sp>
      <p:sp>
        <p:nvSpPr>
          <p:cNvPr id="14" name="Shape 12"/>
          <p:cNvSpPr/>
          <p:nvPr/>
        </p:nvSpPr>
        <p:spPr>
          <a:xfrm>
            <a:off x="1691640" y="2194560"/>
            <a:ext cx="4433115" cy="384048"/>
          </a:xfrm>
          <a:prstGeom prst="rect">
            <a:avLst/>
          </a:prstGeom>
          <a:solidFill>
            <a:schemeClr val="tx2"/>
          </a:solidFill>
          <a:ln/>
        </p:spPr>
        <p:txBody>
          <a:bodyPr/>
          <a:lstStyle/>
          <a:p>
            <a:endParaRPr lang="en-US"/>
          </a:p>
        </p:txBody>
      </p:sp>
      <p:sp>
        <p:nvSpPr>
          <p:cNvPr id="15" name="Text 13"/>
          <p:cNvSpPr/>
          <p:nvPr/>
        </p:nvSpPr>
        <p:spPr>
          <a:xfrm>
            <a:off x="1783080" y="2212848"/>
            <a:ext cx="4572000" cy="347472"/>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PLAN (SALES INDEX (IDX_SALES_ORDER_DESC))</a:t>
            </a:r>
            <a:endParaRPr lang="en-US" sz="1400" b="1" dirty="0">
              <a:solidFill>
                <a:schemeClr val="bg1"/>
              </a:solidFill>
            </a:endParaRPr>
          </a:p>
        </p:txBody>
      </p:sp>
      <p:sp>
        <p:nvSpPr>
          <p:cNvPr id="16" name="Text 14"/>
          <p:cNvSpPr/>
          <p:nvPr/>
        </p:nvSpPr>
        <p:spPr>
          <a:xfrm>
            <a:off x="6216195" y="2194560"/>
            <a:ext cx="2607765" cy="896112"/>
          </a:xfrm>
          <a:prstGeom prst="rect">
            <a:avLst/>
          </a:prstGeom>
          <a:noFill/>
          <a:ln/>
        </p:spPr>
        <p:txBody>
          <a:bodyPr wrap="square" lIns="0" tIns="0" rIns="0" bIns="0" rtlCol="0" anchor="t"/>
          <a:lstStyle/>
          <a:p>
            <a:pPr marL="0" indent="0">
              <a:buNone/>
            </a:pPr>
            <a:r>
              <a:rPr lang="en-US" sz="1400" dirty="0">
                <a:solidFill>
                  <a:srgbClr val="475569"/>
                </a:solidFill>
                <a:ea typeface="Calibri" pitchFamily="34" charset="-122"/>
                <a:cs typeface="Calibri" pitchFamily="34" charset="-120"/>
              </a:rPr>
              <a:t>Opseg vrednosti — Range Scan.</a:t>
            </a:r>
            <a:endParaRPr lang="en-US" sz="1400" dirty="0"/>
          </a:p>
          <a:p>
            <a:pPr marL="0" indent="0">
              <a:buNone/>
            </a:pPr>
            <a:r>
              <a:rPr lang="en-US" sz="1400" dirty="0">
                <a:solidFill>
                  <a:srgbClr val="475569"/>
                </a:solidFill>
                <a:ea typeface="Calibri" pitchFamily="34" charset="-122"/>
                <a:cs typeface="Calibri" pitchFamily="34" charset="-120"/>
              </a:rPr>
              <a:t>Horizontalno čitanje listova B+ stabla.</a:t>
            </a:r>
            <a:endParaRPr lang="en-US" sz="1400" dirty="0"/>
          </a:p>
        </p:txBody>
      </p:sp>
      <p:sp>
        <p:nvSpPr>
          <p:cNvPr id="17" name="Shape 15"/>
          <p:cNvSpPr/>
          <p:nvPr/>
        </p:nvSpPr>
        <p:spPr>
          <a:xfrm>
            <a:off x="228600" y="3364992"/>
            <a:ext cx="8686800" cy="1115568"/>
          </a:xfrm>
          <a:prstGeom prst="rect">
            <a:avLst/>
          </a:prstGeom>
          <a:solidFill>
            <a:srgbClr val="FFFFFF"/>
          </a:solidFill>
          <a:ln w="12700">
            <a:solidFill>
              <a:schemeClr val="bg1">
                <a:lumMod val="85000"/>
              </a:schemeClr>
            </a:solidFill>
            <a:prstDash val="solid"/>
          </a:ln>
          <a:effectLst>
            <a:glow rad="101600">
              <a:schemeClr val="bg1">
                <a:lumMod val="85000"/>
                <a:alpha val="60000"/>
              </a:schemeClr>
            </a:glow>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228600" y="3364992"/>
            <a:ext cx="1371600" cy="1115568"/>
          </a:xfrm>
          <a:prstGeom prst="rect">
            <a:avLst/>
          </a:prstGeom>
          <a:solidFill>
            <a:srgbClr val="1B2A4A"/>
          </a:solidFill>
          <a:ln/>
        </p:spPr>
        <p:txBody>
          <a:bodyPr/>
          <a:lstStyle/>
          <a:p>
            <a:endParaRPr lang="en-US"/>
          </a:p>
        </p:txBody>
      </p:sp>
      <p:sp>
        <p:nvSpPr>
          <p:cNvPr id="19" name="Text 17"/>
          <p:cNvSpPr/>
          <p:nvPr/>
        </p:nvSpPr>
        <p:spPr>
          <a:xfrm>
            <a:off x="246888" y="3685032"/>
            <a:ext cx="1335024" cy="47548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NATURAL</a:t>
            </a:r>
            <a:endParaRPr lang="en-US" dirty="0"/>
          </a:p>
        </p:txBody>
      </p:sp>
      <p:sp>
        <p:nvSpPr>
          <p:cNvPr id="20" name="Shape 18"/>
          <p:cNvSpPr/>
          <p:nvPr/>
        </p:nvSpPr>
        <p:spPr>
          <a:xfrm>
            <a:off x="1691640" y="3474720"/>
            <a:ext cx="4433115" cy="384048"/>
          </a:xfrm>
          <a:prstGeom prst="rect">
            <a:avLst/>
          </a:prstGeom>
          <a:solidFill>
            <a:schemeClr val="tx2"/>
          </a:solidFill>
          <a:ln/>
        </p:spPr>
        <p:txBody>
          <a:bodyPr/>
          <a:lstStyle/>
          <a:p>
            <a:endParaRPr lang="en-US"/>
          </a:p>
        </p:txBody>
      </p:sp>
      <p:sp>
        <p:nvSpPr>
          <p:cNvPr id="21" name="Text 19"/>
          <p:cNvSpPr/>
          <p:nvPr/>
        </p:nvSpPr>
        <p:spPr>
          <a:xfrm>
            <a:off x="1783080" y="3493008"/>
            <a:ext cx="4572000" cy="347472"/>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PLAN (EMPLOYEE NATURAL)</a:t>
            </a:r>
            <a:endParaRPr lang="en-US" sz="1400" b="1" dirty="0">
              <a:solidFill>
                <a:schemeClr val="bg1"/>
              </a:solidFill>
            </a:endParaRPr>
          </a:p>
        </p:txBody>
      </p:sp>
      <p:sp>
        <p:nvSpPr>
          <p:cNvPr id="22" name="Text 20"/>
          <p:cNvSpPr/>
          <p:nvPr/>
        </p:nvSpPr>
        <p:spPr>
          <a:xfrm>
            <a:off x="6216195" y="3474720"/>
            <a:ext cx="2607765" cy="896112"/>
          </a:xfrm>
          <a:prstGeom prst="rect">
            <a:avLst/>
          </a:prstGeom>
          <a:noFill/>
          <a:ln/>
        </p:spPr>
        <p:txBody>
          <a:bodyPr wrap="square" lIns="0" tIns="0" rIns="0" bIns="0" rtlCol="0" anchor="t"/>
          <a:lstStyle/>
          <a:p>
            <a:pPr marL="0" indent="0">
              <a:buNone/>
            </a:pPr>
            <a:r>
              <a:rPr lang="en-US" sz="1400" dirty="0">
                <a:solidFill>
                  <a:srgbClr val="475569"/>
                </a:solidFill>
                <a:ea typeface="Calibri" pitchFamily="34" charset="-122"/>
                <a:cs typeface="Calibri" pitchFamily="34" charset="-120"/>
              </a:rPr>
              <a:t>Nema indeksa ili loša selektivnost.</a:t>
            </a:r>
            <a:endParaRPr lang="en-US" sz="1400" dirty="0"/>
          </a:p>
          <a:p>
            <a:pPr marL="0" indent="0">
              <a:buNone/>
            </a:pPr>
            <a:r>
              <a:rPr lang="en-US" sz="1400" dirty="0">
                <a:solidFill>
                  <a:srgbClr val="475569"/>
                </a:solidFill>
                <a:ea typeface="Calibri" pitchFamily="34" charset="-122"/>
                <a:cs typeface="Calibri" pitchFamily="34" charset="-120"/>
              </a:rPr>
              <a:t>Linearno čitanje svake stranice — </a:t>
            </a:r>
            <a:r>
              <a:rPr lang="en-US" sz="1400" b="1" dirty="0">
                <a:solidFill>
                  <a:srgbClr val="475569"/>
                </a:solidFill>
                <a:ea typeface="Calibri" pitchFamily="34" charset="-122"/>
                <a:cs typeface="Calibri" pitchFamily="34" charset="-120"/>
              </a:rPr>
              <a:t>SPORO</a:t>
            </a:r>
            <a:r>
              <a:rPr lang="en-US" sz="1400" dirty="0">
                <a:solidFill>
                  <a:srgbClr val="475569"/>
                </a:solidFill>
                <a:ea typeface="Calibri" pitchFamily="34" charset="-122"/>
                <a:cs typeface="Calibri" pitchFamily="34" charset="-120"/>
              </a:rPr>
              <a:t>!</a:t>
            </a:r>
            <a:endParaRPr lang="en-US" sz="1400" dirty="0"/>
          </a:p>
        </p:txBody>
      </p:sp>
      <p:sp>
        <p:nvSpPr>
          <p:cNvPr id="23" name="Text 21"/>
          <p:cNvSpPr/>
          <p:nvPr/>
        </p:nvSpPr>
        <p:spPr>
          <a:xfrm>
            <a:off x="228600" y="4663440"/>
            <a:ext cx="8686800" cy="320040"/>
          </a:xfrm>
          <a:prstGeom prst="rect">
            <a:avLst/>
          </a:prstGeom>
          <a:noFill/>
          <a:ln/>
        </p:spPr>
        <p:txBody>
          <a:bodyPr wrap="square" lIns="0" tIns="0" rIns="0" bIns="0" rtlCol="0" anchor="ctr"/>
          <a:lstStyle/>
          <a:p>
            <a:pPr marL="0" indent="0" algn="ctr">
              <a:buNone/>
            </a:pPr>
            <a:r>
              <a:rPr lang="en-US" sz="1600" b="1" dirty="0">
                <a:solidFill>
                  <a:srgbClr val="0D9488"/>
                </a:solidFill>
                <a:latin typeface="Calibri" pitchFamily="34" charset="0"/>
                <a:ea typeface="Calibri" pitchFamily="34" charset="-122"/>
                <a:cs typeface="Calibri" pitchFamily="34" charset="-120"/>
              </a:rPr>
              <a:t>SET PLAN ON  u ISQL-u prikazuje plan za svaki upit — osnovno </a:t>
            </a:r>
            <a:r>
              <a:rPr lang="en-US" sz="1600" b="1" dirty="0" err="1">
                <a:solidFill>
                  <a:srgbClr val="0D9488"/>
                </a:solidFill>
                <a:latin typeface="Calibri" pitchFamily="34" charset="0"/>
                <a:ea typeface="Calibri" pitchFamily="34" charset="-122"/>
                <a:cs typeface="Calibri" pitchFamily="34" charset="-120"/>
              </a:rPr>
              <a:t>dijagnostičko</a:t>
            </a:r>
            <a:r>
              <a:rPr lang="en-US" sz="1600" b="1" dirty="0">
                <a:solidFill>
                  <a:srgbClr val="0D9488"/>
                </a:solidFill>
                <a:latin typeface="Calibri" pitchFamily="34" charset="0"/>
                <a:ea typeface="Calibri" pitchFamily="34" charset="-122"/>
                <a:cs typeface="Calibri" pitchFamily="34" charset="-120"/>
              </a:rPr>
              <a:t> </a:t>
            </a:r>
            <a:r>
              <a:rPr lang="en-US" sz="1600" b="1" dirty="0" err="1">
                <a:solidFill>
                  <a:srgbClr val="0D9488"/>
                </a:solidFill>
                <a:latin typeface="Calibri" pitchFamily="34" charset="0"/>
                <a:ea typeface="Calibri" pitchFamily="34" charset="-122"/>
                <a:cs typeface="Calibri" pitchFamily="34" charset="-120"/>
              </a:rPr>
              <a:t>oruđe</a:t>
            </a:r>
            <a:endParaRPr lang="en-US" sz="16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chemeClr val="tx2">
              <a:lumMod val="40000"/>
              <a:lumOff val="60000"/>
            </a:schemeClr>
          </a:solidFill>
          <a:ln/>
        </p:spPr>
        <p:txBody>
          <a:bodyPr/>
          <a:lstStyle/>
          <a:p>
            <a:endParaRPr lang="en-US"/>
          </a:p>
        </p:txBody>
      </p:sp>
      <p:sp>
        <p:nvSpPr>
          <p:cNvPr id="3" name="Shape 1"/>
          <p:cNvSpPr/>
          <p:nvPr/>
        </p:nvSpPr>
        <p:spPr>
          <a:xfrm>
            <a:off x="201168" y="0"/>
            <a:ext cx="8942832" cy="54864"/>
          </a:xfrm>
          <a:prstGeom prst="rect">
            <a:avLst/>
          </a:prstGeom>
          <a:solidFill>
            <a:schemeClr val="bg1">
              <a:lumMod val="50000"/>
            </a:schemeClr>
          </a:solidFill>
          <a:ln>
            <a:solidFill>
              <a:schemeClr val="bg1">
                <a:lumMod val="50000"/>
              </a:schemeClr>
            </a:solidFill>
          </a:ln>
        </p:spPr>
        <p:txBody>
          <a:bodyPr/>
          <a:lstStyle/>
          <a:p>
            <a:endParaRPr lang="en-US"/>
          </a:p>
        </p:txBody>
      </p:sp>
      <p:sp>
        <p:nvSpPr>
          <p:cNvPr id="4" name="Text 2"/>
          <p:cNvSpPr/>
          <p:nvPr/>
        </p:nvSpPr>
        <p:spPr>
          <a:xfrm>
            <a:off x="411480" y="356266"/>
            <a:ext cx="841248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Ključni zaključci</a:t>
            </a:r>
            <a:endParaRPr lang="en-US" sz="2800" dirty="0"/>
          </a:p>
        </p:txBody>
      </p:sp>
      <p:sp>
        <p:nvSpPr>
          <p:cNvPr id="5" name="Shape 3"/>
          <p:cNvSpPr/>
          <p:nvPr/>
        </p:nvSpPr>
        <p:spPr>
          <a:xfrm>
            <a:off x="365760" y="1042066"/>
            <a:ext cx="8412480" cy="621792"/>
          </a:xfrm>
          <a:prstGeom prst="rect">
            <a:avLst/>
          </a:prstGeom>
          <a:solidFill>
            <a:srgbClr val="434E65"/>
          </a:solidFill>
          <a:ln w="12700">
            <a:solidFill>
              <a:schemeClr val="bg1"/>
            </a:solidFill>
            <a:prstDash val="solid"/>
          </a:ln>
        </p:spPr>
        <p:txBody>
          <a:bodyPr/>
          <a:lstStyle/>
          <a:p>
            <a:endParaRPr lang="en-US"/>
          </a:p>
        </p:txBody>
      </p:sp>
      <p:sp>
        <p:nvSpPr>
          <p:cNvPr id="6" name="Shape 4"/>
          <p:cNvSpPr/>
          <p:nvPr/>
        </p:nvSpPr>
        <p:spPr>
          <a:xfrm>
            <a:off x="365760" y="1042066"/>
            <a:ext cx="73152" cy="621792"/>
          </a:xfrm>
          <a:prstGeom prst="rect">
            <a:avLst/>
          </a:prstGeom>
          <a:solidFill>
            <a:schemeClr val="bg1"/>
          </a:solidFill>
          <a:ln/>
        </p:spPr>
        <p:txBody>
          <a:bodyPr/>
          <a:lstStyle/>
          <a:p>
            <a:endParaRPr lang="en-US"/>
          </a:p>
        </p:txBody>
      </p:sp>
      <p:sp>
        <p:nvSpPr>
          <p:cNvPr id="7" name="Text 5"/>
          <p:cNvSpPr/>
          <p:nvPr/>
        </p:nvSpPr>
        <p:spPr>
          <a:xfrm>
            <a:off x="530352" y="1133506"/>
            <a:ext cx="1920240" cy="438912"/>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B+ stablo:</a:t>
            </a:r>
            <a:endParaRPr lang="en-US" sz="1600" dirty="0">
              <a:solidFill>
                <a:schemeClr val="bg1"/>
              </a:solidFill>
            </a:endParaRPr>
          </a:p>
        </p:txBody>
      </p:sp>
      <p:sp>
        <p:nvSpPr>
          <p:cNvPr id="8" name="Text 6"/>
          <p:cNvSpPr/>
          <p:nvPr/>
        </p:nvSpPr>
        <p:spPr>
          <a:xfrm>
            <a:off x="2468880" y="1133506"/>
            <a:ext cx="621792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Logaritamska pretraga — dubina stabla direktno određuje broj I/O operacija.</a:t>
            </a:r>
            <a:endParaRPr lang="en-US" sz="1400" dirty="0"/>
          </a:p>
        </p:txBody>
      </p:sp>
      <p:sp>
        <p:nvSpPr>
          <p:cNvPr id="9" name="Shape 7"/>
          <p:cNvSpPr/>
          <p:nvPr/>
        </p:nvSpPr>
        <p:spPr>
          <a:xfrm>
            <a:off x="365760" y="1791874"/>
            <a:ext cx="8412480" cy="621792"/>
          </a:xfrm>
          <a:prstGeom prst="rect">
            <a:avLst/>
          </a:prstGeom>
          <a:solidFill>
            <a:srgbClr val="434E65"/>
          </a:solidFill>
          <a:ln w="12700">
            <a:solidFill>
              <a:schemeClr val="bg1"/>
            </a:solidFill>
            <a:prstDash val="solid"/>
          </a:ln>
        </p:spPr>
        <p:txBody>
          <a:bodyPr/>
          <a:lstStyle/>
          <a:p>
            <a:endParaRPr lang="en-US"/>
          </a:p>
        </p:txBody>
      </p:sp>
      <p:sp>
        <p:nvSpPr>
          <p:cNvPr id="10" name="Shape 8"/>
          <p:cNvSpPr/>
          <p:nvPr/>
        </p:nvSpPr>
        <p:spPr>
          <a:xfrm>
            <a:off x="365760" y="1791874"/>
            <a:ext cx="73152" cy="621792"/>
          </a:xfrm>
          <a:prstGeom prst="rect">
            <a:avLst/>
          </a:prstGeom>
          <a:solidFill>
            <a:schemeClr val="bg1"/>
          </a:solidFill>
          <a:ln/>
        </p:spPr>
        <p:txBody>
          <a:bodyPr/>
          <a:lstStyle/>
          <a:p>
            <a:endParaRPr lang="en-US"/>
          </a:p>
        </p:txBody>
      </p:sp>
      <p:sp>
        <p:nvSpPr>
          <p:cNvPr id="11" name="Text 9"/>
          <p:cNvSpPr/>
          <p:nvPr/>
        </p:nvSpPr>
        <p:spPr>
          <a:xfrm>
            <a:off x="530352" y="1883314"/>
            <a:ext cx="1920240" cy="438912"/>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MGA = Index Bloat:</a:t>
            </a:r>
            <a:endParaRPr lang="en-US" sz="1600" dirty="0">
              <a:solidFill>
                <a:schemeClr val="bg1"/>
              </a:solidFill>
            </a:endParaRPr>
          </a:p>
        </p:txBody>
      </p:sp>
      <p:sp>
        <p:nvSpPr>
          <p:cNvPr id="12" name="Text 10"/>
          <p:cNvSpPr/>
          <p:nvPr/>
        </p:nvSpPr>
        <p:spPr>
          <a:xfrm>
            <a:off x="2468880" y="1883314"/>
            <a:ext cx="621792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Svaki UPDATE kreira novu verziju — indeksi se "naduvavaju" tokom vremena.</a:t>
            </a:r>
            <a:endParaRPr lang="en-US" sz="1400" dirty="0"/>
          </a:p>
        </p:txBody>
      </p:sp>
      <p:sp>
        <p:nvSpPr>
          <p:cNvPr id="13" name="Shape 11"/>
          <p:cNvSpPr/>
          <p:nvPr/>
        </p:nvSpPr>
        <p:spPr>
          <a:xfrm>
            <a:off x="365760" y="2541682"/>
            <a:ext cx="8412480" cy="621792"/>
          </a:xfrm>
          <a:prstGeom prst="rect">
            <a:avLst/>
          </a:prstGeom>
          <a:solidFill>
            <a:srgbClr val="434E65"/>
          </a:solidFill>
          <a:ln w="12700">
            <a:solidFill>
              <a:schemeClr val="bg1"/>
            </a:solidFill>
            <a:prstDash val="solid"/>
          </a:ln>
        </p:spPr>
        <p:txBody>
          <a:bodyPr/>
          <a:lstStyle/>
          <a:p>
            <a:endParaRPr lang="en-US"/>
          </a:p>
        </p:txBody>
      </p:sp>
      <p:sp>
        <p:nvSpPr>
          <p:cNvPr id="14" name="Shape 12"/>
          <p:cNvSpPr/>
          <p:nvPr/>
        </p:nvSpPr>
        <p:spPr>
          <a:xfrm>
            <a:off x="365760" y="2541682"/>
            <a:ext cx="73152" cy="621792"/>
          </a:xfrm>
          <a:prstGeom prst="rect">
            <a:avLst/>
          </a:prstGeom>
          <a:solidFill>
            <a:schemeClr val="bg1"/>
          </a:solidFill>
          <a:ln/>
        </p:spPr>
        <p:txBody>
          <a:bodyPr/>
          <a:lstStyle/>
          <a:p>
            <a:endParaRPr lang="en-US"/>
          </a:p>
        </p:txBody>
      </p:sp>
      <p:sp>
        <p:nvSpPr>
          <p:cNvPr id="15" name="Text 13"/>
          <p:cNvSpPr/>
          <p:nvPr/>
        </p:nvSpPr>
        <p:spPr>
          <a:xfrm>
            <a:off x="530352" y="2633122"/>
            <a:ext cx="1920240" cy="438912"/>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Garbage Collection:</a:t>
            </a:r>
            <a:endParaRPr lang="en-US" sz="1600" dirty="0">
              <a:solidFill>
                <a:schemeClr val="bg1"/>
              </a:solidFill>
            </a:endParaRPr>
          </a:p>
        </p:txBody>
      </p:sp>
      <p:sp>
        <p:nvSpPr>
          <p:cNvPr id="16" name="Text 14"/>
          <p:cNvSpPr/>
          <p:nvPr/>
        </p:nvSpPr>
        <p:spPr>
          <a:xfrm>
            <a:off x="2468880" y="2633122"/>
            <a:ext cx="621792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OAT blokira GC — dugačke transakcije su najveći neprijatelj performansi.</a:t>
            </a:r>
            <a:endParaRPr lang="en-US" sz="1400" dirty="0"/>
          </a:p>
        </p:txBody>
      </p:sp>
      <p:sp>
        <p:nvSpPr>
          <p:cNvPr id="17" name="Shape 15"/>
          <p:cNvSpPr/>
          <p:nvPr/>
        </p:nvSpPr>
        <p:spPr>
          <a:xfrm>
            <a:off x="365760" y="3291490"/>
            <a:ext cx="8412480" cy="621792"/>
          </a:xfrm>
          <a:prstGeom prst="rect">
            <a:avLst/>
          </a:prstGeom>
          <a:solidFill>
            <a:srgbClr val="434E65"/>
          </a:solidFill>
          <a:ln w="12700">
            <a:solidFill>
              <a:schemeClr val="bg1"/>
            </a:solidFill>
            <a:prstDash val="solid"/>
          </a:ln>
        </p:spPr>
        <p:txBody>
          <a:bodyPr/>
          <a:lstStyle/>
          <a:p>
            <a:endParaRPr lang="en-US"/>
          </a:p>
        </p:txBody>
      </p:sp>
      <p:sp>
        <p:nvSpPr>
          <p:cNvPr id="18" name="Shape 16"/>
          <p:cNvSpPr/>
          <p:nvPr/>
        </p:nvSpPr>
        <p:spPr>
          <a:xfrm>
            <a:off x="365760" y="3291490"/>
            <a:ext cx="73152" cy="621792"/>
          </a:xfrm>
          <a:prstGeom prst="rect">
            <a:avLst/>
          </a:prstGeom>
          <a:solidFill>
            <a:schemeClr val="bg1"/>
          </a:solidFill>
          <a:ln/>
        </p:spPr>
        <p:txBody>
          <a:bodyPr/>
          <a:lstStyle/>
          <a:p>
            <a:endParaRPr lang="en-US"/>
          </a:p>
        </p:txBody>
      </p:sp>
      <p:sp>
        <p:nvSpPr>
          <p:cNvPr id="19" name="Text 17"/>
          <p:cNvSpPr/>
          <p:nvPr/>
        </p:nvSpPr>
        <p:spPr>
          <a:xfrm>
            <a:off x="530352" y="3382930"/>
            <a:ext cx="1920240" cy="438912"/>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Selektivnost:</a:t>
            </a:r>
            <a:endParaRPr lang="en-US" sz="1600" b="1" dirty="0">
              <a:solidFill>
                <a:schemeClr val="bg1"/>
              </a:solidFill>
            </a:endParaRPr>
          </a:p>
        </p:txBody>
      </p:sp>
      <p:sp>
        <p:nvSpPr>
          <p:cNvPr id="20" name="Text 18"/>
          <p:cNvSpPr/>
          <p:nvPr/>
        </p:nvSpPr>
        <p:spPr>
          <a:xfrm>
            <a:off x="2468880" y="3382930"/>
            <a:ext cx="621792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Stati</a:t>
            </a:r>
            <a:r>
              <a:rPr lang="sr-Latn-RS" sz="1400" dirty="0">
                <a:solidFill>
                  <a:srgbClr val="FFFFFF"/>
                </a:solidFill>
                <a:latin typeface="Calibri" pitchFamily="34" charset="0"/>
                <a:ea typeface="Calibri" pitchFamily="34" charset="-122"/>
                <a:cs typeface="Calibri" pitchFamily="34" charset="-120"/>
              </a:rPr>
              <a:t>stik</a:t>
            </a:r>
            <a:r>
              <a:rPr lang="en-US" sz="1400" dirty="0">
                <a:solidFill>
                  <a:srgbClr val="FFFFFF"/>
                </a:solidFill>
                <a:latin typeface="Calibri" pitchFamily="34" charset="0"/>
                <a:ea typeface="Calibri" pitchFamily="34" charset="-122"/>
                <a:cs typeface="Calibri" pitchFamily="34" charset="-120"/>
              </a:rPr>
              <a:t>u treba osvežavati — zastarela statistika vodi do pogrešnih planova.</a:t>
            </a:r>
            <a:endParaRPr lang="en-US" sz="1400" dirty="0"/>
          </a:p>
        </p:txBody>
      </p:sp>
      <p:sp>
        <p:nvSpPr>
          <p:cNvPr id="21" name="Shape 19"/>
          <p:cNvSpPr/>
          <p:nvPr/>
        </p:nvSpPr>
        <p:spPr>
          <a:xfrm>
            <a:off x="365760" y="4041298"/>
            <a:ext cx="8412480" cy="621792"/>
          </a:xfrm>
          <a:prstGeom prst="rect">
            <a:avLst/>
          </a:prstGeom>
          <a:solidFill>
            <a:srgbClr val="434E65"/>
          </a:solidFill>
          <a:ln w="12700">
            <a:solidFill>
              <a:schemeClr val="bg1"/>
            </a:solidFill>
            <a:prstDash val="solid"/>
          </a:ln>
        </p:spPr>
        <p:txBody>
          <a:bodyPr/>
          <a:lstStyle/>
          <a:p>
            <a:endParaRPr lang="en-US" sz="1200"/>
          </a:p>
        </p:txBody>
      </p:sp>
      <p:sp>
        <p:nvSpPr>
          <p:cNvPr id="22" name="Shape 20"/>
          <p:cNvSpPr/>
          <p:nvPr/>
        </p:nvSpPr>
        <p:spPr>
          <a:xfrm>
            <a:off x="365760" y="4041298"/>
            <a:ext cx="73152" cy="621792"/>
          </a:xfrm>
          <a:prstGeom prst="rect">
            <a:avLst/>
          </a:prstGeom>
          <a:solidFill>
            <a:schemeClr val="bg1"/>
          </a:solidFill>
          <a:ln/>
        </p:spPr>
        <p:txBody>
          <a:bodyPr/>
          <a:lstStyle/>
          <a:p>
            <a:endParaRPr lang="en-US"/>
          </a:p>
        </p:txBody>
      </p:sp>
      <p:sp>
        <p:nvSpPr>
          <p:cNvPr id="23" name="Text 21"/>
          <p:cNvSpPr/>
          <p:nvPr/>
        </p:nvSpPr>
        <p:spPr>
          <a:xfrm>
            <a:off x="530352" y="4132738"/>
            <a:ext cx="1920240" cy="438912"/>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Expression indeksi:</a:t>
            </a:r>
            <a:endParaRPr lang="en-US" sz="1600" dirty="0">
              <a:solidFill>
                <a:schemeClr val="bg1"/>
              </a:solidFill>
            </a:endParaRPr>
          </a:p>
        </p:txBody>
      </p:sp>
      <p:sp>
        <p:nvSpPr>
          <p:cNvPr id="24" name="Text 22"/>
          <p:cNvSpPr/>
          <p:nvPr/>
        </p:nvSpPr>
        <p:spPr>
          <a:xfrm>
            <a:off x="2468880" y="4132738"/>
            <a:ext cx="621792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Izraz se izračunava pri upisu, ne pri čitanju — drastično ubrzava upite.</a:t>
            </a:r>
            <a:endParaRPr lang="en-US" sz="1400" dirty="0"/>
          </a:p>
        </p:txBody>
      </p:sp>
      <p:sp>
        <p:nvSpPr>
          <p:cNvPr id="25" name="Shape 23"/>
          <p:cNvSpPr/>
          <p:nvPr/>
        </p:nvSpPr>
        <p:spPr>
          <a:xfrm>
            <a:off x="0" y="4800600"/>
            <a:ext cx="9144000" cy="342900"/>
          </a:xfrm>
          <a:prstGeom prst="rect">
            <a:avLst/>
          </a:prstGeom>
          <a:solidFill>
            <a:srgbClr val="243660"/>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1354</TotalTime>
  <Words>3050</Words>
  <Application>Microsoft Office PowerPoint</Application>
  <PresentationFormat>On-screen Show (16:9)</PresentationFormat>
  <Paragraphs>231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 struktura indeksa u Firebird bazi podataka</dc:title>
  <dc:subject>PptxGenJS Presentation</dc:subject>
  <dc:creator>PptxGenJS</dc:creator>
  <cp:lastModifiedBy>Jefimija Stamenovic</cp:lastModifiedBy>
  <cp:revision>89</cp:revision>
  <dcterms:created xsi:type="dcterms:W3CDTF">2026-03-11T06:23:49Z</dcterms:created>
  <dcterms:modified xsi:type="dcterms:W3CDTF">2026-03-16T08:58:09Z</dcterms:modified>
</cp:coreProperties>
</file>