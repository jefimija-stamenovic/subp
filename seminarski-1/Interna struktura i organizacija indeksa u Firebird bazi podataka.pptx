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4E65"/>
    <a:srgbClr val="A6A6A6"/>
    <a:srgbClr val="1B2A4A"/>
    <a:srgbClr val="FFFFFF"/>
    <a:srgbClr val="A0C1D5"/>
    <a:srgbClr val="312F2C"/>
    <a:srgbClr val="ABD1C6"/>
    <a:srgbClr val="0D9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402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struktura i organizacija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indeksa u Firebird bazi podataka</a:t>
            </a:r>
            <a:endParaRPr lang="en-US" sz="44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60399" y="3510643"/>
            <a:ext cx="35632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Student:  </a:t>
            </a:r>
            <a:r>
              <a:rPr lang="en-U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Jefimija </a:t>
            </a:r>
            <a:r>
              <a:rPr lang="en-US" sz="14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Stamenovi</a:t>
            </a:r>
            <a:r>
              <a:rPr lang="sr-Latn-R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 1820/2024</a:t>
            </a:r>
            <a:endParaRPr lang="en-US" sz="1400" i="1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660399" y="3863340"/>
            <a:ext cx="352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dr Aleksandar S. Stanimirović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Elektronski fakultet u </a:t>
            </a:r>
            <a:r>
              <a:rPr lang="en-US" sz="10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Nišu</a:t>
            </a:r>
            <a:r>
              <a:rPr lang="sr-Latn-R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sr-Latn-R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0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akademske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studije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Sistemi za upravljanje </a:t>
            </a:r>
            <a:r>
              <a:rPr lang="en-US" sz="10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r>
              <a:rPr lang="sr-Latn-R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Mart 2026. 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Sadržaj prezentacije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94114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94114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46888" y="1105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100515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Kontekst i motivacija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138005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 su indeksi kritični za skalabilnost?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90126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600" y="190126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6888" y="20658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19652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Fizička arhitektura (ODS)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960" y="234017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Stranice, slotovi i RDB$DB_KEY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86138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28600" y="286138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46888" y="3025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29253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i verzije zapisa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2960" y="330029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MVCC, Index Bloat, Garbage Collection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382150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382150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6888" y="39860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2960" y="388551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 stablo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2960" y="426041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Struktura, Page Split i Fill Factor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94114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0" y="94114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73168" y="1105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49240" y="100515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Kompresija i optimizacija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349240" y="138005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Prefiksna kompresija, NULL, duplikati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190126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54880" y="190126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73168" y="20658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49240" y="19652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Tipovi indeksa i statistika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349240" y="234017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Expression, kompozitni, selektivnost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54880" y="286138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754880" y="286138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73168" y="3025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349240" y="29253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Plans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49240" y="330029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vs INDEX — praktični primeri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Kontekst i motivacija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560320" cy="2309364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10312" y="13581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</a:t>
            </a:r>
            <a:endParaRPr lang="en-US" sz="52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210312" y="20713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Table Scan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807208" y="166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>
              <a:solidFill>
                <a:srgbClr val="1B2A4A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3337560" y="777240"/>
            <a:ext cx="2560320" cy="2309364"/>
          </a:xfrm>
          <a:prstGeom prst="rect">
            <a:avLst/>
          </a:prstGeom>
          <a:solidFill>
            <a:schemeClr val="bg1"/>
          </a:solidFill>
          <a:ln>
            <a:solidFill>
              <a:srgbClr val="1B2A4A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37561" y="13581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O(log n)</a:t>
            </a:r>
            <a:endParaRPr lang="en-US" sz="4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3337561" y="20713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Scan</a:t>
            </a:r>
            <a:endParaRPr 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35039" y="777240"/>
            <a:ext cx="3005443" cy="11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035040" y="777240"/>
            <a:ext cx="64008" cy="1116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80304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172200" y="1124712"/>
            <a:ext cx="2804274" cy="726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Tabele sa milionima redova — Full Scan je neprihvatljiv.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 indeks košta: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prostor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I/O operacija pri upisu.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39" y="1970604"/>
            <a:ext cx="3005443" cy="11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38886" y="1970604"/>
            <a:ext cx="60162" cy="11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endParaRPr lang="en-US">
              <a:solidFill>
                <a:srgbClr val="A0C1D5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72200" y="205653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172200" y="2399898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Brzina čitanja vs. cena upisa.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Firebird: B+ stablo + MGA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arhitektura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3378956"/>
            <a:ext cx="881188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3378956"/>
            <a:ext cx="137160" cy="132588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345210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Specifičnost Firebirda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7200" y="3816236"/>
            <a:ext cx="8519274" cy="81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koristi Multi-Generational Architecture (MGA) — svaki UPDATE kreira novu verziju zapisa umesto prepisivanja. </a:t>
            </a:r>
            <a:endParaRPr lang="sr-Latn-RS" sz="1200" dirty="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moraju pratiti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što dovodi do fenomena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Bloat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Razumevanje fizičke strukture indeksa je preduslov za optimizaciju.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Fizička arhitektura — On-Disk Structure (ODS)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1005840" cy="8229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46888" y="960120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868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Page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71600" y="119786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 verzija, Page Size, poslednja transakcija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755648"/>
            <a:ext cx="8686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600" y="1755648"/>
            <a:ext cx="1005840" cy="8229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6888" y="1938528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0x05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371600" y="18470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Page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71600" y="21762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Stvarni podaci — redovi tabela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734056"/>
            <a:ext cx="8686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28600" y="2734056"/>
            <a:ext cx="1005840" cy="82296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46888" y="2916936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0x06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282549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Root Page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371600" y="31546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 svih indeksa i pokazivači na B+ stabla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3712464"/>
            <a:ext cx="8686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3712464"/>
            <a:ext cx="1005840" cy="82296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6888" y="3895344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0x07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371600" y="380390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B-Tree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371600" y="413308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Sortirani ključevi i navigacioni pokazivači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28600" y="470916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Fizička adresa = Broj stranice × Page Size  →  direktno adresiranje bez pretraživanja</a:t>
            </a:r>
            <a:endParaRPr lang="en-US" sz="1600" b="1" dirty="0">
              <a:solidFill>
                <a:srgbClr val="1B2A4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RDB$DB_KEY — fizička adresa svakog zapisa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123444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2004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bajtova = Page Number (4B) + Slot Index (4B)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20040" y="13533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Indeksi u listovima B+ stabla čuvaju RDB$DB_KEY — ne vrednosti podataka.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228600" y="2148840"/>
            <a:ext cx="4206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8600" y="2148840"/>
            <a:ext cx="64008" cy="11887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222199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Number (4 bajta)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5760" y="2628900"/>
            <a:ext cx="4023360" cy="635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Direktan skok na fizičku lokaciju u .fdb fajlu.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ne pretražuje — izračunava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adresu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trenutno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148840"/>
            <a:ext cx="4206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09160" y="2148840"/>
            <a:ext cx="64008" cy="118872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222199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Index (4 bajta)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46320" y="2628900"/>
            <a:ext cx="402336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 u tabeli slotova na dnu Data Page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Omogućava pomeranje zapisa bez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ažuriranja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8600" y="3474720"/>
            <a:ext cx="8686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8600" y="3474720"/>
            <a:ext cx="64008" cy="11887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354787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 je ovo važno?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65760" y="3977640"/>
            <a:ext cx="8503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slotova omogućava da se zapis fizički premesti unutar stranice (zbog MGA), a da svi indeksi koji na njega pokazuju ostanu validni — broj slota se ne menja. Bez ovog sistema, svaka promena dužine zapisa zahtevala bi hitno ažuriranje SVIH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arhitektura — verzije zapisa i Index Bloat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828800" cy="1005840"/>
          </a:xfrm>
          <a:prstGeom prst="rect">
            <a:avLst/>
          </a:prstGeom>
          <a:solidFill>
            <a:srgbClr val="1B2A4A"/>
          </a:solidFill>
          <a:ln>
            <a:solidFill>
              <a:schemeClr val="bg2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21408" y="1097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>
              <a:solidFill>
                <a:srgbClr val="1B2A4A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2423160" y="777240"/>
            <a:ext cx="1828800" cy="100584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bg2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23160" y="868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(nova)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270248" y="1097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>
              <a:solidFill>
                <a:srgbClr val="1B2A4A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0" y="777240"/>
            <a:ext cx="1828800" cy="100584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bg2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868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(nova)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19088" y="1097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>
              <a:solidFill>
                <a:srgbClr val="1B2A4A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720840" y="777240"/>
            <a:ext cx="1828800" cy="100584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bg2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868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 čisti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28600" y="196596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8600" y="1965960"/>
            <a:ext cx="64008" cy="123444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203911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Posledica: Index Bloat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5760" y="237744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Indeksne stranice pune se pokazivačima na stare verzije.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 stablo raste i postaje dublje — više I/O operacija.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0" y="1965960"/>
            <a:ext cx="4343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0" y="1965960"/>
            <a:ext cx="64008" cy="123444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09160" y="203911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Rešenje: Rekreacija indeksa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09160" y="23774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INDEX ... INACTIVE → ACTIVE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 novo stablo od nule, odbacuje sve stare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28600" y="3337560"/>
            <a:ext cx="8686800" cy="144147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28600" y="3337560"/>
            <a:ext cx="64008" cy="144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341071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 (GC)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65760" y="3776472"/>
            <a:ext cx="8503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GC: SELECT upiti čiste stare verzije usput</a:t>
            </a:r>
            <a:endParaRPr lang="en-US" sz="1200" dirty="0"/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GC: posebna nit u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SuperServer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</a:t>
            </a:r>
            <a:endParaRPr lang="sr-Latn-RS" sz="1200" dirty="0"/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Sweeping: sistematsko skeniranje cele baze (gfix -sweep)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Oldest Active Transaction (OAT) blokira GC — sve verzije nastale posle OAT-a moraju ostati netaknute!</a:t>
            </a:r>
            <a:endParaRPr lang="en-US" sz="140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 stablo — struktura indeksa u Firebirdu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0" y="822960"/>
            <a:ext cx="1828800" cy="685800"/>
          </a:xfrm>
          <a:prstGeom prst="rect">
            <a:avLst/>
          </a:prstGeom>
          <a:solidFill>
            <a:srgbClr val="1B2A4A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749040" y="896112"/>
            <a:ext cx="145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Koren (Root)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749040" y="12070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čvor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2057400" y="1737360"/>
            <a:ext cx="5029200" cy="685800"/>
          </a:xfrm>
          <a:prstGeom prst="rect">
            <a:avLst/>
          </a:prstGeom>
          <a:solidFill>
            <a:srgbClr val="243660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148840" y="1810512"/>
            <a:ext cx="27660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48840" y="2121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navigacioni čvorovi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8229600" cy="6858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7249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Listovi (Leaf Pages)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3035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dvostruko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povezana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</a:t>
            </a:r>
            <a:r>
              <a:rPr lang="sr-Latn-R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RDB$DB_KEY 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352044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28600" y="3520440"/>
            <a:ext cx="64008" cy="14173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35935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Split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" y="3959352"/>
            <a:ext cx="2560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 je stranica puna → deli se na 2.</a:t>
            </a:r>
            <a:endParaRPr lang="en-US" sz="1200" dirty="0"/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Roditeljski čvor dobija novi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pokazivač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Stablo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vertikalno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54680" y="3520440"/>
            <a:ext cx="2834640" cy="14173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154680" y="3520440"/>
            <a:ext cx="64008" cy="141732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91840" y="35935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Factor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91840" y="3959352"/>
            <a:ext cx="2651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puni stranicu 80–90%.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Ostavlja bafer za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ključeve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Spečava preuranjeni Page Split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72200" y="352044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172200" y="3520440"/>
            <a:ext cx="64008" cy="14173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309360" y="35935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Dubina stabla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309360" y="3959352"/>
            <a:ext cx="2560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Konstantan broj I/O operacija do bilo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kog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zapisa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Manja dubina =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brži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upiti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gstat -i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prikazuje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dubinu stabla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Prefiksna kompresija, duplikati i NULL vrednosti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39"/>
            <a:ext cx="5303520" cy="24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5303520" cy="3474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79552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Prefiksna kompresija — primer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0040" y="1188719"/>
            <a:ext cx="1440000" cy="414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Petrov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60715" y="1234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Prefix=0, Suffix=6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3749040" y="12344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čuva: "Petrov"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0040" y="1691640"/>
            <a:ext cx="1440000" cy="41400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691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Petrović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60715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Prefix=6, Suffix=2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3749040" y="1737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čuva: "ić"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0040" y="2194560"/>
            <a:ext cx="1440000" cy="41400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194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Petronijević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60715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Prefix=5, Suffix=7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3749040" y="2240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čuva: "nijević"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320040" y="2872681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Ušteda prostora do 50%+ za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kompozitne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indekse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b="1" dirty="0">
              <a:solidFill>
                <a:srgbClr val="1B2A4A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715000" y="777240"/>
            <a:ext cx="3200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715000" y="777240"/>
            <a:ext cx="64008" cy="13716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52160" y="8503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Duplikati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852160" y="1261872"/>
            <a:ext cx="3017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Non-unique indeksi grupišu iste ključeve.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Lista RDB$DB_KEY vrednosti pod jednim unosom.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Kompaktno — štedi prostor u Buffer Pool-u.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15000" y="2286000"/>
            <a:ext cx="3200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715000" y="2286000"/>
            <a:ext cx="64008" cy="150876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852160" y="23591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vrednosti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852160" y="2724912"/>
            <a:ext cx="30175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NULL = najmanji ključ → na početku B+ stabla.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IS NULL koristi indeks — </a:t>
            </a:r>
            <a:r>
              <a:rPr lang="en-US" sz="1200" b="1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nema Full Table Scan</a:t>
            </a:r>
            <a:endParaRPr lang="en-US" sz="1200" b="1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Firebird tretira NULL kao ravnopravnu vrednost.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Tipovi indeksa i njihova primena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863505"/>
            <a:ext cx="4251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863505"/>
            <a:ext cx="4251960" cy="384048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" y="918369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Primarni ključ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8328" y="1338993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kreiran pri PRIMARY KEY.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Najniža selektivnost (svaki red jedinstven).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Preporučiti uski tip — BIGINT.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3505"/>
            <a:ext cx="4251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863505"/>
            <a:ext cx="4251960" cy="384048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18888" y="918369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Unikatni indeks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18888" y="1338993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 stablo kao zaštitna barijera.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Provera jedinstvenosti pri svakom INSERT.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Greška pre upisa na disk.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2783745"/>
            <a:ext cx="4251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28600" y="2783745"/>
            <a:ext cx="4251960" cy="384048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8328" y="2838609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Strani ključ (FK)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8328" y="3259233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kreiran na strani "deteta".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Validacija bez Full Scan roditeljske tabele.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Brisanje roditelja — instant provera.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2783745"/>
            <a:ext cx="4251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09160" y="2783745"/>
            <a:ext cx="4251960" cy="384048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18888" y="2838609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indeks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818888" y="3259233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 nad UPPER(LAST_NAME) ili CASE.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Izraz se izračunava pri upisu, NE pri čitanju.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 ključevi za optimizer —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Full Scan</a:t>
            </a:r>
            <a:endParaRPr lang="en-US" sz="120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Statistika indeksa i selektivnost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9144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Selektivnost  =  1 / broj unikatnih ključeva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228600" y="187452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28600" y="1874520"/>
            <a:ext cx="64008" cy="137160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94767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Blizu 0 — DOBAR indeks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2313432"/>
            <a:ext cx="2560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Primarni ključ (EMP_NO).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 red jedinstven.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Optimizator UVEK koristi.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87452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0" y="1874520"/>
            <a:ext cx="64008" cy="13716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37560" y="194767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Blizu 1 — LOŠ indeks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37560" y="2313432"/>
            <a:ext cx="2560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Optimizator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IGNORIŠE.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Scan je brži.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187452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72200" y="1874520"/>
            <a:ext cx="64008" cy="13716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09360" y="194767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STATISTICS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2304288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Rekalkulacija selektivnosti.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Neophodna posle masovnih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INSERT/DELETE operacija.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" y="3401568"/>
            <a:ext cx="8686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28600" y="3401568"/>
            <a:ext cx="64008" cy="128016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47472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 statistika zastareva?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3840480"/>
            <a:ext cx="8503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Selektivnost se NE ažurira pri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svakom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INSERT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/UPDATE/DELETE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 bi drastično usporilo upis. Tokom vremena, statistika u RDB$INDICES prestaje da odgovara stvarnoj distribuciji ključeva. Optimizator tada donosi loše odluke — bira Full Scan tamo gde bi INDEX Scan bio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brži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sr-Latn-RS" sz="1200" dirty="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Rešenje</a:t>
            </a: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redovno pokretati SET STATISTICS INDEX.</a:t>
            </a:r>
            <a:endParaRPr lang="en-US" sz="12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Plans — NATURAL vs INDEX Scan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8686800" cy="1115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glow rad="101600">
              <a:schemeClr val="bg1">
                <a:lumMod val="85000"/>
                <a:alpha val="60000"/>
              </a:schemeClr>
            </a:glow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804672"/>
            <a:ext cx="1371600" cy="1115568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46888" y="1124712"/>
            <a:ext cx="1335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Seek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4433115" cy="384048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83080" y="9326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(EMPLOYEE INDEX (RDB$PRIMARY7))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216195" y="914400"/>
            <a:ext cx="260776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Direktan pristup po primarnom ključu.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Logaritamska brzina O(log n).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2084832"/>
            <a:ext cx="8686800" cy="1115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glow rad="101600">
              <a:schemeClr val="bg1">
                <a:lumMod val="85000"/>
                <a:alpha val="60000"/>
              </a:schemeClr>
            </a:glow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28600" y="2084832"/>
            <a:ext cx="1371600" cy="1115568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46888" y="2404872"/>
            <a:ext cx="1335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Scan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91640" y="2194560"/>
            <a:ext cx="4433115" cy="384048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783080" y="22128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(SALES INDEX (IDX_SALES_ORDER_DESC))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16195" y="2194560"/>
            <a:ext cx="260776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Opseg vrednosti — Range Scan.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Horizontalno čitanje listova B+ stabla.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" y="3364992"/>
            <a:ext cx="8686800" cy="1115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glow rad="101600">
              <a:schemeClr val="bg1">
                <a:lumMod val="85000"/>
                <a:alpha val="60000"/>
              </a:schemeClr>
            </a:glow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28600" y="3364992"/>
            <a:ext cx="1371600" cy="11155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46888" y="3685032"/>
            <a:ext cx="1335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691640" y="3474720"/>
            <a:ext cx="4433115" cy="384048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783080" y="349300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(EMPLOYEE NATURAL)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16195" y="3474720"/>
            <a:ext cx="260776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Nema indeksa ili loša selektivnost.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Linearno čitanje svake stranice — </a:t>
            </a:r>
            <a:r>
              <a:rPr lang="en-US" sz="1200" b="1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SPORO</a:t>
            </a: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" y="46634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PLAN ON  u ISQL-u prikazuje plan za svaki upit — osnovno dijagnostičko oruđe!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356266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 zaključci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42066"/>
            <a:ext cx="8412480" cy="621792"/>
          </a:xfrm>
          <a:prstGeom prst="rect">
            <a:avLst/>
          </a:prstGeom>
          <a:solidFill>
            <a:srgbClr val="434E65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042066"/>
            <a:ext cx="73152" cy="62179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0352" y="113350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 stablo: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468880" y="1133506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Logaritamska pretraga — dubina stabla direktno određuje broj I/O operacija.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791874"/>
            <a:ext cx="8412480" cy="621792"/>
          </a:xfrm>
          <a:prstGeom prst="rect">
            <a:avLst/>
          </a:prstGeom>
          <a:solidFill>
            <a:srgbClr val="434E65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791874"/>
            <a:ext cx="73152" cy="62179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0352" y="1883314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= Index Bloat: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2468880" y="1883314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 UPDATE kreira novu verziju — indeksi se "naduvavaju" tokom vremena.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541682"/>
            <a:ext cx="8412480" cy="621792"/>
          </a:xfrm>
          <a:prstGeom prst="rect">
            <a:avLst/>
          </a:prstGeom>
          <a:solidFill>
            <a:srgbClr val="434E65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2541682"/>
            <a:ext cx="73152" cy="62179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0352" y="263312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468880" y="2633122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OAT blokira GC — dugačke transakcije su najveći neprijatelj performansi.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291490"/>
            <a:ext cx="8412480" cy="621792"/>
          </a:xfrm>
          <a:prstGeom prst="rect">
            <a:avLst/>
          </a:prstGeom>
          <a:solidFill>
            <a:srgbClr val="434E65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291490"/>
            <a:ext cx="73152" cy="62179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338293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Selektivnost: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468880" y="338293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Statiku treba osvežavati — zastarela statistika vodi do pogrešnih planova.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041298"/>
            <a:ext cx="8412480" cy="621792"/>
          </a:xfrm>
          <a:prstGeom prst="rect">
            <a:avLst/>
          </a:prstGeom>
          <a:solidFill>
            <a:srgbClr val="434E65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365760" y="4041298"/>
            <a:ext cx="73152" cy="62179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" y="413273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indeksi: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2468880" y="4132738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Izraz se izračunava pri upisu, ne pri čitanju — drastično ubrzava upite.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1161</Words>
  <Application>Microsoft Office PowerPoint</Application>
  <PresentationFormat>On-screen Show (16:9)</PresentationFormat>
  <Paragraphs>201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Interna struktura indeksa u Firebird bazi podataka</dc:title>
  <dc:subject>PptxGenJS Presentation</dc:subject>
  <dc:creator>PptxGenJS</dc:creator>
  <cp:lastModifiedBy>Jefimija Stamenovic</cp:lastModifiedBy>
  <cp:revision>23</cp:revision>
  <dcterms:created xsi:type="dcterms:W3CDTF">2026-03-11T06:23:49Z</dcterms:created>
  <dcterms:modified xsi:type="dcterms:W3CDTF">2026-03-11T16:55:07Z</dcterms:modified>
</cp:coreProperties>
</file>