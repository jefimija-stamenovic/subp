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2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8060" autoAdjust="0"/>
  </p:normalViewPr>
  <p:slideViewPr>
    <p:cSldViewPr snapToGrid="0" snapToObjects="1">
      <p:cViewPr>
        <p:scale>
          <a:sx n="60" d="100"/>
          <a:sy n="60" d="100"/>
        </p:scale>
        <p:origin x="2026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9181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je </a:t>
            </a:r>
            <a:r>
              <a:rPr lang="en-US" dirty="0" err="1"/>
              <a:t>sadržaj</a:t>
            </a:r>
            <a:r>
              <a:rPr lang="en-US" dirty="0"/>
              <a:t> </a:t>
            </a:r>
            <a:r>
              <a:rPr lang="en-US" dirty="0" err="1"/>
              <a:t>prezentacije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pokriva</a:t>
            </a:r>
            <a:r>
              <a:rPr lang="en-US" dirty="0"/>
              <a:t> </a:t>
            </a:r>
            <a:r>
              <a:rPr lang="en-US" dirty="0" err="1"/>
              <a:t>sedam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oblasti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visoke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Firebird </a:t>
            </a:r>
            <a:r>
              <a:rPr lang="en-US" dirty="0" err="1"/>
              <a:t>sistemu</a:t>
            </a:r>
            <a:r>
              <a:rPr lang="en-US" dirty="0"/>
              <a:t>.</a:t>
            </a:r>
          </a:p>
          <a:p>
            <a:r>
              <a:rPr lang="en-US" dirty="0" err="1"/>
              <a:t>Krećemo</a:t>
            </a:r>
            <a:r>
              <a:rPr lang="en-US" dirty="0"/>
              <a:t> od </a:t>
            </a:r>
            <a:r>
              <a:rPr lang="en-US" b="1" dirty="0"/>
              <a:t>CAP </a:t>
            </a:r>
            <a:r>
              <a:rPr lang="en-US" b="1" dirty="0" err="1"/>
              <a:t>teoreme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teorijsk</a:t>
            </a:r>
            <a:r>
              <a:rPr lang="sr-Latn-RS" dirty="0"/>
              <a:t>e osnove, odnosno, </a:t>
            </a:r>
            <a:r>
              <a:rPr lang="en-US" dirty="0" err="1"/>
              <a:t>fundamentalnog</a:t>
            </a:r>
            <a:r>
              <a:rPr lang="en-US" dirty="0"/>
              <a:t> </a:t>
            </a:r>
            <a:r>
              <a:rPr lang="en-US" dirty="0" err="1"/>
              <a:t>kompromisa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</a:t>
            </a:r>
            <a:r>
              <a:rPr lang="en-US" dirty="0" err="1"/>
              <a:t>distribuiranim</a:t>
            </a:r>
            <a:r>
              <a:rPr lang="en-US" dirty="0"/>
              <a:t> </a:t>
            </a:r>
            <a:r>
              <a:rPr lang="en-US" dirty="0" err="1"/>
              <a:t>sistemima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</a:t>
            </a:r>
            <a:r>
              <a:rPr lang="en-US" dirty="0" err="1"/>
              <a:t>analiziramo</a:t>
            </a:r>
            <a:r>
              <a:rPr lang="en-US" dirty="0"/>
              <a:t> </a:t>
            </a:r>
            <a:r>
              <a:rPr lang="en-US" b="1" dirty="0" err="1"/>
              <a:t>Preslikavanje</a:t>
            </a:r>
            <a:r>
              <a:rPr lang="en-US" b="1" dirty="0"/>
              <a:t> (Mirroring)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MANUAL/AUTO </a:t>
            </a:r>
            <a:r>
              <a:rPr lang="en-US" dirty="0" err="1"/>
              <a:t>režimima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scenarijima</a:t>
            </a:r>
            <a:r>
              <a:rPr lang="en-US" dirty="0"/>
              <a:t> </a:t>
            </a:r>
            <a:r>
              <a:rPr lang="en-US" dirty="0" err="1"/>
              <a:t>oporavka</a:t>
            </a:r>
            <a:r>
              <a:rPr lang="en-US" dirty="0"/>
              <a:t>.</a:t>
            </a:r>
          </a:p>
          <a:p>
            <a:r>
              <a:rPr lang="en-US" dirty="0" err="1"/>
              <a:t>Centralni</a:t>
            </a:r>
            <a:r>
              <a:rPr lang="en-US" dirty="0"/>
              <a:t> deo </a:t>
            </a:r>
            <a:r>
              <a:rPr lang="en-US" dirty="0" err="1"/>
              <a:t>pokriva</a:t>
            </a:r>
            <a:r>
              <a:rPr lang="en-US" dirty="0"/>
              <a:t> </a:t>
            </a:r>
            <a:r>
              <a:rPr lang="en-US" dirty="0" err="1"/>
              <a:t>replikacione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— </a:t>
            </a:r>
            <a:r>
              <a:rPr lang="en-US" b="1" dirty="0" err="1"/>
              <a:t>Nativna</a:t>
            </a:r>
            <a:r>
              <a:rPr lang="en-US" b="1" dirty="0"/>
              <a:t> </a:t>
            </a:r>
            <a:r>
              <a:rPr lang="en-US" b="1" dirty="0" err="1"/>
              <a:t>binarna</a:t>
            </a:r>
            <a:r>
              <a:rPr lang="en-US" b="1" dirty="0"/>
              <a:t> </a:t>
            </a:r>
            <a:r>
              <a:rPr lang="en-US" b="1" dirty="0" err="1"/>
              <a:t>replikacija</a:t>
            </a:r>
            <a:r>
              <a:rPr lang="en-US" dirty="0"/>
              <a:t> </a:t>
            </a:r>
            <a:r>
              <a:rPr lang="en-US" dirty="0" err="1"/>
              <a:t>uvedena</a:t>
            </a:r>
            <a:r>
              <a:rPr lang="en-US" dirty="0"/>
              <a:t> u Firebird 4.0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replikacionim</a:t>
            </a:r>
            <a:r>
              <a:rPr lang="en-US" dirty="0"/>
              <a:t> </a:t>
            </a:r>
            <a:r>
              <a:rPr lang="en-US" dirty="0" err="1"/>
              <a:t>dnevnicima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sinhronizacijom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b="1" dirty="0" err="1"/>
              <a:t>Sinhrona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Asinhrona</a:t>
            </a:r>
            <a:r>
              <a:rPr lang="en-US" b="1" dirty="0"/>
              <a:t> </a:t>
            </a:r>
            <a:r>
              <a:rPr lang="en-US" b="1" dirty="0" err="1"/>
              <a:t>replikacije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prizmu</a:t>
            </a:r>
            <a:r>
              <a:rPr lang="en-US" dirty="0"/>
              <a:t> Zero Data Loss vs Replication Lag </a:t>
            </a:r>
            <a:r>
              <a:rPr lang="en-US" dirty="0" err="1"/>
              <a:t>kompromisa</a:t>
            </a:r>
            <a:r>
              <a:rPr lang="en-US" dirty="0"/>
              <a:t>.</a:t>
            </a:r>
          </a:p>
          <a:p>
            <a:r>
              <a:rPr lang="en-US" dirty="0" err="1"/>
              <a:t>Praktični</a:t>
            </a:r>
            <a:r>
              <a:rPr lang="en-US" dirty="0"/>
              <a:t> </a:t>
            </a:r>
            <a:r>
              <a:rPr lang="en-US" dirty="0" err="1"/>
              <a:t>aspekti</a:t>
            </a:r>
            <a:r>
              <a:rPr lang="en-US" dirty="0"/>
              <a:t> </a:t>
            </a:r>
            <a:r>
              <a:rPr lang="en-US" dirty="0" err="1"/>
              <a:t>obuhvataju</a:t>
            </a:r>
            <a:r>
              <a:rPr lang="en-US" dirty="0"/>
              <a:t> </a:t>
            </a:r>
            <a:r>
              <a:rPr lang="en-US" b="1" dirty="0" err="1"/>
              <a:t>Logičku</a:t>
            </a:r>
            <a:r>
              <a:rPr lang="en-US" b="1" dirty="0"/>
              <a:t> </a:t>
            </a:r>
            <a:r>
              <a:rPr lang="en-US" b="1" dirty="0" err="1"/>
              <a:t>replikaciju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trigera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REPLICATION_LOG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rešavanjem</a:t>
            </a:r>
            <a:r>
              <a:rPr lang="en-US" dirty="0"/>
              <a:t> </a:t>
            </a:r>
            <a:r>
              <a:rPr lang="en-US" dirty="0" err="1"/>
              <a:t>konflikata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Multi-Master </a:t>
            </a:r>
            <a:r>
              <a:rPr lang="en-US" b="1" dirty="0" err="1"/>
              <a:t>topologije</a:t>
            </a:r>
            <a:r>
              <a:rPr lang="en-US" dirty="0"/>
              <a:t> — Star, Mesh </a:t>
            </a:r>
            <a:r>
              <a:rPr lang="en-US" dirty="0" err="1"/>
              <a:t>i</a:t>
            </a:r>
            <a:r>
              <a:rPr lang="en-US" dirty="0"/>
              <a:t> Ring </a:t>
            </a:r>
            <a:r>
              <a:rPr lang="en-US" dirty="0" err="1"/>
              <a:t>arhitekture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analizom</a:t>
            </a:r>
            <a:r>
              <a:rPr lang="en-US" dirty="0"/>
              <a:t> </a:t>
            </a:r>
            <a:r>
              <a:rPr lang="en-US" dirty="0" err="1"/>
              <a:t>eho</a:t>
            </a:r>
            <a:r>
              <a:rPr lang="en-US" dirty="0"/>
              <a:t> </a:t>
            </a:r>
            <a:r>
              <a:rPr lang="en-US" dirty="0" err="1"/>
              <a:t>efekta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načinima</a:t>
            </a:r>
            <a:r>
              <a:rPr lang="en-US" dirty="0"/>
              <a:t> </a:t>
            </a:r>
            <a:r>
              <a:rPr lang="en-US" dirty="0" err="1"/>
              <a:t>njegovog</a:t>
            </a:r>
            <a:r>
              <a:rPr lang="en-US" dirty="0"/>
              <a:t> </a:t>
            </a:r>
            <a:r>
              <a:rPr lang="en-US" dirty="0" err="1"/>
              <a:t>rešavanja</a:t>
            </a:r>
            <a:r>
              <a:rPr lang="en-US" dirty="0"/>
              <a:t>.</a:t>
            </a:r>
          </a:p>
          <a:p>
            <a:r>
              <a:rPr lang="en-US" dirty="0"/>
              <a:t>Prezentacija se </a:t>
            </a:r>
            <a:r>
              <a:rPr lang="en-US" dirty="0" err="1"/>
              <a:t>zaključuje</a:t>
            </a:r>
            <a:r>
              <a:rPr lang="en-US" dirty="0"/>
              <a:t> </a:t>
            </a:r>
            <a:r>
              <a:rPr lang="en-US" b="1" dirty="0" err="1"/>
              <a:t>Praktičnom</a:t>
            </a:r>
            <a:r>
              <a:rPr lang="en-US" b="1" dirty="0"/>
              <a:t> </a:t>
            </a:r>
            <a:r>
              <a:rPr lang="en-US" b="1" dirty="0" err="1"/>
              <a:t>implementacijom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8 </a:t>
            </a:r>
            <a:r>
              <a:rPr lang="en-US" dirty="0" err="1"/>
              <a:t>koraka</a:t>
            </a:r>
            <a:r>
              <a:rPr lang="en-US" dirty="0"/>
              <a:t> </a:t>
            </a:r>
            <a:r>
              <a:rPr lang="en-US" dirty="0" err="1"/>
              <a:t>konfiguracije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5 </a:t>
            </a:r>
            <a:r>
              <a:rPr lang="en-US" dirty="0" err="1"/>
              <a:t>verifikacionih</a:t>
            </a:r>
            <a:r>
              <a:rPr lang="en-US" dirty="0"/>
              <a:t> </a:t>
            </a:r>
            <a:r>
              <a:rPr lang="en-US" dirty="0" err="1"/>
              <a:t>primera</a:t>
            </a:r>
            <a:r>
              <a:rPr lang="en-US" dirty="0"/>
              <a:t> koji </a:t>
            </a:r>
            <a:r>
              <a:rPr lang="en-US" dirty="0" err="1"/>
              <a:t>demonstriraju</a:t>
            </a:r>
            <a:r>
              <a:rPr lang="en-US" dirty="0"/>
              <a:t> </a:t>
            </a:r>
            <a:r>
              <a:rPr lang="en-US" dirty="0" err="1"/>
              <a:t>postavljanje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okruženju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 </a:t>
            </a:r>
            <a:r>
              <a:rPr lang="en-US" dirty="0" err="1"/>
              <a:t>teorema</a:t>
            </a:r>
            <a:r>
              <a:rPr lang="en-US" dirty="0"/>
              <a:t> </a:t>
            </a:r>
            <a:r>
              <a:rPr lang="en-US" dirty="0" err="1"/>
              <a:t>kaže</a:t>
            </a:r>
            <a:r>
              <a:rPr lang="en-US" dirty="0"/>
              <a:t> da </a:t>
            </a:r>
            <a:r>
              <a:rPr lang="en-US" dirty="0" err="1"/>
              <a:t>nijedan</a:t>
            </a:r>
            <a:r>
              <a:rPr lang="en-US" dirty="0"/>
              <a:t> </a:t>
            </a:r>
            <a:r>
              <a:rPr lang="en-US" dirty="0" err="1"/>
              <a:t>distribuirani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istovremeno</a:t>
            </a:r>
            <a:r>
              <a:rPr lang="en-US" dirty="0"/>
              <a:t> </a:t>
            </a:r>
            <a:r>
              <a:rPr lang="en-US" dirty="0" err="1"/>
              <a:t>garantovati</a:t>
            </a:r>
            <a:r>
              <a:rPr lang="en-US" dirty="0"/>
              <a:t> </a:t>
            </a:r>
            <a:r>
              <a:rPr lang="en-US" dirty="0" err="1"/>
              <a:t>sva</a:t>
            </a:r>
            <a:r>
              <a:rPr lang="en-US" dirty="0"/>
              <a:t> tri </a:t>
            </a:r>
            <a:r>
              <a:rPr lang="en-US" dirty="0" err="1"/>
              <a:t>svojstva</a:t>
            </a:r>
            <a:r>
              <a:rPr lang="en-US" dirty="0"/>
              <a:t> — </a:t>
            </a:r>
            <a:r>
              <a:rPr lang="en-US" dirty="0" err="1"/>
              <a:t>Konzistentnost</a:t>
            </a:r>
            <a:r>
              <a:rPr lang="en-US" dirty="0"/>
              <a:t>, Dostupnost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Otpornost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— </a:t>
            </a:r>
            <a:r>
              <a:rPr lang="en-US" dirty="0" err="1"/>
              <a:t>već</a:t>
            </a:r>
            <a:r>
              <a:rPr lang="en-US" dirty="0"/>
              <a:t> mora da </a:t>
            </a:r>
            <a:r>
              <a:rPr lang="en-US" dirty="0" err="1"/>
              <a:t>izabere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od tri.</a:t>
            </a:r>
          </a:p>
          <a:p>
            <a:r>
              <a:rPr lang="en-US" b="1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identični</a:t>
            </a:r>
            <a:r>
              <a:rPr lang="en-US" dirty="0"/>
              <a:t>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trenutku</a:t>
            </a:r>
            <a:r>
              <a:rPr lang="en-US" dirty="0"/>
              <a:t> — </a:t>
            </a:r>
            <a:r>
              <a:rPr lang="en-US" dirty="0" err="1"/>
              <a:t>zahteva</a:t>
            </a:r>
            <a:r>
              <a:rPr lang="en-US" dirty="0"/>
              <a:t> </a:t>
            </a:r>
            <a:r>
              <a:rPr lang="en-US" dirty="0" err="1"/>
              <a:t>sinhronizaciju</a:t>
            </a:r>
            <a:r>
              <a:rPr lang="en-US" dirty="0"/>
              <a:t> pre </a:t>
            </a:r>
            <a:r>
              <a:rPr lang="en-US" dirty="0" err="1"/>
              <a:t>odgovora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idealnim</a:t>
            </a:r>
            <a:r>
              <a:rPr lang="en-US" dirty="0"/>
              <a:t>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knjiženje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.</a:t>
            </a:r>
          </a:p>
          <a:p>
            <a:r>
              <a:rPr lang="en-US" b="1" dirty="0"/>
              <a:t>Dostupnost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brzinu</a:t>
            </a:r>
            <a:r>
              <a:rPr lang="en-US" dirty="0"/>
              <a:t> rada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kontinuitet</a:t>
            </a:r>
            <a:r>
              <a:rPr lang="en-US" dirty="0"/>
              <a:t> </a:t>
            </a:r>
            <a:r>
              <a:rPr lang="en-US" dirty="0" err="1"/>
              <a:t>servisa</a:t>
            </a:r>
            <a:r>
              <a:rPr lang="en-US" dirty="0"/>
              <a:t> — </a:t>
            </a:r>
            <a:r>
              <a:rPr lang="en-US" dirty="0" err="1"/>
              <a:t>korisnik</a:t>
            </a:r>
            <a:r>
              <a:rPr lang="en-US" dirty="0"/>
              <a:t> ne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slave </a:t>
            </a:r>
            <a:r>
              <a:rPr lang="en-US" dirty="0" err="1"/>
              <a:t>servera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idealno</a:t>
            </a:r>
            <a:r>
              <a:rPr lang="en-US" dirty="0"/>
              <a:t> za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mernih</a:t>
            </a:r>
            <a:r>
              <a:rPr lang="en-US" dirty="0"/>
              <a:t> </a:t>
            </a:r>
            <a:r>
              <a:rPr lang="en-US" dirty="0" err="1"/>
              <a:t>uređaja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IoT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brzina</a:t>
            </a:r>
            <a:r>
              <a:rPr lang="en-US" dirty="0"/>
              <a:t> </a:t>
            </a:r>
            <a:r>
              <a:rPr lang="en-US" dirty="0" err="1"/>
              <a:t>važnija</a:t>
            </a:r>
            <a:r>
              <a:rPr lang="en-US" dirty="0"/>
              <a:t> od </a:t>
            </a:r>
            <a:r>
              <a:rPr lang="en-US" dirty="0" err="1"/>
              <a:t>trenutne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.</a:t>
            </a:r>
          </a:p>
          <a:p>
            <a:r>
              <a:rPr lang="en-US" b="1" dirty="0" err="1"/>
              <a:t>Otpornost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particije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čak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mrežna</a:t>
            </a:r>
            <a:r>
              <a:rPr lang="en-US" dirty="0"/>
              <a:t> </a:t>
            </a:r>
            <a:r>
              <a:rPr lang="en-US" dirty="0" err="1"/>
              <a:t>veza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čvorova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pouzdana</a:t>
            </a:r>
            <a:r>
              <a:rPr lang="en-US" dirty="0"/>
              <a:t> —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svojstvo</a:t>
            </a:r>
            <a:r>
              <a:rPr lang="en-US" dirty="0"/>
              <a:t> je u </a:t>
            </a:r>
            <a:r>
              <a:rPr lang="en-US" dirty="0" err="1"/>
              <a:t>praksi</a:t>
            </a:r>
            <a:r>
              <a:rPr lang="en-US" dirty="0"/>
              <a:t> </a:t>
            </a:r>
            <a:r>
              <a:rPr lang="en-US" dirty="0" err="1"/>
              <a:t>obavezno</a:t>
            </a:r>
            <a:r>
              <a:rPr lang="en-US" dirty="0"/>
              <a:t> za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distribuirani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, pa je </a:t>
            </a:r>
            <a:r>
              <a:rPr lang="en-US" dirty="0" err="1"/>
              <a:t>pravi</a:t>
            </a:r>
            <a:r>
              <a:rPr lang="en-US" dirty="0"/>
              <a:t>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C </a:t>
            </a:r>
            <a:r>
              <a:rPr lang="en-US" dirty="0" err="1"/>
              <a:t>i</a:t>
            </a:r>
            <a:r>
              <a:rPr lang="en-US" dirty="0"/>
              <a:t> A.</a:t>
            </a:r>
          </a:p>
          <a:p>
            <a:r>
              <a:rPr lang="en-US" dirty="0"/>
              <a:t>Firebird 4.0 </a:t>
            </a:r>
            <a:r>
              <a:rPr lang="en-US" dirty="0" err="1"/>
              <a:t>nudi</a:t>
            </a:r>
            <a:r>
              <a:rPr lang="en-US" dirty="0"/>
              <a:t> oba </a:t>
            </a:r>
            <a:r>
              <a:rPr lang="en-US" dirty="0" err="1"/>
              <a:t>režima</a:t>
            </a:r>
            <a:r>
              <a:rPr lang="en-US" dirty="0"/>
              <a:t> — </a:t>
            </a:r>
            <a:r>
              <a:rPr lang="en-US" dirty="0" err="1"/>
              <a:t>sinhroni</a:t>
            </a:r>
            <a:r>
              <a:rPr lang="en-US" dirty="0"/>
              <a:t> (C+P)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apsolutni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asinhroni</a:t>
            </a:r>
            <a:r>
              <a:rPr lang="en-US" dirty="0"/>
              <a:t> (A+P) za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visokom</a:t>
            </a:r>
            <a:r>
              <a:rPr lang="en-US" dirty="0"/>
              <a:t> </a:t>
            </a:r>
            <a:r>
              <a:rPr lang="en-US" dirty="0" err="1"/>
              <a:t>propusnošću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važnija</a:t>
            </a:r>
            <a:r>
              <a:rPr lang="en-US" dirty="0"/>
              <a:t> </a:t>
            </a:r>
            <a:r>
              <a:rPr lang="en-US" dirty="0" err="1"/>
              <a:t>dostupnost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brzina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Preslikavanje</a:t>
            </a:r>
            <a:r>
              <a:rPr lang="en-US" dirty="0"/>
              <a:t> (Mirroring) je </a:t>
            </a:r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visoke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</a:t>
            </a:r>
            <a:r>
              <a:rPr lang="en-US" dirty="0" err="1"/>
              <a:t>Firebirdu</a:t>
            </a:r>
            <a:r>
              <a:rPr lang="en-US" dirty="0"/>
              <a:t> koji </a:t>
            </a:r>
            <a:r>
              <a:rPr lang="en-US" dirty="0" err="1"/>
              <a:t>operišena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 (4–16 KB) — </a:t>
            </a:r>
            <a:r>
              <a:rPr lang="en-US" dirty="0" err="1"/>
              <a:t>svaki</a:t>
            </a:r>
            <a:r>
              <a:rPr lang="en-US" dirty="0"/>
              <a:t> COMMIT </a:t>
            </a:r>
            <a:r>
              <a:rPr lang="en-US" dirty="0" err="1"/>
              <a:t>istovremeno</a:t>
            </a:r>
            <a:r>
              <a:rPr lang="en-US" dirty="0"/>
              <a:t> </a:t>
            </a:r>
            <a:r>
              <a:rPr lang="en-US" dirty="0" err="1"/>
              <a:t>upisuje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primarni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shadow disk, a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oba </a:t>
            </a:r>
            <a:r>
              <a:rPr lang="en-US" dirty="0" err="1"/>
              <a:t>diska</a:t>
            </a:r>
            <a:r>
              <a:rPr lang="en-US" dirty="0"/>
              <a:t> pre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odgovori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.</a:t>
            </a:r>
          </a:p>
          <a:p>
            <a:r>
              <a:rPr lang="en-US" b="1" dirty="0"/>
              <a:t>MANUAL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ispravnost</a:t>
            </a:r>
            <a:r>
              <a:rPr lang="en-US" dirty="0"/>
              <a:t> </a:t>
            </a:r>
            <a:r>
              <a:rPr lang="en-US" dirty="0" err="1"/>
              <a:t>kopije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</a:t>
            </a:r>
            <a:r>
              <a:rPr lang="en-US" dirty="0" err="1"/>
              <a:t>iznad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— </a:t>
            </a:r>
            <a:r>
              <a:rPr lang="en-US" dirty="0" err="1"/>
              <a:t>ako</a:t>
            </a:r>
            <a:r>
              <a:rPr lang="en-US" dirty="0"/>
              <a:t> shadow disk </a:t>
            </a:r>
            <a:r>
              <a:rPr lang="en-US" dirty="0" err="1"/>
              <a:t>zakaže</a:t>
            </a:r>
            <a:r>
              <a:rPr lang="en-US" dirty="0"/>
              <a:t>, </a:t>
            </a:r>
            <a:r>
              <a:rPr lang="en-US" dirty="0" err="1"/>
              <a:t>cela</a:t>
            </a:r>
            <a:r>
              <a:rPr lang="en-US" dirty="0"/>
              <a:t> </a:t>
            </a:r>
            <a:r>
              <a:rPr lang="en-US" dirty="0" err="1"/>
              <a:t>baza</a:t>
            </a:r>
            <a:r>
              <a:rPr lang="en-US" dirty="0"/>
              <a:t> se </a:t>
            </a:r>
            <a:r>
              <a:rPr lang="en-US" dirty="0" err="1"/>
              <a:t>zatvara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kritičnim</a:t>
            </a:r>
            <a:r>
              <a:rPr lang="en-US" dirty="0"/>
              <a:t>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apsolutno</a:t>
            </a:r>
            <a:r>
              <a:rPr lang="en-US" dirty="0"/>
              <a:t> </a:t>
            </a:r>
            <a:r>
              <a:rPr lang="en-US" dirty="0" err="1"/>
              <a:t>neprihvatljiv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.</a:t>
            </a:r>
          </a:p>
          <a:p>
            <a:r>
              <a:rPr lang="en-US" b="1" dirty="0"/>
              <a:t>AUTO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neprekidni</a:t>
            </a:r>
            <a:r>
              <a:rPr lang="en-US" dirty="0"/>
              <a:t> rad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</a:t>
            </a:r>
            <a:r>
              <a:rPr lang="en-US" dirty="0" err="1"/>
              <a:t>iznad</a:t>
            </a:r>
            <a:r>
              <a:rPr lang="en-US" dirty="0"/>
              <a:t> </a:t>
            </a:r>
            <a:r>
              <a:rPr lang="en-US" dirty="0" err="1"/>
              <a:t>redundanse</a:t>
            </a:r>
            <a:r>
              <a:rPr lang="en-US" dirty="0"/>
              <a:t> — </a:t>
            </a:r>
            <a:r>
              <a:rPr lang="en-US" dirty="0" err="1"/>
              <a:t>ako</a:t>
            </a:r>
            <a:r>
              <a:rPr lang="en-US" dirty="0"/>
              <a:t> shadow disk </a:t>
            </a:r>
            <a:r>
              <a:rPr lang="en-US" dirty="0" err="1"/>
              <a:t>zakaže</a:t>
            </a:r>
            <a:r>
              <a:rPr lang="en-US" dirty="0"/>
              <a:t>,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nastavlja</a:t>
            </a:r>
            <a:r>
              <a:rPr lang="en-US" dirty="0"/>
              <a:t> rad bez </a:t>
            </a:r>
            <a:r>
              <a:rPr lang="en-US" dirty="0" err="1"/>
              <a:t>preslikavanja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pogodnim</a:t>
            </a:r>
            <a:r>
              <a:rPr lang="en-US" dirty="0"/>
              <a:t> za dev/test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koji </a:t>
            </a:r>
            <a:r>
              <a:rPr lang="en-US" dirty="0" err="1"/>
              <a:t>koriste</a:t>
            </a:r>
            <a:r>
              <a:rPr lang="en-US" dirty="0"/>
              <a:t> shadow </a:t>
            </a:r>
            <a:r>
              <a:rPr lang="en-US" dirty="0" err="1"/>
              <a:t>kao</a:t>
            </a:r>
            <a:r>
              <a:rPr lang="en-US" dirty="0"/>
              <a:t> backup generator.</a:t>
            </a:r>
          </a:p>
          <a:p>
            <a:r>
              <a:rPr lang="en-US" dirty="0" err="1"/>
              <a:t>Važno</a:t>
            </a:r>
            <a:r>
              <a:rPr lang="en-US" dirty="0"/>
              <a:t> je </a:t>
            </a:r>
            <a:r>
              <a:rPr lang="en-US" dirty="0" err="1"/>
              <a:t>razumeti</a:t>
            </a:r>
            <a:r>
              <a:rPr lang="en-US" dirty="0"/>
              <a:t> </a:t>
            </a:r>
            <a:r>
              <a:rPr lang="en-US" dirty="0" err="1"/>
              <a:t>ograničenja</a:t>
            </a:r>
            <a:r>
              <a:rPr lang="en-US" dirty="0"/>
              <a:t> </a:t>
            </a:r>
            <a:r>
              <a:rPr lang="en-US" dirty="0" err="1"/>
              <a:t>preslikavanja</a:t>
            </a:r>
            <a:r>
              <a:rPr lang="en-US" dirty="0"/>
              <a:t> — oba </a:t>
            </a:r>
            <a:r>
              <a:rPr lang="en-US" dirty="0" err="1"/>
              <a:t>diska</a:t>
            </a:r>
            <a:r>
              <a:rPr lang="en-US" dirty="0"/>
              <a:t> se </a:t>
            </a:r>
            <a:r>
              <a:rPr lang="en-US" dirty="0" err="1"/>
              <a:t>čekaju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uvodi</a:t>
            </a:r>
            <a:r>
              <a:rPr lang="en-US" dirty="0"/>
              <a:t> I/O </a:t>
            </a:r>
            <a:r>
              <a:rPr lang="en-US" dirty="0" err="1"/>
              <a:t>kaznu</a:t>
            </a:r>
            <a:r>
              <a:rPr lang="en-US" dirty="0"/>
              <a:t>,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LAN </a:t>
            </a:r>
            <a:r>
              <a:rPr lang="en-US" dirty="0" err="1"/>
              <a:t>mreži</a:t>
            </a:r>
            <a:r>
              <a:rPr lang="en-US" dirty="0"/>
              <a:t>, shadow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čitljiv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je </a:t>
            </a:r>
            <a:r>
              <a:rPr lang="en-US" dirty="0" err="1"/>
              <a:t>aktivan</a:t>
            </a:r>
            <a:r>
              <a:rPr lang="en-US" dirty="0"/>
              <a:t>, oba </a:t>
            </a:r>
            <a:r>
              <a:rPr lang="en-US" dirty="0" err="1"/>
              <a:t>servera</a:t>
            </a:r>
            <a:r>
              <a:rPr lang="en-US" dirty="0"/>
              <a:t> </a:t>
            </a:r>
            <a:r>
              <a:rPr lang="en-US" dirty="0" err="1"/>
              <a:t>moraju</a:t>
            </a:r>
            <a:r>
              <a:rPr lang="en-US" dirty="0"/>
              <a:t> </a:t>
            </a:r>
            <a:r>
              <a:rPr lang="en-US" dirty="0" err="1"/>
              <a:t>imati</a:t>
            </a:r>
            <a:r>
              <a:rPr lang="en-US" dirty="0"/>
              <a:t> </a:t>
            </a:r>
            <a:r>
              <a:rPr lang="en-US" dirty="0" err="1"/>
              <a:t>identičnu</a:t>
            </a:r>
            <a:r>
              <a:rPr lang="en-US" dirty="0"/>
              <a:t> ODS </a:t>
            </a:r>
            <a:r>
              <a:rPr lang="en-US" dirty="0" err="1"/>
              <a:t>verziju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ne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raspodela</a:t>
            </a:r>
            <a:r>
              <a:rPr lang="en-US" dirty="0"/>
              <a:t> </a:t>
            </a:r>
            <a:r>
              <a:rPr lang="en-US" dirty="0" err="1"/>
              <a:t>opterećenja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shadow </a:t>
            </a:r>
            <a:r>
              <a:rPr lang="en-US" dirty="0" err="1"/>
              <a:t>diska</a:t>
            </a:r>
            <a:r>
              <a:rPr lang="en-US" dirty="0"/>
              <a:t>.</a:t>
            </a:r>
          </a:p>
          <a:p>
            <a:r>
              <a:rPr lang="en-US" dirty="0" err="1"/>
              <a:t>Ključna</a:t>
            </a:r>
            <a:r>
              <a:rPr lang="en-US" dirty="0"/>
              <a:t> </a:t>
            </a:r>
            <a:r>
              <a:rPr lang="en-US" dirty="0" err="1"/>
              <a:t>razlika</a:t>
            </a:r>
            <a:r>
              <a:rPr lang="en-US" dirty="0"/>
              <a:t> u </a:t>
            </a:r>
            <a:r>
              <a:rPr lang="en-US" dirty="0" err="1"/>
              <a:t>odnosu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je da mirroring </a:t>
            </a:r>
            <a:r>
              <a:rPr lang="en-US" dirty="0" err="1"/>
              <a:t>operišena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, ne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SQL </a:t>
            </a:r>
            <a:r>
              <a:rPr lang="en-US" dirty="0" err="1"/>
              <a:t>naredbi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je shadow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identična</a:t>
            </a:r>
            <a:r>
              <a:rPr lang="en-US" dirty="0"/>
              <a:t> </a:t>
            </a:r>
            <a:r>
              <a:rPr lang="en-US" dirty="0" err="1"/>
              <a:t>binarna</a:t>
            </a:r>
            <a:r>
              <a:rPr lang="en-US" dirty="0"/>
              <a:t> </a:t>
            </a:r>
            <a:r>
              <a:rPr lang="en-US" dirty="0" err="1"/>
              <a:t>kopija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Firebird 4.0 </a:t>
            </a:r>
            <a:r>
              <a:rPr lang="en-US" dirty="0" err="1"/>
              <a:t>uvodi</a:t>
            </a:r>
            <a:r>
              <a:rPr lang="en-US" dirty="0"/>
              <a:t> </a:t>
            </a:r>
            <a:r>
              <a:rPr lang="en-US" dirty="0" err="1"/>
              <a:t>prvu</a:t>
            </a:r>
            <a:r>
              <a:rPr lang="en-US" dirty="0"/>
              <a:t> </a:t>
            </a:r>
            <a:r>
              <a:rPr lang="en-US" dirty="0" err="1"/>
              <a:t>nativnu</a:t>
            </a:r>
            <a:r>
              <a:rPr lang="en-US" dirty="0"/>
              <a:t> </a:t>
            </a:r>
            <a:r>
              <a:rPr lang="en-US" dirty="0" err="1"/>
              <a:t>binarnu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u </a:t>
            </a:r>
            <a:r>
              <a:rPr lang="en-US" dirty="0" err="1"/>
              <a:t>standardnu</a:t>
            </a:r>
            <a:r>
              <a:rPr lang="en-US" dirty="0"/>
              <a:t> </a:t>
            </a:r>
            <a:r>
              <a:rPr lang="en-US" dirty="0" err="1"/>
              <a:t>distribuciju</a:t>
            </a:r>
            <a:r>
              <a:rPr lang="en-US" dirty="0"/>
              <a:t> bez alata </a:t>
            </a:r>
            <a:r>
              <a:rPr lang="en-US" dirty="0" err="1"/>
              <a:t>trećih</a:t>
            </a:r>
            <a:r>
              <a:rPr lang="en-US" dirty="0"/>
              <a:t> </a:t>
            </a:r>
            <a:r>
              <a:rPr lang="en-US" dirty="0" err="1"/>
              <a:t>strana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revolucionarnu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sada</a:t>
            </a:r>
            <a:r>
              <a:rPr lang="en-US" dirty="0"/>
              <a:t> </a:t>
            </a:r>
            <a:r>
              <a:rPr lang="en-US" dirty="0" err="1"/>
              <a:t>integralni</a:t>
            </a:r>
            <a:r>
              <a:rPr lang="en-US" dirty="0"/>
              <a:t> deo </a:t>
            </a:r>
            <a:r>
              <a:rPr lang="en-US" dirty="0" err="1"/>
              <a:t>samog</a:t>
            </a:r>
            <a:r>
              <a:rPr lang="en-US" dirty="0"/>
              <a:t> engine-a.</a:t>
            </a:r>
            <a:r>
              <a:rPr lang="sr-Latn-RS" dirty="0"/>
              <a:t> </a:t>
            </a:r>
            <a:endParaRPr lang="en-US" dirty="0"/>
          </a:p>
          <a:p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koraka</a:t>
            </a:r>
            <a:r>
              <a:rPr lang="en-US" dirty="0"/>
              <a:t> — </a:t>
            </a:r>
            <a:r>
              <a:rPr lang="en-US" dirty="0" err="1"/>
              <a:t>svaki</a:t>
            </a:r>
            <a:r>
              <a:rPr lang="en-US" dirty="0"/>
              <a:t> COMMIT </a:t>
            </a:r>
            <a:r>
              <a:rPr lang="en-US" dirty="0" err="1"/>
              <a:t>na</a:t>
            </a:r>
            <a:r>
              <a:rPr lang="en-US" dirty="0"/>
              <a:t> master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akumulira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u </a:t>
            </a:r>
            <a:r>
              <a:rPr lang="en-US" b="1" dirty="0"/>
              <a:t>Journal Segment</a:t>
            </a:r>
            <a:r>
              <a:rPr lang="en-US" dirty="0"/>
              <a:t> </a:t>
            </a:r>
            <a:r>
              <a:rPr lang="en-US" dirty="0" err="1"/>
              <a:t>memorijskom</a:t>
            </a:r>
            <a:r>
              <a:rPr lang="en-US" dirty="0"/>
              <a:t> </a:t>
            </a:r>
            <a:r>
              <a:rPr lang="en-US" dirty="0" err="1"/>
              <a:t>baferu</a:t>
            </a:r>
            <a:r>
              <a:rPr lang="en-US" dirty="0"/>
              <a:t>, </a:t>
            </a:r>
            <a:r>
              <a:rPr lang="en-US" dirty="0" err="1"/>
              <a:t>kada</a:t>
            </a:r>
            <a:r>
              <a:rPr lang="en-US" dirty="0"/>
              <a:t> se </a:t>
            </a:r>
            <a:r>
              <a:rPr lang="en-US" dirty="0" err="1"/>
              <a:t>napuni</a:t>
            </a:r>
            <a:r>
              <a:rPr lang="en-US" dirty="0"/>
              <a:t> </a:t>
            </a:r>
            <a:r>
              <a:rPr lang="en-US" dirty="0" err="1"/>
              <a:t>vrši</a:t>
            </a:r>
            <a:r>
              <a:rPr lang="en-US" dirty="0"/>
              <a:t> se flush </a:t>
            </a:r>
            <a:r>
              <a:rPr lang="en-US" dirty="0" err="1"/>
              <a:t>na</a:t>
            </a:r>
            <a:r>
              <a:rPr lang="en-US" dirty="0"/>
              <a:t> disk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binarni</a:t>
            </a:r>
            <a:r>
              <a:rPr lang="en-US" dirty="0"/>
              <a:t> segment, </a:t>
            </a:r>
            <a:r>
              <a:rPr lang="en-US" b="1" dirty="0" err="1"/>
              <a:t>Replikacioni</a:t>
            </a:r>
            <a:r>
              <a:rPr lang="en-US" b="1" dirty="0"/>
              <a:t> Agent</a:t>
            </a:r>
            <a:r>
              <a:rPr lang="en-US" dirty="0"/>
              <a:t> </a:t>
            </a:r>
            <a:r>
              <a:rPr lang="en-US" dirty="0" err="1"/>
              <a:t>kontinuirano</a:t>
            </a:r>
            <a:r>
              <a:rPr lang="en-US" dirty="0"/>
              <a:t> </a:t>
            </a:r>
            <a:r>
              <a:rPr lang="en-US" dirty="0" err="1"/>
              <a:t>skenira</a:t>
            </a:r>
            <a:r>
              <a:rPr lang="en-US" dirty="0"/>
              <a:t> archive directory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primenjuje</a:t>
            </a:r>
            <a:r>
              <a:rPr lang="en-US" dirty="0"/>
              <a:t> </a:t>
            </a:r>
            <a:r>
              <a:rPr lang="en-US" dirty="0" err="1"/>
              <a:t>segmente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bazu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SQL replay.</a:t>
            </a:r>
            <a:r>
              <a:rPr lang="sr-Latn-RS" dirty="0"/>
              <a:t> </a:t>
            </a:r>
            <a:r>
              <a:rPr lang="en-US" b="1" dirty="0"/>
              <a:t>Journal Segment</a:t>
            </a:r>
            <a:r>
              <a:rPr lang="en-US" dirty="0"/>
              <a:t> je </a:t>
            </a:r>
            <a:r>
              <a:rPr lang="en-US" dirty="0" err="1"/>
              <a:t>privremeni</a:t>
            </a:r>
            <a:r>
              <a:rPr lang="en-US" dirty="0"/>
              <a:t> </a:t>
            </a:r>
            <a:r>
              <a:rPr lang="en-US" dirty="0" err="1"/>
              <a:t>memorijski</a:t>
            </a:r>
            <a:r>
              <a:rPr lang="en-US" dirty="0"/>
              <a:t> </a:t>
            </a:r>
            <a:r>
              <a:rPr lang="en-US" dirty="0" err="1"/>
              <a:t>bafer</a:t>
            </a:r>
            <a:r>
              <a:rPr lang="en-US" dirty="0"/>
              <a:t> </a:t>
            </a:r>
            <a:r>
              <a:rPr lang="en-US" dirty="0" err="1"/>
              <a:t>veličine</a:t>
            </a:r>
            <a:r>
              <a:rPr lang="en-US" dirty="0"/>
              <a:t> </a:t>
            </a:r>
            <a:r>
              <a:rPr lang="en-US" dirty="0" err="1"/>
              <a:t>BufferPoolSize</a:t>
            </a:r>
            <a:r>
              <a:rPr lang="en-US" dirty="0"/>
              <a:t> — </a:t>
            </a:r>
            <a:r>
              <a:rPr lang="en-US" dirty="0" err="1"/>
              <a:t>promene</a:t>
            </a:r>
            <a:r>
              <a:rPr lang="en-US" dirty="0"/>
              <a:t> se </a:t>
            </a:r>
            <a:r>
              <a:rPr lang="en-US" dirty="0" err="1"/>
              <a:t>akumuliraju</a:t>
            </a:r>
            <a:r>
              <a:rPr lang="en-US" dirty="0"/>
              <a:t> u </a:t>
            </a:r>
            <a:r>
              <a:rPr lang="en-US" dirty="0" err="1"/>
              <a:t>memoriji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performansi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tek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se </a:t>
            </a:r>
            <a:r>
              <a:rPr lang="en-US" dirty="0" err="1"/>
              <a:t>napune</a:t>
            </a:r>
            <a:r>
              <a:rPr lang="en-US" dirty="0"/>
              <a:t> </a:t>
            </a:r>
            <a:r>
              <a:rPr lang="en-US" dirty="0" err="1"/>
              <a:t>upisuju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disk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trajni</a:t>
            </a:r>
            <a:r>
              <a:rPr lang="en-US" dirty="0"/>
              <a:t> </a:t>
            </a:r>
            <a:r>
              <a:rPr lang="en-US" dirty="0" err="1"/>
              <a:t>arhivski</a:t>
            </a:r>
            <a:r>
              <a:rPr lang="en-US" dirty="0"/>
              <a:t> segment.</a:t>
            </a:r>
            <a:r>
              <a:rPr lang="sr-Latn-RS" dirty="0"/>
              <a:t> </a:t>
            </a:r>
            <a:r>
              <a:rPr lang="en-US" b="1" dirty="0"/>
              <a:t>Source GUID</a:t>
            </a:r>
            <a:r>
              <a:rPr lang="en-US" dirty="0"/>
              <a:t> je </a:t>
            </a:r>
            <a:r>
              <a:rPr lang="en-US" dirty="0" err="1"/>
              <a:t>sigurnosni</a:t>
            </a:r>
            <a:r>
              <a:rPr lang="en-US" dirty="0"/>
              <a:t> </a:t>
            </a:r>
            <a:r>
              <a:rPr lang="en-US" dirty="0" err="1"/>
              <a:t>mehanizam</a:t>
            </a:r>
            <a:r>
              <a:rPr lang="en-US" dirty="0"/>
              <a:t> koji </a:t>
            </a:r>
            <a:r>
              <a:rPr lang="en-US" dirty="0" err="1"/>
              <a:t>garantuje</a:t>
            </a:r>
            <a:r>
              <a:rPr lang="en-US" dirty="0"/>
              <a:t> da slave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prihvata</a:t>
            </a:r>
            <a:r>
              <a:rPr lang="en-US" dirty="0"/>
              <a:t> </a:t>
            </a:r>
            <a:r>
              <a:rPr lang="en-US" dirty="0" err="1"/>
              <a:t>logove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od </a:t>
            </a:r>
            <a:r>
              <a:rPr lang="en-US" dirty="0" err="1"/>
              <a:t>svog</a:t>
            </a:r>
            <a:r>
              <a:rPr lang="en-US" dirty="0"/>
              <a:t>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tačno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GUID-om —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nenamerno</a:t>
            </a:r>
            <a:r>
              <a:rPr lang="en-US" dirty="0"/>
              <a:t> </a:t>
            </a:r>
            <a:r>
              <a:rPr lang="en-US" dirty="0" err="1"/>
              <a:t>mešanje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pogrešnog</a:t>
            </a:r>
            <a:r>
              <a:rPr lang="en-US" dirty="0"/>
              <a:t> </a:t>
            </a:r>
            <a:r>
              <a:rPr lang="en-US" dirty="0" err="1"/>
              <a:t>servera</a:t>
            </a:r>
            <a:r>
              <a:rPr lang="en-US" dirty="0"/>
              <a:t>.</a:t>
            </a:r>
          </a:p>
          <a:p>
            <a:r>
              <a:rPr lang="en-US" dirty="0" err="1"/>
              <a:t>Ključni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 u </a:t>
            </a:r>
            <a:r>
              <a:rPr lang="en-US" dirty="0" err="1"/>
              <a:t>replication.conf</a:t>
            </a:r>
            <a:r>
              <a:rPr lang="en-US" dirty="0"/>
              <a:t> </a:t>
            </a:r>
            <a:r>
              <a:rPr lang="en-US" dirty="0" err="1"/>
              <a:t>definišu</a:t>
            </a:r>
            <a:r>
              <a:rPr lang="en-US" dirty="0"/>
              <a:t> </a:t>
            </a:r>
            <a:r>
              <a:rPr lang="en-US" dirty="0" err="1"/>
              <a:t>lokaciju</a:t>
            </a:r>
            <a:r>
              <a:rPr lang="en-US" dirty="0"/>
              <a:t> </a:t>
            </a:r>
            <a:r>
              <a:rPr lang="en-US" dirty="0" err="1"/>
              <a:t>privremenih</a:t>
            </a:r>
            <a:r>
              <a:rPr lang="en-US" dirty="0"/>
              <a:t> </a:t>
            </a:r>
            <a:r>
              <a:rPr lang="en-US" dirty="0" err="1"/>
              <a:t>segmenata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trajnog</a:t>
            </a:r>
            <a:r>
              <a:rPr lang="en-US" dirty="0"/>
              <a:t> </a:t>
            </a:r>
            <a:r>
              <a:rPr lang="en-US" dirty="0" err="1"/>
              <a:t>arhiva</a:t>
            </a:r>
            <a:r>
              <a:rPr lang="en-US" dirty="0"/>
              <a:t>, timeout pre flush-a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adresu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— a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asinhroni</a:t>
            </a:r>
            <a:r>
              <a:rPr lang="en-US" dirty="0"/>
              <a:t> mod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</a:t>
            </a:r>
            <a:r>
              <a:rPr lang="en-US" dirty="0" err="1"/>
              <a:t>balans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Zero Data Loss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performansi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Izbor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asinhrona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fundamentalni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garantovane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brzine</a:t>
            </a:r>
            <a:r>
              <a:rPr lang="en-US" dirty="0"/>
              <a:t> rada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b="1" dirty="0" err="1"/>
              <a:t>Sinhroni</a:t>
            </a:r>
            <a:r>
              <a:rPr lang="en-US" b="1" dirty="0"/>
              <a:t>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Zero Data Loss (RPO = 0) — master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slave-a pre </a:t>
            </a:r>
            <a:r>
              <a:rPr lang="en-US" dirty="0" err="1"/>
              <a:t>odgovora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apsolutnu</a:t>
            </a:r>
            <a:r>
              <a:rPr lang="en-US" dirty="0"/>
              <a:t> </a:t>
            </a:r>
            <a:r>
              <a:rPr lang="en-US" dirty="0" err="1"/>
              <a:t>identičnost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trenutku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latencija</a:t>
            </a:r>
            <a:r>
              <a:rPr lang="en-US" dirty="0"/>
              <a:t> </a:t>
            </a:r>
            <a:r>
              <a:rPr lang="en-US" dirty="0" err="1"/>
              <a:t>upisa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latencije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, pa se </a:t>
            </a:r>
            <a:r>
              <a:rPr lang="en-US" dirty="0" err="1"/>
              <a:t>preporučuje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gigabit LAN-u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direktnom</a:t>
            </a:r>
            <a:r>
              <a:rPr lang="en-US" dirty="0"/>
              <a:t> </a:t>
            </a:r>
            <a:r>
              <a:rPr lang="en-US" dirty="0" err="1"/>
              <a:t>linku</a:t>
            </a:r>
            <a:r>
              <a:rPr lang="en-US" dirty="0"/>
              <a:t>.</a:t>
            </a:r>
          </a:p>
          <a:p>
            <a:r>
              <a:rPr lang="en-US" b="1" dirty="0" err="1"/>
              <a:t>Asinhroni</a:t>
            </a:r>
            <a:r>
              <a:rPr lang="en-US" b="1" dirty="0"/>
              <a:t>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brzinu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— master </a:t>
            </a:r>
            <a:r>
              <a:rPr lang="en-US" dirty="0" err="1"/>
              <a:t>upisuje</a:t>
            </a:r>
            <a:r>
              <a:rPr lang="en-US" dirty="0"/>
              <a:t> </a:t>
            </a:r>
            <a:r>
              <a:rPr lang="en-US" dirty="0" err="1"/>
              <a:t>lokalno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šalje</a:t>
            </a:r>
            <a:r>
              <a:rPr lang="en-US" dirty="0"/>
              <a:t> log u </a:t>
            </a:r>
            <a:r>
              <a:rPr lang="en-US" dirty="0" err="1"/>
              <a:t>pozadini</a:t>
            </a:r>
            <a:r>
              <a:rPr lang="en-US" dirty="0"/>
              <a:t> bez </a:t>
            </a:r>
            <a:r>
              <a:rPr lang="en-US" dirty="0" err="1"/>
              <a:t>čekanja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postiže</a:t>
            </a:r>
            <a:r>
              <a:rPr lang="en-US" dirty="0"/>
              <a:t> </a:t>
            </a:r>
            <a:r>
              <a:rPr lang="en-US" dirty="0" err="1"/>
              <a:t>maksimalna</a:t>
            </a:r>
            <a:r>
              <a:rPr lang="en-US" dirty="0"/>
              <a:t> </a:t>
            </a:r>
            <a:r>
              <a:rPr lang="en-US" dirty="0" err="1"/>
              <a:t>brzina</a:t>
            </a:r>
            <a:r>
              <a:rPr lang="en-US" dirty="0"/>
              <a:t> za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korisnike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slave </a:t>
            </a:r>
            <a:r>
              <a:rPr lang="en-US" dirty="0" err="1"/>
              <a:t>kasni</a:t>
            </a:r>
            <a:r>
              <a:rPr lang="en-US" dirty="0"/>
              <a:t> za </a:t>
            </a:r>
            <a:r>
              <a:rPr lang="en-US" dirty="0" err="1"/>
              <a:t>masterom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prihvatljiv</a:t>
            </a:r>
            <a:r>
              <a:rPr lang="en-US" dirty="0"/>
              <a:t> </a:t>
            </a:r>
            <a:r>
              <a:rPr lang="en-US" dirty="0" err="1"/>
              <a:t>gubitak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(RPO &gt; 0).</a:t>
            </a:r>
          </a:p>
          <a:p>
            <a:r>
              <a:rPr lang="en-US" dirty="0" err="1"/>
              <a:t>Sinhroni</a:t>
            </a:r>
            <a:r>
              <a:rPr lang="en-US" dirty="0"/>
              <a:t> </a:t>
            </a:r>
            <a:r>
              <a:rPr lang="en-US" dirty="0" err="1"/>
              <a:t>režim</a:t>
            </a:r>
            <a:r>
              <a:rPr lang="en-US" dirty="0"/>
              <a:t> je </a:t>
            </a:r>
            <a:r>
              <a:rPr lang="en-US" dirty="0" err="1"/>
              <a:t>obavezan</a:t>
            </a:r>
            <a:r>
              <a:rPr lang="en-US" dirty="0"/>
              <a:t> za </a:t>
            </a:r>
            <a:r>
              <a:rPr lang="en-US" dirty="0" err="1"/>
              <a:t>kritične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finansija</a:t>
            </a:r>
            <a:r>
              <a:rPr lang="en-US" dirty="0"/>
              <a:t>, </a:t>
            </a:r>
            <a:r>
              <a:rPr lang="en-US" dirty="0" err="1"/>
              <a:t>bankarstva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zdravstva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</a:t>
            </a:r>
            <a:r>
              <a:rPr lang="en-US" dirty="0" err="1"/>
              <a:t>gubitak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prihvatljiv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u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scenariju</a:t>
            </a:r>
            <a:r>
              <a:rPr lang="en-US" dirty="0"/>
              <a:t>.</a:t>
            </a:r>
          </a:p>
          <a:p>
            <a:r>
              <a:rPr lang="en-US" dirty="0" err="1"/>
              <a:t>Asinhroni</a:t>
            </a:r>
            <a:r>
              <a:rPr lang="en-US" dirty="0"/>
              <a:t> </a:t>
            </a:r>
            <a:r>
              <a:rPr lang="en-US" dirty="0" err="1"/>
              <a:t>režim</a:t>
            </a:r>
            <a:r>
              <a:rPr lang="en-US" dirty="0"/>
              <a:t> je </a:t>
            </a:r>
            <a:r>
              <a:rPr lang="en-US" dirty="0" err="1"/>
              <a:t>idealan</a:t>
            </a:r>
            <a:r>
              <a:rPr lang="en-US" dirty="0"/>
              <a:t> za WAN </a:t>
            </a:r>
            <a:r>
              <a:rPr lang="en-US" dirty="0" err="1"/>
              <a:t>veze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geografski</a:t>
            </a:r>
            <a:r>
              <a:rPr lang="en-US" dirty="0"/>
              <a:t> </a:t>
            </a:r>
            <a:r>
              <a:rPr lang="en-US" dirty="0" err="1"/>
              <a:t>udaljene</a:t>
            </a:r>
            <a:r>
              <a:rPr lang="en-US" dirty="0"/>
              <a:t> slave </a:t>
            </a:r>
            <a:r>
              <a:rPr lang="en-US" dirty="0" err="1"/>
              <a:t>servere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bi </a:t>
            </a:r>
            <a:r>
              <a:rPr lang="en-US" dirty="0" err="1"/>
              <a:t>čekanje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</a:t>
            </a:r>
            <a:r>
              <a:rPr lang="en-US" dirty="0" err="1"/>
              <a:t>predaleke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</a:t>
            </a:r>
            <a:r>
              <a:rPr lang="en-US" dirty="0" err="1"/>
              <a:t>drastično</a:t>
            </a:r>
            <a:r>
              <a:rPr lang="en-US" dirty="0"/>
              <a:t> </a:t>
            </a:r>
            <a:r>
              <a:rPr lang="en-US" dirty="0" err="1"/>
              <a:t>usporilo</a:t>
            </a:r>
            <a:r>
              <a:rPr lang="en-US" dirty="0"/>
              <a:t> rad </a:t>
            </a:r>
            <a:r>
              <a:rPr lang="en-US" dirty="0" err="1"/>
              <a:t>sistema</a:t>
            </a:r>
            <a:r>
              <a:rPr lang="en-US" dirty="0"/>
              <a:t> za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korisnike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Logička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zasnovana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CDC </a:t>
            </a:r>
            <a:r>
              <a:rPr lang="en-US" dirty="0" err="1"/>
              <a:t>principu</a:t>
            </a:r>
            <a:r>
              <a:rPr lang="en-US" dirty="0"/>
              <a:t> </a:t>
            </a:r>
            <a:r>
              <a:rPr lang="en-US" dirty="0" err="1"/>
              <a:t>presreće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INSERT, UPDATE </a:t>
            </a:r>
            <a:r>
              <a:rPr lang="en-US" dirty="0" err="1"/>
              <a:t>i</a:t>
            </a:r>
            <a:r>
              <a:rPr lang="en-US" dirty="0"/>
              <a:t> DELETE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trigere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beleži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u </a:t>
            </a:r>
            <a:r>
              <a:rPr lang="en-US" dirty="0" err="1"/>
              <a:t>namensku</a:t>
            </a:r>
            <a:r>
              <a:rPr lang="en-US" dirty="0"/>
              <a:t> REPLICATION_LOG </a:t>
            </a:r>
            <a:r>
              <a:rPr lang="en-US" dirty="0" err="1"/>
              <a:t>tabelu</a:t>
            </a:r>
            <a:endParaRPr lang="en-US" dirty="0"/>
          </a:p>
          <a:p>
            <a:r>
              <a:rPr lang="en-US" dirty="0" err="1"/>
              <a:t>Ključna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 CDC </a:t>
            </a:r>
            <a:r>
              <a:rPr lang="en-US" dirty="0" err="1"/>
              <a:t>pristupa</a:t>
            </a:r>
            <a:r>
              <a:rPr lang="en-US" dirty="0"/>
              <a:t> je </a:t>
            </a:r>
            <a:r>
              <a:rPr lang="en-US" dirty="0" err="1"/>
              <a:t>selektivnost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fleksibilnost</a:t>
            </a:r>
            <a:r>
              <a:rPr lang="en-US" dirty="0"/>
              <a:t> —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replicirati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specifične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,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različitih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</a:t>
            </a:r>
            <a:r>
              <a:rPr lang="en-US" dirty="0" err="1"/>
              <a:t>Firebirda</a:t>
            </a:r>
            <a:r>
              <a:rPr lang="en-US" dirty="0"/>
              <a:t>, pa </a:t>
            </a:r>
            <a:r>
              <a:rPr lang="en-US" dirty="0" err="1"/>
              <a:t>čak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ka </a:t>
            </a:r>
            <a:r>
              <a:rPr lang="en-US" dirty="0" err="1"/>
              <a:t>heterogenim</a:t>
            </a:r>
            <a:r>
              <a:rPr lang="en-US" dirty="0"/>
              <a:t> </a:t>
            </a:r>
            <a:r>
              <a:rPr lang="en-US" dirty="0" err="1"/>
              <a:t>sistemima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PostgreSQL-a</a:t>
            </a:r>
            <a:endParaRPr lang="sr-Latn-RS" dirty="0"/>
          </a:p>
          <a:p>
            <a:r>
              <a:rPr lang="en-US" b="1" dirty="0"/>
              <a:t>REPLICATION_LOG </a:t>
            </a:r>
            <a:r>
              <a:rPr lang="en-US" b="1" dirty="0" err="1"/>
              <a:t>tabela</a:t>
            </a:r>
            <a:r>
              <a:rPr lang="en-US" dirty="0"/>
              <a:t> </a:t>
            </a:r>
            <a:r>
              <a:rPr lang="en-US" dirty="0" err="1"/>
              <a:t>čuva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potrebne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svakoj</a:t>
            </a:r>
            <a:r>
              <a:rPr lang="en-US" dirty="0"/>
              <a:t> </a:t>
            </a:r>
            <a:r>
              <a:rPr lang="en-US" dirty="0" err="1"/>
              <a:t>promeni</a:t>
            </a:r>
            <a:r>
              <a:rPr lang="en-US" dirty="0"/>
              <a:t> — </a:t>
            </a:r>
            <a:r>
              <a:rPr lang="en-US" dirty="0" err="1"/>
              <a:t>ime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, tip </a:t>
            </a:r>
            <a:r>
              <a:rPr lang="en-US" dirty="0" err="1"/>
              <a:t>operacije</a:t>
            </a:r>
            <a:r>
              <a:rPr lang="en-US" dirty="0"/>
              <a:t>, </a:t>
            </a:r>
            <a:r>
              <a:rPr lang="en-US" dirty="0" err="1"/>
              <a:t>vrednost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ključa</a:t>
            </a:r>
            <a:r>
              <a:rPr lang="en-US" dirty="0"/>
              <a:t>, timestamp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kompletan</a:t>
            </a:r>
            <a:r>
              <a:rPr lang="en-US" dirty="0"/>
              <a:t> JSON/XML </a:t>
            </a:r>
            <a:r>
              <a:rPr lang="en-US" dirty="0" err="1"/>
              <a:t>sadržaj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payload.</a:t>
            </a:r>
          </a:p>
          <a:p>
            <a:r>
              <a:rPr lang="en-US" b="1" dirty="0"/>
              <a:t>Triger TRG_EMP_REPL</a:t>
            </a:r>
            <a:r>
              <a:rPr lang="en-US" dirty="0"/>
              <a:t> se </a:t>
            </a:r>
            <a:r>
              <a:rPr lang="en-US" dirty="0" err="1"/>
              <a:t>aktivira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EMPLOYEE, </a:t>
            </a:r>
            <a:r>
              <a:rPr lang="en-US" dirty="0" err="1"/>
              <a:t>ali</a:t>
            </a:r>
            <a:r>
              <a:rPr lang="en-US" dirty="0"/>
              <a:t> pre </a:t>
            </a:r>
            <a:r>
              <a:rPr lang="en-US" dirty="0" err="1"/>
              <a:t>upisa</a:t>
            </a:r>
            <a:r>
              <a:rPr lang="en-US" dirty="0"/>
              <a:t> u log </a:t>
            </a:r>
            <a:r>
              <a:rPr lang="en-US" dirty="0" err="1"/>
              <a:t>proverava</a:t>
            </a:r>
            <a:r>
              <a:rPr lang="en-US" dirty="0"/>
              <a:t> RDB$GET_CONTEXT — </a:t>
            </a:r>
            <a:r>
              <a:rPr lang="en-US" dirty="0" err="1"/>
              <a:t>ako</a:t>
            </a:r>
            <a:r>
              <a:rPr lang="en-US" dirty="0"/>
              <a:t> je </a:t>
            </a:r>
            <a:r>
              <a:rPr lang="en-US" dirty="0" err="1"/>
              <a:t>vrednost</a:t>
            </a:r>
            <a:r>
              <a:rPr lang="en-US" dirty="0"/>
              <a:t> NULL, </a:t>
            </a:r>
            <a:r>
              <a:rPr lang="en-US" dirty="0" err="1"/>
              <a:t>promena</a:t>
            </a:r>
            <a:r>
              <a:rPr lang="en-US" dirty="0"/>
              <a:t> </a:t>
            </a:r>
            <a:r>
              <a:rPr lang="en-US" dirty="0" err="1"/>
              <a:t>dolazi</a:t>
            </a:r>
            <a:r>
              <a:rPr lang="en-US" dirty="0"/>
              <a:t> od </a:t>
            </a:r>
            <a:r>
              <a:rPr lang="en-US" dirty="0" err="1"/>
              <a:t>korisnika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beleži</a:t>
            </a:r>
            <a:r>
              <a:rPr lang="en-US" dirty="0"/>
              <a:t> se, a </a:t>
            </a:r>
            <a:r>
              <a:rPr lang="en-US" dirty="0" err="1"/>
              <a:t>ako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NULL, </a:t>
            </a:r>
            <a:r>
              <a:rPr lang="en-US" dirty="0" err="1"/>
              <a:t>promena</a:t>
            </a:r>
            <a:r>
              <a:rPr lang="en-US" dirty="0"/>
              <a:t> </a:t>
            </a:r>
            <a:r>
              <a:rPr lang="en-US" dirty="0" err="1"/>
              <a:t>dolazi</a:t>
            </a:r>
            <a:r>
              <a:rPr lang="en-US" dirty="0"/>
              <a:t> od </a:t>
            </a:r>
            <a:r>
              <a:rPr lang="en-US" dirty="0" err="1"/>
              <a:t>replikacionog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preskače</a:t>
            </a:r>
            <a:r>
              <a:rPr lang="en-US" dirty="0"/>
              <a:t> se,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beskonačna</a:t>
            </a:r>
            <a:r>
              <a:rPr lang="en-US" dirty="0"/>
              <a:t> </a:t>
            </a:r>
            <a:r>
              <a:rPr lang="en-US" dirty="0" err="1"/>
              <a:t>petlja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rešavanje</a:t>
            </a:r>
            <a:r>
              <a:rPr lang="en-US" dirty="0"/>
              <a:t> </a:t>
            </a:r>
            <a:r>
              <a:rPr lang="en-US" dirty="0" err="1"/>
              <a:t>konflikata</a:t>
            </a:r>
            <a:r>
              <a:rPr lang="en-US" dirty="0"/>
              <a:t> </a:t>
            </a:r>
            <a:r>
              <a:rPr lang="en-US" dirty="0" err="1"/>
              <a:t>postoje</a:t>
            </a:r>
            <a:r>
              <a:rPr lang="en-US" dirty="0"/>
              <a:t> tri </a:t>
            </a:r>
            <a:r>
              <a:rPr lang="en-US" dirty="0" err="1"/>
              <a:t>strategije</a:t>
            </a:r>
            <a:r>
              <a:rPr lang="en-US" dirty="0"/>
              <a:t> — </a:t>
            </a:r>
            <a:r>
              <a:rPr lang="en-US" b="1" dirty="0"/>
              <a:t>Last Write Wins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timestamp </a:t>
            </a:r>
            <a:r>
              <a:rPr lang="en-US" dirty="0" err="1"/>
              <a:t>odlučuje</a:t>
            </a:r>
            <a:r>
              <a:rPr lang="en-US" dirty="0"/>
              <a:t> koji </a:t>
            </a:r>
            <a:r>
              <a:rPr lang="en-US" dirty="0" err="1"/>
              <a:t>zapis</a:t>
            </a:r>
            <a:r>
              <a:rPr lang="en-US" dirty="0"/>
              <a:t> </a:t>
            </a:r>
            <a:r>
              <a:rPr lang="en-US" dirty="0" err="1"/>
              <a:t>pobeđuje</a:t>
            </a:r>
            <a:r>
              <a:rPr lang="en-US" dirty="0"/>
              <a:t>, </a:t>
            </a:r>
            <a:r>
              <a:rPr lang="en-US" b="1" dirty="0"/>
              <a:t>Static Priority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master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pobeđuje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slave </a:t>
            </a:r>
            <a:r>
              <a:rPr lang="en-US" dirty="0" err="1"/>
              <a:t>čvorom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 err="1"/>
              <a:t>Aplikativna</a:t>
            </a:r>
            <a:r>
              <a:rPr lang="en-US" b="1" dirty="0"/>
              <a:t> </a:t>
            </a:r>
            <a:r>
              <a:rPr lang="en-US" b="1" dirty="0" err="1"/>
              <a:t>logika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najsigurniji</a:t>
            </a:r>
            <a:r>
              <a:rPr lang="en-US" dirty="0"/>
              <a:t>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najsloženiji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za </a:t>
            </a:r>
            <a:r>
              <a:rPr lang="en-US" dirty="0" err="1"/>
              <a:t>kritične</a:t>
            </a:r>
            <a:r>
              <a:rPr lang="en-US" dirty="0"/>
              <a:t> </a:t>
            </a:r>
            <a:r>
              <a:rPr lang="en-US" dirty="0" err="1"/>
              <a:t>poslovne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Multi-Master </a:t>
            </a:r>
            <a:r>
              <a:rPr lang="en-US" dirty="0" err="1"/>
              <a:t>topologije</a:t>
            </a:r>
            <a:r>
              <a:rPr lang="en-US" dirty="0"/>
              <a:t> </a:t>
            </a:r>
            <a:r>
              <a:rPr lang="en-US" dirty="0" err="1"/>
              <a:t>omogućavaju</a:t>
            </a:r>
            <a:r>
              <a:rPr lang="en-US" dirty="0"/>
              <a:t> da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čvorova</a:t>
            </a:r>
            <a:r>
              <a:rPr lang="en-US" dirty="0"/>
              <a:t> </a:t>
            </a:r>
            <a:r>
              <a:rPr lang="en-US" dirty="0" err="1"/>
              <a:t>istovremeno</a:t>
            </a:r>
            <a:r>
              <a:rPr lang="en-US" dirty="0"/>
              <a:t> prima </a:t>
            </a:r>
            <a:r>
              <a:rPr lang="en-US" dirty="0" err="1"/>
              <a:t>upise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nosi</a:t>
            </a:r>
            <a:r>
              <a:rPr lang="en-US" dirty="0"/>
              <a:t> </a:t>
            </a:r>
            <a:r>
              <a:rPr lang="en-US" dirty="0" err="1"/>
              <a:t>drugačiji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jednostavnosti</a:t>
            </a:r>
            <a:r>
              <a:rPr lang="en-US" dirty="0"/>
              <a:t>, </a:t>
            </a:r>
            <a:r>
              <a:rPr lang="en-US" dirty="0" err="1"/>
              <a:t>redundanse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brzine</a:t>
            </a:r>
            <a:r>
              <a:rPr lang="en-US" dirty="0"/>
              <a:t> </a:t>
            </a:r>
            <a:r>
              <a:rPr lang="en-US" dirty="0" err="1"/>
              <a:t>oporavka</a:t>
            </a:r>
            <a:r>
              <a:rPr lang="en-US" dirty="0"/>
              <a:t>.</a:t>
            </a:r>
          </a:p>
          <a:p>
            <a:r>
              <a:rPr lang="en-US" b="1" dirty="0"/>
              <a:t>Star (Zvezda)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povezuje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periferne</a:t>
            </a:r>
            <a:r>
              <a:rPr lang="en-US" dirty="0"/>
              <a:t> </a:t>
            </a:r>
            <a:r>
              <a:rPr lang="en-US" dirty="0" err="1"/>
              <a:t>čvorove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centralnim</a:t>
            </a:r>
            <a:r>
              <a:rPr lang="en-US" dirty="0"/>
              <a:t> </a:t>
            </a:r>
            <a:r>
              <a:rPr lang="en-US" dirty="0" err="1"/>
              <a:t>serverom</a:t>
            </a:r>
            <a:r>
              <a:rPr lang="en-US" dirty="0"/>
              <a:t> — </a:t>
            </a:r>
            <a:r>
              <a:rPr lang="en-US" dirty="0" err="1"/>
              <a:t>jednostavna</a:t>
            </a:r>
            <a:r>
              <a:rPr lang="en-US" dirty="0"/>
              <a:t> je za </a:t>
            </a:r>
            <a:r>
              <a:rPr lang="en-US" dirty="0" err="1"/>
              <a:t>administraciju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centralizovanu</a:t>
            </a:r>
            <a:r>
              <a:rPr lang="en-US" dirty="0"/>
              <a:t> </a:t>
            </a:r>
            <a:r>
              <a:rPr lang="en-US" dirty="0" err="1"/>
              <a:t>kontrolu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centralni</a:t>
            </a:r>
            <a:r>
              <a:rPr lang="en-US" dirty="0"/>
              <a:t> server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jedinu</a:t>
            </a:r>
            <a:r>
              <a:rPr lang="en-US" dirty="0"/>
              <a:t> </a:t>
            </a:r>
            <a:r>
              <a:rPr lang="en-US" dirty="0" err="1"/>
              <a:t>tačku</a:t>
            </a:r>
            <a:r>
              <a:rPr lang="en-US" dirty="0"/>
              <a:t> </a:t>
            </a:r>
            <a:r>
              <a:rPr lang="en-US" dirty="0" err="1"/>
              <a:t>kvara</a:t>
            </a:r>
            <a:r>
              <a:rPr lang="en-US" dirty="0"/>
              <a:t> (SPOF),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idealnom</a:t>
            </a:r>
            <a:r>
              <a:rPr lang="en-US" dirty="0"/>
              <a:t> za ERP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centralnom</a:t>
            </a:r>
            <a:r>
              <a:rPr lang="en-US" dirty="0"/>
              <a:t> </a:t>
            </a:r>
            <a:r>
              <a:rPr lang="en-US" dirty="0" err="1"/>
              <a:t>bazom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filijalama</a:t>
            </a:r>
            <a:r>
              <a:rPr lang="en-US" dirty="0"/>
              <a:t>.</a:t>
            </a:r>
          </a:p>
          <a:p>
            <a:r>
              <a:rPr lang="en-US" b="1" dirty="0"/>
              <a:t>Mesh (</a:t>
            </a:r>
            <a:r>
              <a:rPr lang="en-US" b="1" dirty="0" err="1"/>
              <a:t>Mreža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povezuje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čvor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ostalima</a:t>
            </a:r>
            <a:r>
              <a:rPr lang="en-US" dirty="0"/>
              <a:t> — </a:t>
            </a:r>
            <a:r>
              <a:rPr lang="en-US" dirty="0" err="1"/>
              <a:t>nema</a:t>
            </a:r>
            <a:r>
              <a:rPr lang="en-US" dirty="0"/>
              <a:t> SPOF-a, </a:t>
            </a:r>
            <a:r>
              <a:rPr lang="en-US" dirty="0" err="1"/>
              <a:t>pruža</a:t>
            </a:r>
            <a:r>
              <a:rPr lang="en-US" dirty="0"/>
              <a:t> </a:t>
            </a:r>
            <a:r>
              <a:rPr lang="en-US" dirty="0" err="1"/>
              <a:t>maksimalnu</a:t>
            </a:r>
            <a:r>
              <a:rPr lang="en-US" dirty="0"/>
              <a:t> </a:t>
            </a:r>
            <a:r>
              <a:rPr lang="en-US" dirty="0" err="1"/>
              <a:t>redundansu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propusnost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eksponencijalni</a:t>
            </a:r>
            <a:r>
              <a:rPr lang="en-US" dirty="0"/>
              <a:t> </a:t>
            </a:r>
            <a:r>
              <a:rPr lang="en-US" dirty="0" err="1"/>
              <a:t>rast</a:t>
            </a:r>
            <a:r>
              <a:rPr lang="en-US" dirty="0"/>
              <a:t> </a:t>
            </a:r>
            <a:r>
              <a:rPr lang="en-US" dirty="0" err="1"/>
              <a:t>veza</a:t>
            </a:r>
            <a:r>
              <a:rPr lang="en-US" dirty="0"/>
              <a:t>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konfiguraciju</a:t>
            </a:r>
            <a:r>
              <a:rPr lang="en-US" dirty="0"/>
              <a:t> </a:t>
            </a:r>
            <a:r>
              <a:rPr lang="en-US" dirty="0" err="1"/>
              <a:t>kompleksnom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idealno</a:t>
            </a:r>
            <a:r>
              <a:rPr lang="en-US" dirty="0"/>
              <a:t> za mission-critical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berze</a:t>
            </a:r>
            <a:r>
              <a:rPr lang="en-US" dirty="0"/>
              <a:t>.</a:t>
            </a:r>
          </a:p>
          <a:p>
            <a:r>
              <a:rPr lang="en-US" b="1" dirty="0"/>
              <a:t>Ring (</a:t>
            </a:r>
            <a:r>
              <a:rPr lang="en-US" b="1" dirty="0" err="1"/>
              <a:t>Prsten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topologija</a:t>
            </a:r>
            <a:r>
              <a:rPr lang="en-US" dirty="0"/>
              <a:t> </a:t>
            </a:r>
            <a:r>
              <a:rPr lang="en-US" dirty="0" err="1"/>
              <a:t>šalje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sekvencijalno</a:t>
            </a:r>
            <a:r>
              <a:rPr lang="en-US" dirty="0"/>
              <a:t> od </a:t>
            </a:r>
            <a:r>
              <a:rPr lang="en-US" dirty="0" err="1"/>
              <a:t>čvora</a:t>
            </a:r>
            <a:r>
              <a:rPr lang="en-US" dirty="0"/>
              <a:t> do </a:t>
            </a:r>
            <a:r>
              <a:rPr lang="en-US" dirty="0" err="1"/>
              <a:t>čvora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se </a:t>
            </a:r>
            <a:r>
              <a:rPr lang="en-US" dirty="0" err="1"/>
              <a:t>krug</a:t>
            </a:r>
            <a:r>
              <a:rPr lang="en-US" dirty="0"/>
              <a:t> ne </a:t>
            </a:r>
            <a:r>
              <a:rPr lang="en-US" dirty="0" err="1"/>
              <a:t>zatvori</a:t>
            </a:r>
            <a:r>
              <a:rPr lang="en-US" dirty="0"/>
              <a:t> — </a:t>
            </a:r>
            <a:r>
              <a:rPr lang="en-US" dirty="0" err="1"/>
              <a:t>ravnomerna</a:t>
            </a:r>
            <a:r>
              <a:rPr lang="en-US" dirty="0"/>
              <a:t> </a:t>
            </a:r>
            <a:r>
              <a:rPr lang="en-US" dirty="0" err="1"/>
              <a:t>raspodela</a:t>
            </a:r>
            <a:r>
              <a:rPr lang="en-US" dirty="0"/>
              <a:t> </a:t>
            </a:r>
            <a:r>
              <a:rPr lang="en-US" dirty="0" err="1"/>
              <a:t>opterećenja</a:t>
            </a:r>
            <a:r>
              <a:rPr lang="en-US" dirty="0"/>
              <a:t> je </a:t>
            </a:r>
            <a:r>
              <a:rPr lang="en-US" dirty="0" err="1"/>
              <a:t>njena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jedan</a:t>
            </a:r>
            <a:r>
              <a:rPr lang="en-US" dirty="0"/>
              <a:t> </a:t>
            </a:r>
            <a:r>
              <a:rPr lang="en-US" dirty="0" err="1"/>
              <a:t>kvar</a:t>
            </a:r>
            <a:r>
              <a:rPr lang="en-US" dirty="0"/>
              <a:t> </a:t>
            </a:r>
            <a:r>
              <a:rPr lang="en-US" dirty="0" err="1"/>
              <a:t>prekida</a:t>
            </a:r>
            <a:r>
              <a:rPr lang="en-US" dirty="0"/>
              <a:t> </a:t>
            </a:r>
            <a:r>
              <a:rPr lang="en-US" dirty="0" err="1"/>
              <a:t>ceo</a:t>
            </a:r>
            <a:r>
              <a:rPr lang="en-US" dirty="0"/>
              <a:t> </a:t>
            </a:r>
            <a:r>
              <a:rPr lang="en-US" dirty="0" err="1"/>
              <a:t>prsten</a:t>
            </a:r>
            <a:r>
              <a:rPr lang="en-US" dirty="0"/>
              <a:t>, pa je </a:t>
            </a:r>
            <a:r>
              <a:rPr lang="en-US" dirty="0" err="1"/>
              <a:t>idealna</a:t>
            </a:r>
            <a:r>
              <a:rPr lang="en-US" dirty="0"/>
              <a:t> za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jasnom</a:t>
            </a:r>
            <a:r>
              <a:rPr lang="en-US" dirty="0"/>
              <a:t> </a:t>
            </a:r>
            <a:r>
              <a:rPr lang="en-US" dirty="0" err="1"/>
              <a:t>geografskom</a:t>
            </a:r>
            <a:r>
              <a:rPr lang="en-US" dirty="0"/>
              <a:t> </a:t>
            </a:r>
            <a:r>
              <a:rPr lang="en-US" dirty="0" err="1"/>
              <a:t>distribucijom</a:t>
            </a:r>
            <a:r>
              <a:rPr lang="en-US" dirty="0"/>
              <a:t>.</a:t>
            </a:r>
          </a:p>
          <a:p>
            <a:r>
              <a:rPr lang="en-US" dirty="0" err="1"/>
              <a:t>Najveći</a:t>
            </a:r>
            <a:r>
              <a:rPr lang="en-US" dirty="0"/>
              <a:t> </a:t>
            </a:r>
            <a:r>
              <a:rPr lang="en-US" dirty="0" err="1"/>
              <a:t>izazov</a:t>
            </a:r>
            <a:r>
              <a:rPr lang="en-US" dirty="0"/>
              <a:t> Multi-Master </a:t>
            </a:r>
            <a:r>
              <a:rPr lang="en-US" dirty="0" err="1"/>
              <a:t>topologija</a:t>
            </a:r>
            <a:r>
              <a:rPr lang="en-US" dirty="0"/>
              <a:t> je </a:t>
            </a:r>
            <a:r>
              <a:rPr lang="en-US" b="1" dirty="0" err="1"/>
              <a:t>eho</a:t>
            </a:r>
            <a:r>
              <a:rPr lang="en-US" b="1" dirty="0"/>
              <a:t> </a:t>
            </a:r>
            <a:r>
              <a:rPr lang="en-US" b="1" dirty="0" err="1"/>
              <a:t>efekat</a:t>
            </a:r>
            <a:r>
              <a:rPr lang="en-US" dirty="0"/>
              <a:t> —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čvor</a:t>
            </a:r>
            <a:r>
              <a:rPr lang="en-US" dirty="0"/>
              <a:t> A </a:t>
            </a:r>
            <a:r>
              <a:rPr lang="en-US" dirty="0" err="1"/>
              <a:t>replicira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B, a B je </a:t>
            </a:r>
            <a:r>
              <a:rPr lang="en-US" dirty="0" err="1"/>
              <a:t>replicira</a:t>
            </a:r>
            <a:r>
              <a:rPr lang="en-US" dirty="0"/>
              <a:t> </a:t>
            </a:r>
            <a:r>
              <a:rPr lang="en-US" dirty="0" err="1"/>
              <a:t>nazad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A </a:t>
            </a:r>
            <a:r>
              <a:rPr lang="en-US" dirty="0" err="1"/>
              <a:t>nastaje</a:t>
            </a:r>
            <a:r>
              <a:rPr lang="en-US" dirty="0"/>
              <a:t> </a:t>
            </a:r>
            <a:r>
              <a:rPr lang="en-US" dirty="0" err="1"/>
              <a:t>beskonačna</a:t>
            </a:r>
            <a:r>
              <a:rPr lang="en-US" dirty="0"/>
              <a:t> </a:t>
            </a:r>
            <a:r>
              <a:rPr lang="en-US" dirty="0" err="1"/>
              <a:t>petlja</a:t>
            </a:r>
            <a:r>
              <a:rPr lang="en-US" dirty="0"/>
              <a:t>, a Firebird 4.0 to </a:t>
            </a:r>
            <a:r>
              <a:rPr lang="en-US" dirty="0" err="1"/>
              <a:t>rešava</a:t>
            </a:r>
            <a:r>
              <a:rPr lang="en-US" dirty="0"/>
              <a:t> </a:t>
            </a:r>
            <a:r>
              <a:rPr lang="en-US" dirty="0" err="1"/>
              <a:t>automatskim</a:t>
            </a:r>
            <a:r>
              <a:rPr lang="en-US" dirty="0"/>
              <a:t> </a:t>
            </a:r>
            <a:r>
              <a:rPr lang="en-US" dirty="0" err="1"/>
              <a:t>postavljanjem</a:t>
            </a:r>
            <a:r>
              <a:rPr lang="en-US" dirty="0"/>
              <a:t> REPLICATING </a:t>
            </a:r>
            <a:r>
              <a:rPr lang="en-US" dirty="0" err="1"/>
              <a:t>konteksta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TRUE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primeni</a:t>
            </a:r>
            <a:r>
              <a:rPr lang="en-US" dirty="0"/>
              <a:t> </a:t>
            </a:r>
            <a:r>
              <a:rPr lang="en-US" dirty="0" err="1"/>
              <a:t>logova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</a:t>
            </a:r>
            <a:r>
              <a:rPr lang="en-US" dirty="0" err="1"/>
              <a:t>triger</a:t>
            </a:r>
            <a:r>
              <a:rPr lang="en-US" dirty="0"/>
              <a:t> </a:t>
            </a:r>
            <a:r>
              <a:rPr lang="en-US" dirty="0" err="1"/>
              <a:t>prepoznaje</a:t>
            </a:r>
            <a:r>
              <a:rPr lang="en-US" dirty="0"/>
              <a:t> da se </a:t>
            </a:r>
            <a:r>
              <a:rPr lang="en-US" dirty="0" err="1"/>
              <a:t>radi</a:t>
            </a:r>
            <a:r>
              <a:rPr lang="en-US" dirty="0"/>
              <a:t> o </a:t>
            </a:r>
            <a:r>
              <a:rPr lang="en-US" dirty="0" err="1"/>
              <a:t>replikacionoj</a:t>
            </a:r>
            <a:r>
              <a:rPr lang="en-US" dirty="0"/>
              <a:t> </a:t>
            </a:r>
            <a:r>
              <a:rPr lang="en-US" dirty="0" err="1"/>
              <a:t>promeni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preskače</a:t>
            </a:r>
            <a:r>
              <a:rPr lang="en-US" dirty="0"/>
              <a:t> je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Konfiguracija</a:t>
            </a:r>
            <a:r>
              <a:rPr lang="en-US" dirty="0"/>
              <a:t> </a:t>
            </a:r>
            <a:r>
              <a:rPr lang="en-US" dirty="0" err="1"/>
              <a:t>nativne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u Firebird 4.0 </a:t>
            </a:r>
            <a:r>
              <a:rPr lang="en-US" dirty="0" err="1"/>
              <a:t>odvija</a:t>
            </a:r>
            <a:r>
              <a:rPr lang="en-US" dirty="0"/>
              <a:t> se </a:t>
            </a:r>
            <a:r>
              <a:rPr lang="en-US" dirty="0" err="1"/>
              <a:t>kroz</a:t>
            </a:r>
            <a:r>
              <a:rPr lang="en-US" dirty="0"/>
              <a:t> 8 </a:t>
            </a:r>
            <a:r>
              <a:rPr lang="en-US" dirty="0" err="1"/>
              <a:t>precizno</a:t>
            </a:r>
            <a:r>
              <a:rPr lang="en-US" dirty="0"/>
              <a:t> </a:t>
            </a:r>
            <a:r>
              <a:rPr lang="en-US" dirty="0" err="1"/>
              <a:t>definisanih</a:t>
            </a:r>
            <a:r>
              <a:rPr lang="en-US" dirty="0"/>
              <a:t> </a:t>
            </a:r>
            <a:r>
              <a:rPr lang="en-US" dirty="0" err="1"/>
              <a:t>koraka</a:t>
            </a:r>
            <a:r>
              <a:rPr lang="en-US" dirty="0"/>
              <a:t> koji </a:t>
            </a:r>
            <a:r>
              <a:rPr lang="en-US" dirty="0" err="1"/>
              <a:t>moraju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izvršeni</a:t>
            </a:r>
            <a:r>
              <a:rPr lang="en-US" dirty="0"/>
              <a:t> </a:t>
            </a:r>
            <a:r>
              <a:rPr lang="en-US" dirty="0" err="1"/>
              <a:t>ispravnim</a:t>
            </a:r>
            <a:r>
              <a:rPr lang="en-US" dirty="0"/>
              <a:t> </a:t>
            </a:r>
            <a:r>
              <a:rPr lang="en-US" dirty="0" err="1"/>
              <a:t>redosledom</a:t>
            </a:r>
            <a:r>
              <a:rPr lang="en-US" dirty="0"/>
              <a:t>.</a:t>
            </a:r>
          </a:p>
          <a:p>
            <a:r>
              <a:rPr lang="en-US" b="1" dirty="0" err="1"/>
              <a:t>Koraci</a:t>
            </a:r>
            <a:r>
              <a:rPr lang="en-US" b="1" dirty="0"/>
              <a:t> 1-2</a:t>
            </a:r>
            <a:r>
              <a:rPr lang="en-US" dirty="0"/>
              <a:t> </a:t>
            </a:r>
            <a:r>
              <a:rPr lang="en-US" dirty="0" err="1"/>
              <a:t>postavljaju</a:t>
            </a:r>
            <a:r>
              <a:rPr lang="en-US" dirty="0"/>
              <a:t> </a:t>
            </a:r>
            <a:r>
              <a:rPr lang="en-US" dirty="0" err="1"/>
              <a:t>osnovu</a:t>
            </a:r>
            <a:r>
              <a:rPr lang="en-US" dirty="0"/>
              <a:t> — </a:t>
            </a:r>
            <a:r>
              <a:rPr lang="en-US" dirty="0" err="1"/>
              <a:t>kreiranje</a:t>
            </a:r>
            <a:r>
              <a:rPr lang="en-US" dirty="0"/>
              <a:t> </a:t>
            </a:r>
            <a:r>
              <a:rPr lang="en-US" dirty="0" err="1"/>
              <a:t>aliasa</a:t>
            </a:r>
            <a:r>
              <a:rPr lang="en-US" dirty="0"/>
              <a:t> za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bazu</a:t>
            </a:r>
            <a:r>
              <a:rPr lang="en-US" dirty="0"/>
              <a:t> u </a:t>
            </a:r>
            <a:r>
              <a:rPr lang="en-US" dirty="0" err="1"/>
              <a:t>databases.conf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se slave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tačna</a:t>
            </a:r>
            <a:r>
              <a:rPr lang="en-US" dirty="0"/>
              <a:t> </a:t>
            </a:r>
            <a:r>
              <a:rPr lang="en-US" dirty="0" err="1"/>
              <a:t>kopija</a:t>
            </a:r>
            <a:r>
              <a:rPr lang="en-US" dirty="0"/>
              <a:t>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backup </a:t>
            </a:r>
            <a:r>
              <a:rPr lang="en-US" dirty="0" err="1"/>
              <a:t>i</a:t>
            </a:r>
            <a:r>
              <a:rPr lang="en-US" dirty="0"/>
              <a:t> restore </a:t>
            </a:r>
            <a:r>
              <a:rPr lang="en-US" dirty="0" err="1"/>
              <a:t>proceduru</a:t>
            </a:r>
            <a:r>
              <a:rPr lang="en-US" dirty="0"/>
              <a:t> </a:t>
            </a:r>
            <a:r>
              <a:rPr lang="en-US" dirty="0" err="1"/>
              <a:t>komandama</a:t>
            </a:r>
            <a:r>
              <a:rPr lang="en-US" dirty="0"/>
              <a:t> </a:t>
            </a:r>
            <a:r>
              <a:rPr lang="en-US" dirty="0" err="1"/>
              <a:t>gbak</a:t>
            </a:r>
            <a:r>
              <a:rPr lang="en-US" dirty="0"/>
              <a:t>.</a:t>
            </a:r>
          </a:p>
          <a:p>
            <a:r>
              <a:rPr lang="en-US" b="1" dirty="0" err="1"/>
              <a:t>Koraci</a:t>
            </a:r>
            <a:r>
              <a:rPr lang="en-US" b="1" dirty="0"/>
              <a:t> 3-4</a:t>
            </a:r>
            <a:r>
              <a:rPr lang="en-US" dirty="0"/>
              <a:t> </a:t>
            </a:r>
            <a:r>
              <a:rPr lang="en-US" dirty="0" err="1"/>
              <a:t>pripremaju</a:t>
            </a:r>
            <a:r>
              <a:rPr lang="en-US" dirty="0"/>
              <a:t> </a:t>
            </a:r>
            <a:r>
              <a:rPr lang="en-US" dirty="0" err="1"/>
              <a:t>replikacionu</a:t>
            </a:r>
            <a:r>
              <a:rPr lang="en-US" dirty="0"/>
              <a:t> </a:t>
            </a:r>
            <a:r>
              <a:rPr lang="en-US" dirty="0" err="1"/>
              <a:t>infrastrukturu</a:t>
            </a:r>
            <a:r>
              <a:rPr lang="en-US" dirty="0"/>
              <a:t> — </a:t>
            </a:r>
            <a:r>
              <a:rPr lang="en-US" dirty="0" err="1"/>
              <a:t>preuzimanje</a:t>
            </a:r>
            <a:r>
              <a:rPr lang="en-US" dirty="0"/>
              <a:t> DATABASE GUID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komandom</a:t>
            </a:r>
            <a:r>
              <a:rPr lang="en-US" dirty="0"/>
              <a:t> </a:t>
            </a:r>
            <a:r>
              <a:rPr lang="en-US" dirty="0" err="1"/>
              <a:t>gstat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upisivanje</a:t>
            </a:r>
            <a:r>
              <a:rPr lang="en-US" dirty="0"/>
              <a:t> u </a:t>
            </a:r>
            <a:r>
              <a:rPr lang="en-US" dirty="0" err="1"/>
              <a:t>konfiguraciju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source_guid</a:t>
            </a:r>
            <a:r>
              <a:rPr lang="en-US" dirty="0"/>
              <a:t>,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kreiranje</a:t>
            </a:r>
            <a:r>
              <a:rPr lang="en-US" dirty="0"/>
              <a:t> Journal </a:t>
            </a:r>
            <a:r>
              <a:rPr lang="en-US" dirty="0" err="1"/>
              <a:t>i</a:t>
            </a:r>
            <a:r>
              <a:rPr lang="en-US" dirty="0"/>
              <a:t> Archive </a:t>
            </a:r>
            <a:r>
              <a:rPr lang="en-US" dirty="0" err="1"/>
              <a:t>direktorijuma</a:t>
            </a:r>
            <a:r>
              <a:rPr lang="en-US" dirty="0"/>
              <a:t> za </a:t>
            </a:r>
            <a:r>
              <a:rPr lang="en-US" dirty="0" err="1"/>
              <a:t>odvajanje</a:t>
            </a:r>
            <a:r>
              <a:rPr lang="en-US" dirty="0"/>
              <a:t> </a:t>
            </a:r>
            <a:r>
              <a:rPr lang="en-US" dirty="0" err="1"/>
              <a:t>privremenih</a:t>
            </a:r>
            <a:r>
              <a:rPr lang="en-US" dirty="0"/>
              <a:t> od </a:t>
            </a:r>
            <a:r>
              <a:rPr lang="en-US" dirty="0" err="1"/>
              <a:t>trajnih</a:t>
            </a:r>
            <a:r>
              <a:rPr lang="en-US" dirty="0"/>
              <a:t> </a:t>
            </a:r>
            <a:r>
              <a:rPr lang="en-US" dirty="0" err="1"/>
              <a:t>segmenata</a:t>
            </a:r>
            <a:r>
              <a:rPr lang="en-US" dirty="0"/>
              <a:t>.</a:t>
            </a:r>
          </a:p>
          <a:p>
            <a:r>
              <a:rPr lang="en-US" b="1" dirty="0"/>
              <a:t>Korak 5</a:t>
            </a:r>
            <a:r>
              <a:rPr lang="en-US" dirty="0"/>
              <a:t> je </a:t>
            </a:r>
            <a:r>
              <a:rPr lang="en-US" dirty="0" err="1"/>
              <a:t>centralni</a:t>
            </a:r>
            <a:r>
              <a:rPr lang="en-US" dirty="0"/>
              <a:t> </a:t>
            </a:r>
            <a:r>
              <a:rPr lang="en-US" dirty="0" err="1"/>
              <a:t>korak</a:t>
            </a:r>
            <a:r>
              <a:rPr lang="en-US" dirty="0"/>
              <a:t> </a:t>
            </a:r>
            <a:r>
              <a:rPr lang="en-US" dirty="0" err="1"/>
              <a:t>konfiguracije</a:t>
            </a:r>
            <a:r>
              <a:rPr lang="en-US" dirty="0"/>
              <a:t> — u </a:t>
            </a:r>
            <a:r>
              <a:rPr lang="en-US" dirty="0" err="1"/>
              <a:t>replication.conf</a:t>
            </a:r>
            <a:r>
              <a:rPr lang="en-US" dirty="0"/>
              <a:t> se </a:t>
            </a:r>
            <a:r>
              <a:rPr lang="en-US" dirty="0" err="1"/>
              <a:t>podešavaju</a:t>
            </a:r>
            <a:r>
              <a:rPr lang="en-US" dirty="0"/>
              <a:t> </a:t>
            </a:r>
            <a:r>
              <a:rPr lang="en-US" dirty="0" err="1"/>
              <a:t>putanje</a:t>
            </a:r>
            <a:r>
              <a:rPr lang="en-US" dirty="0"/>
              <a:t> journal </a:t>
            </a:r>
            <a:r>
              <a:rPr lang="en-US" dirty="0" err="1"/>
              <a:t>i</a:t>
            </a:r>
            <a:r>
              <a:rPr lang="en-US" dirty="0"/>
              <a:t> archive </a:t>
            </a:r>
            <a:r>
              <a:rPr lang="en-US" dirty="0" err="1"/>
              <a:t>direktorijuma</a:t>
            </a:r>
            <a:r>
              <a:rPr lang="en-US" dirty="0"/>
              <a:t>, </a:t>
            </a:r>
            <a:r>
              <a:rPr lang="en-US" dirty="0" err="1"/>
              <a:t>source_guid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sync_replica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 za </a:t>
            </a:r>
            <a:r>
              <a:rPr lang="en-US" dirty="0" err="1"/>
              <a:t>obe</a:t>
            </a:r>
            <a:r>
              <a:rPr lang="en-US" dirty="0"/>
              <a:t> instance,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da li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sinhrona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asinhrona</a:t>
            </a:r>
            <a:r>
              <a:rPr lang="en-US" dirty="0"/>
              <a:t>.</a:t>
            </a:r>
          </a:p>
          <a:p>
            <a:r>
              <a:rPr lang="en-US" b="1" dirty="0" err="1"/>
              <a:t>Koraci</a:t>
            </a:r>
            <a:r>
              <a:rPr lang="en-US" b="1" dirty="0"/>
              <a:t> 6-7</a:t>
            </a:r>
            <a:r>
              <a:rPr lang="en-US" dirty="0"/>
              <a:t> </a:t>
            </a:r>
            <a:r>
              <a:rPr lang="en-US" dirty="0" err="1"/>
              <a:t>aktiviraju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— Firebird </a:t>
            </a:r>
            <a:r>
              <a:rPr lang="en-US" dirty="0" err="1"/>
              <a:t>servis</a:t>
            </a:r>
            <a:r>
              <a:rPr lang="en-US" dirty="0"/>
              <a:t> se </a:t>
            </a:r>
            <a:r>
              <a:rPr lang="en-US" dirty="0" err="1"/>
              <a:t>restartuje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izmena</a:t>
            </a:r>
            <a:r>
              <a:rPr lang="en-US" dirty="0"/>
              <a:t> </a:t>
            </a:r>
            <a:r>
              <a:rPr lang="en-US" dirty="0" err="1"/>
              <a:t>konfiguracionih</a:t>
            </a:r>
            <a:r>
              <a:rPr lang="en-US" dirty="0"/>
              <a:t> </a:t>
            </a:r>
            <a:r>
              <a:rPr lang="en-US" dirty="0" err="1"/>
              <a:t>fajlova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masteru</a:t>
            </a:r>
            <a:r>
              <a:rPr lang="en-US" dirty="0"/>
              <a:t> </a:t>
            </a:r>
            <a:r>
              <a:rPr lang="en-US" dirty="0" err="1"/>
              <a:t>izvršava</a:t>
            </a:r>
            <a:r>
              <a:rPr lang="en-US" dirty="0"/>
              <a:t> ALTER DATABASE ENABLE PUBLICATION za </a:t>
            </a:r>
            <a:r>
              <a:rPr lang="en-US" dirty="0" err="1"/>
              <a:t>uključivanje</a:t>
            </a:r>
            <a:r>
              <a:rPr lang="en-US" dirty="0"/>
              <a:t> </a:t>
            </a:r>
            <a:r>
              <a:rPr lang="en-US" dirty="0" err="1"/>
              <a:t>praćenja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, a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gfix</a:t>
            </a:r>
            <a:r>
              <a:rPr lang="en-US" dirty="0"/>
              <a:t> -replica READ_ONLY </a:t>
            </a:r>
            <a:r>
              <a:rPr lang="en-US" dirty="0" err="1"/>
              <a:t>postavlja</a:t>
            </a:r>
            <a:r>
              <a:rPr lang="en-US" dirty="0"/>
              <a:t> je u read-only mod.</a:t>
            </a:r>
          </a:p>
          <a:p>
            <a:r>
              <a:rPr lang="en-US" b="1" dirty="0"/>
              <a:t>Korak 8</a:t>
            </a:r>
            <a:r>
              <a:rPr lang="en-US" dirty="0"/>
              <a:t> </a:t>
            </a:r>
            <a:r>
              <a:rPr lang="en-US" dirty="0" err="1"/>
              <a:t>rešava</a:t>
            </a:r>
            <a:r>
              <a:rPr lang="en-US" dirty="0"/>
              <a:t> </a:t>
            </a: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aspekt</a:t>
            </a:r>
            <a:r>
              <a:rPr lang="en-US" dirty="0"/>
              <a:t> — CREATE MAPPING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replikacionom</a:t>
            </a:r>
            <a:r>
              <a:rPr lang="en-US" dirty="0"/>
              <a:t> </a:t>
            </a:r>
            <a:r>
              <a:rPr lang="en-US" dirty="0" err="1"/>
              <a:t>agentu</a:t>
            </a:r>
            <a:r>
              <a:rPr lang="en-US" dirty="0"/>
              <a:t> da se </a:t>
            </a:r>
            <a:r>
              <a:rPr lang="en-US" dirty="0" err="1"/>
              <a:t>autentifikuje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SYSDBA,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preduslov</a:t>
            </a:r>
            <a:r>
              <a:rPr lang="en-US" dirty="0"/>
              <a:t> da agent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primenjuje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bez </a:t>
            </a:r>
            <a:r>
              <a:rPr lang="en-US" dirty="0" err="1"/>
              <a:t>zasebnih</a:t>
            </a:r>
            <a:r>
              <a:rPr lang="en-US" dirty="0"/>
              <a:t> </a:t>
            </a:r>
            <a:r>
              <a:rPr lang="en-US" dirty="0" err="1"/>
              <a:t>kredencijala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 </a:t>
            </a:r>
            <a:r>
              <a:rPr lang="en-US" dirty="0" err="1"/>
              <a:t>verifikacionih</a:t>
            </a:r>
            <a:r>
              <a:rPr lang="en-US" dirty="0"/>
              <a:t> </a:t>
            </a:r>
            <a:r>
              <a:rPr lang="en-US" dirty="0" err="1"/>
              <a:t>testova</a:t>
            </a:r>
            <a:r>
              <a:rPr lang="en-US" dirty="0"/>
              <a:t> </a:t>
            </a:r>
            <a:r>
              <a:rPr lang="en-US" dirty="0" err="1"/>
              <a:t>potvrđuju</a:t>
            </a:r>
            <a:r>
              <a:rPr lang="en-US" dirty="0"/>
              <a:t> da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ispravno</a:t>
            </a:r>
            <a:r>
              <a:rPr lang="en-US" dirty="0"/>
              <a:t> u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ključnim</a:t>
            </a:r>
            <a:r>
              <a:rPr lang="en-US" dirty="0"/>
              <a:t> </a:t>
            </a:r>
            <a:r>
              <a:rPr lang="en-US" dirty="0" err="1"/>
              <a:t>scenarijima</a:t>
            </a:r>
            <a:r>
              <a:rPr lang="en-US" dirty="0"/>
              <a:t> rada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b="1" dirty="0"/>
              <a:t>Test 1 — INSERT</a:t>
            </a:r>
            <a:r>
              <a:rPr lang="en-US" dirty="0"/>
              <a:t> </a:t>
            </a:r>
            <a:r>
              <a:rPr lang="en-US" dirty="0" err="1"/>
              <a:t>verifikuje</a:t>
            </a:r>
            <a:r>
              <a:rPr lang="en-US" dirty="0"/>
              <a:t> </a:t>
            </a:r>
            <a:r>
              <a:rPr lang="en-US" dirty="0" err="1"/>
              <a:t>osnovnu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—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unosa</a:t>
            </a:r>
            <a:r>
              <a:rPr lang="en-US" dirty="0"/>
              <a:t> </a:t>
            </a:r>
            <a:r>
              <a:rPr lang="en-US" dirty="0" err="1"/>
              <a:t>novog</a:t>
            </a:r>
            <a:r>
              <a:rPr lang="en-US" dirty="0"/>
              <a:t> </a:t>
            </a:r>
            <a:r>
              <a:rPr lang="en-US" dirty="0" err="1"/>
              <a:t>zaposlenog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COMMIT-a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masteru</a:t>
            </a:r>
            <a:r>
              <a:rPr lang="en-US" dirty="0"/>
              <a:t>, SELECT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mora da </a:t>
            </a:r>
            <a:r>
              <a:rPr lang="en-US" dirty="0" err="1"/>
              <a:t>vrati</a:t>
            </a:r>
            <a:r>
              <a:rPr lang="en-US" dirty="0"/>
              <a:t> taj </a:t>
            </a:r>
            <a:r>
              <a:rPr lang="en-US" dirty="0" err="1"/>
              <a:t>isti</a:t>
            </a:r>
            <a:r>
              <a:rPr lang="en-US" dirty="0"/>
              <a:t> red,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potvrđuje</a:t>
            </a:r>
            <a:r>
              <a:rPr lang="en-US" dirty="0"/>
              <a:t> da journal </a:t>
            </a:r>
            <a:r>
              <a:rPr lang="en-US" dirty="0" err="1"/>
              <a:t>segmenti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replikacioni</a:t>
            </a:r>
            <a:r>
              <a:rPr lang="en-US" dirty="0"/>
              <a:t> agent </a:t>
            </a:r>
            <a:r>
              <a:rPr lang="en-US" dirty="0" err="1"/>
              <a:t>rade</a:t>
            </a:r>
            <a:r>
              <a:rPr lang="en-US" dirty="0"/>
              <a:t> </a:t>
            </a:r>
            <a:r>
              <a:rPr lang="en-US" dirty="0" err="1"/>
              <a:t>ispravno</a:t>
            </a:r>
            <a:r>
              <a:rPr lang="en-US" dirty="0"/>
              <a:t>.</a:t>
            </a:r>
          </a:p>
          <a:p>
            <a:r>
              <a:rPr lang="en-US" b="1" dirty="0"/>
              <a:t>Test 2 — UPDATE</a:t>
            </a:r>
            <a:r>
              <a:rPr lang="en-US" dirty="0"/>
              <a:t> </a:t>
            </a:r>
            <a:r>
              <a:rPr lang="en-US" dirty="0" err="1"/>
              <a:t>verifikuje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</a:t>
            </a:r>
            <a:r>
              <a:rPr lang="en-US" dirty="0" err="1"/>
              <a:t>izmena</a:t>
            </a:r>
            <a:r>
              <a:rPr lang="en-US" dirty="0"/>
              <a:t> — </a:t>
            </a:r>
            <a:r>
              <a:rPr lang="en-US" dirty="0" err="1"/>
              <a:t>promena</a:t>
            </a:r>
            <a:r>
              <a:rPr lang="en-US" dirty="0"/>
              <a:t> plate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masteru</a:t>
            </a:r>
            <a:r>
              <a:rPr lang="en-US" dirty="0"/>
              <a:t> mora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vidljiva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identičnom</a:t>
            </a:r>
            <a:r>
              <a:rPr lang="en-US" dirty="0"/>
              <a:t> </a:t>
            </a:r>
            <a:r>
              <a:rPr lang="en-US" dirty="0" err="1"/>
              <a:t>vrednošću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potvrđuje</a:t>
            </a:r>
            <a:r>
              <a:rPr lang="en-US" dirty="0"/>
              <a:t> da se </a:t>
            </a:r>
            <a:r>
              <a:rPr lang="en-US" dirty="0" err="1"/>
              <a:t>binarne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pravilno</a:t>
            </a:r>
            <a:r>
              <a:rPr lang="en-US" dirty="0"/>
              <a:t> </a:t>
            </a:r>
            <a:r>
              <a:rPr lang="en-US" dirty="0" err="1"/>
              <a:t>prenose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archive directory.</a:t>
            </a:r>
          </a:p>
          <a:p>
            <a:r>
              <a:rPr lang="en-US" b="1" dirty="0"/>
              <a:t>Test 3 — DELETE</a:t>
            </a:r>
            <a:r>
              <a:rPr lang="en-US" dirty="0"/>
              <a:t> </a:t>
            </a:r>
            <a:r>
              <a:rPr lang="en-US" dirty="0" err="1"/>
              <a:t>verifikuje</a:t>
            </a:r>
            <a:r>
              <a:rPr lang="en-US" dirty="0"/>
              <a:t> </a:t>
            </a:r>
            <a:r>
              <a:rPr lang="en-US" dirty="0" err="1"/>
              <a:t>referijalni</a:t>
            </a:r>
            <a:r>
              <a:rPr lang="en-US" dirty="0"/>
              <a:t>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brisanju</a:t>
            </a:r>
            <a:r>
              <a:rPr lang="en-US" dirty="0"/>
              <a:t> — </a:t>
            </a:r>
            <a:r>
              <a:rPr lang="en-US" dirty="0" err="1"/>
              <a:t>brisanje</a:t>
            </a:r>
            <a:r>
              <a:rPr lang="en-US" dirty="0"/>
              <a:t> se mora </a:t>
            </a:r>
            <a:r>
              <a:rPr lang="en-US" dirty="0" err="1"/>
              <a:t>izvršiti</a:t>
            </a:r>
            <a:r>
              <a:rPr lang="en-US" dirty="0"/>
              <a:t> u </a:t>
            </a:r>
            <a:r>
              <a:rPr lang="en-US" dirty="0" err="1"/>
              <a:t>ispravnom</a:t>
            </a:r>
            <a:r>
              <a:rPr lang="en-US" dirty="0"/>
              <a:t> </a:t>
            </a:r>
            <a:r>
              <a:rPr lang="en-US" dirty="0" err="1"/>
              <a:t>redosledu</a:t>
            </a:r>
            <a:r>
              <a:rPr lang="en-US" dirty="0"/>
              <a:t> (</a:t>
            </a:r>
            <a:r>
              <a:rPr lang="en-US" dirty="0" err="1"/>
              <a:t>prvo</a:t>
            </a:r>
            <a:r>
              <a:rPr lang="en-US" dirty="0"/>
              <a:t> SALARY_HISTORY, pa EMPLOYEE), a COUNT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bazi</a:t>
            </a:r>
            <a:r>
              <a:rPr lang="en-US" dirty="0"/>
              <a:t> mora </a:t>
            </a:r>
            <a:r>
              <a:rPr lang="en-US" dirty="0" err="1"/>
              <a:t>potvrditi</a:t>
            </a:r>
            <a:r>
              <a:rPr lang="en-US" dirty="0"/>
              <a:t> da je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očuvan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oba </a:t>
            </a:r>
            <a:r>
              <a:rPr lang="en-US" dirty="0" err="1"/>
              <a:t>čvora</a:t>
            </a:r>
            <a:r>
              <a:rPr lang="en-US" dirty="0"/>
              <a:t>.</a:t>
            </a:r>
          </a:p>
          <a:p>
            <a:r>
              <a:rPr lang="en-US" b="1" dirty="0"/>
              <a:t>Test 4 — Health-check</a:t>
            </a:r>
            <a:r>
              <a:rPr lang="en-US" dirty="0"/>
              <a:t> je </a:t>
            </a:r>
            <a:r>
              <a:rPr lang="en-US" dirty="0" err="1"/>
              <a:t>najvažniji</a:t>
            </a:r>
            <a:r>
              <a:rPr lang="en-US" dirty="0"/>
              <a:t> monitoring </a:t>
            </a:r>
            <a:r>
              <a:rPr lang="en-US" dirty="0" err="1"/>
              <a:t>alat</a:t>
            </a:r>
            <a:r>
              <a:rPr lang="en-US" dirty="0"/>
              <a:t> — </a:t>
            </a:r>
            <a:r>
              <a:rPr lang="en-US" dirty="0" err="1"/>
              <a:t>poređenjem</a:t>
            </a:r>
            <a:r>
              <a:rPr lang="en-US" dirty="0"/>
              <a:t> MON$NEXT_TRANSACTION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replike</a:t>
            </a:r>
            <a:r>
              <a:rPr lang="en-US" dirty="0"/>
              <a:t> </a:t>
            </a:r>
            <a:r>
              <a:rPr lang="en-US" dirty="0" err="1"/>
              <a:t>dobijamo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uvid</a:t>
            </a:r>
            <a:r>
              <a:rPr lang="en-US" dirty="0"/>
              <a:t> u </a:t>
            </a:r>
            <a:r>
              <a:rPr lang="en-US" dirty="0" err="1"/>
              <a:t>zdravlje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, mala </a:t>
            </a:r>
            <a:r>
              <a:rPr lang="en-US" dirty="0" err="1"/>
              <a:t>razlika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zdravo</a:t>
            </a:r>
            <a:r>
              <a:rPr lang="en-US" dirty="0"/>
              <a:t> </a:t>
            </a:r>
            <a:r>
              <a:rPr lang="en-US" dirty="0" err="1"/>
              <a:t>okruženje</a:t>
            </a:r>
            <a:r>
              <a:rPr lang="en-US" dirty="0"/>
              <a:t>, a </a:t>
            </a:r>
            <a:r>
              <a:rPr lang="en-US" dirty="0" err="1"/>
              <a:t>velika</a:t>
            </a:r>
            <a:r>
              <a:rPr lang="en-US" dirty="0"/>
              <a:t> </a:t>
            </a:r>
            <a:r>
              <a:rPr lang="en-US" dirty="0" err="1"/>
              <a:t>razlika</a:t>
            </a:r>
            <a:r>
              <a:rPr lang="en-US" dirty="0"/>
              <a:t> </a:t>
            </a:r>
            <a:r>
              <a:rPr lang="en-US" dirty="0" err="1"/>
              <a:t>signalizira</a:t>
            </a:r>
            <a:r>
              <a:rPr lang="en-US" dirty="0"/>
              <a:t> lag problem koji </a:t>
            </a:r>
            <a:r>
              <a:rPr lang="en-US" dirty="0" err="1"/>
              <a:t>zahteva</a:t>
            </a:r>
            <a:r>
              <a:rPr lang="en-US" dirty="0"/>
              <a:t> </a:t>
            </a:r>
            <a:r>
              <a:rPr lang="en-US" dirty="0" err="1"/>
              <a:t>hitnu</a:t>
            </a:r>
            <a:r>
              <a:rPr lang="en-US" dirty="0"/>
              <a:t> </a:t>
            </a:r>
            <a:r>
              <a:rPr lang="en-US" dirty="0" err="1"/>
              <a:t>dijagnostiku</a:t>
            </a:r>
            <a:r>
              <a:rPr lang="en-US" dirty="0"/>
              <a:t>.</a:t>
            </a:r>
          </a:p>
          <a:p>
            <a:r>
              <a:rPr lang="en-US" b="1" dirty="0"/>
              <a:t>Test 5 — </a:t>
            </a:r>
            <a:r>
              <a:rPr lang="en-US" b="1" dirty="0" err="1"/>
              <a:t>Isključivanje</a:t>
            </a:r>
            <a:r>
              <a:rPr lang="en-US" b="1" dirty="0"/>
              <a:t> </a:t>
            </a:r>
            <a:r>
              <a:rPr lang="en-US" b="1" dirty="0" err="1"/>
              <a:t>tabele</a:t>
            </a:r>
            <a:r>
              <a:rPr lang="en-US" dirty="0"/>
              <a:t> </a:t>
            </a:r>
            <a:r>
              <a:rPr lang="en-US" dirty="0" err="1"/>
              <a:t>demonstrira</a:t>
            </a:r>
            <a:r>
              <a:rPr lang="en-US" dirty="0"/>
              <a:t> </a:t>
            </a:r>
            <a:r>
              <a:rPr lang="en-US" dirty="0" err="1"/>
              <a:t>fleksibilnost</a:t>
            </a:r>
            <a:r>
              <a:rPr lang="en-US" dirty="0"/>
              <a:t> </a:t>
            </a:r>
            <a:r>
              <a:rPr lang="en-US" dirty="0" err="1"/>
              <a:t>logičke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— </a:t>
            </a:r>
            <a:r>
              <a:rPr lang="en-US" dirty="0" err="1"/>
              <a:t>komandom</a:t>
            </a:r>
            <a:r>
              <a:rPr lang="en-US" dirty="0"/>
              <a:t> ALTER PUBLICATION </a:t>
            </a:r>
            <a:r>
              <a:rPr lang="en-US" dirty="0" err="1"/>
              <a:t>konkretna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 se </a:t>
            </a:r>
            <a:r>
              <a:rPr lang="en-US" dirty="0" err="1"/>
              <a:t>isključuje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bez </a:t>
            </a:r>
            <a:r>
              <a:rPr lang="en-US" dirty="0" err="1"/>
              <a:t>uticaja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ostale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jedna</a:t>
            </a:r>
            <a:r>
              <a:rPr lang="en-US" dirty="0"/>
              <a:t> od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prednosti</a:t>
            </a:r>
            <a:r>
              <a:rPr lang="en-US" dirty="0"/>
              <a:t> </a:t>
            </a:r>
            <a:r>
              <a:rPr lang="en-US" dirty="0" err="1"/>
              <a:t>logičke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binarnom</a:t>
            </a:r>
            <a:r>
              <a:rPr lang="en-US" dirty="0"/>
              <a:t> </a:t>
            </a:r>
            <a:r>
              <a:rPr lang="en-US" dirty="0" err="1"/>
              <a:t>replikacijom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fundamentalno</a:t>
            </a:r>
            <a:r>
              <a:rPr lang="en-US" dirty="0"/>
              <a:t> </a:t>
            </a:r>
            <a:r>
              <a:rPr lang="en-US" dirty="0" err="1"/>
              <a:t>različita</a:t>
            </a:r>
            <a:r>
              <a:rPr lang="en-US" dirty="0"/>
              <a:t> </a:t>
            </a:r>
            <a:r>
              <a:rPr lang="en-US" dirty="0" err="1"/>
              <a:t>mehanizma</a:t>
            </a:r>
            <a:r>
              <a:rPr lang="en-US" dirty="0"/>
              <a:t> — Mirroring je </a:t>
            </a:r>
            <a:r>
              <a:rPr lang="en-US" dirty="0" err="1"/>
              <a:t>hardverska</a:t>
            </a:r>
            <a:r>
              <a:rPr lang="en-US" dirty="0"/>
              <a:t> </a:t>
            </a:r>
            <a:r>
              <a:rPr lang="en-US" dirty="0" err="1"/>
              <a:t>redundansa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unutar</a:t>
            </a:r>
            <a:r>
              <a:rPr lang="en-US" dirty="0"/>
              <a:t> LAN-a, </a:t>
            </a:r>
            <a:r>
              <a:rPr lang="en-US" dirty="0" err="1"/>
              <a:t>dok</a:t>
            </a:r>
            <a:r>
              <a:rPr lang="en-US" dirty="0"/>
              <a:t> je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logička</a:t>
            </a:r>
            <a:r>
              <a:rPr lang="en-US" dirty="0"/>
              <a:t> </a:t>
            </a:r>
            <a:r>
              <a:rPr lang="en-US" dirty="0" err="1"/>
              <a:t>sinhronizacija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podržava</a:t>
            </a:r>
            <a:r>
              <a:rPr lang="en-US" dirty="0"/>
              <a:t> WAN </a:t>
            </a:r>
            <a:r>
              <a:rPr lang="en-US" dirty="0" err="1"/>
              <a:t>veze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selektivno</a:t>
            </a:r>
            <a:r>
              <a:rPr lang="en-US" dirty="0"/>
              <a:t> </a:t>
            </a:r>
            <a:r>
              <a:rPr lang="en-US" dirty="0" err="1"/>
              <a:t>kopiranje</a:t>
            </a:r>
            <a:r>
              <a:rPr lang="en-US" dirty="0"/>
              <a:t> </a:t>
            </a:r>
            <a:r>
              <a:rPr lang="en-US" dirty="0" err="1"/>
              <a:t>specifičnih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.</a:t>
            </a:r>
          </a:p>
          <a:p>
            <a:r>
              <a:rPr lang="en-US" dirty="0" err="1"/>
              <a:t>Nativna</a:t>
            </a:r>
            <a:r>
              <a:rPr lang="en-US" dirty="0"/>
              <a:t>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uvedena</a:t>
            </a:r>
            <a:r>
              <a:rPr lang="en-US" dirty="0"/>
              <a:t> u Firebird 4.0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revolucionarnu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— po </a:t>
            </a:r>
            <a:r>
              <a:rPr lang="en-US" dirty="0" err="1"/>
              <a:t>prvi</a:t>
            </a:r>
            <a:r>
              <a:rPr lang="en-US" dirty="0"/>
              <a:t> put je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ugrađeni</a:t>
            </a:r>
            <a:r>
              <a:rPr lang="en-US" dirty="0"/>
              <a:t> </a:t>
            </a:r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samog</a:t>
            </a:r>
            <a:r>
              <a:rPr lang="en-US" dirty="0"/>
              <a:t> engine-a bez </a:t>
            </a:r>
            <a:r>
              <a:rPr lang="en-US" dirty="0" err="1"/>
              <a:t>potrebe</a:t>
            </a:r>
            <a:r>
              <a:rPr lang="en-US" dirty="0"/>
              <a:t> za </a:t>
            </a:r>
            <a:r>
              <a:rPr lang="en-US" dirty="0" err="1"/>
              <a:t>alatima</a:t>
            </a:r>
            <a:r>
              <a:rPr lang="en-US" dirty="0"/>
              <a:t> </a:t>
            </a:r>
            <a:r>
              <a:rPr lang="en-US" dirty="0" err="1"/>
              <a:t>trećih</a:t>
            </a:r>
            <a:r>
              <a:rPr lang="en-US" dirty="0"/>
              <a:t> </a:t>
            </a:r>
            <a:r>
              <a:rPr lang="en-US" dirty="0" err="1"/>
              <a:t>strana</a:t>
            </a:r>
            <a:r>
              <a:rPr lang="en-US" dirty="0"/>
              <a:t>.</a:t>
            </a:r>
          </a:p>
          <a:p>
            <a:r>
              <a:rPr lang="en-US" dirty="0"/>
              <a:t>Izbor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asinhrona</a:t>
            </a:r>
            <a:r>
              <a:rPr lang="en-US" dirty="0"/>
              <a:t> </a:t>
            </a:r>
            <a:r>
              <a:rPr lang="en-US" dirty="0" err="1"/>
              <a:t>režima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se </a:t>
            </a:r>
            <a:r>
              <a:rPr lang="en-US" dirty="0" err="1"/>
              <a:t>svodi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poslovni</a:t>
            </a:r>
            <a:r>
              <a:rPr lang="en-US" dirty="0"/>
              <a:t> </a:t>
            </a:r>
            <a:r>
              <a:rPr lang="en-US" dirty="0" err="1"/>
              <a:t>zahtev</a:t>
            </a:r>
            <a:r>
              <a:rPr lang="en-US" dirty="0"/>
              <a:t> — Zero Data Loss za </a:t>
            </a:r>
            <a:r>
              <a:rPr lang="en-US" dirty="0" err="1"/>
              <a:t>finansije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zdravstvo</a:t>
            </a:r>
            <a:r>
              <a:rPr lang="en-US" dirty="0"/>
              <a:t>, </a:t>
            </a:r>
            <a:r>
              <a:rPr lang="en-US" dirty="0" err="1"/>
              <a:t>maksimalna</a:t>
            </a:r>
            <a:r>
              <a:rPr lang="en-US" dirty="0"/>
              <a:t> </a:t>
            </a:r>
            <a:r>
              <a:rPr lang="en-US" dirty="0" err="1"/>
              <a:t>brzina</a:t>
            </a:r>
            <a:r>
              <a:rPr lang="en-US" dirty="0"/>
              <a:t> za </a:t>
            </a:r>
            <a:r>
              <a:rPr lang="en-US" dirty="0" err="1"/>
              <a:t>geografski</a:t>
            </a:r>
            <a:r>
              <a:rPr lang="en-US" dirty="0"/>
              <a:t> </a:t>
            </a:r>
            <a:r>
              <a:rPr lang="en-US" dirty="0" err="1"/>
              <a:t>distribuirane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WAN </a:t>
            </a:r>
            <a:r>
              <a:rPr lang="en-US" dirty="0" err="1"/>
              <a:t>vezama</a:t>
            </a:r>
            <a:r>
              <a:rPr lang="en-US" dirty="0"/>
              <a:t>.</a:t>
            </a:r>
          </a:p>
          <a:p>
            <a:r>
              <a:rPr lang="en-US" dirty="0" err="1"/>
              <a:t>Eho</a:t>
            </a:r>
            <a:r>
              <a:rPr lang="en-US" dirty="0"/>
              <a:t> </a:t>
            </a:r>
            <a:r>
              <a:rPr lang="en-US" dirty="0" err="1"/>
              <a:t>efekat</a:t>
            </a:r>
            <a:r>
              <a:rPr lang="en-US" dirty="0"/>
              <a:t> je </a:t>
            </a:r>
            <a:r>
              <a:rPr lang="en-US" dirty="0" err="1"/>
              <a:t>jedan</a:t>
            </a:r>
            <a:r>
              <a:rPr lang="en-US" dirty="0"/>
              <a:t> od </a:t>
            </a:r>
            <a:r>
              <a:rPr lang="en-US" dirty="0" err="1"/>
              <a:t>najvećih</a:t>
            </a:r>
            <a:r>
              <a:rPr lang="en-US" dirty="0"/>
              <a:t> </a:t>
            </a:r>
            <a:r>
              <a:rPr lang="en-US" dirty="0" err="1"/>
              <a:t>izazova</a:t>
            </a:r>
            <a:r>
              <a:rPr lang="en-US" dirty="0"/>
              <a:t> u Multi-Master </a:t>
            </a:r>
            <a:r>
              <a:rPr lang="en-US" dirty="0" err="1"/>
              <a:t>topologijama</a:t>
            </a:r>
            <a:r>
              <a:rPr lang="en-US" dirty="0"/>
              <a:t> — RDB$GET_CONTEXT('SYSTEM','REPLICATING') je </a:t>
            </a:r>
            <a:r>
              <a:rPr lang="en-US" dirty="0" err="1"/>
              <a:t>ključni</a:t>
            </a:r>
            <a:r>
              <a:rPr lang="en-US" dirty="0"/>
              <a:t> </a:t>
            </a:r>
            <a:r>
              <a:rPr lang="en-US" dirty="0" err="1"/>
              <a:t>mehanizam</a:t>
            </a:r>
            <a:r>
              <a:rPr lang="en-US" dirty="0"/>
              <a:t> koji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beskonačne</a:t>
            </a:r>
            <a:r>
              <a:rPr lang="en-US" dirty="0"/>
              <a:t> </a:t>
            </a:r>
            <a:r>
              <a:rPr lang="en-US" dirty="0" err="1"/>
              <a:t>petlje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trigeri</a:t>
            </a:r>
            <a:r>
              <a:rPr lang="en-US" dirty="0"/>
              <a:t> ne </a:t>
            </a:r>
            <a:r>
              <a:rPr lang="en-US" dirty="0" err="1"/>
              <a:t>okidaju</a:t>
            </a:r>
            <a:r>
              <a:rPr lang="en-US" dirty="0"/>
              <a:t> </a:t>
            </a:r>
            <a:r>
              <a:rPr lang="en-US" dirty="0" err="1"/>
              <a:t>ponovo</a:t>
            </a:r>
            <a:r>
              <a:rPr lang="en-US" dirty="0"/>
              <a:t> </a:t>
            </a:r>
            <a:r>
              <a:rPr lang="en-US" dirty="0" err="1"/>
              <a:t>tokom</a:t>
            </a:r>
            <a:r>
              <a:rPr lang="en-US" dirty="0"/>
              <a:t> </a:t>
            </a:r>
            <a:r>
              <a:rPr lang="en-US" dirty="0" err="1"/>
              <a:t>procesa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.</a:t>
            </a:r>
          </a:p>
          <a:p>
            <a:r>
              <a:rPr lang="en-US" dirty="0"/>
              <a:t>Firebird 4.0/5.0 je </a:t>
            </a:r>
            <a:r>
              <a:rPr lang="en-US" dirty="0" err="1"/>
              <a:t>tek</a:t>
            </a:r>
            <a:r>
              <a:rPr lang="en-US" dirty="0"/>
              <a:t> </a:t>
            </a:r>
            <a:r>
              <a:rPr lang="en-US" dirty="0" err="1"/>
              <a:t>nedavno</a:t>
            </a:r>
            <a:r>
              <a:rPr lang="en-US" dirty="0"/>
              <a:t> </a:t>
            </a:r>
            <a:r>
              <a:rPr lang="en-US" dirty="0" err="1"/>
              <a:t>dostigao</a:t>
            </a:r>
            <a:r>
              <a:rPr lang="en-US" dirty="0"/>
              <a:t> enterprise </a:t>
            </a:r>
            <a:r>
              <a:rPr lang="en-US" dirty="0" err="1"/>
              <a:t>nivo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koji PostgreSQL </a:t>
            </a:r>
            <a:r>
              <a:rPr lang="en-US" dirty="0" err="1"/>
              <a:t>i</a:t>
            </a:r>
            <a:r>
              <a:rPr lang="en-US" dirty="0"/>
              <a:t> MSSQL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godinama</a:t>
            </a:r>
            <a:r>
              <a:rPr lang="en-US" dirty="0"/>
              <a:t> —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 </a:t>
            </a:r>
            <a:r>
              <a:rPr lang="en-US" dirty="0" err="1"/>
              <a:t>Firebirda</a:t>
            </a:r>
            <a:r>
              <a:rPr lang="en-US" dirty="0"/>
              <a:t> </a:t>
            </a:r>
            <a:r>
              <a:rPr lang="en-US" dirty="0" err="1"/>
              <a:t>ostaje</a:t>
            </a:r>
            <a:r>
              <a:rPr lang="en-US" dirty="0"/>
              <a:t> </a:t>
            </a:r>
            <a:r>
              <a:rPr lang="en-US" dirty="0" err="1"/>
              <a:t>izuzetno</a:t>
            </a:r>
            <a:r>
              <a:rPr lang="en-US" dirty="0"/>
              <a:t> </a:t>
            </a:r>
            <a:r>
              <a:rPr lang="en-US" dirty="0" err="1"/>
              <a:t>niska</a:t>
            </a:r>
            <a:r>
              <a:rPr lang="en-US" dirty="0"/>
              <a:t> </a:t>
            </a:r>
            <a:r>
              <a:rPr lang="en-US" dirty="0" err="1"/>
              <a:t>potrošnja</a:t>
            </a:r>
            <a:r>
              <a:rPr lang="en-US" dirty="0"/>
              <a:t> </a:t>
            </a:r>
            <a:r>
              <a:rPr lang="en-US" dirty="0" err="1"/>
              <a:t>resursa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jednostavnost</a:t>
            </a:r>
            <a:r>
              <a:rPr lang="en-US" dirty="0"/>
              <a:t> </a:t>
            </a:r>
            <a:r>
              <a:rPr lang="en-US" dirty="0" err="1"/>
              <a:t>administracije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 podataka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(Replication and Mirroring)</a:t>
            </a:r>
            <a:endParaRPr lang="en-US" sz="4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Firebird baze podataka</a:t>
            </a:r>
            <a:endParaRPr lang="en-US" sz="2000" b="1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3F7093A-1B0E-EA2D-69D0-73E890752FCC}"/>
              </a:ext>
            </a:extLst>
          </p:cNvPr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5D96694-6F48-ADBB-997C-AC6A87633411}"/>
              </a:ext>
            </a:extLst>
          </p:cNvPr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E222DE8-FECA-E6C1-2899-17F8A6C2661A}"/>
              </a:ext>
            </a:extLst>
          </p:cNvPr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4688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CAP teorema</a:t>
            </a:r>
            <a:endParaRPr lang="en-US" sz="1600" b="1" dirty="0"/>
          </a:p>
        </p:txBody>
      </p:sp>
      <p:sp>
        <p:nvSpPr>
          <p:cNvPr id="9" name="Text 7"/>
          <p:cNvSpPr/>
          <p:nvPr/>
        </p:nvSpPr>
        <p:spPr>
          <a:xfrm>
            <a:off x="82296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 vs Dostupnost — fundamentalni kompromis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</a:t>
            </a:r>
            <a:endParaRPr lang="en-US" sz="1600" b="1" dirty="0"/>
          </a:p>
        </p:txBody>
      </p:sp>
      <p:sp>
        <p:nvSpPr>
          <p:cNvPr id="14" name="Text 12"/>
          <p:cNvSpPr/>
          <p:nvPr/>
        </p:nvSpPr>
        <p:spPr>
          <a:xfrm>
            <a:off x="82296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Arhitektura, MANUAL/AUTO 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scenario oporavka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860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4688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</a:t>
            </a:r>
            <a:endParaRPr lang="en-US" sz="1600" b="1" dirty="0"/>
          </a:p>
        </p:txBody>
      </p:sp>
      <p:sp>
        <p:nvSpPr>
          <p:cNvPr id="19" name="Text 17"/>
          <p:cNvSpPr/>
          <p:nvPr/>
        </p:nvSpPr>
        <p:spPr>
          <a:xfrm>
            <a:off x="82296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— replikacioni dnevnici, sinhronizacija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28600" y="382219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382219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46888" y="3986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8862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</a:t>
            </a:r>
            <a:endParaRPr lang="en-US" sz="1600" b="1" dirty="0"/>
          </a:p>
        </p:txBody>
      </p:sp>
      <p:sp>
        <p:nvSpPr>
          <p:cNvPr id="24" name="Text 22"/>
          <p:cNvSpPr/>
          <p:nvPr/>
        </p:nvSpPr>
        <p:spPr>
          <a:xfrm>
            <a:off x="822960" y="424281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vs Replication Lag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75488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7316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</a:t>
            </a: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endParaRPr lang="en-US" sz="1600" b="1" dirty="0"/>
          </a:p>
        </p:txBody>
      </p:sp>
      <p:sp>
        <p:nvSpPr>
          <p:cNvPr id="29" name="Text 27"/>
          <p:cNvSpPr/>
          <p:nvPr/>
        </p:nvSpPr>
        <p:spPr>
          <a:xfrm>
            <a:off x="534924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Trigeri, REPLICATION_LOG tabela, 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konflikata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5488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77316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</a:t>
            </a:r>
            <a:endParaRPr lang="en-US" sz="1600" b="1" dirty="0"/>
          </a:p>
        </p:txBody>
      </p:sp>
      <p:sp>
        <p:nvSpPr>
          <p:cNvPr id="34" name="Text 32"/>
          <p:cNvSpPr/>
          <p:nvPr/>
        </p:nvSpPr>
        <p:spPr>
          <a:xfrm>
            <a:off x="534924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Star, Mesh, Ring — eho efekat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75488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75488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7316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</a:t>
            </a:r>
            <a:r>
              <a:rPr lang="sr-Latn-R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implementacija</a:t>
            </a:r>
            <a:endParaRPr lang="en-US" sz="1600" b="1" dirty="0"/>
          </a:p>
        </p:txBody>
      </p:sp>
      <p:sp>
        <p:nvSpPr>
          <p:cNvPr id="39" name="Text 37"/>
          <p:cNvSpPr/>
          <p:nvPr/>
        </p:nvSpPr>
        <p:spPr>
          <a:xfrm>
            <a:off x="534924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koraka konfiguracije + 5 verifikacionih primera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teorema — temeljni kompromis svakog distribuiranog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822960"/>
            <a:ext cx="2743200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 slave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svakom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trenutku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Zahteva sinhronizaciju pre odgovora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finansijske aplikacije,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knji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realnom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18688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18688" y="822960"/>
            <a:ext cx="2743200" cy="96012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218688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3310128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0128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10128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na brzini rada i kontinuitetu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ne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potvrdu slave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prikupljanje podataka sa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mernih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IoT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17336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17336" y="822960"/>
            <a:ext cx="2743200" cy="960120"/>
          </a:xfrm>
          <a:prstGeom prst="rect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17336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6208776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Part. Tolerance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Otpornost na particije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08776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nije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pouzdana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bira: ili C+P (sinhrono) ili A+P (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asinhrono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moguće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imati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sva tri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istovremeno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0040" y="4453128"/>
            <a:ext cx="8540496" cy="5486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11480" y="44988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nudi OBA režima: sinhroni (C+P) za finansije i asinhroni (A+P) za visoku propusnost.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 — arhitektura i režimi rada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3464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b="1" dirty="0"/>
              <a:t>→</a:t>
            </a:r>
            <a:endParaRPr lang="en-US" sz="2000" b="1" dirty="0"/>
          </a:p>
        </p:txBody>
      </p:sp>
      <p:sp>
        <p:nvSpPr>
          <p:cNvPr id="8" name="Shape 6"/>
          <p:cNvSpPr/>
          <p:nvPr/>
        </p:nvSpPr>
        <p:spPr>
          <a:xfrm>
            <a:off x="3337560" y="777240"/>
            <a:ext cx="2423160" cy="77724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337560" y="777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disk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8358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disk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" y="16459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je UVEK sinhroni — baza ceka potvrdu OBA diska.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Operi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na nivou stranica (4–16 KB), ne SQL naredbi.</a:t>
            </a:r>
            <a:endParaRPr lang="en-US" sz="1400" b="1" dirty="0">
              <a:solidFill>
                <a:srgbClr val="1B2A4A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2011680"/>
            <a:ext cx="4160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28600" y="2011680"/>
            <a:ext cx="64008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65760" y="2084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režim (strogi)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" y="2468880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Ispravnost kopije je prioritet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šć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 BAZA SE ZATVARA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čno za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ERP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sisteme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MANUAL 'D:\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Mirror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naziv_baze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.shd';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2011680"/>
            <a:ext cx="4343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64008" cy="137160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20848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režim (tolerantni)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09160" y="2468880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Neprekidni rad je prioritet nad redundansom.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baza NASTAVLJA RAD bez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preslikavanja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kod: dev/test okruzenja,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backup generatorom.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AUTO 'D:\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Mirror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\</a:t>
            </a:r>
            <a:r>
              <a:rPr lang="sr-Latn-R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naziv_baze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200" dirty="0" err="1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shd</a:t>
            </a: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60604" y="3538728"/>
            <a:ext cx="8686800" cy="14251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28600" y="3538728"/>
            <a:ext cx="64008" cy="142515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65760" y="356695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Ograničenja preslikavanja: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5760" y="3995928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 kazna (oba diska se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ekaju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 za LAN — nije za WAN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read offloading — shadow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itljiv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 je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aktivan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ODS (ista verzija Firebird)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raspodele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endParaRPr lang="en-US" sz="1400" dirty="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 — Firebird 4.0 revolucija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59436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20040" y="822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uvodi PRVU nativnu binarnu replikaciju u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standardnu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distribuciju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alata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ći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strana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baza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70743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1" name="Text 9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8444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4" name="Text 12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2180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2860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28600" y="2496312"/>
            <a:ext cx="64008" cy="135331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576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Segment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Promene se akumuliraju u memorijskom baferu (BufferPoolSize).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 se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napuni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</a:rPr>
              <a:t>→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flush na disk kao binarni segment.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5468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54680" y="2496312"/>
            <a:ext cx="64008" cy="135331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29184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 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Namenski podsistem unutar engine-a.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Kontinuirano skenira archive directory.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Primenjuje segmente na slave bazu kroz SQL replay.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80760" y="2496312"/>
            <a:ext cx="2834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080760" y="2496312"/>
            <a:ext cx="64008" cy="135331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17920" y="2533179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GUID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17920" y="2866136"/>
            <a:ext cx="2651760" cy="88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 prihvata SAMO logove od mastera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 GUID-om.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nenamerno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podataka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28600" y="3995928"/>
            <a:ext cx="8686800" cy="1083564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28600" y="3995928"/>
            <a:ext cx="8686800" cy="32918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20040" y="4032504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parametri replication.conf (master)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320040" y="4379976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journal_directory = C:\repl\journal          # privremeni segmenti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journal_archive_directory = C:\repl\archive    # trajni arhiv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journal_archive_timeout = 30                   # sekundi pre flush-a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sync_replica = localhost:D:\baze\slave.fdb      # sinhroni slave</a:t>
            </a:r>
            <a:endParaRPr lang="en-US" sz="1000" dirty="0">
              <a:solidFill>
                <a:srgbClr val="1B2A4A"/>
              </a:solidFill>
            </a:endParaRPr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98D39A59-BF7B-CCE8-54FF-78E6A6460A73}"/>
              </a:ext>
            </a:extLst>
          </p:cNvPr>
          <p:cNvSpPr/>
          <p:nvPr/>
        </p:nvSpPr>
        <p:spPr>
          <a:xfrm>
            <a:off x="354170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2DF9C73A-38FB-9133-D16F-45D9DBF9A0BA}"/>
              </a:ext>
            </a:extLst>
          </p:cNvPr>
          <p:cNvSpPr/>
          <p:nvPr/>
        </p:nvSpPr>
        <p:spPr>
          <a:xfrm>
            <a:off x="5279064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3E1FB7B9-750F-1F77-7680-E3E8DC918BC2}"/>
              </a:ext>
            </a:extLst>
          </p:cNvPr>
          <p:cNvSpPr/>
          <p:nvPr/>
        </p:nvSpPr>
        <p:spPr>
          <a:xfrm>
            <a:off x="701642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 — ključni kompromis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16052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SINHRONI režim (Synchronous)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359672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94360" y="131488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potvrdu slave-a pre odgovora korisniku.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" y="1789440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17446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(RPO = 0) —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apsolutna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identičnost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7472" y="2219208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94360" y="21479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 upisa =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648976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94360" y="257768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gigabit LAN ili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direktan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" y="3078744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94360" y="30074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za: finansije, bankarstvo, zdravstvo.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508512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94360" y="346372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sync_replica = slave_connection_string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5488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754880" y="777240"/>
            <a:ext cx="416052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ASINHRONI režim (Asynchronous)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73752" y="1333168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20640" y="12618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upisuje lokalno, log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pozadini.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73752" y="1762936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120640" y="169164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 — slave kasni za masterom.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73752" y="2192704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120640" y="212140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Maksimalna brzina za lokalne korisnike.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873752" y="2622472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120640" y="255117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WAN veze,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fski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udaljeni slave.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873752" y="3052240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120640" y="298094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&gt; 0 — prihvatljiv gubitak podataka.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73752" y="3482008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120640" y="34107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async_replica = slave_connection_string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38364" y="243627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Logička replikacija zasnovana na trigerima (CDC)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8549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805236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Šta je CDC (Change Data Capture)?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079556"/>
            <a:ext cx="8503920" cy="47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razliku od binarne replikacije koja kopira stranice,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presre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svaki INSERT/UPDATE/DELETE kroz trigere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promene u namenske tabele (audit log). Prednost: selektivna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tabela, cross-version,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705356"/>
            <a:ext cx="416052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28600" y="1705356"/>
            <a:ext cx="416052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0040" y="174193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REPLICATION_LOG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2089404"/>
            <a:ext cx="3977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REPLICATION_LOG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LOG_ID      BIGINT GENERATED BY DEFAULT AS IDENTITY PRIMARY KEY,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TABLE_NAME  VARCHAR(64) NOT NULL,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OPERATION   CHAR(1) NOT NULL,  -- I/U/D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PK_VALUE    VARCHAR(50),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CHANGED_AT  TIMESTAMP DEFAULT CURRENT_TIMESTAMP,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PAYLOAD     BLOB SUB_TYPE TEXT  -- JSON/XML sadrzaj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0" y="1705356"/>
            <a:ext cx="434340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0" y="1705356"/>
            <a:ext cx="43434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63440" y="174193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 za hvatanje promena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2089404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TRIGGER TRG_EMP_REPL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AFTER INSERT OR UPDATE OR DELETE ON EMPLOYEE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(RDB$GET_CONTEXT('SYSTEM','REPLICATING') IS NULL) THEN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REPLICATION_LOG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(TABLE_NAME, OPERATION, PK_VALUE, PAYLOAD)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('EMPLOYEE',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WHEN INSERTING THEN 'I'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WHEN UPDATING THEN 'U' ELSE 'D' END,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CAST(NEW.EMP_NO AS VARCHAR(50)),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/* JSON payload */ NULL);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END;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8600" y="34244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424428"/>
            <a:ext cx="64008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4975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Write Wins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" y="3771900"/>
            <a:ext cx="2560320" cy="237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češć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strategija.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koji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 kod jednakih timestamp vrednosti.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27248" y="34244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27248" y="3424428"/>
            <a:ext cx="64008" cy="16002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64408" y="34975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Priority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264408" y="3771900"/>
            <a:ext cx="2560320" cy="237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Unapred definisana hijerarhija servera.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nad slave 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vorom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Jednostavna implementacija.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25896" y="34244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25896" y="3424428"/>
            <a:ext cx="64008" cy="16002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63056" y="34975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Aplikativna logika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63056" y="3771900"/>
            <a:ext cx="2560320" cy="237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podatke (finansije, zalihe).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revizija ili domain-specific pravila.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Najsigurniji,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najslo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že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pristup.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28600" y="5088636"/>
            <a:ext cx="8686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sprecava 'eho' efekat — triger ne pali sam sebe na replici!</a:t>
            </a:r>
            <a:endParaRPr lang="en-US" sz="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 i eho efekat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(Zvezda)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periferni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vorovi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povezuju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centralnim serverom.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Centalni server je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replikacije.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jednostavna administracija, centralizovana kontrola.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centralni server =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kvara (SPOF).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ERP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centralnom bazom i filijalama.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7248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18688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(Mreza)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18688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direktno povezan sa svim ostalima.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</a:t>
            </a:r>
            <a:r>
              <a:rPr lang="sr-Latn-RS" sz="14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tačke kvara (SPOF)</a:t>
            </a:r>
            <a:r>
              <a:rPr lang="en-US" sz="14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izuzetno visoka tolerancija na kvarove.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maksimalna redundansa i propusnost.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kompleksna konfiguracija, eksponencijalni rast veza.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za: mission-critical sistemi,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25896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117336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(Prsten)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17336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Podaci putuju sekvencijalno od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 se krug ne zatvori.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ravnomerna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raspodela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će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spor oporavak, jedan kvar prekida ceo prsten.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za: sistemi sa jasnom geografskom distribucijom.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" y="3749040"/>
            <a:ext cx="8686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749040"/>
            <a:ext cx="64008" cy="118872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 (Echo Effect) — beskonačna petlja replikacije: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09651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A replikuje promenu na B, a B replikuje sve promene nazad na A —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beskona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petlja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IF (RDB$GET_CONTEXT('SYSTEM','REPLICATING') IS NULL) THEN -- promena je nastala od korisnika,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replikacionog agenta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automatski setuje REPLICATING = TRUE pri primeni logova, pa se triger 'prepoznaje'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preska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Praktična implementacija — 8 koraka konfiguracije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74904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74904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74904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databases.conf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Kreirati aliase za master i slave bazu.</a:t>
            </a:r>
            <a:endParaRPr lang="en-US" sz="1200" dirty="0">
              <a:latin typeface="+mj-lt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42032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542032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542032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35224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+ Restore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33472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-b master.fdb </a:t>
            </a:r>
            <a:r>
              <a:rPr lang="en-US" sz="12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master.fbk</a:t>
            </a:r>
            <a:endParaRPr lang="sr-Latn-RS" sz="1200" dirty="0">
              <a:solidFill>
                <a:srgbClr val="475569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-r master.fbk </a:t>
            </a:r>
            <a:r>
              <a:rPr lang="en-US" sz="12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slave.fdb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09160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02352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gstat -h (GUID)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Preuzeti DATABASE GUID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mastera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Unet u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source_gui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d u konfiguraciji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en-US" sz="1200" dirty="0">
              <a:latin typeface="+mj-lt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876288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876288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876288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69480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struktura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67728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Kreirati Journal i Archive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direktorijume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Odvajanje privremenih od trajnih segmenata.</a:t>
            </a:r>
            <a:endParaRPr lang="en-US" sz="1200" dirty="0">
              <a:latin typeface="+mj-lt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4904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30" name="Shape 28"/>
          <p:cNvSpPr/>
          <p:nvPr/>
        </p:nvSpPr>
        <p:spPr>
          <a:xfrm>
            <a:off x="374904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74904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8096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replication.conf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6344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Podesiti journal, archive, sync_replica, source_guid parametre za obe instance.</a:t>
            </a:r>
            <a:endParaRPr lang="en-US" sz="1200" dirty="0">
              <a:latin typeface="+mj-lt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2542032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542032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542032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935224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servisa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633472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Restartovati Firebird servis nakon izmene konfiguracionih fajlova.</a:t>
            </a:r>
            <a:endParaRPr lang="en-US" sz="1200" dirty="0">
              <a:latin typeface="+mj-lt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709160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4709160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709160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102352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DATABASE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00600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DATABASE ENABLE PUBLICATION;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(master: 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uklju</a:t>
            </a:r>
            <a:r>
              <a:rPr lang="sr-Latn-R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pra</a:t>
            </a:r>
            <a:r>
              <a:rPr lang="sr-Latn-R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ć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enje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 tabela)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gfix -replica READ_ONLY slave.fdb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76288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76288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6876288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69480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korisnika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67728" y="3429000"/>
            <a:ext cx="20299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MAPPING repl_agent USING PLUGIN SRP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USER replication_user TO USER SYSDBA;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repli</a:t>
            </a:r>
            <a:r>
              <a:rPr lang="sr-Latn-RS" sz="11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</a:t>
            </a:r>
            <a:r>
              <a:rPr lang="en-US" sz="11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a prihvata agenta kao SYSDBA)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Verifikacija — 5 primera potvrđivanja rada replikacije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28600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INSERT INTO EMPLOYEE ... EMP_NO=1000;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* FROM EMPLOYEE WHERE EMP_NO=1000;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rezultat: red postoji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na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replici</a:t>
            </a:r>
            <a:endParaRPr lang="en-US" sz="1200" dirty="0">
              <a:latin typeface="+mj-lt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127248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18688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UPDATE EMPLOYEE SET SALARY=60000 WHERE EMP_NO=1000;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SALARY FROM EMPLOYEE WHERE EMP_NO=1000;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rezultat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: SALARY=60000.</a:t>
            </a:r>
            <a:endParaRPr lang="en-US" sz="1200" dirty="0">
              <a:latin typeface="+mj-lt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25896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025896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17336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DELETE iz SALARY_HISTORY pa iz EMPLOYEE;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COUNT(*)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Klju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no: referenc.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integritet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uvan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na OBA 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vora</a:t>
            </a:r>
            <a:r>
              <a:rPr lang="sr-Latn-BA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200" dirty="0">
              <a:latin typeface="+mj-lt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8600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>
              <a:latin typeface="+mj-lt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28600" y="2953512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28600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MON$NEXT_TRANSACTION FROM MON$DATABASE;</a:t>
            </a:r>
            <a:endParaRPr lang="sr-Latn-RS" sz="14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400" dirty="0">
              <a:latin typeface="+mj-lt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(pokrenuti na masteru i replici)</a:t>
            </a:r>
            <a:endParaRPr lang="en-US" sz="1400" dirty="0">
              <a:latin typeface="+mj-lt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Mala razlika = zdravo. </a:t>
            </a:r>
            <a:endParaRPr lang="sr-Latn-RS" sz="14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Velika razlika = lag problem</a:t>
            </a:r>
            <a:r>
              <a:rPr lang="sr-Latn-BA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400" dirty="0">
              <a:latin typeface="+mj-lt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27248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27248" y="2953512"/>
            <a:ext cx="2743200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127248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47872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18688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ALTER PUBLICATION SET TABLE EMPLOYEE INACTIVE;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abela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se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isklju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iz replikacije bez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gubljenja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ostalih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Fleksibilnost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logi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ke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replikacije</a:t>
            </a:r>
            <a:r>
              <a:rPr lang="sr-Latn-BA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200" dirty="0">
              <a:latin typeface="+mj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02336" y="26765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89007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989007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30352" y="1098735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vs Replikacija: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3017520" y="1098735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= hardverska redundansa (LAN)</a:t>
            </a:r>
            <a:endParaRPr lang="sr-Latn-RS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sinhronizacija (WAN + selekcija).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747959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1747959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0352" y="1857687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replikacija FB 4.0: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017520" y="1857687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Revolucionarna promena —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ugra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mehanizam bez alata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06911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5760" y="2506911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0352" y="2616639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Sinhrono vs Asinhrono: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3017520" y="2616639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(sinhrono) ili maksimalna brzina (asinhrono) — biramo prema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poslovnom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zahtevu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65863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65760" y="3265863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0352" y="3375591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17520" y="3375591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beskona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petlji u Multi-Master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024815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" y="4024815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30352" y="4134543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vs konkurencija: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3017520" y="4134543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i MSSQL imaju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zrelija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Firebird 4.0/5.0 tek dostigao enterprise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nivo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191CE844-74B2-1141-0575-D5F64587F5D3}"/>
              </a:ext>
            </a:extLst>
          </p:cNvPr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3673</Words>
  <Application>Microsoft Office PowerPoint</Application>
  <PresentationFormat>On-screen Show (16:9)</PresentationFormat>
  <Paragraphs>334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Jefimija Stamenovic</cp:lastModifiedBy>
  <cp:revision>90</cp:revision>
  <dcterms:created xsi:type="dcterms:W3CDTF">2026-03-11T06:47:54Z</dcterms:created>
  <dcterms:modified xsi:type="dcterms:W3CDTF">2026-03-16T01:54:22Z</dcterms:modified>
</cp:coreProperties>
</file>