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2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6186" autoAdjust="0"/>
  </p:normalViewPr>
  <p:slideViewPr>
    <p:cSldViewPr snapToGrid="0" snapToObjects="1">
      <p:cViewPr>
        <p:scale>
          <a:sx n="60" d="100"/>
          <a:sy n="60" d="100"/>
        </p:scale>
        <p:origin x="77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9181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je </a:t>
            </a:r>
            <a:r>
              <a:rPr lang="en-US" dirty="0" err="1"/>
              <a:t>sadržaj</a:t>
            </a:r>
            <a:r>
              <a:rPr lang="en-US" dirty="0"/>
              <a:t> </a:t>
            </a:r>
            <a:r>
              <a:rPr lang="en-US" dirty="0" err="1"/>
              <a:t>prezentacije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sedam</a:t>
            </a:r>
            <a:r>
              <a:rPr lang="en-US" dirty="0"/>
              <a:t>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oblasti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Firebird </a:t>
            </a:r>
            <a:r>
              <a:rPr lang="en-US" dirty="0" err="1"/>
              <a:t>sistemu</a:t>
            </a:r>
            <a:r>
              <a:rPr lang="en-US" dirty="0"/>
              <a:t>.</a:t>
            </a:r>
          </a:p>
          <a:p>
            <a:r>
              <a:rPr lang="en-US" dirty="0" err="1"/>
              <a:t>Krećemo</a:t>
            </a:r>
            <a:r>
              <a:rPr lang="en-US" dirty="0"/>
              <a:t> od </a:t>
            </a:r>
            <a:r>
              <a:rPr lang="en-US" b="1" dirty="0"/>
              <a:t>CAP </a:t>
            </a:r>
            <a:r>
              <a:rPr lang="en-US" b="1" dirty="0" err="1"/>
              <a:t>teoreme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teorijskog</a:t>
            </a:r>
            <a:r>
              <a:rPr lang="en-US" dirty="0"/>
              <a:t> </a:t>
            </a:r>
            <a:r>
              <a:rPr lang="en-US" dirty="0" err="1"/>
              <a:t>temelja</a:t>
            </a:r>
            <a:r>
              <a:rPr lang="en-US" dirty="0"/>
              <a:t> — </a:t>
            </a:r>
            <a:r>
              <a:rPr lang="en-US" dirty="0" err="1"/>
              <a:t>fundamentalnog</a:t>
            </a:r>
            <a:r>
              <a:rPr lang="en-US" dirty="0"/>
              <a:t> </a:t>
            </a:r>
            <a:r>
              <a:rPr lang="en-US" dirty="0" err="1"/>
              <a:t>kompromisa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distribuiranim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</a:t>
            </a:r>
            <a:r>
              <a:rPr lang="en-US" dirty="0" err="1"/>
              <a:t>analiziramo</a:t>
            </a:r>
            <a:r>
              <a:rPr lang="en-US" dirty="0"/>
              <a:t> </a:t>
            </a:r>
            <a:r>
              <a:rPr lang="en-US" b="1" dirty="0" err="1"/>
              <a:t>Preslikavanje</a:t>
            </a:r>
            <a:r>
              <a:rPr lang="en-US" b="1" dirty="0"/>
              <a:t> (Mirroring)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MANUAL/AUTO </a:t>
            </a:r>
            <a:r>
              <a:rPr lang="en-US" dirty="0" err="1"/>
              <a:t>režimima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scenarijima</a:t>
            </a:r>
            <a:r>
              <a:rPr lang="en-US" dirty="0"/>
              <a:t> </a:t>
            </a:r>
            <a:r>
              <a:rPr lang="en-US" dirty="0" err="1"/>
              <a:t>oporavka</a:t>
            </a:r>
            <a:r>
              <a:rPr lang="en-US" dirty="0"/>
              <a:t>.</a:t>
            </a:r>
          </a:p>
          <a:p>
            <a:r>
              <a:rPr lang="en-US" dirty="0" err="1"/>
              <a:t>Centralni</a:t>
            </a:r>
            <a:r>
              <a:rPr lang="en-US" dirty="0"/>
              <a:t> deo </a:t>
            </a:r>
            <a:r>
              <a:rPr lang="en-US" dirty="0" err="1"/>
              <a:t>pokriva</a:t>
            </a:r>
            <a:r>
              <a:rPr lang="en-US" dirty="0"/>
              <a:t> </a:t>
            </a:r>
            <a:r>
              <a:rPr lang="en-US" dirty="0" err="1"/>
              <a:t>replikacione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— </a:t>
            </a:r>
            <a:r>
              <a:rPr lang="en-US" b="1" dirty="0" err="1"/>
              <a:t>Nativna</a:t>
            </a:r>
            <a:r>
              <a:rPr lang="en-US" b="1" dirty="0"/>
              <a:t> </a:t>
            </a:r>
            <a:r>
              <a:rPr lang="en-US" b="1" dirty="0" err="1"/>
              <a:t>binarna</a:t>
            </a:r>
            <a:r>
              <a:rPr lang="en-US" b="1" dirty="0"/>
              <a:t> </a:t>
            </a:r>
            <a:r>
              <a:rPr lang="en-US" b="1" dirty="0" err="1"/>
              <a:t>replikacija</a:t>
            </a:r>
            <a:r>
              <a:rPr lang="en-US" dirty="0"/>
              <a:t> </a:t>
            </a:r>
            <a:r>
              <a:rPr lang="en-US" dirty="0" err="1"/>
              <a:t>uvedena</a:t>
            </a:r>
            <a:r>
              <a:rPr lang="en-US" dirty="0"/>
              <a:t> u Firebird 4.0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replikacionim</a:t>
            </a:r>
            <a:r>
              <a:rPr lang="en-US" dirty="0"/>
              <a:t> </a:t>
            </a:r>
            <a:r>
              <a:rPr lang="en-US" dirty="0" err="1"/>
              <a:t>dnevnicima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sinhronizacijom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b="1" dirty="0" err="1"/>
              <a:t>Sinhrona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Asinhrona</a:t>
            </a:r>
            <a:r>
              <a:rPr lang="en-US" b="1" dirty="0"/>
              <a:t> </a:t>
            </a:r>
            <a:r>
              <a:rPr lang="en-US" b="1" dirty="0" err="1"/>
              <a:t>replikacije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prizmu</a:t>
            </a:r>
            <a:r>
              <a:rPr lang="en-US" dirty="0"/>
              <a:t> Zero Data Loss vs Replication Lag </a:t>
            </a:r>
            <a:r>
              <a:rPr lang="en-US" dirty="0" err="1"/>
              <a:t>kompromisa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</a:t>
            </a:r>
            <a:r>
              <a:rPr lang="en-US" dirty="0" err="1"/>
              <a:t>aspekti</a:t>
            </a:r>
            <a:r>
              <a:rPr lang="en-US" dirty="0"/>
              <a:t> </a:t>
            </a:r>
            <a:r>
              <a:rPr lang="en-US" dirty="0" err="1"/>
              <a:t>obuhvataju</a:t>
            </a:r>
            <a:r>
              <a:rPr lang="en-US" dirty="0"/>
              <a:t> </a:t>
            </a:r>
            <a:r>
              <a:rPr lang="en-US" b="1" dirty="0" err="1"/>
              <a:t>Logičku</a:t>
            </a:r>
            <a:r>
              <a:rPr lang="en-US" b="1" dirty="0"/>
              <a:t> </a:t>
            </a:r>
            <a:r>
              <a:rPr lang="en-US" b="1" dirty="0" err="1"/>
              <a:t>replikaciju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trigera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REPLICATION_LOG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rešavanjem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Multi-Master </a:t>
            </a:r>
            <a:r>
              <a:rPr lang="en-US" b="1" dirty="0" err="1"/>
              <a:t>topologije</a:t>
            </a:r>
            <a:r>
              <a:rPr lang="en-US" dirty="0"/>
              <a:t> — Star, Mesh </a:t>
            </a:r>
            <a:r>
              <a:rPr lang="en-US" dirty="0" err="1"/>
              <a:t>i</a:t>
            </a:r>
            <a:r>
              <a:rPr lang="en-US" dirty="0"/>
              <a:t> Ring </a:t>
            </a:r>
            <a:r>
              <a:rPr lang="en-US" dirty="0" err="1"/>
              <a:t>arhitekture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eho</a:t>
            </a:r>
            <a:r>
              <a:rPr lang="en-US" dirty="0"/>
              <a:t> </a:t>
            </a:r>
            <a:r>
              <a:rPr lang="en-US" dirty="0" err="1"/>
              <a:t>efekta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načinima</a:t>
            </a:r>
            <a:r>
              <a:rPr lang="en-US" dirty="0"/>
              <a:t> </a:t>
            </a:r>
            <a:r>
              <a:rPr lang="en-US" dirty="0" err="1"/>
              <a:t>njegovog</a:t>
            </a:r>
            <a:r>
              <a:rPr lang="en-US" dirty="0"/>
              <a:t> </a:t>
            </a:r>
            <a:r>
              <a:rPr lang="en-US" dirty="0" err="1"/>
              <a:t>rešavanja</a:t>
            </a:r>
            <a:r>
              <a:rPr lang="en-US" dirty="0"/>
              <a:t>.</a:t>
            </a:r>
          </a:p>
          <a:p>
            <a:r>
              <a:rPr lang="en-US" dirty="0"/>
              <a:t>Prezentacija se </a:t>
            </a:r>
            <a:r>
              <a:rPr lang="en-US" dirty="0" err="1"/>
              <a:t>zaključuje</a:t>
            </a:r>
            <a:r>
              <a:rPr lang="en-US" dirty="0"/>
              <a:t> </a:t>
            </a:r>
            <a:r>
              <a:rPr lang="en-US" b="1" dirty="0" err="1"/>
              <a:t>Praktičnom</a:t>
            </a:r>
            <a:r>
              <a:rPr lang="en-US" b="1" dirty="0"/>
              <a:t> </a:t>
            </a:r>
            <a:r>
              <a:rPr lang="en-US" b="1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8 </a:t>
            </a:r>
            <a:r>
              <a:rPr lang="en-US" dirty="0" err="1"/>
              <a:t>koraka</a:t>
            </a:r>
            <a:r>
              <a:rPr lang="en-US" dirty="0"/>
              <a:t> </a:t>
            </a:r>
            <a:r>
              <a:rPr lang="en-US" dirty="0" err="1"/>
              <a:t>konfiguracije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5 </a:t>
            </a:r>
            <a:r>
              <a:rPr lang="en-US" dirty="0" err="1"/>
              <a:t>verifikacionih</a:t>
            </a:r>
            <a:r>
              <a:rPr lang="en-US" dirty="0"/>
              <a:t> </a:t>
            </a:r>
            <a:r>
              <a:rPr lang="en-US" dirty="0" err="1"/>
              <a:t>primera</a:t>
            </a:r>
            <a:r>
              <a:rPr lang="en-US" dirty="0"/>
              <a:t> koji </a:t>
            </a:r>
            <a:r>
              <a:rPr lang="en-US" dirty="0" err="1"/>
              <a:t>demonstriraju</a:t>
            </a:r>
            <a:r>
              <a:rPr lang="en-US" dirty="0"/>
              <a:t> </a:t>
            </a:r>
            <a:r>
              <a:rPr lang="en-US" dirty="0" err="1"/>
              <a:t>postavljanje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okruženju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 </a:t>
            </a:r>
            <a:r>
              <a:rPr lang="en-US" dirty="0" err="1"/>
              <a:t>teorema</a:t>
            </a:r>
            <a:r>
              <a:rPr lang="en-US" dirty="0"/>
              <a:t> </a:t>
            </a:r>
            <a:r>
              <a:rPr lang="en-US" dirty="0" err="1"/>
              <a:t>kaže</a:t>
            </a:r>
            <a:r>
              <a:rPr lang="en-US" dirty="0"/>
              <a:t> da </a:t>
            </a:r>
            <a:r>
              <a:rPr lang="en-US" dirty="0" err="1"/>
              <a:t>nijedan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garantovati</a:t>
            </a:r>
            <a:r>
              <a:rPr lang="en-US" dirty="0"/>
              <a:t> </a:t>
            </a:r>
            <a:r>
              <a:rPr lang="en-US" dirty="0" err="1"/>
              <a:t>sva</a:t>
            </a:r>
            <a:r>
              <a:rPr lang="en-US" dirty="0"/>
              <a:t> tri </a:t>
            </a:r>
            <a:r>
              <a:rPr lang="en-US" dirty="0" err="1"/>
              <a:t>svojstva</a:t>
            </a:r>
            <a:r>
              <a:rPr lang="en-US" dirty="0"/>
              <a:t> — </a:t>
            </a:r>
            <a:r>
              <a:rPr lang="en-US" dirty="0" err="1"/>
              <a:t>Konzistentnost</a:t>
            </a:r>
            <a:r>
              <a:rPr lang="en-US" dirty="0"/>
              <a:t>, Dostupnost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Otpornost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— </a:t>
            </a:r>
            <a:r>
              <a:rPr lang="en-US" dirty="0" err="1"/>
              <a:t>već</a:t>
            </a:r>
            <a:r>
              <a:rPr lang="en-US" dirty="0"/>
              <a:t> mora da </a:t>
            </a:r>
            <a:r>
              <a:rPr lang="en-US" dirty="0" err="1"/>
              <a:t>izabere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od tri.</a:t>
            </a:r>
          </a:p>
          <a:p>
            <a:r>
              <a:rPr lang="en-US" b="1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identični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 — </a:t>
            </a:r>
            <a:r>
              <a:rPr lang="en-US" dirty="0" err="1"/>
              <a:t>zahteva</a:t>
            </a:r>
            <a:r>
              <a:rPr lang="en-US" dirty="0"/>
              <a:t> </a:t>
            </a:r>
            <a:r>
              <a:rPr lang="en-US" dirty="0" err="1"/>
              <a:t>sinhronizaciju</a:t>
            </a:r>
            <a:r>
              <a:rPr lang="en-US" dirty="0"/>
              <a:t>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knjiženje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</a:t>
            </a:r>
          </a:p>
          <a:p>
            <a:r>
              <a:rPr lang="en-US" b="1" dirty="0"/>
              <a:t>Dostupnost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rada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kontinuitet</a:t>
            </a:r>
            <a:r>
              <a:rPr lang="en-US" dirty="0"/>
              <a:t> </a:t>
            </a:r>
            <a:r>
              <a:rPr lang="en-US" dirty="0" err="1"/>
              <a:t>servisa</a:t>
            </a:r>
            <a:r>
              <a:rPr lang="en-US" dirty="0"/>
              <a:t> — </a:t>
            </a:r>
            <a:r>
              <a:rPr lang="en-US" dirty="0" err="1"/>
              <a:t>korisnik</a:t>
            </a:r>
            <a:r>
              <a:rPr lang="en-US" dirty="0"/>
              <a:t> ne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 </a:t>
            </a:r>
            <a:r>
              <a:rPr lang="en-US" dirty="0" err="1"/>
              <a:t>servera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idealno</a:t>
            </a:r>
            <a:r>
              <a:rPr lang="en-US" dirty="0"/>
              <a:t> za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mernih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IoT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brzina</a:t>
            </a:r>
            <a:r>
              <a:rPr lang="en-US" dirty="0"/>
              <a:t> </a:t>
            </a:r>
            <a:r>
              <a:rPr lang="en-US" dirty="0" err="1"/>
              <a:t>važnija</a:t>
            </a:r>
            <a:r>
              <a:rPr lang="en-US" dirty="0"/>
              <a:t> od </a:t>
            </a:r>
            <a:r>
              <a:rPr lang="en-US" dirty="0" err="1"/>
              <a:t>trenutne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.</a:t>
            </a:r>
          </a:p>
          <a:p>
            <a:r>
              <a:rPr lang="en-US" b="1" dirty="0" err="1"/>
              <a:t>Otpornost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particije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en-US" dirty="0" err="1"/>
              <a:t>veza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čvorova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pouzdana</a:t>
            </a:r>
            <a:r>
              <a:rPr lang="en-US" dirty="0"/>
              <a:t> —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svojstvo</a:t>
            </a:r>
            <a:r>
              <a:rPr lang="en-US" dirty="0"/>
              <a:t> je u </a:t>
            </a:r>
            <a:r>
              <a:rPr lang="en-US" dirty="0" err="1"/>
              <a:t>praksi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za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distribuirani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, pa je </a:t>
            </a:r>
            <a:r>
              <a:rPr lang="en-US" dirty="0" err="1"/>
              <a:t>pravi</a:t>
            </a:r>
            <a:r>
              <a:rPr lang="en-US" dirty="0"/>
              <a:t>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C </a:t>
            </a:r>
            <a:r>
              <a:rPr lang="en-US" dirty="0" err="1"/>
              <a:t>i</a:t>
            </a:r>
            <a:r>
              <a:rPr lang="en-US" dirty="0"/>
              <a:t> A.</a:t>
            </a:r>
          </a:p>
          <a:p>
            <a:r>
              <a:rPr lang="en-US" dirty="0"/>
              <a:t>Firebird 4.0 </a:t>
            </a:r>
            <a:r>
              <a:rPr lang="en-US" dirty="0" err="1"/>
              <a:t>nudi</a:t>
            </a:r>
            <a:r>
              <a:rPr lang="en-US" dirty="0"/>
              <a:t> oba </a:t>
            </a:r>
            <a:r>
              <a:rPr lang="en-US" dirty="0" err="1"/>
              <a:t>režima</a:t>
            </a:r>
            <a:r>
              <a:rPr lang="en-US" dirty="0"/>
              <a:t> — </a:t>
            </a:r>
            <a:r>
              <a:rPr lang="en-US" dirty="0" err="1"/>
              <a:t>sinhroni</a:t>
            </a:r>
            <a:r>
              <a:rPr lang="en-US" dirty="0"/>
              <a:t> (C+P)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apsolutni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(A+P) za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visokom</a:t>
            </a:r>
            <a:r>
              <a:rPr lang="en-US" dirty="0"/>
              <a:t> </a:t>
            </a:r>
            <a:r>
              <a:rPr lang="en-US" dirty="0" err="1"/>
              <a:t>propusnošću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važnija</a:t>
            </a:r>
            <a:r>
              <a:rPr lang="en-US" dirty="0"/>
              <a:t> </a:t>
            </a:r>
            <a:r>
              <a:rPr lang="en-US" dirty="0" err="1"/>
              <a:t>dostupnost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Preslikavanje</a:t>
            </a:r>
            <a:r>
              <a:rPr lang="en-US" dirty="0"/>
              <a:t> (Mirroring) je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visoke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u </a:t>
            </a:r>
            <a:r>
              <a:rPr lang="en-US" dirty="0" err="1"/>
              <a:t>Firebirdu</a:t>
            </a:r>
            <a:r>
              <a:rPr lang="en-US" dirty="0"/>
              <a:t> koji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 (4–16 KB)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primarni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disk, a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oba </a:t>
            </a:r>
            <a:r>
              <a:rPr lang="en-US" dirty="0" err="1"/>
              <a:t>diska</a:t>
            </a:r>
            <a:r>
              <a:rPr lang="en-US" dirty="0"/>
              <a:t> pre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odgovori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</a:t>
            </a:r>
          </a:p>
          <a:p>
            <a:r>
              <a:rPr lang="en-US" b="1" dirty="0"/>
              <a:t>MANUAL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ispravnost</a:t>
            </a:r>
            <a:r>
              <a:rPr lang="en-US" dirty="0"/>
              <a:t> </a:t>
            </a:r>
            <a:r>
              <a:rPr lang="en-US" dirty="0" err="1"/>
              <a:t>kopije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dostupnosti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cela</a:t>
            </a:r>
            <a:r>
              <a:rPr lang="en-US" dirty="0"/>
              <a:t> </a:t>
            </a:r>
            <a:r>
              <a:rPr lang="en-US" dirty="0" err="1"/>
              <a:t>baza</a:t>
            </a:r>
            <a:r>
              <a:rPr lang="en-US" dirty="0"/>
              <a:t> se </a:t>
            </a:r>
            <a:r>
              <a:rPr lang="en-US" dirty="0" err="1"/>
              <a:t>zatvara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kritičnim</a:t>
            </a:r>
            <a:r>
              <a:rPr lang="en-US" dirty="0"/>
              <a:t> za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apsolutno</a:t>
            </a:r>
            <a:r>
              <a:rPr lang="en-US" dirty="0"/>
              <a:t> </a:t>
            </a:r>
            <a:r>
              <a:rPr lang="en-US" dirty="0" err="1"/>
              <a:t>neprihvatljiv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.</a:t>
            </a:r>
          </a:p>
          <a:p>
            <a:r>
              <a:rPr lang="en-US" b="1" dirty="0"/>
              <a:t>AUTO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neprekidni</a:t>
            </a:r>
            <a:r>
              <a:rPr lang="en-US" dirty="0"/>
              <a:t> rad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iznad</a:t>
            </a:r>
            <a:r>
              <a:rPr lang="en-US" dirty="0"/>
              <a:t> </a:t>
            </a:r>
            <a:r>
              <a:rPr lang="en-US" dirty="0" err="1"/>
              <a:t>redundanse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shadow disk </a:t>
            </a:r>
            <a:r>
              <a:rPr lang="en-US" dirty="0" err="1"/>
              <a:t>zakaže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nastavlja</a:t>
            </a:r>
            <a:r>
              <a:rPr lang="en-US" dirty="0"/>
              <a:t> rad bez </a:t>
            </a:r>
            <a:r>
              <a:rPr lang="en-US" dirty="0" err="1"/>
              <a:t>preslikavanja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pogodnim</a:t>
            </a:r>
            <a:r>
              <a:rPr lang="en-US" dirty="0"/>
              <a:t> za dev/test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koji </a:t>
            </a:r>
            <a:r>
              <a:rPr lang="en-US" dirty="0" err="1"/>
              <a:t>koriste</a:t>
            </a:r>
            <a:r>
              <a:rPr lang="en-US" dirty="0"/>
              <a:t> shadow </a:t>
            </a:r>
            <a:r>
              <a:rPr lang="en-US" dirty="0" err="1"/>
              <a:t>kao</a:t>
            </a:r>
            <a:r>
              <a:rPr lang="en-US" dirty="0"/>
              <a:t> backup generator.</a:t>
            </a:r>
          </a:p>
          <a:p>
            <a:r>
              <a:rPr lang="en-US" dirty="0" err="1"/>
              <a:t>Važno</a:t>
            </a:r>
            <a:r>
              <a:rPr lang="en-US" dirty="0"/>
              <a:t> je </a:t>
            </a:r>
            <a:r>
              <a:rPr lang="en-US" dirty="0" err="1"/>
              <a:t>razumeti</a:t>
            </a:r>
            <a:r>
              <a:rPr lang="en-US" dirty="0"/>
              <a:t> </a:t>
            </a:r>
            <a:r>
              <a:rPr lang="en-US" dirty="0" err="1"/>
              <a:t>ograničenja</a:t>
            </a:r>
            <a:r>
              <a:rPr lang="en-US" dirty="0"/>
              <a:t> </a:t>
            </a:r>
            <a:r>
              <a:rPr lang="en-US" dirty="0" err="1"/>
              <a:t>preslikavanja</a:t>
            </a:r>
            <a:r>
              <a:rPr lang="en-US" dirty="0"/>
              <a:t> — oba </a:t>
            </a:r>
            <a:r>
              <a:rPr lang="en-US" dirty="0" err="1"/>
              <a:t>diska</a:t>
            </a:r>
            <a:r>
              <a:rPr lang="en-US" dirty="0"/>
              <a:t> se </a:t>
            </a:r>
            <a:r>
              <a:rPr lang="en-US" dirty="0" err="1"/>
              <a:t>čekaju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uvodi</a:t>
            </a:r>
            <a:r>
              <a:rPr lang="en-US" dirty="0"/>
              <a:t> I/O </a:t>
            </a:r>
            <a:r>
              <a:rPr lang="en-US" dirty="0" err="1"/>
              <a:t>kaznu</a:t>
            </a:r>
            <a:r>
              <a:rPr lang="en-US" dirty="0"/>
              <a:t>,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LAN </a:t>
            </a:r>
            <a:r>
              <a:rPr lang="en-US" dirty="0" err="1"/>
              <a:t>mreži</a:t>
            </a:r>
            <a:r>
              <a:rPr lang="en-US" dirty="0"/>
              <a:t>, shadow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čitljiv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aktivan</a:t>
            </a:r>
            <a:r>
              <a:rPr lang="en-US" dirty="0"/>
              <a:t>, oba </a:t>
            </a:r>
            <a:r>
              <a:rPr lang="en-US" dirty="0" err="1"/>
              <a:t>servera</a:t>
            </a:r>
            <a:r>
              <a:rPr lang="en-US" dirty="0"/>
              <a:t>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imati</a:t>
            </a:r>
            <a:r>
              <a:rPr lang="en-US" dirty="0"/>
              <a:t> </a:t>
            </a:r>
            <a:r>
              <a:rPr lang="en-US" dirty="0" err="1"/>
              <a:t>identičnu</a:t>
            </a:r>
            <a:r>
              <a:rPr lang="en-US" dirty="0"/>
              <a:t> ODS </a:t>
            </a:r>
            <a:r>
              <a:rPr lang="en-US" dirty="0" err="1"/>
              <a:t>verziju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ne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raspodela</a:t>
            </a:r>
            <a:r>
              <a:rPr lang="en-US" dirty="0"/>
              <a:t> </a:t>
            </a:r>
            <a:r>
              <a:rPr lang="en-US" dirty="0" err="1"/>
              <a:t>opterećenja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shadow </a:t>
            </a:r>
            <a:r>
              <a:rPr lang="en-US" dirty="0" err="1"/>
              <a:t>diska</a:t>
            </a:r>
            <a:r>
              <a:rPr lang="en-US" dirty="0"/>
              <a:t>.</a:t>
            </a:r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razlika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je da mirroring </a:t>
            </a:r>
            <a:r>
              <a:rPr lang="en-US" dirty="0" err="1"/>
              <a:t>operišena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stranica</a:t>
            </a:r>
            <a:r>
              <a:rPr lang="en-US" dirty="0"/>
              <a:t>, ne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SQL </a:t>
            </a:r>
            <a:r>
              <a:rPr lang="en-US" dirty="0" err="1"/>
              <a:t>naredbi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je shadow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identična</a:t>
            </a:r>
            <a:r>
              <a:rPr lang="en-US" dirty="0"/>
              <a:t> </a:t>
            </a:r>
            <a:r>
              <a:rPr lang="en-US" dirty="0" err="1"/>
              <a:t>binarna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primarnog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Firebird 4.0 </a:t>
            </a:r>
            <a:r>
              <a:rPr lang="en-US" dirty="0" err="1"/>
              <a:t>uvodi</a:t>
            </a:r>
            <a:r>
              <a:rPr lang="en-US" dirty="0"/>
              <a:t> </a:t>
            </a:r>
            <a:r>
              <a:rPr lang="en-US" dirty="0" err="1"/>
              <a:t>prvu</a:t>
            </a:r>
            <a:r>
              <a:rPr lang="en-US" dirty="0"/>
              <a:t> </a:t>
            </a:r>
            <a:r>
              <a:rPr lang="en-US" dirty="0" err="1"/>
              <a:t>nativnu</a:t>
            </a:r>
            <a:r>
              <a:rPr lang="en-US" dirty="0"/>
              <a:t> </a:t>
            </a:r>
            <a:r>
              <a:rPr lang="en-US" dirty="0" err="1"/>
              <a:t>binarnu</a:t>
            </a:r>
            <a:r>
              <a:rPr lang="en-US" dirty="0"/>
              <a:t> </a:t>
            </a:r>
            <a:r>
              <a:rPr lang="en-US" dirty="0" err="1"/>
              <a:t>replikaciju</a:t>
            </a:r>
            <a:r>
              <a:rPr lang="en-US" dirty="0"/>
              <a:t> u </a:t>
            </a:r>
            <a:r>
              <a:rPr lang="en-US" dirty="0" err="1"/>
              <a:t>standardnu</a:t>
            </a:r>
            <a:r>
              <a:rPr lang="en-US" dirty="0"/>
              <a:t> </a:t>
            </a:r>
            <a:r>
              <a:rPr lang="en-US" dirty="0" err="1"/>
              <a:t>distribuciju</a:t>
            </a:r>
            <a:r>
              <a:rPr lang="en-US" dirty="0"/>
              <a:t> bez alata </a:t>
            </a:r>
            <a:r>
              <a:rPr lang="en-US" dirty="0" err="1"/>
              <a:t>trećih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 —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revolucionarnu</a:t>
            </a:r>
            <a:r>
              <a:rPr lang="en-US" dirty="0"/>
              <a:t> </a:t>
            </a:r>
            <a:r>
              <a:rPr lang="en-US" dirty="0" err="1"/>
              <a:t>promenu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</a:t>
            </a:r>
            <a:r>
              <a:rPr lang="en-US" dirty="0" err="1"/>
              <a:t>replikacija</a:t>
            </a:r>
            <a:r>
              <a:rPr lang="en-US" dirty="0"/>
              <a:t> </a:t>
            </a:r>
            <a:r>
              <a:rPr lang="en-US" dirty="0" err="1"/>
              <a:t>sada</a:t>
            </a:r>
            <a:r>
              <a:rPr lang="en-US" dirty="0"/>
              <a:t> </a:t>
            </a:r>
            <a:r>
              <a:rPr lang="en-US" dirty="0" err="1"/>
              <a:t>integralni</a:t>
            </a:r>
            <a:r>
              <a:rPr lang="en-US" dirty="0"/>
              <a:t> deo </a:t>
            </a:r>
            <a:r>
              <a:rPr lang="en-US" dirty="0" err="1"/>
              <a:t>samog</a:t>
            </a:r>
            <a:r>
              <a:rPr lang="en-US" dirty="0"/>
              <a:t> engine-a.</a:t>
            </a:r>
          </a:p>
          <a:p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funkcioniše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 — </a:t>
            </a:r>
            <a:r>
              <a:rPr lang="en-US" dirty="0" err="1"/>
              <a:t>svaki</a:t>
            </a:r>
            <a:r>
              <a:rPr lang="en-US" dirty="0"/>
              <a:t> COMMIT </a:t>
            </a:r>
            <a:r>
              <a:rPr lang="en-US" dirty="0" err="1"/>
              <a:t>na</a:t>
            </a:r>
            <a:r>
              <a:rPr lang="en-US" dirty="0"/>
              <a:t> master </a:t>
            </a:r>
            <a:r>
              <a:rPr lang="en-US" dirty="0" err="1"/>
              <a:t>bazi</a:t>
            </a:r>
            <a:r>
              <a:rPr lang="en-US" dirty="0"/>
              <a:t> </a:t>
            </a:r>
            <a:r>
              <a:rPr lang="en-US" dirty="0" err="1"/>
              <a:t>akumulira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b="1" dirty="0"/>
              <a:t>Journal Segment</a:t>
            </a:r>
            <a:r>
              <a:rPr lang="en-US" dirty="0"/>
              <a:t> </a:t>
            </a:r>
            <a:r>
              <a:rPr lang="en-US" dirty="0" err="1"/>
              <a:t>memorijskom</a:t>
            </a:r>
            <a:r>
              <a:rPr lang="en-US" dirty="0"/>
              <a:t> </a:t>
            </a:r>
            <a:r>
              <a:rPr lang="en-US" dirty="0" err="1"/>
              <a:t>baferu</a:t>
            </a:r>
            <a:r>
              <a:rPr lang="en-US" dirty="0"/>
              <a:t>,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napuni</a:t>
            </a:r>
            <a:r>
              <a:rPr lang="en-US" dirty="0"/>
              <a:t> </a:t>
            </a:r>
            <a:r>
              <a:rPr lang="en-US" dirty="0" err="1"/>
              <a:t>vrši</a:t>
            </a:r>
            <a:r>
              <a:rPr lang="en-US" dirty="0"/>
              <a:t> se flush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binarni</a:t>
            </a:r>
            <a:r>
              <a:rPr lang="en-US" dirty="0"/>
              <a:t> segment, </a:t>
            </a:r>
            <a:r>
              <a:rPr lang="en-US" b="1" dirty="0" err="1"/>
              <a:t>Replikacioni</a:t>
            </a:r>
            <a:r>
              <a:rPr lang="en-US" b="1" dirty="0"/>
              <a:t> Agent</a:t>
            </a:r>
            <a:r>
              <a:rPr lang="en-US" dirty="0"/>
              <a:t> </a:t>
            </a:r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skenira</a:t>
            </a:r>
            <a:r>
              <a:rPr lang="en-US" dirty="0"/>
              <a:t> archive directory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primenjuje</a:t>
            </a:r>
            <a:r>
              <a:rPr lang="en-US" dirty="0"/>
              <a:t> </a:t>
            </a:r>
            <a:r>
              <a:rPr lang="en-US" dirty="0" err="1"/>
              <a:t>segmente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slave </a:t>
            </a:r>
            <a:r>
              <a:rPr lang="en-US" dirty="0" err="1"/>
              <a:t>bazu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SQL replay.</a:t>
            </a:r>
          </a:p>
          <a:p>
            <a:r>
              <a:rPr lang="en-US" b="1" dirty="0"/>
              <a:t>Journal Segment</a:t>
            </a:r>
            <a:r>
              <a:rPr lang="en-US" dirty="0"/>
              <a:t> je </a:t>
            </a:r>
            <a:r>
              <a:rPr lang="en-US" dirty="0" err="1"/>
              <a:t>privremeni</a:t>
            </a:r>
            <a:r>
              <a:rPr lang="en-US" dirty="0"/>
              <a:t> </a:t>
            </a:r>
            <a:r>
              <a:rPr lang="en-US" dirty="0" err="1"/>
              <a:t>memorijski</a:t>
            </a:r>
            <a:r>
              <a:rPr lang="en-US" dirty="0"/>
              <a:t> </a:t>
            </a:r>
            <a:r>
              <a:rPr lang="en-US" dirty="0" err="1"/>
              <a:t>bafer</a:t>
            </a:r>
            <a:r>
              <a:rPr lang="en-US" dirty="0"/>
              <a:t> </a:t>
            </a:r>
            <a:r>
              <a:rPr lang="en-US" dirty="0" err="1"/>
              <a:t>veličine</a:t>
            </a:r>
            <a:r>
              <a:rPr lang="en-US" dirty="0"/>
              <a:t> </a:t>
            </a:r>
            <a:r>
              <a:rPr lang="en-US" dirty="0" err="1"/>
              <a:t>BufferPoolSize</a:t>
            </a:r>
            <a:r>
              <a:rPr lang="en-US" dirty="0"/>
              <a:t> — </a:t>
            </a:r>
            <a:r>
              <a:rPr lang="en-US" dirty="0" err="1"/>
              <a:t>promene</a:t>
            </a:r>
            <a:r>
              <a:rPr lang="en-US" dirty="0"/>
              <a:t> se </a:t>
            </a:r>
            <a:r>
              <a:rPr lang="en-US" dirty="0" err="1"/>
              <a:t>akumuliraju</a:t>
            </a:r>
            <a:r>
              <a:rPr lang="en-US" dirty="0"/>
              <a:t> u </a:t>
            </a:r>
            <a:r>
              <a:rPr lang="en-US" dirty="0" err="1"/>
              <a:t>memoriji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se </a:t>
            </a:r>
            <a:r>
              <a:rPr lang="en-US" dirty="0" err="1"/>
              <a:t>napune</a:t>
            </a:r>
            <a:r>
              <a:rPr lang="en-US" dirty="0"/>
              <a:t> </a:t>
            </a:r>
            <a:r>
              <a:rPr lang="en-US" dirty="0" err="1"/>
              <a:t>upisuju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disk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trajni</a:t>
            </a:r>
            <a:r>
              <a:rPr lang="en-US" dirty="0"/>
              <a:t> </a:t>
            </a:r>
            <a:r>
              <a:rPr lang="en-US" dirty="0" err="1"/>
              <a:t>arhivski</a:t>
            </a:r>
            <a:r>
              <a:rPr lang="en-US" dirty="0"/>
              <a:t> segment.</a:t>
            </a:r>
          </a:p>
          <a:p>
            <a:r>
              <a:rPr lang="en-US" b="1" dirty="0"/>
              <a:t>Source GUID</a:t>
            </a:r>
            <a:r>
              <a:rPr lang="en-US" dirty="0"/>
              <a:t> je </a:t>
            </a:r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en-US" dirty="0" err="1"/>
              <a:t>mehanizam</a:t>
            </a:r>
            <a:r>
              <a:rPr lang="en-US" dirty="0"/>
              <a:t> koji </a:t>
            </a:r>
            <a:r>
              <a:rPr lang="en-US" dirty="0" err="1"/>
              <a:t>garantuje</a:t>
            </a:r>
            <a:r>
              <a:rPr lang="en-US" dirty="0"/>
              <a:t> da slave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prihvata</a:t>
            </a:r>
            <a:r>
              <a:rPr lang="en-US" dirty="0"/>
              <a:t> </a:t>
            </a:r>
            <a:r>
              <a:rPr lang="en-US" dirty="0" err="1"/>
              <a:t>logove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od </a:t>
            </a:r>
            <a:r>
              <a:rPr lang="en-US" dirty="0" err="1"/>
              <a:t>svog</a:t>
            </a:r>
            <a:r>
              <a:rPr lang="en-US" dirty="0"/>
              <a:t> </a:t>
            </a:r>
            <a:r>
              <a:rPr lang="en-US" dirty="0" err="1"/>
              <a:t>mastera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GUID-om —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nenamerno</a:t>
            </a:r>
            <a:r>
              <a:rPr lang="en-US" dirty="0"/>
              <a:t> </a:t>
            </a:r>
            <a:r>
              <a:rPr lang="en-US" dirty="0" err="1"/>
              <a:t>mešanje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pogrešnog</a:t>
            </a:r>
            <a:r>
              <a:rPr lang="en-US" dirty="0"/>
              <a:t> </a:t>
            </a:r>
            <a:r>
              <a:rPr lang="en-US" dirty="0" err="1"/>
              <a:t>servera</a:t>
            </a:r>
            <a:r>
              <a:rPr lang="en-US" dirty="0"/>
              <a:t>.</a:t>
            </a:r>
          </a:p>
          <a:p>
            <a:r>
              <a:rPr lang="en-US" dirty="0" err="1"/>
              <a:t>Ključni</a:t>
            </a:r>
            <a:r>
              <a:rPr lang="en-US" dirty="0"/>
              <a:t> </a:t>
            </a:r>
            <a:r>
              <a:rPr lang="en-US" dirty="0" err="1"/>
              <a:t>parametri</a:t>
            </a:r>
            <a:r>
              <a:rPr lang="en-US" dirty="0"/>
              <a:t> u </a:t>
            </a:r>
            <a:r>
              <a:rPr lang="en-US" dirty="0" err="1"/>
              <a:t>replication.conf</a:t>
            </a:r>
            <a:r>
              <a:rPr lang="en-US" dirty="0"/>
              <a:t>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privremenih</a:t>
            </a:r>
            <a:r>
              <a:rPr lang="en-US" dirty="0"/>
              <a:t> </a:t>
            </a:r>
            <a:r>
              <a:rPr lang="en-US" dirty="0" err="1"/>
              <a:t>segmenata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trajnog</a:t>
            </a:r>
            <a:r>
              <a:rPr lang="en-US" dirty="0"/>
              <a:t> </a:t>
            </a:r>
            <a:r>
              <a:rPr lang="en-US" dirty="0" err="1"/>
              <a:t>arhiva</a:t>
            </a:r>
            <a:r>
              <a:rPr lang="en-US" dirty="0"/>
              <a:t>, timeout pre flush-a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adresu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— a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asinhroni</a:t>
            </a:r>
            <a:r>
              <a:rPr lang="en-US" dirty="0"/>
              <a:t> mod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</a:t>
            </a:r>
            <a:r>
              <a:rPr lang="en-US" dirty="0" err="1"/>
              <a:t>balans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Zero Data Loss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performansi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Izbor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sinhrona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asinhrona</a:t>
            </a:r>
            <a:r>
              <a:rPr lang="en-US" dirty="0"/>
              <a:t> </a:t>
            </a:r>
            <a:r>
              <a:rPr lang="en-US" dirty="0" err="1"/>
              <a:t>replikacije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fundamentalni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brzine</a:t>
            </a:r>
            <a:r>
              <a:rPr lang="en-US" dirty="0"/>
              <a:t> rada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 err="1"/>
              <a:t>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Zero Data Loss (RPO = 0) — master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slave-a pre </a:t>
            </a:r>
            <a:r>
              <a:rPr lang="en-US" dirty="0" err="1"/>
              <a:t>odgovora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apsolutnu</a:t>
            </a:r>
            <a:r>
              <a:rPr lang="en-US" dirty="0"/>
              <a:t> </a:t>
            </a:r>
            <a:r>
              <a:rPr lang="en-US" dirty="0" err="1"/>
              <a:t>identičnost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master </a:t>
            </a:r>
            <a:r>
              <a:rPr lang="en-US" dirty="0" err="1"/>
              <a:t>i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u </a:t>
            </a:r>
            <a:r>
              <a:rPr lang="en-US" dirty="0" err="1"/>
              <a:t>svakom</a:t>
            </a:r>
            <a:r>
              <a:rPr lang="en-US" dirty="0"/>
              <a:t> </a:t>
            </a:r>
            <a:r>
              <a:rPr lang="en-US" dirty="0" err="1"/>
              <a:t>trenutku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latencija</a:t>
            </a:r>
            <a:r>
              <a:rPr lang="en-US" dirty="0"/>
              <a:t> </a:t>
            </a:r>
            <a:r>
              <a:rPr lang="en-US" dirty="0" err="1"/>
              <a:t>upisa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latencije</a:t>
            </a:r>
            <a:r>
              <a:rPr lang="en-US" dirty="0"/>
              <a:t> </a:t>
            </a:r>
            <a:r>
              <a:rPr lang="en-US" dirty="0" err="1"/>
              <a:t>mreže</a:t>
            </a:r>
            <a:r>
              <a:rPr lang="en-US" dirty="0"/>
              <a:t>, pa se </a:t>
            </a:r>
            <a:r>
              <a:rPr lang="en-US" dirty="0" err="1"/>
              <a:t>preporučuje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gigabit LAN-u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linku</a:t>
            </a:r>
            <a:r>
              <a:rPr lang="en-US" dirty="0"/>
              <a:t>.</a:t>
            </a:r>
          </a:p>
          <a:p>
            <a:r>
              <a:rPr lang="en-US" b="1" dirty="0" err="1"/>
              <a:t>Asinhroni</a:t>
            </a:r>
            <a:r>
              <a:rPr lang="en-US" b="1" dirty="0"/>
              <a:t> </a:t>
            </a:r>
            <a:r>
              <a:rPr lang="en-US" b="1" dirty="0" err="1"/>
              <a:t>režim</a:t>
            </a:r>
            <a:r>
              <a:rPr lang="en-US" dirty="0"/>
              <a:t> </a:t>
            </a:r>
            <a:r>
              <a:rPr lang="en-US" dirty="0" err="1"/>
              <a:t>stavlja</a:t>
            </a:r>
            <a:r>
              <a:rPr lang="en-US" dirty="0"/>
              <a:t> </a:t>
            </a:r>
            <a:r>
              <a:rPr lang="en-US" dirty="0" err="1"/>
              <a:t>brzinu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— master </a:t>
            </a:r>
            <a:r>
              <a:rPr lang="en-US" dirty="0" err="1"/>
              <a:t>upisuje</a:t>
            </a:r>
            <a:r>
              <a:rPr lang="en-US" dirty="0"/>
              <a:t> </a:t>
            </a:r>
            <a:r>
              <a:rPr lang="en-US" dirty="0" err="1"/>
              <a:t>lokalno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šalje</a:t>
            </a:r>
            <a:r>
              <a:rPr lang="en-US" dirty="0"/>
              <a:t> log u </a:t>
            </a:r>
            <a:r>
              <a:rPr lang="en-US" dirty="0" err="1"/>
              <a:t>pozadini</a:t>
            </a:r>
            <a:r>
              <a:rPr lang="en-US" dirty="0"/>
              <a:t> bez </a:t>
            </a:r>
            <a:r>
              <a:rPr lang="en-US" dirty="0" err="1"/>
              <a:t>čekanja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postiže</a:t>
            </a:r>
            <a:r>
              <a:rPr lang="en-US" dirty="0"/>
              <a:t> </a:t>
            </a:r>
            <a:r>
              <a:rPr lang="en-US" dirty="0" err="1"/>
              <a:t>maksimalna</a:t>
            </a:r>
            <a:r>
              <a:rPr lang="en-US" dirty="0"/>
              <a:t> </a:t>
            </a:r>
            <a:r>
              <a:rPr lang="en-US" dirty="0" err="1"/>
              <a:t>brzina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slave </a:t>
            </a:r>
            <a:r>
              <a:rPr lang="en-US" dirty="0" err="1"/>
              <a:t>kasni</a:t>
            </a:r>
            <a:r>
              <a:rPr lang="en-US" dirty="0"/>
              <a:t> za </a:t>
            </a:r>
            <a:r>
              <a:rPr lang="en-US" dirty="0" err="1"/>
              <a:t>masterom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(RPO &gt; 0).</a:t>
            </a:r>
          </a:p>
          <a:p>
            <a:r>
              <a:rPr lang="en-US" dirty="0" err="1"/>
              <a:t>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obavezan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sisteme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finansija</a:t>
            </a:r>
            <a:r>
              <a:rPr lang="en-US" dirty="0"/>
              <a:t>, </a:t>
            </a:r>
            <a:r>
              <a:rPr lang="en-US" dirty="0" err="1"/>
              <a:t>bankarstva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zdravstva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prihvatljiv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u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scenariju</a:t>
            </a:r>
            <a:r>
              <a:rPr lang="en-US" dirty="0"/>
              <a:t>.</a:t>
            </a:r>
          </a:p>
          <a:p>
            <a:r>
              <a:rPr lang="en-US" dirty="0" err="1"/>
              <a:t>Asinhroni</a:t>
            </a:r>
            <a:r>
              <a:rPr lang="en-US" dirty="0"/>
              <a:t> </a:t>
            </a:r>
            <a:r>
              <a:rPr lang="en-US" dirty="0" err="1"/>
              <a:t>režim</a:t>
            </a:r>
            <a:r>
              <a:rPr lang="en-US" dirty="0"/>
              <a:t> je </a:t>
            </a:r>
            <a:r>
              <a:rPr lang="en-US" dirty="0" err="1"/>
              <a:t>idealan</a:t>
            </a:r>
            <a:r>
              <a:rPr lang="en-US" dirty="0"/>
              <a:t> za WAN </a:t>
            </a:r>
            <a:r>
              <a:rPr lang="en-US" dirty="0" err="1"/>
              <a:t>veze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geografski</a:t>
            </a:r>
            <a:r>
              <a:rPr lang="en-US" dirty="0"/>
              <a:t> </a:t>
            </a:r>
            <a:r>
              <a:rPr lang="en-US" dirty="0" err="1"/>
              <a:t>udaljene</a:t>
            </a:r>
            <a:r>
              <a:rPr lang="en-US" dirty="0"/>
              <a:t> slave </a:t>
            </a:r>
            <a:r>
              <a:rPr lang="en-US" dirty="0" err="1"/>
              <a:t>servere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bi </a:t>
            </a:r>
            <a:r>
              <a:rPr lang="en-US" dirty="0" err="1"/>
              <a:t>čekanje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potvrdu</a:t>
            </a:r>
            <a:r>
              <a:rPr lang="en-US" dirty="0"/>
              <a:t> </a:t>
            </a:r>
            <a:r>
              <a:rPr lang="en-US" dirty="0" err="1"/>
              <a:t>predaleke</a:t>
            </a:r>
            <a:r>
              <a:rPr lang="en-US" dirty="0"/>
              <a:t> slave </a:t>
            </a:r>
            <a:r>
              <a:rPr lang="en-US" dirty="0" err="1"/>
              <a:t>baze</a:t>
            </a:r>
            <a:r>
              <a:rPr lang="en-US" dirty="0"/>
              <a:t> </a:t>
            </a:r>
            <a:r>
              <a:rPr lang="en-US" dirty="0" err="1"/>
              <a:t>drastično</a:t>
            </a:r>
            <a:r>
              <a:rPr lang="en-US" dirty="0"/>
              <a:t> </a:t>
            </a:r>
            <a:r>
              <a:rPr lang="en-US" dirty="0" err="1"/>
              <a:t>usporilo</a:t>
            </a:r>
            <a:r>
              <a:rPr lang="en-US" dirty="0"/>
              <a:t> rad </a:t>
            </a:r>
            <a:r>
              <a:rPr lang="en-US" dirty="0" err="1"/>
              <a:t>sistema</a:t>
            </a:r>
            <a:r>
              <a:rPr lang="en-US" dirty="0"/>
              <a:t> za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korisnike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 podataka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(Replication and Mirroring)</a:t>
            </a:r>
            <a:endParaRPr lang="en-US" sz="4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Firebird baze podataka</a:t>
            </a:r>
            <a:endParaRPr lang="en-US" sz="2000" b="1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3F7093A-1B0E-EA2D-69D0-73E890752FCC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5D96694-6F48-ADBB-997C-AC6A87633411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E222DE8-FECA-E6C1-2899-17F8A6C2661A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CAP teorema</a:t>
            </a:r>
            <a:endParaRPr lang="en-US" sz="1400" b="1" dirty="0"/>
          </a:p>
        </p:txBody>
      </p:sp>
      <p:sp>
        <p:nvSpPr>
          <p:cNvPr id="9" name="Text 7"/>
          <p:cNvSpPr/>
          <p:nvPr/>
        </p:nvSpPr>
        <p:spPr>
          <a:xfrm>
            <a:off x="82296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 vs Dostupnost — fundamentalni kompromis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</a:t>
            </a:r>
            <a:endParaRPr lang="en-US" sz="1400" b="1" dirty="0"/>
          </a:p>
        </p:txBody>
      </p:sp>
      <p:sp>
        <p:nvSpPr>
          <p:cNvPr id="14" name="Text 12"/>
          <p:cNvSpPr/>
          <p:nvPr/>
        </p:nvSpPr>
        <p:spPr>
          <a:xfrm>
            <a:off x="82296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Arhitektura, MANUAL/AUTO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scenario oporavka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</a:t>
            </a:r>
            <a:endParaRPr lang="en-US" sz="1400" b="1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— replikacioni dnevnici, sinhronizacija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82219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82219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986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62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</a:t>
            </a:r>
            <a:endParaRPr lang="en-US" sz="1400" b="1" dirty="0"/>
          </a:p>
        </p:txBody>
      </p:sp>
      <p:sp>
        <p:nvSpPr>
          <p:cNvPr id="24" name="Text 22"/>
          <p:cNvSpPr/>
          <p:nvPr/>
        </p:nvSpPr>
        <p:spPr>
          <a:xfrm>
            <a:off x="822960" y="424281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vs Replication Lag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83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94183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1106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84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endParaRPr lang="en-US" sz="1400" b="1" dirty="0"/>
          </a:p>
        </p:txBody>
      </p:sp>
      <p:sp>
        <p:nvSpPr>
          <p:cNvPr id="29" name="Text 27"/>
          <p:cNvSpPr/>
          <p:nvPr/>
        </p:nvSpPr>
        <p:spPr>
          <a:xfrm>
            <a:off x="5349240" y="136245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Trigeri, REPLICATION_LOG tabela,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konflikata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95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90195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20665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96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</a:t>
            </a:r>
            <a:endParaRPr lang="en-US" sz="1400" b="1" dirty="0"/>
          </a:p>
        </p:txBody>
      </p:sp>
      <p:sp>
        <p:nvSpPr>
          <p:cNvPr id="34" name="Text 32"/>
          <p:cNvSpPr/>
          <p:nvPr/>
        </p:nvSpPr>
        <p:spPr>
          <a:xfrm>
            <a:off x="5349240" y="232257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Mesh, Ring — eho efekat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2072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862072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3026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60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implementacija</a:t>
            </a:r>
            <a:endParaRPr lang="en-US" sz="1400" b="1" dirty="0"/>
          </a:p>
        </p:txBody>
      </p:sp>
      <p:sp>
        <p:nvSpPr>
          <p:cNvPr id="39" name="Text 37"/>
          <p:cNvSpPr/>
          <p:nvPr/>
        </p:nvSpPr>
        <p:spPr>
          <a:xfrm>
            <a:off x="5349240" y="32826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koraka konfiguracije + 5 verifikacionih primera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teorema — temeljni kompromis svakog distribuiranog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822960"/>
            <a:ext cx="2743200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svakom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Zahteva sinhronizaciju pre odgovora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 aplikacije,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knji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18688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18688" y="822960"/>
            <a:ext cx="2743200" cy="96012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218688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3310128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0128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na brzini rada i kontinuitetu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 ne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prikupljanje podataka sa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mernih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IoT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17336" y="8229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75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17336" y="822960"/>
            <a:ext cx="2743200" cy="960120"/>
          </a:xfrm>
          <a:prstGeom prst="rect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17336" y="8503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208776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Part. Tolerance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764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Otpornost na particije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08776" y="2173803"/>
            <a:ext cx="25603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funkcioni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pouzdana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bira: ili C+P (sinhrono) ili A+P (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asinhrono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moguće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imati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sva tri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istovremeno</a:t>
            </a:r>
            <a:endParaRPr lang="en-US" sz="1400" dirty="0">
              <a:solidFill>
                <a:srgbClr val="1B2A4A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0040" y="4453128"/>
            <a:ext cx="8540496" cy="5486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411480" y="44988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nudi OBA režima: sinhroni (C+P) za finansije i asinhroni (A+P) za visoku propusnost.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(Mirroring) — arhitektura i režimi rada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77724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3464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b="1" dirty="0"/>
              <a:t>→</a:t>
            </a:r>
            <a:endParaRPr lang="en-US" sz="2000" b="1" dirty="0"/>
          </a:p>
        </p:txBody>
      </p:sp>
      <p:sp>
        <p:nvSpPr>
          <p:cNvPr id="8" name="Shape 6"/>
          <p:cNvSpPr/>
          <p:nvPr/>
        </p:nvSpPr>
        <p:spPr>
          <a:xfrm>
            <a:off x="3337560" y="777240"/>
            <a:ext cx="2423160" cy="77724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37560" y="777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disk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8358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263640" y="777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disk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" y="16459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 UVEK sinhroni — baza ceka potvrdu OBA diska. Operise na nivou stranica (4–16 KB), ne SQL naredbi.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2011680"/>
            <a:ext cx="4160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28600" y="2011680"/>
            <a:ext cx="64008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65760" y="2084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režim (strogi)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2468880"/>
            <a:ext cx="3977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Ispravnost kopije je prioritet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dostupno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šć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BAZA SE ZATVARA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čno za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sisteme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MANUAL 'D:\backup\firma.shd';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0" y="2011680"/>
            <a:ext cx="4343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64008" cy="1371600"/>
          </a:xfrm>
          <a:prstGeom prst="rect">
            <a:avLst/>
          </a:prstGeom>
          <a:solidFill>
            <a:schemeClr val="accent5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20848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režim (tolerantni)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09160" y="2468880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Neprekidni rad je prioritet nad redundansom.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shadow disk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-&gt; baza NASTAVLJA RAD bez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preslikavanja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kod: dev/test okruzenja,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backup generatorom.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CREATE SHADOW 1 AUTO 'D:\backup\firma.shd';</a:t>
            </a:r>
            <a:endParaRPr lang="en-US" sz="1200" dirty="0">
              <a:solidFill>
                <a:srgbClr val="1B2A4A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0604" y="3538728"/>
            <a:ext cx="8686800" cy="14251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28600" y="3538728"/>
            <a:ext cx="64008" cy="142515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5760" y="356695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Ograničenja preslikavanja: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" y="3995928"/>
            <a:ext cx="8321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kazna (oba diska se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 za LAN — nije za WAN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read offloading — shadow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itljiv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je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aktivan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ODS (ista verzija Firebird)  </a:t>
            </a:r>
            <a:endParaRPr lang="sr-Latn-RS" sz="14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raspodele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R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4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endParaRPr lang="en-US" sz="1400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binarna replikacija — Firebird 4.0 revolucija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59436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822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uvodi PRVU nativnu binarnu replikaciju u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standardnu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distribuciju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alata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ći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28600" y="1527048"/>
            <a:ext cx="154214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70743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196596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8444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/>
          </a:p>
        </p:txBody>
      </p:sp>
      <p:sp>
        <p:nvSpPr>
          <p:cNvPr id="14" name="Text 12"/>
          <p:cNvSpPr/>
          <p:nvPr/>
        </p:nvSpPr>
        <p:spPr>
          <a:xfrm>
            <a:off x="370332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21808" y="1783080"/>
            <a:ext cx="109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4068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78040" y="1527048"/>
            <a:ext cx="1600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2860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28600" y="2496312"/>
            <a:ext cx="64008" cy="135331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576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Segment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Promene se akumuliraju u memorijskom baferu (BufferPoolSize).</a:t>
            </a:r>
            <a:endParaRPr lang="en-US" sz="1200" dirty="0">
              <a:solidFill>
                <a:srgbClr val="1B2A4A"/>
              </a:solidFill>
            </a:endParaRPr>
          </a:p>
          <a:p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se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napuni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</a:rPr>
              <a:t>→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flush na disk kao binarni segment.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54680" y="2496312"/>
            <a:ext cx="274320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54680" y="2496312"/>
            <a:ext cx="64008" cy="135331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91840" y="2533179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Replikacioni 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2866136"/>
            <a:ext cx="2560320" cy="881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Namenski podsistem unutar engine-a.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Kontinuirano skenira archive directory.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 segmente na slave bazu kroz SQL replay.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283464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080760" y="2496312"/>
            <a:ext cx="64008" cy="1353312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217920" y="2533179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GUID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17920" y="2866136"/>
            <a:ext cx="2651760" cy="88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 baza prihvata SAMO logove od mastera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 GUID-om.</a:t>
            </a:r>
            <a:endParaRPr lang="en-US" sz="12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nenamerno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ša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podataka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servera</a:t>
            </a: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228600" y="3995928"/>
            <a:ext cx="8686800" cy="1083564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228600" y="3995928"/>
            <a:ext cx="8686800" cy="32918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20040" y="403250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parametri replication.conf (master)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320040" y="4379976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journal_directory = C:\repl\journal          # privremeni segmenti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journal_archive_directory = C:\repl\archive    # trajni arhiv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journal_archive_timeout = 30                   # sekundi pre flush-a</a:t>
            </a:r>
            <a:endParaRPr lang="en-US" sz="1000" dirty="0">
              <a:solidFill>
                <a:srgbClr val="1B2A4A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sync_replica = localhost:D:\baze\slave.fdb      # sinhroni slave</a:t>
            </a:r>
            <a:endParaRPr lang="en-US" sz="1000" dirty="0">
              <a:solidFill>
                <a:srgbClr val="1B2A4A"/>
              </a:solidFill>
            </a:endParaRPr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98D39A59-BF7B-CCE8-54FF-78E6A6460A73}"/>
              </a:ext>
            </a:extLst>
          </p:cNvPr>
          <p:cNvSpPr/>
          <p:nvPr/>
        </p:nvSpPr>
        <p:spPr>
          <a:xfrm>
            <a:off x="354170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2DF9C73A-38FB-9133-D16F-45D9DBF9A0BA}"/>
              </a:ext>
            </a:extLst>
          </p:cNvPr>
          <p:cNvSpPr/>
          <p:nvPr/>
        </p:nvSpPr>
        <p:spPr>
          <a:xfrm>
            <a:off x="5279064" y="1783080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3E1FB7B9-750F-1F77-7680-E3E8DC918BC2}"/>
              </a:ext>
            </a:extLst>
          </p:cNvPr>
          <p:cNvSpPr/>
          <p:nvPr/>
        </p:nvSpPr>
        <p:spPr>
          <a:xfrm>
            <a:off x="7016424" y="1789176"/>
            <a:ext cx="1860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sr-Latn-RS" sz="1200" b="1" dirty="0">
                <a:solidFill>
                  <a:schemeClr val="accent5">
                    <a:lumMod val="50000"/>
                  </a:schemeClr>
                </a:solidFill>
              </a:rPr>
              <a:t>→</a:t>
            </a:r>
            <a:endParaRPr 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Sinhrona vs Asinhrona replikacija — ključni kompromis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6052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SINHRONI režim (Synchronous)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135967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94360" y="13148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potvrdu slave-a pre odgovora korisniku.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" y="1789440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17446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(RPO = 0)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identičnost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" y="2219208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94360" y="21479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 upisa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7472" y="2648976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94360" y="257768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gigabit LAN ili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" y="3078744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94360" y="30074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za: finansije, bankarstvo, zdravstvo.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508512"/>
            <a:ext cx="201168" cy="2011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94360" y="346372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sync_replica = slave_connection_string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777240"/>
            <a:ext cx="41605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754880" y="777240"/>
            <a:ext cx="416052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46320" y="795528"/>
            <a:ext cx="39776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ASINHRONI režim (Asynchronous)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73752" y="133316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20640" y="12618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upisuje lokalno, log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pozadini.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73752" y="1762936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20640" y="16916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 — slave kasni za masterom.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73752" y="2192704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20640" y="212140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Maksimalna brzina za lokalne korisnike.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873752" y="2622472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5120640" y="255117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Preporuka: WAN veze,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udaljeni slave.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873752" y="3052240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120640" y="2980944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&gt; 0 — prihvatljiv gubitak podataka.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73752" y="3482008"/>
            <a:ext cx="201168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5120640" y="34107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Konfiguracija: async_replica = slave_connection_string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38364" y="243627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Logička replikacija zasnovana na trigerima (CDC)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6583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0523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Šta je CDC (Change Data Capture)?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7955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razliku od binarne replikacije koja kopira stranice,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presre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svaki INSERT/UPDATE/DELETE kroz trigere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u namenske tabele (audit log). Prednost: selektivna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tabela, cross-version,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591056"/>
            <a:ext cx="416052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591056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REPLICATION_LOG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1975104"/>
            <a:ext cx="3977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REPLICATION_LOG 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LOG_ID      BIGINT GENERATED BY DEFAULT AS IDENTITY PRIMARY KEY,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TABLE_NAME  VARCHAR(64) NOT NULL,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OPERATION   CHAR(1) NOT NULL,  -- I/U/D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PK_VALUE    VARCHAR(50),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CHANGED_AT  TIMESTAMP DEFAULT CURRENT_TIMESTAMP,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PAYLOAD     BLOB SUB_TYPE TEXT  -- JSON/XML sadrzaj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0" y="1591056"/>
            <a:ext cx="4343400" cy="157276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591056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62763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Triger za hvatanje promena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197510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TRIGGER TRG_EMP_REPL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AFTER INSERT OR UPDATE OR DELETE ON EMPLOYEE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(RDB$GET_CONTEXT('SYSTEM','REPLICATING') IS NULL) THEN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REPLICATION_LOG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(TABLE_NAME, OPERATION, PK_VALUE, PAYLOAD)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('EMPLOYEE',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WHEN INSERTING THEN 'I'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WHEN UPDATING THEN 'U' ELSE 'D' END,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CAST(NEW.EMP_NO AS VARCHAR(50)),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/* JSON payload */ NULL);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END;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8600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310128"/>
            <a:ext cx="64008" cy="16002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Write Wins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češć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strategija.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zapis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 kod jednakih timestamp vrednosti.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310128"/>
            <a:ext cx="64008" cy="16002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Priority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64408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Unapred definisana hijerarhija servera.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pobe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nad slave 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vorom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Jednostavna implementacija.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25896" y="3310128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25896" y="3310128"/>
            <a:ext cx="64008" cy="16002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63056" y="33832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Aplikativna logika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63056" y="3657600"/>
            <a:ext cx="25603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podatke (finansije, zalihe).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revizija ili domain-specific pravila.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Najsigurniji,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najslo</a:t>
            </a:r>
            <a:r>
              <a:rPr lang="sr-Latn-BA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že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pristup.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28600" y="4974336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sprecava 'eho' efekat — triger ne pali sam sebe na replici!</a:t>
            </a:r>
            <a:endParaRPr lang="en-US" sz="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Multi-Master topologije i eho efekat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(Zvezda)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periferni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vorovi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povezuju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centralnim serverom.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Centalni server je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replikacije.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jednostavna administracija, centralizovana kontrola.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centralni server =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jedina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kvara (SPOF).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ERP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centralnom bazom i filijalama.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7248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18688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(Mreza)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18688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direktno povezan sa svim ostalima.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SPOF — izuzetno visoka tolerancija na kvarove.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maksimalna redundansa i propusnost.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kompleksna konfiguracija, eksponencijalni rast veza.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lno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za: mission-critical sistemi,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25896" y="77724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117336" y="795528"/>
            <a:ext cx="25603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(Prsten)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17336" y="126187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 putuju sekvencijalno od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 se krug ne zatvori.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Prednost: ravnomerna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raspodela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optere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će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Slabost: spor oporavak, jedan kvar prekida ceo prsten.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za: sistemi sa jasnom geografskom distribucijom.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28600" y="374904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749040"/>
            <a:ext cx="64008" cy="118872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 (Echo Effect) — beskonačna petlja replikacije: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09651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A replikuje promenu na B, a B replikuje sve promene nazad na A —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petlja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IF (RDB$GET_CONTEXT('SYSTEM','REPLICATING') IS NULL) THEN -- promena je nastala od korisnika, 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replikacionog agenta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4.0 automatski setuje REPLICATING = TRUE pri primeni logova, pa se triger 'prepoznaje'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preska</a:t>
            </a:r>
            <a:r>
              <a:rPr lang="sr-Latn-BA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implementacija — 8 koraka konfiguracije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74904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74904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74904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databases.conf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aliase za master i slave bazu.</a:t>
            </a:r>
            <a:endParaRPr lang="en-US" sz="1200" dirty="0">
              <a:latin typeface="+mj-lt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42032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542032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542032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35224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 Restore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33472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-b master.fdb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master.fbk</a:t>
            </a:r>
            <a:endParaRPr lang="sr-Latn-RS" sz="1200" dirty="0">
              <a:solidFill>
                <a:srgbClr val="475569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gbak -r master.fbk </a:t>
            </a:r>
            <a:r>
              <a:rPr lang="en-US" sz="1200" dirty="0" err="1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slave.fdb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709160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02352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-h (GUID)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Preuzeti DATABASE GUID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mastera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Unet u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source_gui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 u konfiguraciji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76288" y="841248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6876288" y="841248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876288" y="841248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69480" y="905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struktura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67728" y="1344168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Kreirati Journal i Archive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direktorijume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.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Odvajanje privremenih od trajnih segmenata.</a:t>
            </a:r>
            <a:endParaRPr lang="en-US" sz="1200" dirty="0">
              <a:latin typeface="+mj-lt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4904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374904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374904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8096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replication.conf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66344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Podesiti journal, archive, sync_replica, source_guid parametre za obe instance.</a:t>
            </a:r>
            <a:endParaRPr lang="en-US" sz="1200" dirty="0">
              <a:latin typeface="+mj-lt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2542032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2542032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2542032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935224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servisa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633472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Times New Roman" panose="02020603050405020304" pitchFamily="18" charset="0"/>
              </a:rPr>
              <a:t>Restartovati Firebird servis nakon izmene konfiguracionih fajlova.</a:t>
            </a:r>
            <a:endParaRPr lang="en-US" sz="1200" dirty="0">
              <a:latin typeface="+mj-lt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709160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4709160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4709160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102352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DATABASE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4800600" y="34290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DATABASE ENABLE PUBLICATION;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(master: ukljucuje pracenje tabela)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gfix -replica READ_ONLY slave.fdb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76288" y="2926080"/>
            <a:ext cx="2029968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6876288" y="2926080"/>
            <a:ext cx="2029968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876288" y="2926080"/>
            <a:ext cx="347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69480" y="29900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korisnika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67728" y="3429000"/>
            <a:ext cx="19019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MAPPING repl_agent USING PLUGIN SRP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USER replication_user TO USER SYSDBA;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 err="1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repli</a:t>
            </a:r>
            <a:r>
              <a:rPr lang="sr-Latn-R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k</a:t>
            </a:r>
            <a:r>
              <a:rPr lang="en-US" sz="1200" dirty="0">
                <a:solidFill>
                  <a:srgbClr val="475569"/>
                </a:solidFill>
                <a:ea typeface="Consolas" pitchFamily="34" charset="-122"/>
                <a:cs typeface="Consolas" pitchFamily="34" charset="-120"/>
              </a:rPr>
              <a:t>a prihvata agenta kao SYSDBA)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Verifikacija — 5 primera potvrđivanja rada replikacije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INSERT INTO EMPLOYEE ...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* FROM EMPLOYEE WHERE EMP_NO=1000;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rezultat: red postoji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replici</a:t>
            </a:r>
            <a:endParaRPr lang="en-US" sz="1200" dirty="0">
              <a:latin typeface="+mj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127248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127248" y="777240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127248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18688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UPDATE EMPLOYEE SET SALARY=60000 WHERE EMP_NO=1000;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SALARY FROM EMPLOYEE WHERE EMP_NO=1000;</a:t>
            </a:r>
            <a:endParaRPr lang="en-US" sz="1200" dirty="0">
              <a:latin typeface="+mj-lt"/>
            </a:endParaRPr>
          </a:p>
          <a:p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ekivani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rezultat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: SALARY=60000.</a:t>
            </a:r>
            <a:endParaRPr lang="en-US" sz="1200" dirty="0">
              <a:latin typeface="+mj-lt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25896" y="77724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25896" y="777240"/>
            <a:ext cx="2743200" cy="41148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025896" y="777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8321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17336" y="12801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Master: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DELETE iz SALARY_HISTORY pa iz EMPLOYEE; COMMIT;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Slave: </a:t>
            </a:r>
            <a:endParaRPr lang="sr-Latn-RS" sz="1200" b="1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COUNT(*)</a:t>
            </a: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no: referenc.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integritet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o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uvan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na OBA 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vora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 sz="1200">
              <a:latin typeface="+mj-lt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28600" y="2953512"/>
            <a:ext cx="2743200" cy="41148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SELECT MON$NEXT_TRANSACTION FROM MON$DATABASE;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(pokrenuti na masteru i replici)</a:t>
            </a:r>
            <a:endParaRPr lang="en-US" sz="1400" dirty="0">
              <a:latin typeface="+mj-lt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Mala razlika = zdravo. </a:t>
            </a:r>
            <a:endParaRPr lang="sr-Latn-RS" sz="14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Velika razlika = lag problem</a:t>
            </a:r>
            <a:r>
              <a:rPr lang="sr-Latn-BA" sz="14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400" dirty="0">
              <a:latin typeface="+mj-lt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27248" y="2953512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127248" y="295351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127248" y="295351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47872" y="300837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Isklju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vanje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18688" y="345643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ALTER PUBLICATION SET TABLE EMPLOYEE INACTIVE;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abela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isklju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uje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iz replikacije bez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gubljenja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ostalih</a:t>
            </a:r>
            <a:endParaRPr lang="sr-Latn-RS" sz="1200" dirty="0">
              <a:solidFill>
                <a:srgbClr val="475569"/>
              </a:solidFill>
              <a:latin typeface="+mj-lt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latin typeface="+mj-lt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Fleksibilnost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logi</a:t>
            </a:r>
            <a:r>
              <a:rPr lang="sr-Latn-R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ke</a:t>
            </a:r>
            <a:r>
              <a:rPr lang="en-US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replikacije</a:t>
            </a:r>
            <a:r>
              <a:rPr lang="sr-Latn-BA" sz="1200" dirty="0">
                <a:solidFill>
                  <a:srgbClr val="475569"/>
                </a:solidFill>
                <a:latin typeface="+mj-lt"/>
                <a:ea typeface="Consolas" pitchFamily="34" charset="-122"/>
                <a:cs typeface="Consolas" pitchFamily="34" charset="-120"/>
              </a:rPr>
              <a:t>.</a:t>
            </a:r>
            <a:endParaRPr lang="en-US" sz="1200" dirty="0"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02336" y="26765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89007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989007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098735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vs Replikacija: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017520" y="1098735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Preslikavanje = hardverska redundansa (LAN)</a:t>
            </a:r>
            <a:endParaRPr lang="sr-Latn-RS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sinhronizacija (WAN + selekcija).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47959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1747959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857687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Nativna replikacija FB 4.0: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017520" y="1857687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Revolucionarna promena —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ugra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mehanizam bez alata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06911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5760" y="2506911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616639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Sinhrono vs Asinhrono: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017520" y="2616639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 (sinhrono) ili maksimalna brzina (asinhrono) — biramo prema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poslovnom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zahtevu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65863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65760" y="3265863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375591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Eho efekat: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17520" y="3375591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RDB$GET_CONTEXT('SYSTEM','REPLICATING')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beskona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nih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petlji u Multi-Master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24815"/>
            <a:ext cx="8412480" cy="640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sz="120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" y="4024815"/>
            <a:ext cx="73152" cy="6400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134543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vs konkurencija: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3017520" y="4134543"/>
            <a:ext cx="5669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i MSSQL imaju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zrelija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Firebird 4.0/5.0 tek dostigao enterprise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replikacije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191CE844-74B2-1141-0575-D5F64587F5D3}"/>
              </a:ext>
            </a:extLst>
          </p:cNvPr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2684</Words>
  <Application>Microsoft Office PowerPoint</Application>
  <PresentationFormat>On-screen Show (16:9)</PresentationFormat>
  <Paragraphs>309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64</cp:revision>
  <dcterms:created xsi:type="dcterms:W3CDTF">2026-03-11T06:47:54Z</dcterms:created>
  <dcterms:modified xsi:type="dcterms:W3CDTF">2026-03-16T00:22:15Z</dcterms:modified>
</cp:coreProperties>
</file>