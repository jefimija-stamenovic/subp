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2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58060" autoAdjust="0"/>
  </p:normalViewPr>
  <p:slideViewPr>
    <p:cSldViewPr snapToGrid="0" snapToObjects="1">
      <p:cViewPr>
        <p:scale>
          <a:sx n="60" d="100"/>
          <a:sy n="60" d="100"/>
        </p:scale>
        <p:origin x="2026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9181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Ovo je </a:t>
            </a:r>
            <a:r>
              <a:rPr lang="en-US" dirty="0" err="1"/>
              <a:t>sadržaj</a:t>
            </a:r>
            <a:r>
              <a:rPr lang="en-US" dirty="0"/>
              <a:t> </a:t>
            </a:r>
            <a:r>
              <a:rPr lang="en-US" dirty="0" err="1"/>
              <a:t>prezentacije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pokriva</a:t>
            </a:r>
            <a:r>
              <a:rPr lang="en-US" dirty="0"/>
              <a:t> </a:t>
            </a:r>
            <a:r>
              <a:rPr lang="en-US" dirty="0" err="1"/>
              <a:t>sedam</a:t>
            </a:r>
            <a:r>
              <a:rPr lang="en-US" dirty="0"/>
              <a:t> </a:t>
            </a:r>
            <a:r>
              <a:rPr lang="en-US" dirty="0" err="1"/>
              <a:t>ključnih</a:t>
            </a:r>
            <a:r>
              <a:rPr lang="en-US" dirty="0"/>
              <a:t> </a:t>
            </a:r>
            <a:r>
              <a:rPr lang="en-US" dirty="0" err="1"/>
              <a:t>oblasti</a:t>
            </a:r>
            <a:r>
              <a:rPr lang="en-US" dirty="0"/>
              <a:t> </a:t>
            </a:r>
            <a:r>
              <a:rPr lang="en-US" dirty="0" err="1"/>
              <a:t>replikacije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visoke</a:t>
            </a:r>
            <a:r>
              <a:rPr lang="en-US" dirty="0"/>
              <a:t> </a:t>
            </a:r>
            <a:r>
              <a:rPr lang="en-US" dirty="0" err="1"/>
              <a:t>dostupnosti</a:t>
            </a:r>
            <a:r>
              <a:rPr lang="en-US" dirty="0"/>
              <a:t> u Firebird </a:t>
            </a:r>
            <a:r>
              <a:rPr lang="en-US" dirty="0" err="1"/>
              <a:t>sistemu</a:t>
            </a:r>
            <a:r>
              <a:rPr lang="en-US" dirty="0"/>
              <a:t>.</a:t>
            </a:r>
          </a:p>
          <a:p>
            <a:r>
              <a:rPr lang="en-US" dirty="0" err="1"/>
              <a:t>Krećemo</a:t>
            </a:r>
            <a:r>
              <a:rPr lang="en-US" dirty="0"/>
              <a:t> od </a:t>
            </a:r>
            <a:r>
              <a:rPr lang="en-US" b="1" dirty="0"/>
              <a:t>CAP </a:t>
            </a:r>
            <a:r>
              <a:rPr lang="en-US" b="1" dirty="0" err="1"/>
              <a:t>teoreme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teorijsk</a:t>
            </a:r>
            <a:r>
              <a:rPr lang="sr-Latn-RS" dirty="0"/>
              <a:t>e osnove, odnosno, </a:t>
            </a:r>
            <a:r>
              <a:rPr lang="en-US" dirty="0" err="1"/>
              <a:t>fundamentalnog</a:t>
            </a:r>
            <a:r>
              <a:rPr lang="en-US" dirty="0"/>
              <a:t> </a:t>
            </a:r>
            <a:r>
              <a:rPr lang="en-US" dirty="0" err="1"/>
              <a:t>kompromisa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konzistentnosti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dostupnosti</a:t>
            </a:r>
            <a:r>
              <a:rPr lang="en-US" dirty="0"/>
              <a:t> u </a:t>
            </a:r>
            <a:r>
              <a:rPr lang="en-US" dirty="0" err="1"/>
              <a:t>distribuiranim</a:t>
            </a:r>
            <a:r>
              <a:rPr lang="en-US" dirty="0"/>
              <a:t> </a:t>
            </a:r>
            <a:r>
              <a:rPr lang="en-US" dirty="0" err="1"/>
              <a:t>sistemima</a:t>
            </a:r>
            <a:r>
              <a:rPr lang="en-US" dirty="0"/>
              <a:t>,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čega</a:t>
            </a:r>
            <a:r>
              <a:rPr lang="en-US" dirty="0"/>
              <a:t> </a:t>
            </a:r>
            <a:r>
              <a:rPr lang="en-US" dirty="0" err="1"/>
              <a:t>analiziramo</a:t>
            </a:r>
            <a:r>
              <a:rPr lang="en-US" dirty="0"/>
              <a:t> </a:t>
            </a:r>
            <a:r>
              <a:rPr lang="en-US" b="1" dirty="0" err="1"/>
              <a:t>Preslikavanje</a:t>
            </a:r>
            <a:r>
              <a:rPr lang="en-US" b="1" dirty="0"/>
              <a:t> (Mirroring)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MANUAL/AUTO </a:t>
            </a:r>
            <a:r>
              <a:rPr lang="en-US" dirty="0" err="1"/>
              <a:t>režimima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scenarijima</a:t>
            </a:r>
            <a:r>
              <a:rPr lang="en-US" dirty="0"/>
              <a:t> </a:t>
            </a:r>
            <a:r>
              <a:rPr lang="en-US" dirty="0" err="1"/>
              <a:t>oporavka</a:t>
            </a:r>
            <a:r>
              <a:rPr lang="en-US" dirty="0"/>
              <a:t>.</a:t>
            </a:r>
          </a:p>
          <a:p>
            <a:r>
              <a:rPr lang="en-US" dirty="0" err="1"/>
              <a:t>Centralni</a:t>
            </a:r>
            <a:r>
              <a:rPr lang="en-US" dirty="0"/>
              <a:t> deo </a:t>
            </a:r>
            <a:r>
              <a:rPr lang="en-US" dirty="0" err="1"/>
              <a:t>pokriva</a:t>
            </a:r>
            <a:r>
              <a:rPr lang="en-US" dirty="0"/>
              <a:t> </a:t>
            </a:r>
            <a:r>
              <a:rPr lang="en-US" dirty="0" err="1"/>
              <a:t>replikacione</a:t>
            </a:r>
            <a:r>
              <a:rPr lang="en-US" dirty="0"/>
              <a:t> </a:t>
            </a:r>
            <a:r>
              <a:rPr lang="en-US" dirty="0" err="1"/>
              <a:t>mehanizme</a:t>
            </a:r>
            <a:r>
              <a:rPr lang="en-US" dirty="0"/>
              <a:t> — </a:t>
            </a:r>
            <a:r>
              <a:rPr lang="en-US" b="1" dirty="0" err="1"/>
              <a:t>Nativna</a:t>
            </a:r>
            <a:r>
              <a:rPr lang="en-US" b="1" dirty="0"/>
              <a:t> </a:t>
            </a:r>
            <a:r>
              <a:rPr lang="en-US" b="1" dirty="0" err="1"/>
              <a:t>binarna</a:t>
            </a:r>
            <a:r>
              <a:rPr lang="en-US" b="1" dirty="0"/>
              <a:t> </a:t>
            </a:r>
            <a:r>
              <a:rPr lang="en-US" b="1" dirty="0" err="1"/>
              <a:t>replikacija</a:t>
            </a:r>
            <a:r>
              <a:rPr lang="en-US" dirty="0"/>
              <a:t> </a:t>
            </a:r>
            <a:r>
              <a:rPr lang="en-US" dirty="0" err="1"/>
              <a:t>uvedena</a:t>
            </a:r>
            <a:r>
              <a:rPr lang="en-US" dirty="0"/>
              <a:t> u Firebird 4.0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replikacionim</a:t>
            </a:r>
            <a:r>
              <a:rPr lang="en-US" dirty="0"/>
              <a:t> </a:t>
            </a:r>
            <a:r>
              <a:rPr lang="en-US" dirty="0" err="1"/>
              <a:t>dnevnicima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sinhronizacijom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razlike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b="1" dirty="0" err="1"/>
              <a:t>Sinhrona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Asinhrona</a:t>
            </a:r>
            <a:r>
              <a:rPr lang="en-US" b="1" dirty="0"/>
              <a:t> </a:t>
            </a:r>
            <a:r>
              <a:rPr lang="en-US" b="1" dirty="0" err="1"/>
              <a:t>replikacije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prizmu</a:t>
            </a:r>
            <a:r>
              <a:rPr lang="en-US" dirty="0"/>
              <a:t> Zero Data Loss vs Replication Lag </a:t>
            </a:r>
            <a:r>
              <a:rPr lang="en-US" dirty="0" err="1"/>
              <a:t>kompromisa</a:t>
            </a:r>
            <a:r>
              <a:rPr lang="en-US" dirty="0"/>
              <a:t>.</a:t>
            </a:r>
          </a:p>
          <a:p>
            <a:r>
              <a:rPr lang="en-US" dirty="0" err="1"/>
              <a:t>Praktični</a:t>
            </a:r>
            <a:r>
              <a:rPr lang="en-US" dirty="0"/>
              <a:t> </a:t>
            </a:r>
            <a:r>
              <a:rPr lang="en-US" dirty="0" err="1"/>
              <a:t>aspekti</a:t>
            </a:r>
            <a:r>
              <a:rPr lang="en-US" dirty="0"/>
              <a:t> </a:t>
            </a:r>
            <a:r>
              <a:rPr lang="en-US" dirty="0" err="1"/>
              <a:t>obuhvataju</a:t>
            </a:r>
            <a:r>
              <a:rPr lang="en-US" dirty="0"/>
              <a:t> </a:t>
            </a:r>
            <a:r>
              <a:rPr lang="en-US" b="1" dirty="0" err="1"/>
              <a:t>Logičku</a:t>
            </a:r>
            <a:r>
              <a:rPr lang="en-US" b="1" dirty="0"/>
              <a:t> </a:t>
            </a:r>
            <a:r>
              <a:rPr lang="en-US" b="1" dirty="0" err="1"/>
              <a:t>replikaciju</a:t>
            </a:r>
            <a:r>
              <a:rPr lang="en-US" dirty="0"/>
              <a:t>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trigera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REPLICATION_LOG </a:t>
            </a:r>
            <a:r>
              <a:rPr lang="en-US" dirty="0" err="1"/>
              <a:t>tabele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rešavanjem</a:t>
            </a:r>
            <a:r>
              <a:rPr lang="en-US" dirty="0"/>
              <a:t> </a:t>
            </a:r>
            <a:r>
              <a:rPr lang="en-US" dirty="0" err="1"/>
              <a:t>konflikata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dirty="0"/>
              <a:t>Multi-Master </a:t>
            </a:r>
            <a:r>
              <a:rPr lang="en-US" b="1" dirty="0" err="1"/>
              <a:t>topologije</a:t>
            </a:r>
            <a:r>
              <a:rPr lang="en-US" dirty="0"/>
              <a:t> — Star, Mesh </a:t>
            </a:r>
            <a:r>
              <a:rPr lang="en-US" dirty="0" err="1"/>
              <a:t>i</a:t>
            </a:r>
            <a:r>
              <a:rPr lang="en-US" dirty="0"/>
              <a:t> Ring </a:t>
            </a:r>
            <a:r>
              <a:rPr lang="en-US" dirty="0" err="1"/>
              <a:t>arhitekture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analizom</a:t>
            </a:r>
            <a:r>
              <a:rPr lang="en-US" dirty="0"/>
              <a:t> </a:t>
            </a:r>
            <a:r>
              <a:rPr lang="en-US" dirty="0" err="1"/>
              <a:t>eho</a:t>
            </a:r>
            <a:r>
              <a:rPr lang="en-US" dirty="0"/>
              <a:t> </a:t>
            </a:r>
            <a:r>
              <a:rPr lang="en-US" dirty="0" err="1"/>
              <a:t>efekta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načinima</a:t>
            </a:r>
            <a:r>
              <a:rPr lang="en-US" dirty="0"/>
              <a:t> </a:t>
            </a:r>
            <a:r>
              <a:rPr lang="en-US" dirty="0" err="1"/>
              <a:t>njegovog</a:t>
            </a:r>
            <a:r>
              <a:rPr lang="en-US" dirty="0"/>
              <a:t> </a:t>
            </a:r>
            <a:r>
              <a:rPr lang="en-US" dirty="0" err="1"/>
              <a:t>rešavanja</a:t>
            </a:r>
            <a:r>
              <a:rPr lang="en-US" dirty="0"/>
              <a:t>.</a:t>
            </a:r>
          </a:p>
          <a:p>
            <a:r>
              <a:rPr lang="en-US" dirty="0"/>
              <a:t>Prezentacija se </a:t>
            </a:r>
            <a:r>
              <a:rPr lang="en-US" dirty="0" err="1"/>
              <a:t>zaključuje</a:t>
            </a:r>
            <a:r>
              <a:rPr lang="en-US" dirty="0"/>
              <a:t> </a:t>
            </a:r>
            <a:r>
              <a:rPr lang="en-US" b="1" dirty="0" err="1"/>
              <a:t>Praktičnom</a:t>
            </a:r>
            <a:r>
              <a:rPr lang="en-US" b="1" dirty="0"/>
              <a:t> </a:t>
            </a:r>
            <a:r>
              <a:rPr lang="en-US" b="1" dirty="0" err="1"/>
              <a:t>implementacijom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8 </a:t>
            </a:r>
            <a:r>
              <a:rPr lang="en-US" dirty="0" err="1"/>
              <a:t>koraka</a:t>
            </a:r>
            <a:r>
              <a:rPr lang="en-US" dirty="0"/>
              <a:t> </a:t>
            </a:r>
            <a:r>
              <a:rPr lang="en-US" dirty="0" err="1"/>
              <a:t>konfiguracije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5 </a:t>
            </a:r>
            <a:r>
              <a:rPr lang="en-US" dirty="0" err="1"/>
              <a:t>verifikacionih</a:t>
            </a:r>
            <a:r>
              <a:rPr lang="en-US" dirty="0"/>
              <a:t> </a:t>
            </a:r>
            <a:r>
              <a:rPr lang="en-US" dirty="0" err="1"/>
              <a:t>primera</a:t>
            </a:r>
            <a:r>
              <a:rPr lang="en-US" dirty="0"/>
              <a:t> koji </a:t>
            </a:r>
            <a:r>
              <a:rPr lang="en-US" dirty="0" err="1"/>
              <a:t>demonstriraju</a:t>
            </a:r>
            <a:r>
              <a:rPr lang="en-US" dirty="0"/>
              <a:t> </a:t>
            </a:r>
            <a:r>
              <a:rPr lang="en-US" dirty="0" err="1"/>
              <a:t>postavljanje</a:t>
            </a:r>
            <a:r>
              <a:rPr lang="en-US" dirty="0"/>
              <a:t> </a:t>
            </a:r>
            <a:r>
              <a:rPr lang="en-US" dirty="0" err="1"/>
              <a:t>replikacije</a:t>
            </a:r>
            <a:r>
              <a:rPr lang="en-US" dirty="0"/>
              <a:t> u </a:t>
            </a:r>
            <a:r>
              <a:rPr lang="en-US" dirty="0" err="1"/>
              <a:t>realnom</a:t>
            </a:r>
            <a:r>
              <a:rPr lang="en-US" dirty="0"/>
              <a:t> </a:t>
            </a:r>
            <a:r>
              <a:rPr lang="en-US" dirty="0" err="1"/>
              <a:t>okruženju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 </a:t>
            </a:r>
            <a:r>
              <a:rPr lang="en-US" dirty="0" err="1"/>
              <a:t>teorema</a:t>
            </a:r>
            <a:r>
              <a:rPr lang="en-US" dirty="0"/>
              <a:t> </a:t>
            </a:r>
            <a:r>
              <a:rPr lang="en-US" dirty="0" err="1"/>
              <a:t>kaže</a:t>
            </a:r>
            <a:r>
              <a:rPr lang="en-US" dirty="0"/>
              <a:t> da </a:t>
            </a:r>
            <a:r>
              <a:rPr lang="en-US" dirty="0" err="1"/>
              <a:t>nijedan</a:t>
            </a:r>
            <a:r>
              <a:rPr lang="en-US" dirty="0"/>
              <a:t> </a:t>
            </a:r>
            <a:r>
              <a:rPr lang="en-US" dirty="0" err="1"/>
              <a:t>distribuirani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ne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istovremeno</a:t>
            </a:r>
            <a:r>
              <a:rPr lang="en-US" dirty="0"/>
              <a:t> </a:t>
            </a:r>
            <a:r>
              <a:rPr lang="en-US" dirty="0" err="1"/>
              <a:t>garantovati</a:t>
            </a:r>
            <a:r>
              <a:rPr lang="en-US" dirty="0"/>
              <a:t> </a:t>
            </a:r>
            <a:r>
              <a:rPr lang="en-US" dirty="0" err="1"/>
              <a:t>sva</a:t>
            </a:r>
            <a:r>
              <a:rPr lang="en-US" dirty="0"/>
              <a:t> tri </a:t>
            </a:r>
            <a:r>
              <a:rPr lang="en-US" dirty="0" err="1"/>
              <a:t>svojstva</a:t>
            </a:r>
            <a:r>
              <a:rPr lang="en-US" dirty="0"/>
              <a:t> — </a:t>
            </a:r>
            <a:r>
              <a:rPr lang="en-US" dirty="0" err="1"/>
              <a:t>Konzistentnost</a:t>
            </a:r>
            <a:r>
              <a:rPr lang="en-US" dirty="0"/>
              <a:t>, Dostupnost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Otpornost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particije</a:t>
            </a:r>
            <a:r>
              <a:rPr lang="en-US" dirty="0"/>
              <a:t> — </a:t>
            </a:r>
            <a:r>
              <a:rPr lang="en-US" dirty="0" err="1"/>
              <a:t>već</a:t>
            </a:r>
            <a:r>
              <a:rPr lang="en-US" dirty="0"/>
              <a:t> mora da </a:t>
            </a:r>
            <a:r>
              <a:rPr lang="en-US" dirty="0" err="1"/>
              <a:t>izabere</a:t>
            </a:r>
            <a:r>
              <a:rPr lang="en-US" dirty="0"/>
              <a:t> </a:t>
            </a:r>
            <a:r>
              <a:rPr lang="en-US" dirty="0" err="1"/>
              <a:t>dva</a:t>
            </a:r>
            <a:r>
              <a:rPr lang="en-US" dirty="0"/>
              <a:t> od tri.</a:t>
            </a:r>
          </a:p>
          <a:p>
            <a:r>
              <a:rPr lang="en-US" b="1" dirty="0" err="1"/>
              <a:t>Konzistentnost</a:t>
            </a:r>
            <a:r>
              <a:rPr lang="en-US" dirty="0"/>
              <a:t> </a:t>
            </a:r>
            <a:r>
              <a:rPr lang="en-US" dirty="0" err="1"/>
              <a:t>garantuje</a:t>
            </a:r>
            <a:r>
              <a:rPr lang="en-US" dirty="0"/>
              <a:t> da </a:t>
            </a:r>
            <a:r>
              <a:rPr lang="en-US" dirty="0" err="1"/>
              <a:t>su</a:t>
            </a:r>
            <a:r>
              <a:rPr lang="en-US" dirty="0"/>
              <a:t> master </a:t>
            </a:r>
            <a:r>
              <a:rPr lang="en-US" dirty="0" err="1"/>
              <a:t>i</a:t>
            </a:r>
            <a:r>
              <a:rPr lang="en-US" dirty="0"/>
              <a:t> slave </a:t>
            </a:r>
            <a:r>
              <a:rPr lang="en-US" dirty="0" err="1"/>
              <a:t>identični</a:t>
            </a:r>
            <a:r>
              <a:rPr lang="en-US" dirty="0"/>
              <a:t> u </a:t>
            </a:r>
            <a:r>
              <a:rPr lang="en-US" dirty="0" err="1"/>
              <a:t>svakom</a:t>
            </a:r>
            <a:r>
              <a:rPr lang="en-US" dirty="0"/>
              <a:t> </a:t>
            </a:r>
            <a:r>
              <a:rPr lang="en-US" dirty="0" err="1"/>
              <a:t>trenutku</a:t>
            </a:r>
            <a:r>
              <a:rPr lang="en-US" dirty="0"/>
              <a:t> — </a:t>
            </a:r>
            <a:r>
              <a:rPr lang="en-US" dirty="0" err="1"/>
              <a:t>zahteva</a:t>
            </a:r>
            <a:r>
              <a:rPr lang="en-US" dirty="0"/>
              <a:t> </a:t>
            </a:r>
            <a:r>
              <a:rPr lang="en-US" dirty="0" err="1"/>
              <a:t>sinhronizaciju</a:t>
            </a:r>
            <a:r>
              <a:rPr lang="en-US" dirty="0"/>
              <a:t> pre </a:t>
            </a:r>
            <a:r>
              <a:rPr lang="en-US" dirty="0" err="1"/>
              <a:t>odgovora</a:t>
            </a:r>
            <a:r>
              <a:rPr lang="en-US" dirty="0"/>
              <a:t> </a:t>
            </a:r>
            <a:r>
              <a:rPr lang="en-US" dirty="0" err="1"/>
              <a:t>korisniku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ga </a:t>
            </a:r>
            <a:r>
              <a:rPr lang="en-US" dirty="0" err="1"/>
              <a:t>čini</a:t>
            </a:r>
            <a:r>
              <a:rPr lang="en-US" dirty="0"/>
              <a:t> </a:t>
            </a:r>
            <a:r>
              <a:rPr lang="en-US" dirty="0" err="1"/>
              <a:t>idealnim</a:t>
            </a:r>
            <a:r>
              <a:rPr lang="en-US" dirty="0"/>
              <a:t> za </a:t>
            </a:r>
            <a:r>
              <a:rPr lang="en-US" dirty="0" err="1"/>
              <a:t>finansijske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knjiženje</a:t>
            </a:r>
            <a:r>
              <a:rPr lang="en-US" dirty="0"/>
              <a:t> u </a:t>
            </a:r>
            <a:r>
              <a:rPr lang="en-US" dirty="0" err="1"/>
              <a:t>realnom</a:t>
            </a:r>
            <a:r>
              <a:rPr lang="en-US" dirty="0"/>
              <a:t> </a:t>
            </a:r>
            <a:r>
              <a:rPr lang="en-US" dirty="0" err="1"/>
              <a:t>vremenu</a:t>
            </a:r>
            <a:r>
              <a:rPr lang="en-US" dirty="0"/>
              <a:t>.</a:t>
            </a:r>
          </a:p>
          <a:p>
            <a:r>
              <a:rPr lang="en-US" b="1" dirty="0"/>
              <a:t>Dostupnost</a:t>
            </a:r>
            <a:r>
              <a:rPr lang="en-US" dirty="0"/>
              <a:t> </a:t>
            </a:r>
            <a:r>
              <a:rPr lang="en-US" dirty="0" err="1"/>
              <a:t>stavlja</a:t>
            </a:r>
            <a:r>
              <a:rPr lang="en-US" dirty="0"/>
              <a:t> </a:t>
            </a:r>
            <a:r>
              <a:rPr lang="en-US" dirty="0" err="1"/>
              <a:t>fokus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brzinu</a:t>
            </a:r>
            <a:r>
              <a:rPr lang="en-US" dirty="0"/>
              <a:t> rada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kontinuitet</a:t>
            </a:r>
            <a:r>
              <a:rPr lang="en-US" dirty="0"/>
              <a:t> </a:t>
            </a:r>
            <a:r>
              <a:rPr lang="en-US" dirty="0" err="1"/>
              <a:t>servisa</a:t>
            </a:r>
            <a:r>
              <a:rPr lang="en-US" dirty="0"/>
              <a:t> — </a:t>
            </a:r>
            <a:r>
              <a:rPr lang="en-US" dirty="0" err="1"/>
              <a:t>korisnik</a:t>
            </a:r>
            <a:r>
              <a:rPr lang="en-US" dirty="0"/>
              <a:t> ne </a:t>
            </a:r>
            <a:r>
              <a:rPr lang="en-US" dirty="0" err="1"/>
              <a:t>čeka</a:t>
            </a:r>
            <a:r>
              <a:rPr lang="en-US" dirty="0"/>
              <a:t> </a:t>
            </a:r>
            <a:r>
              <a:rPr lang="en-US" dirty="0" err="1"/>
              <a:t>potvrdu</a:t>
            </a:r>
            <a:r>
              <a:rPr lang="en-US" dirty="0"/>
              <a:t> slave </a:t>
            </a:r>
            <a:r>
              <a:rPr lang="en-US" dirty="0" err="1"/>
              <a:t>servera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idealno</a:t>
            </a:r>
            <a:r>
              <a:rPr lang="en-US" dirty="0"/>
              <a:t> za </a:t>
            </a:r>
            <a:r>
              <a:rPr lang="en-US" dirty="0" err="1"/>
              <a:t>prikupljanje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mernih</a:t>
            </a:r>
            <a:r>
              <a:rPr lang="en-US" dirty="0"/>
              <a:t> </a:t>
            </a:r>
            <a:r>
              <a:rPr lang="en-US" dirty="0" err="1"/>
              <a:t>uređaja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IoT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gde</a:t>
            </a:r>
            <a:r>
              <a:rPr lang="en-US" dirty="0"/>
              <a:t> je </a:t>
            </a:r>
            <a:r>
              <a:rPr lang="en-US" dirty="0" err="1"/>
              <a:t>brzina</a:t>
            </a:r>
            <a:r>
              <a:rPr lang="en-US" dirty="0"/>
              <a:t> </a:t>
            </a:r>
            <a:r>
              <a:rPr lang="en-US" dirty="0" err="1"/>
              <a:t>važnija</a:t>
            </a:r>
            <a:r>
              <a:rPr lang="en-US" dirty="0"/>
              <a:t> od </a:t>
            </a:r>
            <a:r>
              <a:rPr lang="en-US" dirty="0" err="1"/>
              <a:t>trenutne</a:t>
            </a:r>
            <a:r>
              <a:rPr lang="en-US" dirty="0"/>
              <a:t> </a:t>
            </a:r>
            <a:r>
              <a:rPr lang="en-US" dirty="0" err="1"/>
              <a:t>konzistentnosti</a:t>
            </a:r>
            <a:r>
              <a:rPr lang="en-US" dirty="0"/>
              <a:t>.</a:t>
            </a:r>
          </a:p>
          <a:p>
            <a:r>
              <a:rPr lang="en-US" b="1" dirty="0" err="1"/>
              <a:t>Otpornost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particije</a:t>
            </a:r>
            <a:r>
              <a:rPr lang="en-US" dirty="0"/>
              <a:t> </a:t>
            </a:r>
            <a:r>
              <a:rPr lang="en-US" dirty="0" err="1"/>
              <a:t>znači</a:t>
            </a:r>
            <a:r>
              <a:rPr lang="en-US" dirty="0"/>
              <a:t> da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funkcioniše</a:t>
            </a:r>
            <a:r>
              <a:rPr lang="en-US" dirty="0"/>
              <a:t> </a:t>
            </a:r>
            <a:r>
              <a:rPr lang="en-US" dirty="0" err="1"/>
              <a:t>čak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mrežna</a:t>
            </a:r>
            <a:r>
              <a:rPr lang="en-US" dirty="0"/>
              <a:t> </a:t>
            </a:r>
            <a:r>
              <a:rPr lang="en-US" dirty="0" err="1"/>
              <a:t>veza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čvorova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pouzdana</a:t>
            </a:r>
            <a:r>
              <a:rPr lang="en-US" dirty="0"/>
              <a:t> — </a:t>
            </a:r>
            <a:r>
              <a:rPr lang="en-US" dirty="0" err="1"/>
              <a:t>ovo</a:t>
            </a:r>
            <a:r>
              <a:rPr lang="en-US" dirty="0"/>
              <a:t> </a:t>
            </a:r>
            <a:r>
              <a:rPr lang="en-US" dirty="0" err="1"/>
              <a:t>svojstvo</a:t>
            </a:r>
            <a:r>
              <a:rPr lang="en-US" dirty="0"/>
              <a:t> je u </a:t>
            </a:r>
            <a:r>
              <a:rPr lang="en-US" dirty="0" err="1"/>
              <a:t>praksi</a:t>
            </a:r>
            <a:r>
              <a:rPr lang="en-US" dirty="0"/>
              <a:t> </a:t>
            </a:r>
            <a:r>
              <a:rPr lang="en-US" dirty="0" err="1"/>
              <a:t>obavezno</a:t>
            </a:r>
            <a:r>
              <a:rPr lang="en-US" dirty="0"/>
              <a:t> za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distribuirani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pa je </a:t>
            </a:r>
            <a:r>
              <a:rPr lang="en-US" dirty="0" err="1"/>
              <a:t>pravi</a:t>
            </a:r>
            <a:r>
              <a:rPr lang="en-US" dirty="0"/>
              <a:t> </a:t>
            </a:r>
            <a:r>
              <a:rPr lang="en-US" dirty="0" err="1"/>
              <a:t>izbor</a:t>
            </a:r>
            <a:r>
              <a:rPr lang="en-US" dirty="0"/>
              <a:t> </a:t>
            </a:r>
            <a:r>
              <a:rPr lang="en-US" dirty="0" err="1"/>
              <a:t>uvek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C </a:t>
            </a:r>
            <a:r>
              <a:rPr lang="en-US" dirty="0" err="1"/>
              <a:t>i</a:t>
            </a:r>
            <a:r>
              <a:rPr lang="en-US" dirty="0"/>
              <a:t> A.</a:t>
            </a:r>
          </a:p>
          <a:p>
            <a:r>
              <a:rPr lang="en-US" dirty="0"/>
              <a:t>Firebird 4.0 </a:t>
            </a:r>
            <a:r>
              <a:rPr lang="en-US" dirty="0" err="1"/>
              <a:t>nudi</a:t>
            </a:r>
            <a:r>
              <a:rPr lang="en-US" dirty="0"/>
              <a:t> oba </a:t>
            </a:r>
            <a:r>
              <a:rPr lang="en-US" dirty="0" err="1"/>
              <a:t>režima</a:t>
            </a:r>
            <a:r>
              <a:rPr lang="en-US" dirty="0"/>
              <a:t> — </a:t>
            </a:r>
            <a:r>
              <a:rPr lang="en-US" dirty="0" err="1"/>
              <a:t>sinhroni</a:t>
            </a:r>
            <a:r>
              <a:rPr lang="en-US" dirty="0"/>
              <a:t> (C+P) za </a:t>
            </a:r>
            <a:r>
              <a:rPr lang="en-US" dirty="0" err="1"/>
              <a:t>finansijske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gde</a:t>
            </a:r>
            <a:r>
              <a:rPr lang="en-US" dirty="0"/>
              <a:t> je </a:t>
            </a:r>
            <a:r>
              <a:rPr lang="en-US" dirty="0" err="1"/>
              <a:t>konzistentnost</a:t>
            </a:r>
            <a:r>
              <a:rPr lang="en-US" dirty="0"/>
              <a:t> </a:t>
            </a:r>
            <a:r>
              <a:rPr lang="en-US" dirty="0" err="1"/>
              <a:t>apsolutni</a:t>
            </a:r>
            <a:r>
              <a:rPr lang="en-US" dirty="0"/>
              <a:t> </a:t>
            </a:r>
            <a:r>
              <a:rPr lang="en-US" dirty="0" err="1"/>
              <a:t>prioritet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asinhroni</a:t>
            </a:r>
            <a:r>
              <a:rPr lang="en-US" dirty="0"/>
              <a:t> (A+P) za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visokom</a:t>
            </a:r>
            <a:r>
              <a:rPr lang="en-US" dirty="0"/>
              <a:t> </a:t>
            </a:r>
            <a:r>
              <a:rPr lang="en-US" dirty="0" err="1"/>
              <a:t>propusnošću</a:t>
            </a:r>
            <a:r>
              <a:rPr lang="en-US" dirty="0"/>
              <a:t> </a:t>
            </a:r>
            <a:r>
              <a:rPr lang="en-US" dirty="0" err="1"/>
              <a:t>gde</a:t>
            </a:r>
            <a:r>
              <a:rPr lang="en-US" dirty="0"/>
              <a:t> je </a:t>
            </a:r>
            <a:r>
              <a:rPr lang="en-US" dirty="0" err="1"/>
              <a:t>važnija</a:t>
            </a:r>
            <a:r>
              <a:rPr lang="en-US" dirty="0"/>
              <a:t> </a:t>
            </a:r>
            <a:r>
              <a:rPr lang="en-US" dirty="0" err="1"/>
              <a:t>dostupnost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brzina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Preslikavanje</a:t>
            </a:r>
            <a:r>
              <a:rPr lang="en-US" dirty="0"/>
              <a:t> (Mirroring) je </a:t>
            </a:r>
            <a:r>
              <a:rPr lang="en-US" dirty="0" err="1"/>
              <a:t>mehanizam</a:t>
            </a:r>
            <a:r>
              <a:rPr lang="en-US" dirty="0"/>
              <a:t> </a:t>
            </a:r>
            <a:r>
              <a:rPr lang="en-US" dirty="0" err="1"/>
              <a:t>visoke</a:t>
            </a:r>
            <a:r>
              <a:rPr lang="en-US" dirty="0"/>
              <a:t> </a:t>
            </a:r>
            <a:r>
              <a:rPr lang="en-US" dirty="0" err="1"/>
              <a:t>dostupnosti</a:t>
            </a:r>
            <a:r>
              <a:rPr lang="en-US" dirty="0"/>
              <a:t> u </a:t>
            </a:r>
            <a:r>
              <a:rPr lang="en-US" dirty="0" err="1"/>
              <a:t>Firebirdu</a:t>
            </a:r>
            <a:r>
              <a:rPr lang="en-US" dirty="0"/>
              <a:t> koji </a:t>
            </a:r>
            <a:r>
              <a:rPr lang="en-US" dirty="0" err="1"/>
              <a:t>operišena</a:t>
            </a:r>
            <a:r>
              <a:rPr lang="en-US" dirty="0"/>
              <a:t> </a:t>
            </a:r>
            <a:r>
              <a:rPr lang="en-US" dirty="0" err="1"/>
              <a:t>nivou</a:t>
            </a:r>
            <a:r>
              <a:rPr lang="en-US" dirty="0"/>
              <a:t> </a:t>
            </a:r>
            <a:r>
              <a:rPr lang="en-US" dirty="0" err="1"/>
              <a:t>stranica</a:t>
            </a:r>
            <a:r>
              <a:rPr lang="en-US" dirty="0"/>
              <a:t> (4–16 KB) — </a:t>
            </a:r>
            <a:r>
              <a:rPr lang="en-US" dirty="0" err="1"/>
              <a:t>svaki</a:t>
            </a:r>
            <a:r>
              <a:rPr lang="en-US" dirty="0"/>
              <a:t> COMMIT </a:t>
            </a:r>
            <a:r>
              <a:rPr lang="en-US" dirty="0" err="1"/>
              <a:t>istovremeno</a:t>
            </a:r>
            <a:r>
              <a:rPr lang="en-US" dirty="0"/>
              <a:t> </a:t>
            </a:r>
            <a:r>
              <a:rPr lang="en-US" dirty="0" err="1"/>
              <a:t>upisuje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primarni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shadow disk, a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čeka</a:t>
            </a:r>
            <a:r>
              <a:rPr lang="en-US" dirty="0"/>
              <a:t> </a:t>
            </a:r>
            <a:r>
              <a:rPr lang="en-US" dirty="0" err="1"/>
              <a:t>potvrdu</a:t>
            </a:r>
            <a:r>
              <a:rPr lang="en-US" dirty="0"/>
              <a:t> oba </a:t>
            </a:r>
            <a:r>
              <a:rPr lang="en-US" dirty="0" err="1"/>
              <a:t>diska</a:t>
            </a:r>
            <a:r>
              <a:rPr lang="en-US" dirty="0"/>
              <a:t> pre </a:t>
            </a:r>
            <a:r>
              <a:rPr lang="en-US" dirty="0" err="1"/>
              <a:t>nego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odgovori</a:t>
            </a:r>
            <a:r>
              <a:rPr lang="en-US" dirty="0"/>
              <a:t> </a:t>
            </a:r>
            <a:r>
              <a:rPr lang="en-US" dirty="0" err="1"/>
              <a:t>korisniku</a:t>
            </a:r>
            <a:r>
              <a:rPr lang="en-US" dirty="0"/>
              <a:t>.</a:t>
            </a:r>
          </a:p>
          <a:p>
            <a:r>
              <a:rPr lang="en-US" b="1" dirty="0"/>
              <a:t>MANUAL </a:t>
            </a:r>
            <a:r>
              <a:rPr lang="en-US" b="1" dirty="0" err="1"/>
              <a:t>režim</a:t>
            </a:r>
            <a:r>
              <a:rPr lang="en-US" dirty="0"/>
              <a:t> </a:t>
            </a:r>
            <a:r>
              <a:rPr lang="en-US" dirty="0" err="1"/>
              <a:t>stavlja</a:t>
            </a:r>
            <a:r>
              <a:rPr lang="en-US" dirty="0"/>
              <a:t> </a:t>
            </a:r>
            <a:r>
              <a:rPr lang="en-US" dirty="0" err="1"/>
              <a:t>ispravnost</a:t>
            </a:r>
            <a:r>
              <a:rPr lang="en-US" dirty="0"/>
              <a:t> </a:t>
            </a:r>
            <a:r>
              <a:rPr lang="en-US" dirty="0" err="1"/>
              <a:t>kopije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prioritet</a:t>
            </a:r>
            <a:r>
              <a:rPr lang="en-US" dirty="0"/>
              <a:t> </a:t>
            </a:r>
            <a:r>
              <a:rPr lang="en-US" dirty="0" err="1"/>
              <a:t>iznad</a:t>
            </a:r>
            <a:r>
              <a:rPr lang="en-US" dirty="0"/>
              <a:t> </a:t>
            </a:r>
            <a:r>
              <a:rPr lang="en-US" dirty="0" err="1"/>
              <a:t>dostupnosti</a:t>
            </a:r>
            <a:r>
              <a:rPr lang="en-US" dirty="0"/>
              <a:t> — </a:t>
            </a:r>
            <a:r>
              <a:rPr lang="en-US" dirty="0" err="1"/>
              <a:t>ako</a:t>
            </a:r>
            <a:r>
              <a:rPr lang="en-US" dirty="0"/>
              <a:t> shadow disk </a:t>
            </a:r>
            <a:r>
              <a:rPr lang="en-US" dirty="0" err="1"/>
              <a:t>zakaže</a:t>
            </a:r>
            <a:r>
              <a:rPr lang="en-US" dirty="0"/>
              <a:t>, </a:t>
            </a:r>
            <a:r>
              <a:rPr lang="en-US" dirty="0" err="1"/>
              <a:t>cela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se </a:t>
            </a:r>
            <a:r>
              <a:rPr lang="en-US" dirty="0" err="1"/>
              <a:t>zatvara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ga </a:t>
            </a:r>
            <a:r>
              <a:rPr lang="en-US" dirty="0" err="1"/>
              <a:t>čini</a:t>
            </a:r>
            <a:r>
              <a:rPr lang="en-US" dirty="0"/>
              <a:t> </a:t>
            </a:r>
            <a:r>
              <a:rPr lang="en-US" dirty="0" err="1"/>
              <a:t>kritičnim</a:t>
            </a:r>
            <a:r>
              <a:rPr lang="en-US" dirty="0"/>
              <a:t> za </a:t>
            </a:r>
            <a:r>
              <a:rPr lang="en-US" dirty="0" err="1"/>
              <a:t>finansijske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gde</a:t>
            </a:r>
            <a:r>
              <a:rPr lang="en-US" dirty="0"/>
              <a:t> je </a:t>
            </a:r>
            <a:r>
              <a:rPr lang="en-US" dirty="0" err="1"/>
              <a:t>integritet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apsolutno</a:t>
            </a:r>
            <a:r>
              <a:rPr lang="en-US" dirty="0"/>
              <a:t> </a:t>
            </a:r>
            <a:r>
              <a:rPr lang="en-US" dirty="0" err="1"/>
              <a:t>neprihvatljiv</a:t>
            </a:r>
            <a:r>
              <a:rPr lang="en-US" dirty="0"/>
              <a:t> </a:t>
            </a:r>
            <a:r>
              <a:rPr lang="en-US" dirty="0" err="1"/>
              <a:t>kompromis</a:t>
            </a:r>
            <a:r>
              <a:rPr lang="en-US" dirty="0"/>
              <a:t>.</a:t>
            </a:r>
          </a:p>
          <a:p>
            <a:r>
              <a:rPr lang="en-US" b="1" dirty="0"/>
              <a:t>AUTO </a:t>
            </a:r>
            <a:r>
              <a:rPr lang="en-US" b="1" dirty="0" err="1"/>
              <a:t>režim</a:t>
            </a:r>
            <a:r>
              <a:rPr lang="en-US" dirty="0"/>
              <a:t> </a:t>
            </a:r>
            <a:r>
              <a:rPr lang="en-US" dirty="0" err="1"/>
              <a:t>stavlja</a:t>
            </a:r>
            <a:r>
              <a:rPr lang="en-US" dirty="0"/>
              <a:t> </a:t>
            </a:r>
            <a:r>
              <a:rPr lang="en-US" dirty="0" err="1"/>
              <a:t>neprekidni</a:t>
            </a:r>
            <a:r>
              <a:rPr lang="en-US" dirty="0"/>
              <a:t> rad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prioritet</a:t>
            </a:r>
            <a:r>
              <a:rPr lang="en-US" dirty="0"/>
              <a:t> </a:t>
            </a:r>
            <a:r>
              <a:rPr lang="en-US" dirty="0" err="1"/>
              <a:t>iznad</a:t>
            </a:r>
            <a:r>
              <a:rPr lang="en-US" dirty="0"/>
              <a:t> </a:t>
            </a:r>
            <a:r>
              <a:rPr lang="en-US" dirty="0" err="1"/>
              <a:t>redundanse</a:t>
            </a:r>
            <a:r>
              <a:rPr lang="en-US" dirty="0"/>
              <a:t> — </a:t>
            </a:r>
            <a:r>
              <a:rPr lang="en-US" dirty="0" err="1"/>
              <a:t>ako</a:t>
            </a:r>
            <a:r>
              <a:rPr lang="en-US" dirty="0"/>
              <a:t> shadow disk </a:t>
            </a:r>
            <a:r>
              <a:rPr lang="en-US" dirty="0" err="1"/>
              <a:t>zakaže</a:t>
            </a:r>
            <a:r>
              <a:rPr lang="en-US" dirty="0"/>
              <a:t>,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nastavlja</a:t>
            </a:r>
            <a:r>
              <a:rPr lang="en-US" dirty="0"/>
              <a:t> rad bez </a:t>
            </a:r>
            <a:r>
              <a:rPr lang="en-US" dirty="0" err="1"/>
              <a:t>preslikavanja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ga </a:t>
            </a:r>
            <a:r>
              <a:rPr lang="en-US" dirty="0" err="1"/>
              <a:t>čini</a:t>
            </a:r>
            <a:r>
              <a:rPr lang="en-US" dirty="0"/>
              <a:t> </a:t>
            </a:r>
            <a:r>
              <a:rPr lang="en-US" dirty="0" err="1"/>
              <a:t>pogodnim</a:t>
            </a:r>
            <a:r>
              <a:rPr lang="en-US" dirty="0"/>
              <a:t> za dev/test </a:t>
            </a:r>
            <a:r>
              <a:rPr lang="en-US" dirty="0" err="1"/>
              <a:t>okruženja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koji </a:t>
            </a:r>
            <a:r>
              <a:rPr lang="en-US" dirty="0" err="1"/>
              <a:t>koriste</a:t>
            </a:r>
            <a:r>
              <a:rPr lang="en-US" dirty="0"/>
              <a:t> shadow </a:t>
            </a:r>
            <a:r>
              <a:rPr lang="en-US" dirty="0" err="1"/>
              <a:t>kao</a:t>
            </a:r>
            <a:r>
              <a:rPr lang="en-US" dirty="0"/>
              <a:t> backup generator.</a:t>
            </a:r>
          </a:p>
          <a:p>
            <a:r>
              <a:rPr lang="en-US" dirty="0" err="1"/>
              <a:t>Važno</a:t>
            </a:r>
            <a:r>
              <a:rPr lang="en-US" dirty="0"/>
              <a:t> je </a:t>
            </a:r>
            <a:r>
              <a:rPr lang="en-US" dirty="0" err="1"/>
              <a:t>razumeti</a:t>
            </a:r>
            <a:r>
              <a:rPr lang="en-US" dirty="0"/>
              <a:t> </a:t>
            </a:r>
            <a:r>
              <a:rPr lang="en-US" dirty="0" err="1"/>
              <a:t>ograničenja</a:t>
            </a:r>
            <a:r>
              <a:rPr lang="en-US" dirty="0"/>
              <a:t> </a:t>
            </a:r>
            <a:r>
              <a:rPr lang="en-US" dirty="0" err="1"/>
              <a:t>preslikavanja</a:t>
            </a:r>
            <a:r>
              <a:rPr lang="en-US" dirty="0"/>
              <a:t> — oba </a:t>
            </a:r>
            <a:r>
              <a:rPr lang="en-US" dirty="0" err="1"/>
              <a:t>diska</a:t>
            </a:r>
            <a:r>
              <a:rPr lang="en-US" dirty="0"/>
              <a:t> se </a:t>
            </a:r>
            <a:r>
              <a:rPr lang="en-US" dirty="0" err="1"/>
              <a:t>čekaju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uvodi</a:t>
            </a:r>
            <a:r>
              <a:rPr lang="en-US" dirty="0"/>
              <a:t> I/O </a:t>
            </a:r>
            <a:r>
              <a:rPr lang="en-US" dirty="0" err="1"/>
              <a:t>kaznu</a:t>
            </a:r>
            <a:r>
              <a:rPr lang="en-US" dirty="0"/>
              <a:t>, </a:t>
            </a:r>
            <a:r>
              <a:rPr lang="en-US" dirty="0" err="1"/>
              <a:t>radi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LAN </a:t>
            </a:r>
            <a:r>
              <a:rPr lang="en-US" dirty="0" err="1"/>
              <a:t>mreži</a:t>
            </a:r>
            <a:r>
              <a:rPr lang="en-US" dirty="0"/>
              <a:t>, shadow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čitljiv</a:t>
            </a:r>
            <a:r>
              <a:rPr lang="en-US" dirty="0"/>
              <a:t> </a:t>
            </a:r>
            <a:r>
              <a:rPr lang="en-US" dirty="0" err="1"/>
              <a:t>dok</a:t>
            </a:r>
            <a:r>
              <a:rPr lang="en-US" dirty="0"/>
              <a:t> je </a:t>
            </a:r>
            <a:r>
              <a:rPr lang="en-US" dirty="0" err="1"/>
              <a:t>aktivan</a:t>
            </a:r>
            <a:r>
              <a:rPr lang="en-US" dirty="0"/>
              <a:t>, oba </a:t>
            </a:r>
            <a:r>
              <a:rPr lang="en-US" dirty="0" err="1"/>
              <a:t>servera</a:t>
            </a:r>
            <a:r>
              <a:rPr lang="en-US" dirty="0"/>
              <a:t> </a:t>
            </a:r>
            <a:r>
              <a:rPr lang="en-US" dirty="0" err="1"/>
              <a:t>moraju</a:t>
            </a:r>
            <a:r>
              <a:rPr lang="en-US" dirty="0"/>
              <a:t> </a:t>
            </a:r>
            <a:r>
              <a:rPr lang="en-US" dirty="0" err="1"/>
              <a:t>imati</a:t>
            </a:r>
            <a:r>
              <a:rPr lang="en-US" dirty="0"/>
              <a:t> </a:t>
            </a:r>
            <a:r>
              <a:rPr lang="en-US" dirty="0" err="1"/>
              <a:t>identičnu</a:t>
            </a:r>
            <a:r>
              <a:rPr lang="en-US" dirty="0"/>
              <a:t> ODS </a:t>
            </a:r>
            <a:r>
              <a:rPr lang="en-US" dirty="0" err="1"/>
              <a:t>verziju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ne </a:t>
            </a:r>
            <a:r>
              <a:rPr lang="en-US" dirty="0" err="1"/>
              <a:t>postoji</a:t>
            </a:r>
            <a:r>
              <a:rPr lang="en-US" dirty="0"/>
              <a:t> </a:t>
            </a:r>
            <a:r>
              <a:rPr lang="en-US" dirty="0" err="1"/>
              <a:t>raspodela</a:t>
            </a:r>
            <a:r>
              <a:rPr lang="en-US" dirty="0"/>
              <a:t> </a:t>
            </a:r>
            <a:r>
              <a:rPr lang="en-US" dirty="0" err="1"/>
              <a:t>opterećenja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primarnog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shadow </a:t>
            </a:r>
            <a:r>
              <a:rPr lang="en-US" dirty="0" err="1"/>
              <a:t>diska</a:t>
            </a:r>
            <a:r>
              <a:rPr lang="en-US" dirty="0"/>
              <a:t>.</a:t>
            </a:r>
          </a:p>
          <a:p>
            <a:r>
              <a:rPr lang="en-US" dirty="0" err="1"/>
              <a:t>Ključna</a:t>
            </a:r>
            <a:r>
              <a:rPr lang="en-US" dirty="0"/>
              <a:t> </a:t>
            </a:r>
            <a:r>
              <a:rPr lang="en-US" dirty="0" err="1"/>
              <a:t>razlika</a:t>
            </a:r>
            <a:r>
              <a:rPr lang="en-US" dirty="0"/>
              <a:t> u </a:t>
            </a:r>
            <a:r>
              <a:rPr lang="en-US" dirty="0" err="1"/>
              <a:t>odnosu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replikaciju</a:t>
            </a:r>
            <a:r>
              <a:rPr lang="en-US" dirty="0"/>
              <a:t> je da mirroring </a:t>
            </a:r>
            <a:r>
              <a:rPr lang="en-US" dirty="0" err="1"/>
              <a:t>operišena</a:t>
            </a:r>
            <a:r>
              <a:rPr lang="en-US" dirty="0"/>
              <a:t> </a:t>
            </a:r>
            <a:r>
              <a:rPr lang="en-US" dirty="0" err="1"/>
              <a:t>fizičkom</a:t>
            </a:r>
            <a:r>
              <a:rPr lang="en-US" dirty="0"/>
              <a:t> </a:t>
            </a:r>
            <a:r>
              <a:rPr lang="en-US" dirty="0" err="1"/>
              <a:t>nivou</a:t>
            </a:r>
            <a:r>
              <a:rPr lang="en-US" dirty="0"/>
              <a:t> </a:t>
            </a:r>
            <a:r>
              <a:rPr lang="en-US" dirty="0" err="1"/>
              <a:t>stranica</a:t>
            </a:r>
            <a:r>
              <a:rPr lang="en-US" dirty="0"/>
              <a:t>, ne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nivou</a:t>
            </a:r>
            <a:r>
              <a:rPr lang="en-US" dirty="0"/>
              <a:t> SQL </a:t>
            </a:r>
            <a:r>
              <a:rPr lang="en-US" dirty="0" err="1"/>
              <a:t>naredbi</a:t>
            </a:r>
            <a:r>
              <a:rPr lang="en-US" dirty="0"/>
              <a:t> —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znači</a:t>
            </a:r>
            <a:r>
              <a:rPr lang="en-US" dirty="0"/>
              <a:t> da je shadow </a:t>
            </a:r>
            <a:r>
              <a:rPr lang="en-US" dirty="0" err="1"/>
              <a:t>uvek</a:t>
            </a:r>
            <a:r>
              <a:rPr lang="en-US" dirty="0"/>
              <a:t> </a:t>
            </a:r>
            <a:r>
              <a:rPr lang="en-US" dirty="0" err="1"/>
              <a:t>identična</a:t>
            </a:r>
            <a:r>
              <a:rPr lang="en-US" dirty="0"/>
              <a:t> </a:t>
            </a:r>
            <a:r>
              <a:rPr lang="en-US" dirty="0" err="1"/>
              <a:t>binarna</a:t>
            </a:r>
            <a:r>
              <a:rPr lang="en-US" dirty="0"/>
              <a:t> </a:t>
            </a:r>
            <a:r>
              <a:rPr lang="en-US" dirty="0" err="1"/>
              <a:t>kopija</a:t>
            </a:r>
            <a:r>
              <a:rPr lang="en-US" dirty="0"/>
              <a:t> </a:t>
            </a:r>
            <a:r>
              <a:rPr lang="en-US" dirty="0" err="1"/>
              <a:t>primarnog</a:t>
            </a:r>
            <a:r>
              <a:rPr lang="en-US" dirty="0"/>
              <a:t> </a:t>
            </a:r>
            <a:r>
              <a:rPr lang="en-US" dirty="0" err="1"/>
              <a:t>diska</a:t>
            </a:r>
            <a:r>
              <a:rPr lang="en-US" dirty="0"/>
              <a:t> u </a:t>
            </a:r>
            <a:r>
              <a:rPr lang="en-US" dirty="0" err="1"/>
              <a:t>realnom</a:t>
            </a:r>
            <a:r>
              <a:rPr lang="en-US" dirty="0"/>
              <a:t> </a:t>
            </a:r>
            <a:r>
              <a:rPr lang="en-US" dirty="0" err="1"/>
              <a:t>vremenu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"Firebird 4.0 je </a:t>
            </a:r>
            <a:r>
              <a:rPr lang="en-US" dirty="0" err="1"/>
              <a:t>uveo</a:t>
            </a:r>
            <a:r>
              <a:rPr lang="en-US" dirty="0"/>
              <a:t> </a:t>
            </a:r>
            <a:r>
              <a:rPr lang="en-US" dirty="0" err="1"/>
              <a:t>prvu</a:t>
            </a:r>
            <a:r>
              <a:rPr lang="en-US" dirty="0"/>
              <a:t> </a:t>
            </a:r>
            <a:r>
              <a:rPr lang="en-US" dirty="0" err="1"/>
              <a:t>nativnu</a:t>
            </a:r>
            <a:r>
              <a:rPr lang="en-US" dirty="0"/>
              <a:t> </a:t>
            </a:r>
            <a:r>
              <a:rPr lang="en-US" dirty="0" err="1"/>
              <a:t>binarnu</a:t>
            </a:r>
            <a:r>
              <a:rPr lang="en-US" dirty="0"/>
              <a:t> </a:t>
            </a:r>
            <a:r>
              <a:rPr lang="en-US" dirty="0" err="1"/>
              <a:t>replikaciju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znači</a:t>
            </a:r>
            <a:r>
              <a:rPr lang="en-US" dirty="0"/>
              <a:t> da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nisu</a:t>
            </a:r>
            <a:r>
              <a:rPr lang="en-US" dirty="0"/>
              <a:t> </a:t>
            </a:r>
            <a:r>
              <a:rPr lang="en-US" dirty="0" err="1"/>
              <a:t>potrebni</a:t>
            </a:r>
            <a:r>
              <a:rPr lang="en-US" dirty="0"/>
              <a:t> </a:t>
            </a:r>
            <a:r>
              <a:rPr lang="en-US" dirty="0" err="1"/>
              <a:t>alati</a:t>
            </a:r>
            <a:r>
              <a:rPr lang="en-US" dirty="0"/>
              <a:t> </a:t>
            </a:r>
            <a:r>
              <a:rPr lang="en-US" dirty="0" err="1"/>
              <a:t>trećih</a:t>
            </a:r>
            <a:r>
              <a:rPr lang="en-US" dirty="0"/>
              <a:t> </a:t>
            </a:r>
            <a:r>
              <a:rPr lang="en-US" dirty="0" err="1"/>
              <a:t>strana</a:t>
            </a:r>
            <a:r>
              <a:rPr lang="en-US" dirty="0"/>
              <a:t> </a:t>
            </a:r>
            <a:r>
              <a:rPr lang="en-US" dirty="0" err="1"/>
              <a:t>niti</a:t>
            </a:r>
            <a:r>
              <a:rPr lang="en-US" dirty="0"/>
              <a:t> </a:t>
            </a:r>
            <a:r>
              <a:rPr lang="en-US" dirty="0" err="1"/>
              <a:t>ručno</a:t>
            </a:r>
            <a:r>
              <a:rPr lang="en-US" dirty="0"/>
              <a:t> </a:t>
            </a:r>
            <a:r>
              <a:rPr lang="en-US" dirty="0" err="1"/>
              <a:t>pisani</a:t>
            </a:r>
            <a:r>
              <a:rPr lang="en-US" dirty="0"/>
              <a:t> </a:t>
            </a:r>
            <a:r>
              <a:rPr lang="en-US" dirty="0" err="1"/>
              <a:t>trigeri</a:t>
            </a:r>
            <a:r>
              <a:rPr lang="en-US" dirty="0"/>
              <a:t>.</a:t>
            </a:r>
          </a:p>
          <a:p>
            <a:r>
              <a:rPr lang="en-US" dirty="0"/>
              <a:t>Ceo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funkcioniše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lanac</a:t>
            </a:r>
            <a:r>
              <a:rPr lang="en-US" dirty="0"/>
              <a:t> od pet </a:t>
            </a:r>
            <a:r>
              <a:rPr lang="en-US" dirty="0" err="1"/>
              <a:t>koraka</a:t>
            </a:r>
            <a:r>
              <a:rPr lang="en-US" dirty="0"/>
              <a:t>. Kada </a:t>
            </a:r>
            <a:r>
              <a:rPr lang="en-US" dirty="0" err="1"/>
              <a:t>korisnik</a:t>
            </a:r>
            <a:r>
              <a:rPr lang="en-US" dirty="0"/>
              <a:t> </a:t>
            </a:r>
            <a:r>
              <a:rPr lang="en-US" dirty="0" err="1"/>
              <a:t>uradi</a:t>
            </a:r>
            <a:r>
              <a:rPr lang="en-US" dirty="0"/>
              <a:t> commit </a:t>
            </a:r>
            <a:r>
              <a:rPr lang="en-US" dirty="0" err="1"/>
              <a:t>na</a:t>
            </a:r>
            <a:r>
              <a:rPr lang="en-US" dirty="0"/>
              <a:t> master </a:t>
            </a:r>
            <a:r>
              <a:rPr lang="en-US" dirty="0" err="1"/>
              <a:t>bazi</a:t>
            </a:r>
            <a:r>
              <a:rPr lang="en-US" dirty="0"/>
              <a:t>, </a:t>
            </a:r>
            <a:r>
              <a:rPr lang="en-US" dirty="0" err="1"/>
              <a:t>promene</a:t>
            </a:r>
            <a:r>
              <a:rPr lang="en-US" dirty="0"/>
              <a:t> se ne </a:t>
            </a:r>
            <a:r>
              <a:rPr lang="en-US" dirty="0" err="1"/>
              <a:t>šalju</a:t>
            </a:r>
            <a:r>
              <a:rPr lang="en-US" dirty="0"/>
              <a:t> </a:t>
            </a:r>
            <a:r>
              <a:rPr lang="en-US" dirty="0" err="1"/>
              <a:t>odmah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slave. </a:t>
            </a:r>
            <a:r>
              <a:rPr lang="en-US" dirty="0" err="1"/>
              <a:t>Umesto</a:t>
            </a:r>
            <a:r>
              <a:rPr lang="en-US" dirty="0"/>
              <a:t> toga, one se </a:t>
            </a:r>
            <a:r>
              <a:rPr lang="en-US" dirty="0" err="1"/>
              <a:t>prvo</a:t>
            </a:r>
            <a:r>
              <a:rPr lang="en-US" dirty="0"/>
              <a:t> </a:t>
            </a:r>
            <a:r>
              <a:rPr lang="en-US" dirty="0" err="1"/>
              <a:t>akumuliraju</a:t>
            </a:r>
            <a:r>
              <a:rPr lang="en-US" dirty="0"/>
              <a:t> u Journal </a:t>
            </a:r>
            <a:r>
              <a:rPr lang="en-US" dirty="0" err="1"/>
              <a:t>direktorijumu</a:t>
            </a:r>
            <a:r>
              <a:rPr lang="en-US" dirty="0"/>
              <a:t> — to je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radni</a:t>
            </a:r>
            <a:r>
              <a:rPr lang="en-US" dirty="0"/>
              <a:t> </a:t>
            </a:r>
            <a:r>
              <a:rPr lang="en-US" dirty="0" err="1"/>
              <a:t>sto</a:t>
            </a:r>
            <a:r>
              <a:rPr lang="en-US" dirty="0"/>
              <a:t> </a:t>
            </a:r>
            <a:r>
              <a:rPr lang="en-US" dirty="0" err="1"/>
              <a:t>gde</a:t>
            </a:r>
            <a:r>
              <a:rPr lang="en-US" dirty="0"/>
              <a:t> se </a:t>
            </a:r>
            <a:r>
              <a:rPr lang="en-US" dirty="0" err="1"/>
              <a:t>skupljaju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beleške</a:t>
            </a:r>
            <a:r>
              <a:rPr lang="en-US" dirty="0"/>
              <a:t> </a:t>
            </a:r>
            <a:r>
              <a:rPr lang="en-US" dirty="0" err="1"/>
              <a:t>dok</a:t>
            </a:r>
            <a:r>
              <a:rPr lang="en-US" dirty="0"/>
              <a:t> se ne </a:t>
            </a:r>
            <a:r>
              <a:rPr lang="en-US" dirty="0" err="1"/>
              <a:t>napuni</a:t>
            </a:r>
            <a:r>
              <a:rPr lang="en-US" dirty="0"/>
              <a:t> buffer. Kada se buffer </a:t>
            </a:r>
            <a:r>
              <a:rPr lang="en-US" dirty="0" err="1"/>
              <a:t>napuni</a:t>
            </a:r>
            <a:r>
              <a:rPr lang="en-US" dirty="0"/>
              <a:t>,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istekne</a:t>
            </a:r>
            <a:r>
              <a:rPr lang="en-US" dirty="0"/>
              <a:t> </a:t>
            </a:r>
            <a:r>
              <a:rPr lang="en-US" dirty="0" err="1"/>
              <a:t>journal_archive_timeout</a:t>
            </a:r>
            <a:r>
              <a:rPr lang="en-US" dirty="0"/>
              <a:t>, segment se </a:t>
            </a:r>
            <a:r>
              <a:rPr lang="en-US" dirty="0" err="1"/>
              <a:t>ispisuje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disk.</a:t>
            </a:r>
          </a:p>
          <a:p>
            <a:r>
              <a:rPr lang="en-US" dirty="0" err="1"/>
              <a:t>Popunjeni</a:t>
            </a:r>
            <a:r>
              <a:rPr lang="en-US" dirty="0"/>
              <a:t> segment se </a:t>
            </a:r>
            <a:r>
              <a:rPr lang="en-US" dirty="0" err="1"/>
              <a:t>zatim</a:t>
            </a:r>
            <a:r>
              <a:rPr lang="en-US" dirty="0"/>
              <a:t> </a:t>
            </a:r>
            <a:r>
              <a:rPr lang="en-US" dirty="0" err="1"/>
              <a:t>premešta</a:t>
            </a:r>
            <a:r>
              <a:rPr lang="en-US" dirty="0"/>
              <a:t> u Archive </a:t>
            </a:r>
            <a:r>
              <a:rPr lang="en-US" dirty="0" err="1"/>
              <a:t>direktorijum</a:t>
            </a:r>
            <a:r>
              <a:rPr lang="en-US" dirty="0"/>
              <a:t> — to je </a:t>
            </a:r>
            <a:r>
              <a:rPr lang="en-US" dirty="0" err="1"/>
              <a:t>fascikla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gotovim</a:t>
            </a:r>
            <a:r>
              <a:rPr lang="en-US" dirty="0"/>
              <a:t> </a:t>
            </a:r>
            <a:r>
              <a:rPr lang="en-US" dirty="0" err="1"/>
              <a:t>beleškama</a:t>
            </a:r>
            <a:r>
              <a:rPr lang="en-US" dirty="0"/>
              <a:t>. </a:t>
            </a:r>
            <a:r>
              <a:rPr lang="en-US" dirty="0" err="1"/>
              <a:t>Replikacioni</a:t>
            </a:r>
            <a:r>
              <a:rPr lang="en-US" dirty="0"/>
              <a:t> agent, koji je </a:t>
            </a:r>
            <a:r>
              <a:rPr lang="en-US" dirty="0" err="1"/>
              <a:t>ugrađen</a:t>
            </a:r>
            <a:r>
              <a:rPr lang="en-US" dirty="0"/>
              <a:t> deo Firebird engine-a, </a:t>
            </a:r>
            <a:r>
              <a:rPr lang="en-US" dirty="0" err="1"/>
              <a:t>kontinuirano</a:t>
            </a:r>
            <a:r>
              <a:rPr lang="en-US" dirty="0"/>
              <a:t> </a:t>
            </a:r>
            <a:r>
              <a:rPr lang="en-US" dirty="0" err="1"/>
              <a:t>skenira</a:t>
            </a:r>
            <a:r>
              <a:rPr lang="en-US" dirty="0"/>
              <a:t> taj Archive folder. </a:t>
            </a:r>
            <a:r>
              <a:rPr lang="en-US" dirty="0" err="1"/>
              <a:t>Čim</a:t>
            </a:r>
            <a:r>
              <a:rPr lang="en-US" dirty="0"/>
              <a:t> </a:t>
            </a:r>
            <a:r>
              <a:rPr lang="en-US" dirty="0" err="1"/>
              <a:t>pronađe</a:t>
            </a:r>
            <a:r>
              <a:rPr lang="en-US" dirty="0"/>
              <a:t> novi segment, </a:t>
            </a:r>
            <a:r>
              <a:rPr lang="en-US" dirty="0" err="1"/>
              <a:t>preuzima</a:t>
            </a:r>
            <a:r>
              <a:rPr lang="en-US" dirty="0"/>
              <a:t> ga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primenjuje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slave </a:t>
            </a:r>
            <a:r>
              <a:rPr lang="en-US" dirty="0" err="1"/>
              <a:t>bazu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SQL replay — </a:t>
            </a:r>
            <a:r>
              <a:rPr lang="en-US" dirty="0" err="1"/>
              <a:t>reprodukuje</a:t>
            </a:r>
            <a:r>
              <a:rPr lang="en-US" dirty="0"/>
              <a:t> </a:t>
            </a:r>
            <a:r>
              <a:rPr lang="en-US" dirty="0" err="1"/>
              <a:t>svaku</a:t>
            </a:r>
            <a:r>
              <a:rPr lang="en-US" dirty="0"/>
              <a:t> </a:t>
            </a:r>
            <a:r>
              <a:rPr lang="en-US" dirty="0" err="1"/>
              <a:t>promenu</a:t>
            </a:r>
            <a:r>
              <a:rPr lang="en-US" dirty="0"/>
              <a:t> </a:t>
            </a:r>
            <a:r>
              <a:rPr lang="en-US" dirty="0" err="1"/>
              <a:t>redom</a:t>
            </a:r>
            <a:r>
              <a:rPr lang="en-US" dirty="0"/>
              <a:t>.</a:t>
            </a:r>
          </a:p>
          <a:p>
            <a:r>
              <a:rPr lang="en-US" dirty="0"/>
              <a:t>Slave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pri</a:t>
            </a:r>
            <a:r>
              <a:rPr lang="en-US" dirty="0"/>
              <a:t> tome </a:t>
            </a:r>
            <a:r>
              <a:rPr lang="en-US" dirty="0" err="1"/>
              <a:t>prihvata</a:t>
            </a:r>
            <a:r>
              <a:rPr lang="en-US" dirty="0"/>
              <a:t> </a:t>
            </a:r>
            <a:r>
              <a:rPr lang="en-US" dirty="0" err="1"/>
              <a:t>segmente</a:t>
            </a:r>
            <a:r>
              <a:rPr lang="en-US" dirty="0"/>
              <a:t> </a:t>
            </a:r>
            <a:r>
              <a:rPr lang="en-US" dirty="0" err="1"/>
              <a:t>isključivo</a:t>
            </a:r>
            <a:r>
              <a:rPr lang="en-US" dirty="0"/>
              <a:t> od </a:t>
            </a:r>
            <a:r>
              <a:rPr lang="en-US" dirty="0" err="1"/>
              <a:t>mastera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tačno</a:t>
            </a:r>
            <a:r>
              <a:rPr lang="en-US" dirty="0"/>
              <a:t> </a:t>
            </a:r>
            <a:r>
              <a:rPr lang="en-US" dirty="0" err="1"/>
              <a:t>određenim</a:t>
            </a:r>
            <a:r>
              <a:rPr lang="en-US" dirty="0"/>
              <a:t> Source GUID-</a:t>
            </a:r>
            <a:r>
              <a:rPr lang="en-US" dirty="0" err="1"/>
              <a:t>om.</a:t>
            </a:r>
            <a:r>
              <a:rPr lang="en-US" dirty="0"/>
              <a:t> Ovo je </a:t>
            </a:r>
            <a:r>
              <a:rPr lang="en-US" dirty="0" err="1"/>
              <a:t>sigurnosni</a:t>
            </a:r>
            <a:r>
              <a:rPr lang="en-US" dirty="0"/>
              <a:t> </a:t>
            </a:r>
            <a:r>
              <a:rPr lang="en-US" dirty="0" err="1"/>
              <a:t>mehanizam</a:t>
            </a:r>
            <a:r>
              <a:rPr lang="en-US" dirty="0"/>
              <a:t> koji </a:t>
            </a:r>
            <a:r>
              <a:rPr lang="en-US" dirty="0" err="1"/>
              <a:t>sprečava</a:t>
            </a:r>
            <a:r>
              <a:rPr lang="en-US" dirty="0"/>
              <a:t> da slave </a:t>
            </a:r>
            <a:r>
              <a:rPr lang="en-US" dirty="0" err="1"/>
              <a:t>slučajno</a:t>
            </a:r>
            <a:r>
              <a:rPr lang="en-US" dirty="0"/>
              <a:t> </a:t>
            </a:r>
            <a:r>
              <a:rPr lang="en-US" dirty="0" err="1"/>
              <a:t>primi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pogrešnog</a:t>
            </a:r>
            <a:r>
              <a:rPr lang="en-US" dirty="0"/>
              <a:t> </a:t>
            </a:r>
            <a:r>
              <a:rPr lang="en-US" dirty="0" err="1"/>
              <a:t>servera</a:t>
            </a:r>
            <a:r>
              <a:rPr lang="en-US" dirty="0"/>
              <a:t>. </a:t>
            </a:r>
            <a:r>
              <a:rPr lang="en-US" dirty="0" err="1"/>
              <a:t>Ključna</a:t>
            </a:r>
            <a:r>
              <a:rPr lang="en-US" dirty="0"/>
              <a:t> </a:t>
            </a:r>
            <a:r>
              <a:rPr lang="en-US" dirty="0" err="1"/>
              <a:t>prednost</a:t>
            </a:r>
            <a:r>
              <a:rPr lang="en-US" dirty="0"/>
              <a:t> </a:t>
            </a:r>
            <a:r>
              <a:rPr lang="en-US" dirty="0" err="1"/>
              <a:t>ovog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je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journal_archive_timeout</a:t>
            </a:r>
            <a:r>
              <a:rPr lang="en-US" dirty="0"/>
              <a:t> </a:t>
            </a:r>
            <a:r>
              <a:rPr lang="en-US" dirty="0" err="1"/>
              <a:t>parametar</a:t>
            </a:r>
            <a:r>
              <a:rPr lang="en-US" dirty="0"/>
              <a:t> </a:t>
            </a:r>
            <a:r>
              <a:rPr lang="en-US" dirty="0" err="1"/>
              <a:t>garantuje</a:t>
            </a:r>
            <a:r>
              <a:rPr lang="en-US" dirty="0"/>
              <a:t> da </a:t>
            </a:r>
            <a:r>
              <a:rPr lang="en-US" dirty="0" err="1"/>
              <a:t>čak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buffer </a:t>
            </a:r>
            <a:r>
              <a:rPr lang="en-US" dirty="0" err="1"/>
              <a:t>nije</a:t>
            </a:r>
            <a:r>
              <a:rPr lang="en-US" dirty="0"/>
              <a:t> pun, </a:t>
            </a:r>
            <a:r>
              <a:rPr lang="en-US" dirty="0" err="1"/>
              <a:t>podaci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poslati</a:t>
            </a:r>
            <a:r>
              <a:rPr lang="en-US" dirty="0"/>
              <a:t>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definisanog</a:t>
            </a:r>
            <a:r>
              <a:rPr lang="en-US" dirty="0"/>
              <a:t> </a:t>
            </a:r>
            <a:r>
              <a:rPr lang="en-US" dirty="0" err="1"/>
              <a:t>broja</a:t>
            </a:r>
            <a:r>
              <a:rPr lang="en-US" dirty="0"/>
              <a:t> </a:t>
            </a:r>
            <a:r>
              <a:rPr lang="en-US" dirty="0" err="1"/>
              <a:t>sekundi</a:t>
            </a:r>
            <a:r>
              <a:rPr lang="en-US" dirty="0"/>
              <a:t> —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</a:t>
            </a:r>
            <a:r>
              <a:rPr lang="en-US" dirty="0" err="1"/>
              <a:t>kontroliše</a:t>
            </a:r>
            <a:r>
              <a:rPr lang="en-US" dirty="0"/>
              <a:t> </a:t>
            </a:r>
            <a:r>
              <a:rPr lang="en-US" dirty="0" err="1"/>
              <a:t>koliko</a:t>
            </a:r>
            <a:r>
              <a:rPr lang="en-US" dirty="0"/>
              <a:t> slave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zaostajati</a:t>
            </a:r>
            <a:r>
              <a:rPr lang="en-US" dirty="0"/>
              <a:t> za </a:t>
            </a:r>
            <a:r>
              <a:rPr lang="en-US" dirty="0" err="1"/>
              <a:t>masterom</a:t>
            </a:r>
            <a:r>
              <a:rPr lang="en-US"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Izbor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sinhrona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asinhrona</a:t>
            </a:r>
            <a:r>
              <a:rPr lang="en-US" dirty="0"/>
              <a:t> </a:t>
            </a:r>
            <a:r>
              <a:rPr lang="en-US" dirty="0" err="1"/>
              <a:t>replikacije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fundamentalni</a:t>
            </a:r>
            <a:r>
              <a:rPr lang="en-US" dirty="0"/>
              <a:t> </a:t>
            </a:r>
            <a:r>
              <a:rPr lang="en-US" dirty="0" err="1"/>
              <a:t>kompromis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garantovane</a:t>
            </a:r>
            <a:r>
              <a:rPr lang="en-US" dirty="0"/>
              <a:t> </a:t>
            </a:r>
            <a:r>
              <a:rPr lang="en-US" dirty="0" err="1"/>
              <a:t>konzistentnosti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brzine</a:t>
            </a:r>
            <a:r>
              <a:rPr lang="en-US" dirty="0"/>
              <a:t> rada </a:t>
            </a:r>
            <a:r>
              <a:rPr lang="en-US" dirty="0" err="1"/>
              <a:t>sistema</a:t>
            </a:r>
            <a:r>
              <a:rPr lang="en-US" dirty="0"/>
              <a:t>.</a:t>
            </a:r>
          </a:p>
          <a:p>
            <a:r>
              <a:rPr lang="en-US" b="1" dirty="0" err="1"/>
              <a:t>Sinhroni</a:t>
            </a:r>
            <a:r>
              <a:rPr lang="en-US" b="1" dirty="0"/>
              <a:t> </a:t>
            </a:r>
            <a:r>
              <a:rPr lang="en-US" b="1" dirty="0" err="1"/>
              <a:t>režim</a:t>
            </a:r>
            <a:r>
              <a:rPr lang="en-US" dirty="0"/>
              <a:t> </a:t>
            </a:r>
            <a:r>
              <a:rPr lang="en-US" dirty="0" err="1"/>
              <a:t>garantuje</a:t>
            </a:r>
            <a:r>
              <a:rPr lang="en-US" dirty="0"/>
              <a:t> Zero Data Loss (RPO = 0 </a:t>
            </a:r>
            <a:r>
              <a:rPr lang="en-US" b="1" dirty="0"/>
              <a:t>RPO = Recovery Point Objective</a:t>
            </a:r>
            <a:r>
              <a:rPr lang="en-US" b="0" dirty="0"/>
              <a:t> -</a:t>
            </a:r>
            <a:r>
              <a:rPr lang="en-US" b="1" dirty="0"/>
              <a:t>"Koliko </a:t>
            </a:r>
            <a:r>
              <a:rPr lang="en-US" b="1" dirty="0" err="1"/>
              <a:t>podataka</a:t>
            </a:r>
            <a:r>
              <a:rPr lang="en-US" b="1" dirty="0"/>
              <a:t> </a:t>
            </a:r>
            <a:r>
              <a:rPr lang="en-US" b="1" dirty="0" err="1"/>
              <a:t>mogu</a:t>
            </a:r>
            <a:r>
              <a:rPr lang="en-US" b="1" dirty="0"/>
              <a:t> </a:t>
            </a:r>
            <a:r>
              <a:rPr lang="en-US" b="1" dirty="0" err="1"/>
              <a:t>izgubiti</a:t>
            </a:r>
            <a:r>
              <a:rPr lang="en-US" b="1" dirty="0"/>
              <a:t> u </a:t>
            </a:r>
            <a:r>
              <a:rPr lang="en-US" b="1" dirty="0" err="1"/>
              <a:t>najgorem</a:t>
            </a:r>
            <a:r>
              <a:rPr lang="en-US" b="1" dirty="0"/>
              <a:t> </a:t>
            </a:r>
            <a:r>
              <a:rPr lang="en-US" b="1" dirty="0" err="1"/>
              <a:t>slučaju</a:t>
            </a:r>
            <a:r>
              <a:rPr lang="en-US" b="1" dirty="0"/>
              <a:t>?</a:t>
            </a:r>
            <a:r>
              <a:rPr lang="en-US" dirty="0"/>
              <a:t>) — master </a:t>
            </a:r>
            <a:r>
              <a:rPr lang="en-US" dirty="0" err="1"/>
              <a:t>čeka</a:t>
            </a:r>
            <a:r>
              <a:rPr lang="en-US" dirty="0"/>
              <a:t> </a:t>
            </a:r>
            <a:r>
              <a:rPr lang="en-US" dirty="0" err="1"/>
              <a:t>potvrdu</a:t>
            </a:r>
            <a:r>
              <a:rPr lang="en-US" dirty="0"/>
              <a:t> slave-a pre </a:t>
            </a:r>
            <a:r>
              <a:rPr lang="en-US" dirty="0" err="1"/>
              <a:t>odgovora</a:t>
            </a:r>
            <a:r>
              <a:rPr lang="en-US" dirty="0"/>
              <a:t> </a:t>
            </a:r>
            <a:r>
              <a:rPr lang="en-US" dirty="0" err="1"/>
              <a:t>korisniku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znači</a:t>
            </a:r>
            <a:r>
              <a:rPr lang="en-US" dirty="0"/>
              <a:t> </a:t>
            </a:r>
            <a:r>
              <a:rPr lang="en-US" dirty="0" err="1"/>
              <a:t>apsolutnu</a:t>
            </a:r>
            <a:r>
              <a:rPr lang="en-US" dirty="0"/>
              <a:t> </a:t>
            </a:r>
            <a:r>
              <a:rPr lang="en-US" dirty="0" err="1"/>
              <a:t>identičnost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master </a:t>
            </a:r>
            <a:r>
              <a:rPr lang="en-US" dirty="0" err="1"/>
              <a:t>i</a:t>
            </a:r>
            <a:r>
              <a:rPr lang="en-US" dirty="0"/>
              <a:t> slave </a:t>
            </a:r>
            <a:r>
              <a:rPr lang="en-US" dirty="0" err="1"/>
              <a:t>baze</a:t>
            </a:r>
            <a:r>
              <a:rPr lang="en-US" dirty="0"/>
              <a:t> u </a:t>
            </a:r>
            <a:r>
              <a:rPr lang="en-US" dirty="0" err="1"/>
              <a:t>svakom</a:t>
            </a:r>
            <a:r>
              <a:rPr lang="en-US" dirty="0"/>
              <a:t> </a:t>
            </a:r>
            <a:r>
              <a:rPr lang="en-US" dirty="0" err="1"/>
              <a:t>trenutku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latencija</a:t>
            </a:r>
            <a:r>
              <a:rPr lang="en-US" dirty="0"/>
              <a:t> </a:t>
            </a:r>
            <a:r>
              <a:rPr lang="en-US" dirty="0" err="1"/>
              <a:t>upisa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latencije</a:t>
            </a:r>
            <a:r>
              <a:rPr lang="en-US" dirty="0"/>
              <a:t> </a:t>
            </a:r>
            <a:r>
              <a:rPr lang="en-US" dirty="0" err="1"/>
              <a:t>mreže</a:t>
            </a:r>
            <a:r>
              <a:rPr lang="en-US" dirty="0"/>
              <a:t>, pa se </a:t>
            </a:r>
            <a:r>
              <a:rPr lang="en-US" dirty="0" err="1"/>
              <a:t>preporučuje</a:t>
            </a:r>
            <a:r>
              <a:rPr lang="en-US" dirty="0"/>
              <a:t> </a:t>
            </a:r>
            <a:r>
              <a:rPr lang="en-US" dirty="0" err="1"/>
              <a:t>isključivo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gigabit LAN-u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direktnom</a:t>
            </a:r>
            <a:r>
              <a:rPr lang="en-US" dirty="0"/>
              <a:t> </a:t>
            </a:r>
            <a:r>
              <a:rPr lang="en-US" dirty="0" err="1"/>
              <a:t>linku</a:t>
            </a:r>
            <a:r>
              <a:rPr lang="en-US" dirty="0"/>
              <a:t>.</a:t>
            </a:r>
          </a:p>
          <a:p>
            <a:r>
              <a:rPr lang="en-US" b="1" dirty="0" err="1"/>
              <a:t>Asinhroni</a:t>
            </a:r>
            <a:r>
              <a:rPr lang="en-US" b="1" dirty="0"/>
              <a:t> </a:t>
            </a:r>
            <a:r>
              <a:rPr lang="en-US" b="1" dirty="0" err="1"/>
              <a:t>režim</a:t>
            </a:r>
            <a:r>
              <a:rPr lang="en-US" dirty="0"/>
              <a:t> </a:t>
            </a:r>
            <a:r>
              <a:rPr lang="en-US" dirty="0" err="1"/>
              <a:t>stavlja</a:t>
            </a:r>
            <a:r>
              <a:rPr lang="en-US" dirty="0"/>
              <a:t> </a:t>
            </a:r>
            <a:r>
              <a:rPr lang="en-US" dirty="0" err="1"/>
              <a:t>brzinu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prioritet</a:t>
            </a:r>
            <a:r>
              <a:rPr lang="en-US" dirty="0"/>
              <a:t> — master </a:t>
            </a:r>
            <a:r>
              <a:rPr lang="en-US" dirty="0" err="1"/>
              <a:t>upisuje</a:t>
            </a:r>
            <a:r>
              <a:rPr lang="en-US" dirty="0"/>
              <a:t> </a:t>
            </a:r>
            <a:r>
              <a:rPr lang="en-US" dirty="0" err="1"/>
              <a:t>lokalno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šalje</a:t>
            </a:r>
            <a:r>
              <a:rPr lang="en-US" dirty="0"/>
              <a:t> log u </a:t>
            </a:r>
            <a:r>
              <a:rPr lang="en-US" dirty="0" err="1"/>
              <a:t>pozadini</a:t>
            </a:r>
            <a:r>
              <a:rPr lang="en-US" dirty="0"/>
              <a:t> bez </a:t>
            </a:r>
            <a:r>
              <a:rPr lang="en-US" dirty="0" err="1"/>
              <a:t>čekanja</a:t>
            </a:r>
            <a:r>
              <a:rPr lang="en-US" dirty="0"/>
              <a:t>, </a:t>
            </a:r>
            <a:r>
              <a:rPr lang="en-US" dirty="0" err="1"/>
              <a:t>čime</a:t>
            </a:r>
            <a:r>
              <a:rPr lang="en-US" dirty="0"/>
              <a:t> se </a:t>
            </a:r>
            <a:r>
              <a:rPr lang="en-US" dirty="0" err="1"/>
              <a:t>postiže</a:t>
            </a:r>
            <a:r>
              <a:rPr lang="en-US" dirty="0"/>
              <a:t> </a:t>
            </a:r>
            <a:r>
              <a:rPr lang="en-US" dirty="0" err="1"/>
              <a:t>maksimalna</a:t>
            </a:r>
            <a:r>
              <a:rPr lang="en-US" dirty="0"/>
              <a:t> </a:t>
            </a:r>
            <a:r>
              <a:rPr lang="en-US" dirty="0" err="1"/>
              <a:t>brzina</a:t>
            </a:r>
            <a:r>
              <a:rPr lang="en-US" dirty="0"/>
              <a:t> za </a:t>
            </a:r>
            <a:r>
              <a:rPr lang="en-US" dirty="0" err="1"/>
              <a:t>lokalne</a:t>
            </a:r>
            <a:r>
              <a:rPr lang="en-US" dirty="0"/>
              <a:t> </a:t>
            </a:r>
            <a:r>
              <a:rPr lang="en-US" dirty="0" err="1"/>
              <a:t>korisnike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slave </a:t>
            </a:r>
            <a:r>
              <a:rPr lang="en-US" dirty="0" err="1"/>
              <a:t>kasni</a:t>
            </a:r>
            <a:r>
              <a:rPr lang="en-US" dirty="0"/>
              <a:t> za </a:t>
            </a:r>
            <a:r>
              <a:rPr lang="en-US" dirty="0" err="1"/>
              <a:t>masterom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znači</a:t>
            </a:r>
            <a:r>
              <a:rPr lang="en-US" dirty="0"/>
              <a:t> </a:t>
            </a:r>
            <a:r>
              <a:rPr lang="en-US" dirty="0" err="1"/>
              <a:t>prihvatljiv</a:t>
            </a:r>
            <a:r>
              <a:rPr lang="en-US" dirty="0"/>
              <a:t> </a:t>
            </a:r>
            <a:r>
              <a:rPr lang="en-US" dirty="0" err="1"/>
              <a:t>gubitak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(RPO &gt; 0).</a:t>
            </a:r>
          </a:p>
          <a:p>
            <a:r>
              <a:rPr lang="en-US" dirty="0" err="1"/>
              <a:t>Sinhroni</a:t>
            </a:r>
            <a:r>
              <a:rPr lang="en-US" dirty="0"/>
              <a:t> </a:t>
            </a:r>
            <a:r>
              <a:rPr lang="en-US" dirty="0" err="1"/>
              <a:t>režim</a:t>
            </a:r>
            <a:r>
              <a:rPr lang="en-US" dirty="0"/>
              <a:t> je </a:t>
            </a:r>
            <a:r>
              <a:rPr lang="en-US" dirty="0" err="1"/>
              <a:t>obavezan</a:t>
            </a:r>
            <a:r>
              <a:rPr lang="en-US" dirty="0"/>
              <a:t> za </a:t>
            </a:r>
            <a:r>
              <a:rPr lang="en-US" dirty="0" err="1"/>
              <a:t>kritične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poput</a:t>
            </a:r>
            <a:r>
              <a:rPr lang="en-US" dirty="0"/>
              <a:t> </a:t>
            </a:r>
            <a:r>
              <a:rPr lang="en-US" dirty="0" err="1"/>
              <a:t>finansija</a:t>
            </a:r>
            <a:r>
              <a:rPr lang="en-US" dirty="0"/>
              <a:t>, </a:t>
            </a:r>
            <a:r>
              <a:rPr lang="en-US" dirty="0" err="1"/>
              <a:t>bankarstva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zdravstva</a:t>
            </a:r>
            <a:r>
              <a:rPr lang="en-US" dirty="0"/>
              <a:t> </a:t>
            </a:r>
            <a:r>
              <a:rPr lang="en-US" dirty="0" err="1"/>
              <a:t>gde</a:t>
            </a:r>
            <a:r>
              <a:rPr lang="en-US" dirty="0"/>
              <a:t> </a:t>
            </a:r>
            <a:r>
              <a:rPr lang="en-US" dirty="0" err="1"/>
              <a:t>gubitak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prihvatljiv</a:t>
            </a:r>
            <a:r>
              <a:rPr lang="en-US" dirty="0"/>
              <a:t> </a:t>
            </a:r>
            <a:r>
              <a:rPr lang="en-US" dirty="0" err="1"/>
              <a:t>ni</a:t>
            </a:r>
            <a:r>
              <a:rPr lang="en-US" dirty="0"/>
              <a:t> u </a:t>
            </a:r>
            <a:r>
              <a:rPr lang="en-US" dirty="0" err="1"/>
              <a:t>jednom</a:t>
            </a:r>
            <a:r>
              <a:rPr lang="en-US" dirty="0"/>
              <a:t> </a:t>
            </a:r>
            <a:r>
              <a:rPr lang="en-US" dirty="0" err="1"/>
              <a:t>scenariju</a:t>
            </a:r>
            <a:r>
              <a:rPr lang="en-US" dirty="0"/>
              <a:t>.</a:t>
            </a:r>
          </a:p>
          <a:p>
            <a:r>
              <a:rPr lang="en-US" dirty="0" err="1"/>
              <a:t>Asinhroni</a:t>
            </a:r>
            <a:r>
              <a:rPr lang="en-US" dirty="0"/>
              <a:t> </a:t>
            </a:r>
            <a:r>
              <a:rPr lang="en-US" dirty="0" err="1"/>
              <a:t>režim</a:t>
            </a:r>
            <a:r>
              <a:rPr lang="en-US" dirty="0"/>
              <a:t> je </a:t>
            </a:r>
            <a:r>
              <a:rPr lang="en-US" dirty="0" err="1"/>
              <a:t>idealan</a:t>
            </a:r>
            <a:r>
              <a:rPr lang="en-US" dirty="0"/>
              <a:t> za WAN </a:t>
            </a:r>
            <a:r>
              <a:rPr lang="en-US" dirty="0" err="1"/>
              <a:t>veze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geografski</a:t>
            </a:r>
            <a:r>
              <a:rPr lang="en-US" dirty="0"/>
              <a:t> </a:t>
            </a:r>
            <a:r>
              <a:rPr lang="en-US" dirty="0" err="1"/>
              <a:t>udaljene</a:t>
            </a:r>
            <a:r>
              <a:rPr lang="en-US" dirty="0"/>
              <a:t> slave </a:t>
            </a:r>
            <a:r>
              <a:rPr lang="en-US" dirty="0" err="1"/>
              <a:t>servere</a:t>
            </a:r>
            <a:r>
              <a:rPr lang="en-US" dirty="0"/>
              <a:t> </a:t>
            </a:r>
            <a:r>
              <a:rPr lang="en-US" dirty="0" err="1"/>
              <a:t>gde</a:t>
            </a:r>
            <a:r>
              <a:rPr lang="en-US" dirty="0"/>
              <a:t> bi </a:t>
            </a:r>
            <a:r>
              <a:rPr lang="en-US" dirty="0" err="1"/>
              <a:t>čekanje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potvrdu</a:t>
            </a:r>
            <a:r>
              <a:rPr lang="en-US" dirty="0"/>
              <a:t> </a:t>
            </a:r>
            <a:r>
              <a:rPr lang="en-US" dirty="0" err="1"/>
              <a:t>predaleke</a:t>
            </a:r>
            <a:r>
              <a:rPr lang="en-US" dirty="0"/>
              <a:t> slave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dirty="0" err="1"/>
              <a:t>drastično</a:t>
            </a:r>
            <a:r>
              <a:rPr lang="en-US" dirty="0"/>
              <a:t> </a:t>
            </a:r>
            <a:r>
              <a:rPr lang="en-US" dirty="0" err="1"/>
              <a:t>usporilo</a:t>
            </a:r>
            <a:r>
              <a:rPr lang="en-US" dirty="0"/>
              <a:t> rad </a:t>
            </a:r>
            <a:r>
              <a:rPr lang="en-US" dirty="0" err="1"/>
              <a:t>sistema</a:t>
            </a:r>
            <a:r>
              <a:rPr lang="en-US" dirty="0"/>
              <a:t> za </a:t>
            </a:r>
            <a:r>
              <a:rPr lang="en-US" dirty="0" err="1"/>
              <a:t>lokalne</a:t>
            </a:r>
            <a:r>
              <a:rPr lang="en-US" dirty="0"/>
              <a:t> </a:t>
            </a:r>
            <a:r>
              <a:rPr lang="en-US" dirty="0" err="1"/>
              <a:t>korisnike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Logička</a:t>
            </a:r>
            <a:r>
              <a:rPr lang="en-US" dirty="0"/>
              <a:t> </a:t>
            </a:r>
            <a:r>
              <a:rPr lang="en-US" dirty="0" err="1"/>
              <a:t>replikacija</a:t>
            </a:r>
            <a:r>
              <a:rPr lang="en-US" dirty="0"/>
              <a:t> </a:t>
            </a:r>
            <a:r>
              <a:rPr lang="en-US" dirty="0" err="1"/>
              <a:t>zasnovana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CDC </a:t>
            </a:r>
            <a:r>
              <a:rPr lang="en-US" dirty="0" err="1"/>
              <a:t>principu</a:t>
            </a:r>
            <a:r>
              <a:rPr lang="en-US" dirty="0"/>
              <a:t> </a:t>
            </a:r>
            <a:r>
              <a:rPr lang="en-US" dirty="0" err="1"/>
              <a:t>presreće</a:t>
            </a:r>
            <a:r>
              <a:rPr lang="en-US" dirty="0"/>
              <a:t> </a:t>
            </a:r>
            <a:r>
              <a:rPr lang="en-US" dirty="0" err="1"/>
              <a:t>svaki</a:t>
            </a:r>
            <a:r>
              <a:rPr lang="en-US" dirty="0"/>
              <a:t> INSERT, UPDATE </a:t>
            </a:r>
            <a:r>
              <a:rPr lang="en-US" dirty="0" err="1"/>
              <a:t>i</a:t>
            </a:r>
            <a:r>
              <a:rPr lang="en-US" dirty="0"/>
              <a:t> DELETE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trigere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beleži</a:t>
            </a:r>
            <a:r>
              <a:rPr lang="en-US" dirty="0"/>
              <a:t> </a:t>
            </a:r>
            <a:r>
              <a:rPr lang="en-US" dirty="0" err="1"/>
              <a:t>promene</a:t>
            </a:r>
            <a:r>
              <a:rPr lang="en-US" dirty="0"/>
              <a:t> u </a:t>
            </a:r>
            <a:r>
              <a:rPr lang="en-US" dirty="0" err="1"/>
              <a:t>namensku</a:t>
            </a:r>
            <a:r>
              <a:rPr lang="en-US" dirty="0"/>
              <a:t> REPLICATION_LOG </a:t>
            </a:r>
            <a:r>
              <a:rPr lang="en-US" dirty="0" err="1"/>
              <a:t>tabelu</a:t>
            </a:r>
            <a:endParaRPr lang="en-US" dirty="0"/>
          </a:p>
          <a:p>
            <a:r>
              <a:rPr lang="en-US" dirty="0" err="1"/>
              <a:t>Ključna</a:t>
            </a:r>
            <a:r>
              <a:rPr lang="en-US" dirty="0"/>
              <a:t> </a:t>
            </a:r>
            <a:r>
              <a:rPr lang="en-US" dirty="0" err="1"/>
              <a:t>prednost</a:t>
            </a:r>
            <a:r>
              <a:rPr lang="en-US" dirty="0"/>
              <a:t> CDC </a:t>
            </a:r>
            <a:r>
              <a:rPr lang="en-US" dirty="0" err="1"/>
              <a:t>pristupa</a:t>
            </a:r>
            <a:r>
              <a:rPr lang="en-US" dirty="0"/>
              <a:t> je </a:t>
            </a:r>
            <a:r>
              <a:rPr lang="en-US" dirty="0" err="1"/>
              <a:t>selektivnost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fleksibilnost</a:t>
            </a:r>
            <a:r>
              <a:rPr lang="en-US" dirty="0"/>
              <a:t> — </a:t>
            </a:r>
            <a:r>
              <a:rPr lang="en-US" dirty="0" err="1"/>
              <a:t>moguće</a:t>
            </a:r>
            <a:r>
              <a:rPr lang="en-US" dirty="0"/>
              <a:t> je </a:t>
            </a:r>
            <a:r>
              <a:rPr lang="en-US" dirty="0" err="1"/>
              <a:t>replicirati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specifične</a:t>
            </a:r>
            <a:r>
              <a:rPr lang="en-US" dirty="0"/>
              <a:t> </a:t>
            </a:r>
            <a:r>
              <a:rPr lang="en-US" dirty="0" err="1"/>
              <a:t>tabele</a:t>
            </a:r>
            <a:r>
              <a:rPr lang="en-US" dirty="0"/>
              <a:t>,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različitih</a:t>
            </a:r>
            <a:r>
              <a:rPr lang="en-US" dirty="0"/>
              <a:t> </a:t>
            </a:r>
            <a:r>
              <a:rPr lang="en-US" dirty="0" err="1"/>
              <a:t>verzija</a:t>
            </a:r>
            <a:r>
              <a:rPr lang="en-US" dirty="0"/>
              <a:t> </a:t>
            </a:r>
            <a:r>
              <a:rPr lang="en-US" dirty="0" err="1"/>
              <a:t>Firebirda</a:t>
            </a:r>
            <a:r>
              <a:rPr lang="en-US" dirty="0"/>
              <a:t>, pa </a:t>
            </a:r>
            <a:r>
              <a:rPr lang="en-US" dirty="0" err="1"/>
              <a:t>čak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ka </a:t>
            </a:r>
            <a:r>
              <a:rPr lang="en-US" dirty="0" err="1"/>
              <a:t>heterogenim</a:t>
            </a:r>
            <a:r>
              <a:rPr lang="en-US" dirty="0"/>
              <a:t> </a:t>
            </a:r>
            <a:r>
              <a:rPr lang="en-US" dirty="0" err="1"/>
              <a:t>sistemima</a:t>
            </a:r>
            <a:r>
              <a:rPr lang="en-US" dirty="0"/>
              <a:t> </a:t>
            </a:r>
            <a:r>
              <a:rPr lang="en-US" dirty="0" err="1"/>
              <a:t>poput</a:t>
            </a:r>
            <a:r>
              <a:rPr lang="en-US" dirty="0"/>
              <a:t> PostgreSQL-a</a:t>
            </a:r>
            <a:r>
              <a:rPr lang="en-US" b="0" dirty="0"/>
              <a:t>. </a:t>
            </a:r>
            <a:r>
              <a:rPr lang="en-US" b="1" dirty="0"/>
              <a:t>REPLICATION_LOG </a:t>
            </a:r>
            <a:r>
              <a:rPr lang="en-US" b="1" dirty="0" err="1"/>
              <a:t>tabela</a:t>
            </a:r>
            <a:r>
              <a:rPr lang="en-US" dirty="0"/>
              <a:t> </a:t>
            </a:r>
            <a:r>
              <a:rPr lang="en-US" dirty="0" err="1"/>
              <a:t>čuva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potrebne</a:t>
            </a:r>
            <a:r>
              <a:rPr lang="en-US" dirty="0"/>
              <a:t> </a:t>
            </a:r>
            <a:r>
              <a:rPr lang="en-US" dirty="0" err="1"/>
              <a:t>informacije</a:t>
            </a:r>
            <a:r>
              <a:rPr lang="en-US" dirty="0"/>
              <a:t> o </a:t>
            </a:r>
            <a:r>
              <a:rPr lang="en-US" dirty="0" err="1"/>
              <a:t>svakoj</a:t>
            </a:r>
            <a:r>
              <a:rPr lang="en-US" dirty="0"/>
              <a:t> </a:t>
            </a:r>
            <a:r>
              <a:rPr lang="en-US" dirty="0" err="1"/>
              <a:t>promeni</a:t>
            </a:r>
            <a:r>
              <a:rPr lang="en-US" dirty="0"/>
              <a:t> — </a:t>
            </a:r>
            <a:r>
              <a:rPr lang="en-US" dirty="0" err="1"/>
              <a:t>ime</a:t>
            </a:r>
            <a:r>
              <a:rPr lang="en-US" dirty="0"/>
              <a:t> </a:t>
            </a:r>
            <a:r>
              <a:rPr lang="en-US" dirty="0" err="1"/>
              <a:t>tabele</a:t>
            </a:r>
            <a:r>
              <a:rPr lang="en-US" dirty="0"/>
              <a:t>, tip </a:t>
            </a:r>
            <a:r>
              <a:rPr lang="en-US" dirty="0" err="1"/>
              <a:t>operacije</a:t>
            </a:r>
            <a:r>
              <a:rPr lang="en-US" dirty="0"/>
              <a:t>, </a:t>
            </a:r>
            <a:r>
              <a:rPr lang="en-US" dirty="0" err="1"/>
              <a:t>vrednost</a:t>
            </a:r>
            <a:r>
              <a:rPr lang="en-US" dirty="0"/>
              <a:t> </a:t>
            </a:r>
            <a:r>
              <a:rPr lang="en-US" dirty="0" err="1"/>
              <a:t>primarnog</a:t>
            </a:r>
            <a:r>
              <a:rPr lang="en-US" dirty="0"/>
              <a:t> </a:t>
            </a:r>
            <a:r>
              <a:rPr lang="en-US" dirty="0" err="1"/>
              <a:t>ključa</a:t>
            </a:r>
            <a:r>
              <a:rPr lang="en-US" dirty="0"/>
              <a:t>, timestamp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kompletan</a:t>
            </a:r>
            <a:r>
              <a:rPr lang="en-US" dirty="0"/>
              <a:t> JSON/XML </a:t>
            </a:r>
            <a:r>
              <a:rPr lang="en-US" dirty="0" err="1"/>
              <a:t>sadržaj</a:t>
            </a:r>
            <a:r>
              <a:rPr lang="en-US" dirty="0"/>
              <a:t> </a:t>
            </a:r>
            <a:r>
              <a:rPr lang="en-US" dirty="0" err="1"/>
              <a:t>promene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payload. </a:t>
            </a:r>
            <a:r>
              <a:rPr lang="en-US" b="1" dirty="0"/>
              <a:t>Triger TRG_EMP_REPL</a:t>
            </a:r>
            <a:r>
              <a:rPr lang="en-US" dirty="0"/>
              <a:t> se </a:t>
            </a:r>
            <a:r>
              <a:rPr lang="en-US" dirty="0" err="1"/>
              <a:t>aktivira</a:t>
            </a:r>
            <a:r>
              <a:rPr lang="en-US" dirty="0"/>
              <a:t>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svake</a:t>
            </a:r>
            <a:r>
              <a:rPr lang="en-US" dirty="0"/>
              <a:t> </a:t>
            </a:r>
            <a:r>
              <a:rPr lang="en-US" dirty="0" err="1"/>
              <a:t>promene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tabeli</a:t>
            </a:r>
            <a:r>
              <a:rPr lang="en-US" dirty="0"/>
              <a:t> EMPLOYEE, </a:t>
            </a:r>
            <a:r>
              <a:rPr lang="en-US" dirty="0" err="1"/>
              <a:t>ali</a:t>
            </a:r>
            <a:r>
              <a:rPr lang="en-US" dirty="0"/>
              <a:t> pre </a:t>
            </a:r>
            <a:r>
              <a:rPr lang="en-US" dirty="0" err="1"/>
              <a:t>upisa</a:t>
            </a:r>
            <a:r>
              <a:rPr lang="en-US" dirty="0"/>
              <a:t> u log </a:t>
            </a:r>
            <a:r>
              <a:rPr lang="en-US" dirty="0" err="1"/>
              <a:t>proverava</a:t>
            </a:r>
            <a:r>
              <a:rPr lang="en-US" dirty="0"/>
              <a:t> RDB$GET_CONTEXT — </a:t>
            </a:r>
            <a:r>
              <a:rPr lang="en-US" dirty="0" err="1"/>
              <a:t>ako</a:t>
            </a:r>
            <a:r>
              <a:rPr lang="en-US" dirty="0"/>
              <a:t> je </a:t>
            </a:r>
            <a:r>
              <a:rPr lang="en-US" dirty="0" err="1"/>
              <a:t>vrednost</a:t>
            </a:r>
            <a:r>
              <a:rPr lang="en-US" dirty="0"/>
              <a:t> NULL, </a:t>
            </a:r>
            <a:r>
              <a:rPr lang="en-US" dirty="0" err="1"/>
              <a:t>promena</a:t>
            </a:r>
            <a:r>
              <a:rPr lang="en-US" dirty="0"/>
              <a:t> </a:t>
            </a:r>
            <a:r>
              <a:rPr lang="en-US" dirty="0" err="1"/>
              <a:t>dolazi</a:t>
            </a:r>
            <a:r>
              <a:rPr lang="en-US" dirty="0"/>
              <a:t> od </a:t>
            </a:r>
            <a:r>
              <a:rPr lang="en-US" dirty="0" err="1"/>
              <a:t>korisnika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beleži</a:t>
            </a:r>
            <a:r>
              <a:rPr lang="en-US" dirty="0"/>
              <a:t> se, a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NULL, </a:t>
            </a:r>
            <a:r>
              <a:rPr lang="en-US" dirty="0" err="1"/>
              <a:t>promena</a:t>
            </a:r>
            <a:r>
              <a:rPr lang="en-US" dirty="0"/>
              <a:t> </a:t>
            </a:r>
            <a:r>
              <a:rPr lang="en-US" dirty="0" err="1"/>
              <a:t>dolazi</a:t>
            </a:r>
            <a:r>
              <a:rPr lang="en-US" dirty="0"/>
              <a:t> od </a:t>
            </a:r>
            <a:r>
              <a:rPr lang="en-US" dirty="0" err="1"/>
              <a:t>replikacionog</a:t>
            </a:r>
            <a:r>
              <a:rPr lang="en-US" dirty="0"/>
              <a:t> </a:t>
            </a:r>
            <a:r>
              <a:rPr lang="en-US" dirty="0" err="1"/>
              <a:t>agenta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preskače</a:t>
            </a:r>
            <a:r>
              <a:rPr lang="en-US" dirty="0"/>
              <a:t> se, </a:t>
            </a:r>
            <a:r>
              <a:rPr lang="en-US" dirty="0" err="1"/>
              <a:t>čime</a:t>
            </a:r>
            <a:r>
              <a:rPr lang="en-US" dirty="0"/>
              <a:t> se </a:t>
            </a:r>
            <a:r>
              <a:rPr lang="en-US" dirty="0" err="1"/>
              <a:t>sprečava</a:t>
            </a:r>
            <a:r>
              <a:rPr lang="en-US" dirty="0"/>
              <a:t> </a:t>
            </a:r>
            <a:r>
              <a:rPr lang="en-US" dirty="0" err="1"/>
              <a:t>beskonačna</a:t>
            </a:r>
            <a:r>
              <a:rPr lang="en-US" dirty="0"/>
              <a:t> </a:t>
            </a:r>
            <a:r>
              <a:rPr lang="en-US" dirty="0" err="1"/>
              <a:t>petlja</a:t>
            </a:r>
            <a:r>
              <a:rPr lang="en-US" dirty="0"/>
              <a:t>.</a:t>
            </a:r>
          </a:p>
          <a:p>
            <a:r>
              <a:rPr lang="en-US" dirty="0"/>
              <a:t>Kad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servera</a:t>
            </a:r>
            <a:r>
              <a:rPr lang="en-US" dirty="0"/>
              <a:t> </a:t>
            </a:r>
            <a:r>
              <a:rPr lang="en-US" dirty="0" err="1"/>
              <a:t>promene</a:t>
            </a:r>
            <a:r>
              <a:rPr lang="en-US" dirty="0"/>
              <a:t> </a:t>
            </a:r>
            <a:r>
              <a:rPr lang="en-US" dirty="0" err="1"/>
              <a:t>isti</a:t>
            </a:r>
            <a:r>
              <a:rPr lang="en-US" dirty="0"/>
              <a:t> red u </a:t>
            </a:r>
            <a:r>
              <a:rPr lang="en-US" dirty="0" err="1"/>
              <a:t>isto</a:t>
            </a:r>
            <a:r>
              <a:rPr lang="en-US" dirty="0"/>
              <a:t> </a:t>
            </a:r>
            <a:r>
              <a:rPr lang="en-US" dirty="0" err="1"/>
              <a:t>vreme</a:t>
            </a:r>
            <a:r>
              <a:rPr lang="en-US" dirty="0"/>
              <a:t>, ko </a:t>
            </a:r>
            <a:r>
              <a:rPr lang="en-US" dirty="0" err="1"/>
              <a:t>pobeđuje</a:t>
            </a:r>
            <a:r>
              <a:rPr lang="en-US" dirty="0"/>
              <a:t>?</a:t>
            </a:r>
          </a:p>
          <a:p>
            <a:r>
              <a:rPr lang="en-US" b="1" dirty="0"/>
              <a:t>Last Write Wins</a:t>
            </a:r>
            <a:r>
              <a:rPr lang="en-US" dirty="0"/>
              <a:t> → </a:t>
            </a:r>
            <a:r>
              <a:rPr lang="en-US" dirty="0" err="1"/>
              <a:t>pobedi</a:t>
            </a:r>
            <a:r>
              <a:rPr lang="en-US" dirty="0"/>
              <a:t> </a:t>
            </a:r>
            <a:r>
              <a:rPr lang="en-US" dirty="0" err="1"/>
              <a:t>onaj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kasnijim</a:t>
            </a:r>
            <a:r>
              <a:rPr lang="en-US" dirty="0"/>
              <a:t> timestamp-</a:t>
            </a:r>
            <a:r>
              <a:rPr lang="en-US" dirty="0" err="1"/>
              <a:t>om.</a:t>
            </a:r>
            <a:r>
              <a:rPr lang="en-US" dirty="0"/>
              <a:t> </a:t>
            </a:r>
            <a:r>
              <a:rPr lang="en-US" dirty="0" err="1"/>
              <a:t>Najjednostavnije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rizično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satovi</a:t>
            </a:r>
            <a:r>
              <a:rPr lang="en-US" dirty="0"/>
              <a:t> </a:t>
            </a:r>
            <a:r>
              <a:rPr lang="en-US" dirty="0" err="1"/>
              <a:t>nisu</a:t>
            </a:r>
            <a:r>
              <a:rPr lang="en-US" dirty="0"/>
              <a:t> </a:t>
            </a:r>
            <a:r>
              <a:rPr lang="en-US" dirty="0" err="1"/>
              <a:t>sinhronizovani</a:t>
            </a:r>
            <a:r>
              <a:rPr lang="en-US" dirty="0"/>
              <a:t>.</a:t>
            </a:r>
          </a:p>
          <a:p>
            <a:r>
              <a:rPr lang="en-US" b="1" dirty="0"/>
              <a:t>Static Priority</a:t>
            </a:r>
            <a:r>
              <a:rPr lang="en-US" dirty="0"/>
              <a:t> → master </a:t>
            </a:r>
            <a:r>
              <a:rPr lang="en-US" dirty="0" err="1"/>
              <a:t>uvek</a:t>
            </a:r>
            <a:r>
              <a:rPr lang="en-US" dirty="0"/>
              <a:t> </a:t>
            </a:r>
            <a:r>
              <a:rPr lang="en-US" dirty="0" err="1"/>
              <a:t>pobeđuje</a:t>
            </a:r>
            <a:r>
              <a:rPr lang="en-US" dirty="0"/>
              <a:t> slave. </a:t>
            </a:r>
            <a:r>
              <a:rPr lang="en-US" dirty="0" err="1"/>
              <a:t>Jednostavno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predvidivo</a:t>
            </a:r>
            <a:r>
              <a:rPr lang="en-US" dirty="0"/>
              <a:t>.</a:t>
            </a:r>
          </a:p>
          <a:p>
            <a:r>
              <a:rPr lang="en-US" b="1" dirty="0" err="1"/>
              <a:t>Aplikativna</a:t>
            </a:r>
            <a:r>
              <a:rPr lang="en-US" b="1" dirty="0"/>
              <a:t> </a:t>
            </a:r>
            <a:r>
              <a:rPr lang="en-US" b="1" dirty="0" err="1"/>
              <a:t>logika</a:t>
            </a:r>
            <a:r>
              <a:rPr lang="en-US" dirty="0"/>
              <a:t> → za </a:t>
            </a:r>
            <a:r>
              <a:rPr lang="en-US" dirty="0" err="1"/>
              <a:t>finansije</a:t>
            </a:r>
            <a:r>
              <a:rPr lang="en-US" dirty="0"/>
              <a:t>/</a:t>
            </a:r>
            <a:r>
              <a:rPr lang="en-US" dirty="0" err="1"/>
              <a:t>zalihe</a:t>
            </a:r>
            <a:r>
              <a:rPr lang="en-US" dirty="0"/>
              <a:t>. </a:t>
            </a:r>
            <a:r>
              <a:rPr lang="en-US" dirty="0" err="1"/>
              <a:t>Čovek</a:t>
            </a:r>
            <a:r>
              <a:rPr lang="en-US" dirty="0"/>
              <a:t> </a:t>
            </a:r>
            <a:r>
              <a:rPr lang="en-US" dirty="0" err="1"/>
              <a:t>ručno</a:t>
            </a:r>
            <a:r>
              <a:rPr lang="en-US" dirty="0"/>
              <a:t> </a:t>
            </a:r>
            <a:r>
              <a:rPr lang="en-US" dirty="0" err="1"/>
              <a:t>odlučuje</a:t>
            </a:r>
            <a:r>
              <a:rPr lang="en-US" dirty="0"/>
              <a:t>. </a:t>
            </a:r>
            <a:r>
              <a:rPr lang="en-US" dirty="0" err="1"/>
              <a:t>Najsigurnije</a:t>
            </a:r>
            <a:r>
              <a:rPr lang="en-US" dirty="0"/>
              <a:t>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najkomplikovanije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Multi-Master </a:t>
            </a:r>
            <a:r>
              <a:rPr lang="en-US" dirty="0" err="1"/>
              <a:t>topologije</a:t>
            </a:r>
            <a:r>
              <a:rPr lang="en-US" dirty="0"/>
              <a:t> </a:t>
            </a:r>
            <a:r>
              <a:rPr lang="en-US" dirty="0" err="1"/>
              <a:t>omogućavaju</a:t>
            </a:r>
            <a:r>
              <a:rPr lang="en-US" dirty="0"/>
              <a:t> da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čvorova</a:t>
            </a:r>
            <a:r>
              <a:rPr lang="en-US" dirty="0"/>
              <a:t> </a:t>
            </a:r>
            <a:r>
              <a:rPr lang="en-US" dirty="0" err="1"/>
              <a:t>istovremeno</a:t>
            </a:r>
            <a:r>
              <a:rPr lang="en-US" dirty="0"/>
              <a:t> prima </a:t>
            </a:r>
            <a:r>
              <a:rPr lang="en-US" dirty="0" err="1"/>
              <a:t>upise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svaka</a:t>
            </a:r>
            <a:r>
              <a:rPr lang="en-US" dirty="0"/>
              <a:t> </a:t>
            </a:r>
            <a:r>
              <a:rPr lang="en-US" dirty="0" err="1"/>
              <a:t>topologija</a:t>
            </a:r>
            <a:r>
              <a:rPr lang="en-US" dirty="0"/>
              <a:t> </a:t>
            </a:r>
            <a:r>
              <a:rPr lang="en-US" dirty="0" err="1"/>
              <a:t>nosi</a:t>
            </a:r>
            <a:r>
              <a:rPr lang="en-US" dirty="0"/>
              <a:t> </a:t>
            </a:r>
            <a:r>
              <a:rPr lang="en-US" dirty="0" err="1"/>
              <a:t>drugačiji</a:t>
            </a:r>
            <a:r>
              <a:rPr lang="en-US" dirty="0"/>
              <a:t> </a:t>
            </a:r>
            <a:r>
              <a:rPr lang="en-US" dirty="0" err="1"/>
              <a:t>kompromis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jednostavnosti</a:t>
            </a:r>
            <a:r>
              <a:rPr lang="en-US" dirty="0"/>
              <a:t>, </a:t>
            </a:r>
            <a:r>
              <a:rPr lang="en-US" dirty="0" err="1"/>
              <a:t>redundanse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brzine</a:t>
            </a:r>
            <a:r>
              <a:rPr lang="en-US" dirty="0"/>
              <a:t> </a:t>
            </a:r>
            <a:r>
              <a:rPr lang="en-US" dirty="0" err="1"/>
              <a:t>oporavka</a:t>
            </a:r>
            <a:r>
              <a:rPr lang="en-US" dirty="0"/>
              <a:t>.</a:t>
            </a:r>
          </a:p>
          <a:p>
            <a:r>
              <a:rPr lang="en-US" b="1" dirty="0"/>
              <a:t>Star (Zvezda)</a:t>
            </a:r>
            <a:r>
              <a:rPr lang="en-US" dirty="0"/>
              <a:t> </a:t>
            </a:r>
            <a:r>
              <a:rPr lang="en-US" dirty="0" err="1"/>
              <a:t>topologija</a:t>
            </a:r>
            <a:r>
              <a:rPr lang="en-US" dirty="0"/>
              <a:t> </a:t>
            </a:r>
            <a:r>
              <a:rPr lang="en-US" dirty="0" err="1"/>
              <a:t>povezuje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periferne</a:t>
            </a:r>
            <a:r>
              <a:rPr lang="en-US" dirty="0"/>
              <a:t> </a:t>
            </a:r>
            <a:r>
              <a:rPr lang="en-US" dirty="0" err="1"/>
              <a:t>čvorove</a:t>
            </a:r>
            <a:r>
              <a:rPr lang="en-US" dirty="0"/>
              <a:t> </a:t>
            </a:r>
            <a:r>
              <a:rPr lang="en-US" dirty="0" err="1"/>
              <a:t>isključivo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centralnim</a:t>
            </a:r>
            <a:r>
              <a:rPr lang="en-US" dirty="0"/>
              <a:t> </a:t>
            </a:r>
            <a:r>
              <a:rPr lang="en-US" dirty="0" err="1"/>
              <a:t>serverom</a:t>
            </a:r>
            <a:r>
              <a:rPr lang="en-US" dirty="0"/>
              <a:t> — </a:t>
            </a:r>
            <a:r>
              <a:rPr lang="en-US" dirty="0" err="1"/>
              <a:t>jednostavna</a:t>
            </a:r>
            <a:r>
              <a:rPr lang="en-US" dirty="0"/>
              <a:t> je za </a:t>
            </a:r>
            <a:r>
              <a:rPr lang="en-US" dirty="0" err="1"/>
              <a:t>administraciju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centralizovanu</a:t>
            </a:r>
            <a:r>
              <a:rPr lang="en-US" dirty="0"/>
              <a:t> </a:t>
            </a:r>
            <a:r>
              <a:rPr lang="en-US" dirty="0" err="1"/>
              <a:t>kontrolu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centralni</a:t>
            </a:r>
            <a:r>
              <a:rPr lang="en-US" dirty="0"/>
              <a:t> server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jedinu</a:t>
            </a:r>
            <a:r>
              <a:rPr lang="en-US" dirty="0"/>
              <a:t> </a:t>
            </a:r>
            <a:r>
              <a:rPr lang="en-US" dirty="0" err="1"/>
              <a:t>tačku</a:t>
            </a:r>
            <a:r>
              <a:rPr lang="en-US" dirty="0"/>
              <a:t> </a:t>
            </a:r>
            <a:r>
              <a:rPr lang="en-US" dirty="0" err="1"/>
              <a:t>kvara</a:t>
            </a:r>
            <a:r>
              <a:rPr lang="en-US" dirty="0"/>
              <a:t> (SPOF),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čini</a:t>
            </a:r>
            <a:r>
              <a:rPr lang="en-US" dirty="0"/>
              <a:t> </a:t>
            </a:r>
            <a:r>
              <a:rPr lang="en-US" dirty="0" err="1"/>
              <a:t>idealnom</a:t>
            </a:r>
            <a:r>
              <a:rPr lang="en-US" dirty="0"/>
              <a:t> za ERP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centralnom</a:t>
            </a:r>
            <a:r>
              <a:rPr lang="en-US" dirty="0"/>
              <a:t> </a:t>
            </a:r>
            <a:r>
              <a:rPr lang="en-US" dirty="0" err="1"/>
              <a:t>bazom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filijalama</a:t>
            </a:r>
            <a:r>
              <a:rPr lang="en-US" dirty="0"/>
              <a:t>.</a:t>
            </a:r>
          </a:p>
          <a:p>
            <a:r>
              <a:rPr lang="en-US" b="1" dirty="0"/>
              <a:t>Mesh (</a:t>
            </a:r>
            <a:r>
              <a:rPr lang="en-US" b="1" dirty="0" err="1"/>
              <a:t>Mreža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en-US" dirty="0" err="1"/>
              <a:t>topologija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</a:t>
            </a:r>
            <a:r>
              <a:rPr lang="en-US" dirty="0" err="1"/>
              <a:t>povezuje</a:t>
            </a:r>
            <a:r>
              <a:rPr lang="en-US" dirty="0"/>
              <a:t>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čvor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svim</a:t>
            </a:r>
            <a:r>
              <a:rPr lang="en-US" dirty="0"/>
              <a:t> </a:t>
            </a:r>
            <a:r>
              <a:rPr lang="en-US" dirty="0" err="1"/>
              <a:t>ostalima</a:t>
            </a:r>
            <a:r>
              <a:rPr lang="en-US" dirty="0"/>
              <a:t> — </a:t>
            </a:r>
            <a:r>
              <a:rPr lang="en-US" dirty="0" err="1"/>
              <a:t>nema</a:t>
            </a:r>
            <a:r>
              <a:rPr lang="en-US" dirty="0"/>
              <a:t> SPOF-a, </a:t>
            </a:r>
            <a:r>
              <a:rPr lang="en-US" dirty="0" err="1"/>
              <a:t>pruža</a:t>
            </a:r>
            <a:r>
              <a:rPr lang="en-US" dirty="0"/>
              <a:t> </a:t>
            </a:r>
            <a:r>
              <a:rPr lang="en-US" dirty="0" err="1"/>
              <a:t>maksimalnu</a:t>
            </a:r>
            <a:r>
              <a:rPr lang="en-US" dirty="0"/>
              <a:t> </a:t>
            </a:r>
            <a:r>
              <a:rPr lang="en-US" dirty="0" err="1"/>
              <a:t>redundansu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propusnost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eksponencijalni</a:t>
            </a:r>
            <a:r>
              <a:rPr lang="en-US" dirty="0"/>
              <a:t> </a:t>
            </a:r>
            <a:r>
              <a:rPr lang="en-US" dirty="0" err="1"/>
              <a:t>rast</a:t>
            </a:r>
            <a:r>
              <a:rPr lang="en-US" dirty="0"/>
              <a:t> </a:t>
            </a:r>
            <a:r>
              <a:rPr lang="en-US" dirty="0" err="1"/>
              <a:t>veza</a:t>
            </a:r>
            <a:r>
              <a:rPr lang="en-US" dirty="0"/>
              <a:t> </a:t>
            </a:r>
            <a:r>
              <a:rPr lang="en-US" dirty="0" err="1"/>
              <a:t>čini</a:t>
            </a:r>
            <a:r>
              <a:rPr lang="en-US" dirty="0"/>
              <a:t> </a:t>
            </a:r>
            <a:r>
              <a:rPr lang="en-US" dirty="0" err="1"/>
              <a:t>konfiguraciju</a:t>
            </a:r>
            <a:r>
              <a:rPr lang="en-US" dirty="0"/>
              <a:t> </a:t>
            </a:r>
            <a:r>
              <a:rPr lang="en-US" dirty="0" err="1"/>
              <a:t>kompleksnom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idealno</a:t>
            </a:r>
            <a:r>
              <a:rPr lang="en-US" dirty="0"/>
              <a:t> za mission-critical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finansijske</a:t>
            </a:r>
            <a:r>
              <a:rPr lang="en-US" dirty="0"/>
              <a:t> </a:t>
            </a:r>
            <a:r>
              <a:rPr lang="en-US" dirty="0" err="1"/>
              <a:t>berze</a:t>
            </a:r>
            <a:r>
              <a:rPr lang="en-US" dirty="0"/>
              <a:t>.</a:t>
            </a:r>
          </a:p>
          <a:p>
            <a:r>
              <a:rPr lang="en-US" b="1" dirty="0"/>
              <a:t>Ring (</a:t>
            </a:r>
            <a:r>
              <a:rPr lang="en-US" b="1" dirty="0" err="1"/>
              <a:t>Prsten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en-US" dirty="0" err="1"/>
              <a:t>topologija</a:t>
            </a:r>
            <a:r>
              <a:rPr lang="en-US" dirty="0"/>
              <a:t> </a:t>
            </a:r>
            <a:r>
              <a:rPr lang="en-US" dirty="0" err="1"/>
              <a:t>šalje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sekvencijalno</a:t>
            </a:r>
            <a:r>
              <a:rPr lang="en-US" dirty="0"/>
              <a:t> od </a:t>
            </a:r>
            <a:r>
              <a:rPr lang="en-US" dirty="0" err="1"/>
              <a:t>čvora</a:t>
            </a:r>
            <a:r>
              <a:rPr lang="en-US" dirty="0"/>
              <a:t> do </a:t>
            </a:r>
            <a:r>
              <a:rPr lang="en-US" dirty="0" err="1"/>
              <a:t>čvora</a:t>
            </a:r>
            <a:r>
              <a:rPr lang="en-US" dirty="0"/>
              <a:t> </a:t>
            </a:r>
            <a:r>
              <a:rPr lang="en-US" dirty="0" err="1"/>
              <a:t>dok</a:t>
            </a:r>
            <a:r>
              <a:rPr lang="en-US" dirty="0"/>
              <a:t> se </a:t>
            </a:r>
            <a:r>
              <a:rPr lang="en-US" dirty="0" err="1"/>
              <a:t>krug</a:t>
            </a:r>
            <a:r>
              <a:rPr lang="en-US" dirty="0"/>
              <a:t> ne </a:t>
            </a:r>
            <a:r>
              <a:rPr lang="en-US" dirty="0" err="1"/>
              <a:t>zatvori</a:t>
            </a:r>
            <a:r>
              <a:rPr lang="en-US" dirty="0"/>
              <a:t> — </a:t>
            </a:r>
            <a:r>
              <a:rPr lang="en-US" dirty="0" err="1"/>
              <a:t>ravnomerna</a:t>
            </a:r>
            <a:r>
              <a:rPr lang="en-US" dirty="0"/>
              <a:t> </a:t>
            </a:r>
            <a:r>
              <a:rPr lang="en-US" dirty="0" err="1"/>
              <a:t>raspodela</a:t>
            </a:r>
            <a:r>
              <a:rPr lang="en-US" dirty="0"/>
              <a:t> </a:t>
            </a:r>
            <a:r>
              <a:rPr lang="en-US" dirty="0" err="1"/>
              <a:t>opterećenja</a:t>
            </a:r>
            <a:r>
              <a:rPr lang="en-US" dirty="0"/>
              <a:t> je </a:t>
            </a:r>
            <a:r>
              <a:rPr lang="en-US" dirty="0" err="1"/>
              <a:t>njena</a:t>
            </a:r>
            <a:r>
              <a:rPr lang="en-US" dirty="0"/>
              <a:t> </a:t>
            </a:r>
            <a:r>
              <a:rPr lang="en-US" dirty="0" err="1"/>
              <a:t>prednost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jedan</a:t>
            </a:r>
            <a:r>
              <a:rPr lang="en-US" dirty="0"/>
              <a:t> </a:t>
            </a:r>
            <a:r>
              <a:rPr lang="en-US" dirty="0" err="1"/>
              <a:t>kvar</a:t>
            </a:r>
            <a:r>
              <a:rPr lang="en-US" dirty="0"/>
              <a:t> </a:t>
            </a:r>
            <a:r>
              <a:rPr lang="en-US" dirty="0" err="1"/>
              <a:t>prekida</a:t>
            </a:r>
            <a:r>
              <a:rPr lang="en-US" dirty="0"/>
              <a:t> </a:t>
            </a:r>
            <a:r>
              <a:rPr lang="en-US" dirty="0" err="1"/>
              <a:t>ceo</a:t>
            </a:r>
            <a:r>
              <a:rPr lang="en-US" dirty="0"/>
              <a:t> </a:t>
            </a:r>
            <a:r>
              <a:rPr lang="en-US" dirty="0" err="1"/>
              <a:t>prsten</a:t>
            </a:r>
            <a:r>
              <a:rPr lang="en-US" dirty="0"/>
              <a:t>, pa je </a:t>
            </a:r>
            <a:r>
              <a:rPr lang="en-US" dirty="0" err="1"/>
              <a:t>idealna</a:t>
            </a:r>
            <a:r>
              <a:rPr lang="en-US" dirty="0"/>
              <a:t> za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jasnom</a:t>
            </a:r>
            <a:r>
              <a:rPr lang="en-US" dirty="0"/>
              <a:t> </a:t>
            </a:r>
            <a:r>
              <a:rPr lang="en-US" dirty="0" err="1"/>
              <a:t>geografskom</a:t>
            </a:r>
            <a:r>
              <a:rPr lang="en-US" dirty="0"/>
              <a:t> </a:t>
            </a:r>
            <a:r>
              <a:rPr lang="en-US" dirty="0" err="1"/>
              <a:t>distribucijom</a:t>
            </a:r>
            <a:r>
              <a:rPr lang="en-US" dirty="0"/>
              <a:t>.</a:t>
            </a:r>
          </a:p>
          <a:p>
            <a:r>
              <a:rPr lang="en-US" dirty="0" err="1"/>
              <a:t>Najveći</a:t>
            </a:r>
            <a:r>
              <a:rPr lang="en-US" dirty="0"/>
              <a:t> </a:t>
            </a:r>
            <a:r>
              <a:rPr lang="en-US" dirty="0" err="1"/>
              <a:t>izazov</a:t>
            </a:r>
            <a:r>
              <a:rPr lang="en-US" dirty="0"/>
              <a:t> Multi-Master </a:t>
            </a:r>
            <a:r>
              <a:rPr lang="en-US" dirty="0" err="1"/>
              <a:t>topologija</a:t>
            </a:r>
            <a:r>
              <a:rPr lang="en-US" dirty="0"/>
              <a:t> je </a:t>
            </a:r>
            <a:r>
              <a:rPr lang="en-US" b="1" dirty="0" err="1"/>
              <a:t>eho</a:t>
            </a:r>
            <a:r>
              <a:rPr lang="en-US" b="1" dirty="0"/>
              <a:t> </a:t>
            </a:r>
            <a:r>
              <a:rPr lang="en-US" b="1" dirty="0" err="1"/>
              <a:t>efekat</a:t>
            </a:r>
            <a:r>
              <a:rPr lang="en-US" dirty="0"/>
              <a:t> —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čvor</a:t>
            </a:r>
            <a:r>
              <a:rPr lang="en-US" dirty="0"/>
              <a:t> A </a:t>
            </a:r>
            <a:r>
              <a:rPr lang="en-US" dirty="0" err="1"/>
              <a:t>replicira</a:t>
            </a:r>
            <a:r>
              <a:rPr lang="en-US" dirty="0"/>
              <a:t> </a:t>
            </a:r>
            <a:r>
              <a:rPr lang="en-US" dirty="0" err="1"/>
              <a:t>promenu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B, a B je </a:t>
            </a:r>
            <a:r>
              <a:rPr lang="en-US" dirty="0" err="1"/>
              <a:t>replicira</a:t>
            </a:r>
            <a:r>
              <a:rPr lang="en-US" dirty="0"/>
              <a:t> </a:t>
            </a:r>
            <a:r>
              <a:rPr lang="en-US" dirty="0" err="1"/>
              <a:t>nazad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A </a:t>
            </a:r>
            <a:r>
              <a:rPr lang="en-US" dirty="0" err="1"/>
              <a:t>nastaje</a:t>
            </a:r>
            <a:r>
              <a:rPr lang="en-US" dirty="0"/>
              <a:t> </a:t>
            </a:r>
            <a:r>
              <a:rPr lang="en-US" dirty="0" err="1"/>
              <a:t>beskonačna</a:t>
            </a:r>
            <a:r>
              <a:rPr lang="en-US" dirty="0"/>
              <a:t> </a:t>
            </a:r>
            <a:r>
              <a:rPr lang="en-US" dirty="0" err="1"/>
              <a:t>petlja</a:t>
            </a:r>
            <a:r>
              <a:rPr lang="en-US" dirty="0"/>
              <a:t>, a Firebird 4.0 to </a:t>
            </a:r>
            <a:r>
              <a:rPr lang="en-US" dirty="0" err="1"/>
              <a:t>rešava</a:t>
            </a:r>
            <a:r>
              <a:rPr lang="en-US" dirty="0"/>
              <a:t> </a:t>
            </a:r>
            <a:r>
              <a:rPr lang="en-US" dirty="0" err="1"/>
              <a:t>automatskim</a:t>
            </a:r>
            <a:r>
              <a:rPr lang="en-US" dirty="0"/>
              <a:t> </a:t>
            </a:r>
            <a:r>
              <a:rPr lang="en-US" dirty="0" err="1"/>
              <a:t>postavljanjem</a:t>
            </a:r>
            <a:r>
              <a:rPr lang="en-US" dirty="0"/>
              <a:t> REPLICATING </a:t>
            </a:r>
            <a:r>
              <a:rPr lang="en-US" dirty="0" err="1"/>
              <a:t>konteksta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TRUE </a:t>
            </a:r>
            <a:r>
              <a:rPr lang="en-US" dirty="0" err="1"/>
              <a:t>pri</a:t>
            </a:r>
            <a:r>
              <a:rPr lang="en-US" dirty="0"/>
              <a:t> </a:t>
            </a:r>
            <a:r>
              <a:rPr lang="en-US" dirty="0" err="1"/>
              <a:t>primeni</a:t>
            </a:r>
            <a:r>
              <a:rPr lang="en-US" dirty="0"/>
              <a:t> </a:t>
            </a:r>
            <a:r>
              <a:rPr lang="en-US" dirty="0" err="1"/>
              <a:t>logova</a:t>
            </a:r>
            <a:r>
              <a:rPr lang="en-US" dirty="0"/>
              <a:t>, </a:t>
            </a:r>
            <a:r>
              <a:rPr lang="en-US" dirty="0" err="1"/>
              <a:t>čime</a:t>
            </a:r>
            <a:r>
              <a:rPr lang="en-US" dirty="0"/>
              <a:t> </a:t>
            </a:r>
            <a:r>
              <a:rPr lang="en-US" dirty="0" err="1"/>
              <a:t>triger</a:t>
            </a:r>
            <a:r>
              <a:rPr lang="en-US" dirty="0"/>
              <a:t> </a:t>
            </a:r>
            <a:r>
              <a:rPr lang="en-US" dirty="0" err="1"/>
              <a:t>prepoznaje</a:t>
            </a:r>
            <a:r>
              <a:rPr lang="en-US" dirty="0"/>
              <a:t> da se </a:t>
            </a:r>
            <a:r>
              <a:rPr lang="en-US" dirty="0" err="1"/>
              <a:t>radi</a:t>
            </a:r>
            <a:r>
              <a:rPr lang="en-US" dirty="0"/>
              <a:t> o </a:t>
            </a:r>
            <a:r>
              <a:rPr lang="en-US" dirty="0" err="1"/>
              <a:t>replikacionoj</a:t>
            </a:r>
            <a:r>
              <a:rPr lang="en-US" dirty="0"/>
              <a:t> </a:t>
            </a:r>
            <a:r>
              <a:rPr lang="en-US" dirty="0" err="1"/>
              <a:t>promeni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preskače</a:t>
            </a:r>
            <a:r>
              <a:rPr lang="en-US" dirty="0"/>
              <a:t> je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Konfiguracija</a:t>
            </a:r>
            <a:r>
              <a:rPr lang="en-US" dirty="0"/>
              <a:t> </a:t>
            </a:r>
            <a:r>
              <a:rPr lang="en-US" dirty="0" err="1"/>
              <a:t>nativne</a:t>
            </a:r>
            <a:r>
              <a:rPr lang="en-US" dirty="0"/>
              <a:t> </a:t>
            </a:r>
            <a:r>
              <a:rPr lang="en-US" dirty="0" err="1"/>
              <a:t>replikacije</a:t>
            </a:r>
            <a:r>
              <a:rPr lang="en-US" dirty="0"/>
              <a:t> u Firebird 4.0 </a:t>
            </a:r>
            <a:r>
              <a:rPr lang="en-US" dirty="0" err="1"/>
              <a:t>odvija</a:t>
            </a:r>
            <a:r>
              <a:rPr lang="en-US" dirty="0"/>
              <a:t> se </a:t>
            </a:r>
            <a:r>
              <a:rPr lang="en-US" dirty="0" err="1"/>
              <a:t>kroz</a:t>
            </a:r>
            <a:r>
              <a:rPr lang="en-US" dirty="0"/>
              <a:t> 8 </a:t>
            </a:r>
            <a:r>
              <a:rPr lang="en-US" dirty="0" err="1"/>
              <a:t>precizno</a:t>
            </a:r>
            <a:r>
              <a:rPr lang="en-US" dirty="0"/>
              <a:t> </a:t>
            </a:r>
            <a:r>
              <a:rPr lang="en-US" dirty="0" err="1"/>
              <a:t>definisanih</a:t>
            </a:r>
            <a:r>
              <a:rPr lang="en-US" dirty="0"/>
              <a:t> </a:t>
            </a:r>
            <a:r>
              <a:rPr lang="en-US" dirty="0" err="1"/>
              <a:t>koraka</a:t>
            </a:r>
            <a:r>
              <a:rPr lang="en-US" dirty="0"/>
              <a:t> koji </a:t>
            </a:r>
            <a:r>
              <a:rPr lang="en-US" dirty="0" err="1"/>
              <a:t>moraju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izvršeni</a:t>
            </a:r>
            <a:r>
              <a:rPr lang="en-US" dirty="0"/>
              <a:t> </a:t>
            </a:r>
            <a:r>
              <a:rPr lang="en-US" dirty="0" err="1"/>
              <a:t>ispravnim</a:t>
            </a:r>
            <a:r>
              <a:rPr lang="en-US" dirty="0"/>
              <a:t> </a:t>
            </a:r>
            <a:r>
              <a:rPr lang="en-US" dirty="0" err="1"/>
              <a:t>redosledom</a:t>
            </a:r>
            <a:r>
              <a:rPr lang="en-US" dirty="0"/>
              <a:t>.</a:t>
            </a:r>
          </a:p>
          <a:p>
            <a:r>
              <a:rPr lang="en-US" b="1" dirty="0" err="1"/>
              <a:t>Koraci</a:t>
            </a:r>
            <a:r>
              <a:rPr lang="en-US" b="1" dirty="0"/>
              <a:t> 1-2</a:t>
            </a:r>
            <a:r>
              <a:rPr lang="en-US" dirty="0"/>
              <a:t> </a:t>
            </a:r>
            <a:r>
              <a:rPr lang="en-US" dirty="0" err="1"/>
              <a:t>postavljaju</a:t>
            </a:r>
            <a:r>
              <a:rPr lang="en-US" dirty="0"/>
              <a:t> </a:t>
            </a:r>
            <a:r>
              <a:rPr lang="en-US" dirty="0" err="1"/>
              <a:t>osnovu</a:t>
            </a:r>
            <a:r>
              <a:rPr lang="en-US" dirty="0"/>
              <a:t> — </a:t>
            </a:r>
            <a:r>
              <a:rPr lang="en-US" dirty="0" err="1"/>
              <a:t>kreiranje</a:t>
            </a:r>
            <a:r>
              <a:rPr lang="en-US" dirty="0"/>
              <a:t> </a:t>
            </a:r>
            <a:r>
              <a:rPr lang="en-US" dirty="0" err="1"/>
              <a:t>aliasa</a:t>
            </a:r>
            <a:r>
              <a:rPr lang="en-US" dirty="0"/>
              <a:t> za master </a:t>
            </a:r>
            <a:r>
              <a:rPr lang="en-US" dirty="0" err="1"/>
              <a:t>i</a:t>
            </a:r>
            <a:r>
              <a:rPr lang="en-US" dirty="0"/>
              <a:t> slave </a:t>
            </a:r>
            <a:r>
              <a:rPr lang="en-US" dirty="0" err="1"/>
              <a:t>bazu</a:t>
            </a:r>
            <a:r>
              <a:rPr lang="en-US" dirty="0"/>
              <a:t> u </a:t>
            </a:r>
            <a:r>
              <a:rPr lang="en-US" dirty="0" err="1"/>
              <a:t>databases.conf</a:t>
            </a:r>
            <a:r>
              <a:rPr lang="en-US" dirty="0"/>
              <a:t>,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čega</a:t>
            </a:r>
            <a:r>
              <a:rPr lang="en-US" dirty="0"/>
              <a:t> se slave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kreira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tačna</a:t>
            </a:r>
            <a:r>
              <a:rPr lang="en-US" dirty="0"/>
              <a:t> </a:t>
            </a:r>
            <a:r>
              <a:rPr lang="en-US" dirty="0" err="1"/>
              <a:t>kopija</a:t>
            </a:r>
            <a:r>
              <a:rPr lang="en-US" dirty="0"/>
              <a:t> </a:t>
            </a:r>
            <a:r>
              <a:rPr lang="en-US" dirty="0" err="1"/>
              <a:t>mastera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backup </a:t>
            </a:r>
            <a:r>
              <a:rPr lang="en-US" dirty="0" err="1"/>
              <a:t>i</a:t>
            </a:r>
            <a:r>
              <a:rPr lang="en-US" dirty="0"/>
              <a:t> restore </a:t>
            </a:r>
            <a:r>
              <a:rPr lang="en-US" dirty="0" err="1"/>
              <a:t>proceduru</a:t>
            </a:r>
            <a:r>
              <a:rPr lang="en-US" dirty="0"/>
              <a:t> </a:t>
            </a:r>
            <a:r>
              <a:rPr lang="en-US" dirty="0" err="1"/>
              <a:t>komandama</a:t>
            </a:r>
            <a:r>
              <a:rPr lang="en-US" dirty="0"/>
              <a:t> </a:t>
            </a:r>
            <a:r>
              <a:rPr lang="en-US" dirty="0" err="1"/>
              <a:t>gbak</a:t>
            </a:r>
            <a:r>
              <a:rPr lang="en-US" dirty="0"/>
              <a:t>.</a:t>
            </a:r>
          </a:p>
          <a:p>
            <a:r>
              <a:rPr lang="en-US" b="1" dirty="0" err="1"/>
              <a:t>Koraci</a:t>
            </a:r>
            <a:r>
              <a:rPr lang="en-US" b="1" dirty="0"/>
              <a:t> 3-4</a:t>
            </a:r>
            <a:r>
              <a:rPr lang="en-US" dirty="0"/>
              <a:t> </a:t>
            </a:r>
            <a:r>
              <a:rPr lang="en-US" dirty="0" err="1"/>
              <a:t>pripremaju</a:t>
            </a:r>
            <a:r>
              <a:rPr lang="en-US" dirty="0"/>
              <a:t> </a:t>
            </a:r>
            <a:r>
              <a:rPr lang="en-US" dirty="0" err="1"/>
              <a:t>replikacionu</a:t>
            </a:r>
            <a:r>
              <a:rPr lang="en-US" dirty="0"/>
              <a:t> </a:t>
            </a:r>
            <a:r>
              <a:rPr lang="en-US" dirty="0" err="1"/>
              <a:t>infrastrukturu</a:t>
            </a:r>
            <a:r>
              <a:rPr lang="en-US" dirty="0"/>
              <a:t> — </a:t>
            </a:r>
            <a:r>
              <a:rPr lang="en-US" dirty="0" err="1"/>
              <a:t>preuzimanje</a:t>
            </a:r>
            <a:r>
              <a:rPr lang="en-US" dirty="0"/>
              <a:t> DATABASE GUID </a:t>
            </a:r>
            <a:r>
              <a:rPr lang="en-US" dirty="0" err="1"/>
              <a:t>mastera</a:t>
            </a:r>
            <a:r>
              <a:rPr lang="en-US" dirty="0"/>
              <a:t> </a:t>
            </a:r>
            <a:r>
              <a:rPr lang="en-US" dirty="0" err="1"/>
              <a:t>komandom</a:t>
            </a:r>
            <a:r>
              <a:rPr lang="en-US" dirty="0"/>
              <a:t> </a:t>
            </a:r>
            <a:r>
              <a:rPr lang="en-US" dirty="0" err="1"/>
              <a:t>gstat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upisivanje</a:t>
            </a:r>
            <a:r>
              <a:rPr lang="en-US" dirty="0"/>
              <a:t> u </a:t>
            </a:r>
            <a:r>
              <a:rPr lang="en-US" dirty="0" err="1"/>
              <a:t>konfiguraciju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source_guid</a:t>
            </a:r>
            <a:r>
              <a:rPr lang="en-US" dirty="0"/>
              <a:t>,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kreiranje</a:t>
            </a:r>
            <a:r>
              <a:rPr lang="en-US" dirty="0"/>
              <a:t> Journal </a:t>
            </a:r>
            <a:r>
              <a:rPr lang="en-US" dirty="0" err="1"/>
              <a:t>i</a:t>
            </a:r>
            <a:r>
              <a:rPr lang="en-US" dirty="0"/>
              <a:t> Archive </a:t>
            </a:r>
            <a:r>
              <a:rPr lang="en-US" dirty="0" err="1"/>
              <a:t>direktorijuma</a:t>
            </a:r>
            <a:r>
              <a:rPr lang="en-US" dirty="0"/>
              <a:t> za </a:t>
            </a:r>
            <a:r>
              <a:rPr lang="en-US" dirty="0" err="1"/>
              <a:t>odvajanje</a:t>
            </a:r>
            <a:r>
              <a:rPr lang="en-US" dirty="0"/>
              <a:t> </a:t>
            </a:r>
            <a:r>
              <a:rPr lang="en-US" dirty="0" err="1"/>
              <a:t>privremenih</a:t>
            </a:r>
            <a:r>
              <a:rPr lang="en-US" dirty="0"/>
              <a:t> od </a:t>
            </a:r>
            <a:r>
              <a:rPr lang="en-US" dirty="0" err="1"/>
              <a:t>trajnih</a:t>
            </a:r>
            <a:r>
              <a:rPr lang="en-US" dirty="0"/>
              <a:t> </a:t>
            </a:r>
            <a:r>
              <a:rPr lang="en-US" dirty="0" err="1"/>
              <a:t>segmenata</a:t>
            </a:r>
            <a:r>
              <a:rPr lang="en-US" dirty="0"/>
              <a:t>.</a:t>
            </a:r>
          </a:p>
          <a:p>
            <a:r>
              <a:rPr lang="en-US" b="1" dirty="0"/>
              <a:t>Korak 5</a:t>
            </a:r>
            <a:r>
              <a:rPr lang="en-US" dirty="0"/>
              <a:t> je </a:t>
            </a:r>
            <a:r>
              <a:rPr lang="en-US" dirty="0" err="1"/>
              <a:t>centralni</a:t>
            </a:r>
            <a:r>
              <a:rPr lang="en-US" dirty="0"/>
              <a:t> </a:t>
            </a:r>
            <a:r>
              <a:rPr lang="en-US" dirty="0" err="1"/>
              <a:t>korak</a:t>
            </a:r>
            <a:r>
              <a:rPr lang="en-US" dirty="0"/>
              <a:t> </a:t>
            </a:r>
            <a:r>
              <a:rPr lang="en-US" dirty="0" err="1"/>
              <a:t>konfiguracije</a:t>
            </a:r>
            <a:r>
              <a:rPr lang="en-US" dirty="0"/>
              <a:t> — u </a:t>
            </a:r>
            <a:r>
              <a:rPr lang="en-US" dirty="0" err="1"/>
              <a:t>replication.conf</a:t>
            </a:r>
            <a:r>
              <a:rPr lang="en-US" dirty="0"/>
              <a:t> se </a:t>
            </a:r>
            <a:r>
              <a:rPr lang="en-US" dirty="0" err="1"/>
              <a:t>podešavaju</a:t>
            </a:r>
            <a:r>
              <a:rPr lang="en-US" dirty="0"/>
              <a:t> </a:t>
            </a:r>
            <a:r>
              <a:rPr lang="en-US" dirty="0" err="1"/>
              <a:t>putanje</a:t>
            </a:r>
            <a:r>
              <a:rPr lang="en-US" dirty="0"/>
              <a:t> journal </a:t>
            </a:r>
            <a:r>
              <a:rPr lang="en-US" dirty="0" err="1"/>
              <a:t>i</a:t>
            </a:r>
            <a:r>
              <a:rPr lang="en-US" dirty="0"/>
              <a:t> archive </a:t>
            </a:r>
            <a:r>
              <a:rPr lang="en-US" dirty="0" err="1"/>
              <a:t>direktorijuma</a:t>
            </a:r>
            <a:r>
              <a:rPr lang="en-US" dirty="0"/>
              <a:t>, </a:t>
            </a:r>
            <a:r>
              <a:rPr lang="en-US" dirty="0" err="1"/>
              <a:t>source_guid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sync_replica</a:t>
            </a:r>
            <a:r>
              <a:rPr lang="en-US" dirty="0"/>
              <a:t> </a:t>
            </a:r>
            <a:r>
              <a:rPr lang="en-US" dirty="0" err="1"/>
              <a:t>parametri</a:t>
            </a:r>
            <a:r>
              <a:rPr lang="en-US" dirty="0"/>
              <a:t> za </a:t>
            </a:r>
            <a:r>
              <a:rPr lang="en-US" dirty="0" err="1"/>
              <a:t>obe</a:t>
            </a:r>
            <a:r>
              <a:rPr lang="en-US" dirty="0"/>
              <a:t> instance,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</a:t>
            </a:r>
            <a:r>
              <a:rPr lang="en-US" dirty="0" err="1"/>
              <a:t>određuje</a:t>
            </a:r>
            <a:r>
              <a:rPr lang="en-US" dirty="0"/>
              <a:t> da li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replikacija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sinhrona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asinhrona</a:t>
            </a:r>
            <a:r>
              <a:rPr lang="en-US" dirty="0"/>
              <a:t>.</a:t>
            </a:r>
          </a:p>
          <a:p>
            <a:r>
              <a:rPr lang="en-US" b="1" dirty="0" err="1"/>
              <a:t>Koraci</a:t>
            </a:r>
            <a:r>
              <a:rPr lang="en-US" b="1" dirty="0"/>
              <a:t> 6-7</a:t>
            </a:r>
            <a:r>
              <a:rPr lang="en-US" dirty="0"/>
              <a:t> </a:t>
            </a:r>
            <a:r>
              <a:rPr lang="en-US" dirty="0" err="1"/>
              <a:t>aktiviraju</a:t>
            </a:r>
            <a:r>
              <a:rPr lang="en-US" dirty="0"/>
              <a:t> </a:t>
            </a:r>
            <a:r>
              <a:rPr lang="en-US" dirty="0" err="1"/>
              <a:t>replikaciju</a:t>
            </a:r>
            <a:r>
              <a:rPr lang="en-US" dirty="0"/>
              <a:t> — Firebird </a:t>
            </a:r>
            <a:r>
              <a:rPr lang="en-US" dirty="0" err="1"/>
              <a:t>servis</a:t>
            </a:r>
            <a:r>
              <a:rPr lang="en-US" dirty="0"/>
              <a:t> se </a:t>
            </a:r>
            <a:r>
              <a:rPr lang="en-US" dirty="0" err="1"/>
              <a:t>restartuje</a:t>
            </a:r>
            <a:r>
              <a:rPr lang="en-US" dirty="0"/>
              <a:t>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izmena</a:t>
            </a:r>
            <a:r>
              <a:rPr lang="en-US" dirty="0"/>
              <a:t> </a:t>
            </a:r>
            <a:r>
              <a:rPr lang="en-US" dirty="0" err="1"/>
              <a:t>konfiguracionih</a:t>
            </a:r>
            <a:r>
              <a:rPr lang="en-US" dirty="0"/>
              <a:t> </a:t>
            </a:r>
            <a:r>
              <a:rPr lang="en-US" dirty="0" err="1"/>
              <a:t>fajlova</a:t>
            </a:r>
            <a:r>
              <a:rPr lang="en-US" dirty="0"/>
              <a:t>,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čega</a:t>
            </a:r>
            <a:r>
              <a:rPr lang="en-US" dirty="0"/>
              <a:t> se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masteru</a:t>
            </a:r>
            <a:r>
              <a:rPr lang="en-US" dirty="0"/>
              <a:t> </a:t>
            </a:r>
            <a:r>
              <a:rPr lang="en-US" dirty="0" err="1"/>
              <a:t>izvršava</a:t>
            </a:r>
            <a:r>
              <a:rPr lang="en-US" dirty="0"/>
              <a:t> ALTER DATABASE ENABLE PUBLICATION za </a:t>
            </a:r>
            <a:r>
              <a:rPr lang="en-US" dirty="0" err="1"/>
              <a:t>uključivanje</a:t>
            </a:r>
            <a:r>
              <a:rPr lang="en-US" dirty="0"/>
              <a:t> </a:t>
            </a:r>
            <a:r>
              <a:rPr lang="en-US" dirty="0" err="1"/>
              <a:t>praćenja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, a </a:t>
            </a:r>
            <a:r>
              <a:rPr lang="en-US" dirty="0" err="1"/>
              <a:t>na</a:t>
            </a:r>
            <a:r>
              <a:rPr lang="en-US" dirty="0"/>
              <a:t> slave </a:t>
            </a:r>
            <a:r>
              <a:rPr lang="en-US" dirty="0" err="1"/>
              <a:t>bazi</a:t>
            </a:r>
            <a:r>
              <a:rPr lang="en-US" dirty="0"/>
              <a:t> </a:t>
            </a:r>
            <a:r>
              <a:rPr lang="en-US" dirty="0" err="1"/>
              <a:t>gfix</a:t>
            </a:r>
            <a:r>
              <a:rPr lang="en-US" dirty="0"/>
              <a:t> -replica READ_ONLY </a:t>
            </a:r>
            <a:r>
              <a:rPr lang="en-US" dirty="0" err="1"/>
              <a:t>postavlja</a:t>
            </a:r>
            <a:r>
              <a:rPr lang="en-US" dirty="0"/>
              <a:t> je u read-only mod.</a:t>
            </a:r>
          </a:p>
          <a:p>
            <a:r>
              <a:rPr lang="en-US" b="1" dirty="0"/>
              <a:t>Korak 8</a:t>
            </a:r>
            <a:r>
              <a:rPr lang="en-US" dirty="0"/>
              <a:t> </a:t>
            </a:r>
            <a:r>
              <a:rPr lang="en-US" dirty="0" err="1"/>
              <a:t>rešava</a:t>
            </a:r>
            <a:r>
              <a:rPr lang="en-US" dirty="0"/>
              <a:t> </a:t>
            </a:r>
            <a:r>
              <a:rPr lang="en-US" dirty="0" err="1"/>
              <a:t>bezbednosni</a:t>
            </a:r>
            <a:r>
              <a:rPr lang="en-US" dirty="0"/>
              <a:t> </a:t>
            </a:r>
            <a:r>
              <a:rPr lang="en-US" dirty="0" err="1"/>
              <a:t>aspekt</a:t>
            </a:r>
            <a:r>
              <a:rPr lang="en-US" dirty="0"/>
              <a:t> — CREATE MAPPING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replikacionom</a:t>
            </a:r>
            <a:r>
              <a:rPr lang="en-US" dirty="0"/>
              <a:t> </a:t>
            </a:r>
            <a:r>
              <a:rPr lang="en-US" dirty="0" err="1"/>
              <a:t>agentu</a:t>
            </a:r>
            <a:r>
              <a:rPr lang="en-US" dirty="0"/>
              <a:t> da se </a:t>
            </a:r>
            <a:r>
              <a:rPr lang="en-US" dirty="0" err="1"/>
              <a:t>autentifikuje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slave </a:t>
            </a:r>
            <a:r>
              <a:rPr lang="en-US" dirty="0" err="1"/>
              <a:t>bazi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SYSDBA,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preduslov</a:t>
            </a:r>
            <a:r>
              <a:rPr lang="en-US" dirty="0"/>
              <a:t> da agent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primenjuje</a:t>
            </a:r>
            <a:r>
              <a:rPr lang="en-US" dirty="0"/>
              <a:t> </a:t>
            </a:r>
            <a:r>
              <a:rPr lang="en-US" dirty="0" err="1"/>
              <a:t>promene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slave </a:t>
            </a:r>
            <a:r>
              <a:rPr lang="en-US" dirty="0" err="1"/>
              <a:t>bazi</a:t>
            </a:r>
            <a:r>
              <a:rPr lang="en-US" dirty="0"/>
              <a:t> bez </a:t>
            </a:r>
            <a:r>
              <a:rPr lang="en-US" dirty="0" err="1"/>
              <a:t>zasebnih</a:t>
            </a:r>
            <a:r>
              <a:rPr lang="en-US" dirty="0"/>
              <a:t> </a:t>
            </a:r>
            <a:r>
              <a:rPr lang="en-US" dirty="0" err="1"/>
              <a:t>kredencijala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 </a:t>
            </a:r>
            <a:r>
              <a:rPr lang="en-US" dirty="0" err="1"/>
              <a:t>verifikacionih</a:t>
            </a:r>
            <a:r>
              <a:rPr lang="en-US" dirty="0"/>
              <a:t> </a:t>
            </a:r>
            <a:r>
              <a:rPr lang="en-US" dirty="0" err="1"/>
              <a:t>testova</a:t>
            </a:r>
            <a:r>
              <a:rPr lang="en-US" dirty="0"/>
              <a:t> </a:t>
            </a:r>
            <a:r>
              <a:rPr lang="en-US" dirty="0" err="1"/>
              <a:t>potvrđuju</a:t>
            </a:r>
            <a:r>
              <a:rPr lang="en-US" dirty="0"/>
              <a:t> da </a:t>
            </a:r>
            <a:r>
              <a:rPr lang="en-US" dirty="0" err="1"/>
              <a:t>replikacija</a:t>
            </a:r>
            <a:r>
              <a:rPr lang="en-US" dirty="0"/>
              <a:t> </a:t>
            </a:r>
            <a:r>
              <a:rPr lang="en-US" dirty="0" err="1"/>
              <a:t>funkcioniše</a:t>
            </a:r>
            <a:r>
              <a:rPr lang="en-US" dirty="0"/>
              <a:t> </a:t>
            </a:r>
            <a:r>
              <a:rPr lang="en-US" dirty="0" err="1"/>
              <a:t>ispravno</a:t>
            </a:r>
            <a:r>
              <a:rPr lang="en-US" dirty="0"/>
              <a:t> u </a:t>
            </a:r>
            <a:r>
              <a:rPr lang="en-US" dirty="0" err="1"/>
              <a:t>svim</a:t>
            </a:r>
            <a:r>
              <a:rPr lang="en-US" dirty="0"/>
              <a:t> </a:t>
            </a:r>
            <a:r>
              <a:rPr lang="en-US" dirty="0" err="1"/>
              <a:t>ključnim</a:t>
            </a:r>
            <a:r>
              <a:rPr lang="en-US" dirty="0"/>
              <a:t> </a:t>
            </a:r>
            <a:r>
              <a:rPr lang="en-US" dirty="0" err="1"/>
              <a:t>scenarijima</a:t>
            </a:r>
            <a:r>
              <a:rPr lang="en-US" dirty="0"/>
              <a:t> rada </a:t>
            </a:r>
            <a:r>
              <a:rPr lang="en-US" dirty="0" err="1"/>
              <a:t>sistema</a:t>
            </a:r>
            <a:r>
              <a:rPr lang="en-US" dirty="0"/>
              <a:t>.</a:t>
            </a:r>
          </a:p>
          <a:p>
            <a:r>
              <a:rPr lang="en-US" b="1" dirty="0"/>
              <a:t>Test 1 — INSERT</a:t>
            </a:r>
            <a:r>
              <a:rPr lang="en-US" dirty="0"/>
              <a:t> </a:t>
            </a:r>
            <a:r>
              <a:rPr lang="en-US" dirty="0" err="1"/>
              <a:t>verifikuje</a:t>
            </a:r>
            <a:r>
              <a:rPr lang="en-US" dirty="0"/>
              <a:t> </a:t>
            </a:r>
            <a:r>
              <a:rPr lang="en-US" dirty="0" err="1"/>
              <a:t>osnovnu</a:t>
            </a:r>
            <a:r>
              <a:rPr lang="en-US" dirty="0"/>
              <a:t> </a:t>
            </a:r>
            <a:r>
              <a:rPr lang="en-US" dirty="0" err="1"/>
              <a:t>replikaciju</a:t>
            </a:r>
            <a:r>
              <a:rPr lang="en-US" dirty="0"/>
              <a:t> —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unosa</a:t>
            </a:r>
            <a:r>
              <a:rPr lang="en-US" dirty="0"/>
              <a:t> </a:t>
            </a:r>
            <a:r>
              <a:rPr lang="en-US" dirty="0" err="1"/>
              <a:t>novog</a:t>
            </a:r>
            <a:r>
              <a:rPr lang="en-US" dirty="0"/>
              <a:t> </a:t>
            </a:r>
            <a:r>
              <a:rPr lang="en-US" dirty="0" err="1"/>
              <a:t>zaposlenog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COMMIT-a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masteru</a:t>
            </a:r>
            <a:r>
              <a:rPr lang="en-US" dirty="0"/>
              <a:t>, SELECT </a:t>
            </a:r>
            <a:r>
              <a:rPr lang="en-US" dirty="0" err="1"/>
              <a:t>na</a:t>
            </a:r>
            <a:r>
              <a:rPr lang="en-US" dirty="0"/>
              <a:t> slave </a:t>
            </a:r>
            <a:r>
              <a:rPr lang="en-US" dirty="0" err="1"/>
              <a:t>bazi</a:t>
            </a:r>
            <a:r>
              <a:rPr lang="en-US" dirty="0"/>
              <a:t> mora da </a:t>
            </a:r>
            <a:r>
              <a:rPr lang="en-US" dirty="0" err="1"/>
              <a:t>vrati</a:t>
            </a:r>
            <a:r>
              <a:rPr lang="en-US" dirty="0"/>
              <a:t> taj </a:t>
            </a:r>
            <a:r>
              <a:rPr lang="en-US" dirty="0" err="1"/>
              <a:t>isti</a:t>
            </a:r>
            <a:r>
              <a:rPr lang="en-US" dirty="0"/>
              <a:t> red,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potvrđuje</a:t>
            </a:r>
            <a:r>
              <a:rPr lang="en-US" dirty="0"/>
              <a:t> da journal </a:t>
            </a:r>
            <a:r>
              <a:rPr lang="en-US" dirty="0" err="1"/>
              <a:t>segmenti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replikacioni</a:t>
            </a:r>
            <a:r>
              <a:rPr lang="en-US" dirty="0"/>
              <a:t> agent </a:t>
            </a:r>
            <a:r>
              <a:rPr lang="en-US" dirty="0" err="1"/>
              <a:t>rade</a:t>
            </a:r>
            <a:r>
              <a:rPr lang="en-US" dirty="0"/>
              <a:t> </a:t>
            </a:r>
            <a:r>
              <a:rPr lang="en-US" dirty="0" err="1"/>
              <a:t>ispravno</a:t>
            </a:r>
            <a:r>
              <a:rPr lang="en-US" dirty="0"/>
              <a:t>.</a:t>
            </a:r>
          </a:p>
          <a:p>
            <a:r>
              <a:rPr lang="en-US" b="1" dirty="0"/>
              <a:t>Test 2 — UPDATE</a:t>
            </a:r>
            <a:r>
              <a:rPr lang="en-US" dirty="0"/>
              <a:t> </a:t>
            </a:r>
            <a:r>
              <a:rPr lang="en-US" dirty="0" err="1"/>
              <a:t>verifikuje</a:t>
            </a:r>
            <a:r>
              <a:rPr lang="en-US" dirty="0"/>
              <a:t> </a:t>
            </a:r>
            <a:r>
              <a:rPr lang="en-US" dirty="0" err="1"/>
              <a:t>replikaciju</a:t>
            </a:r>
            <a:r>
              <a:rPr lang="en-US" dirty="0"/>
              <a:t> </a:t>
            </a:r>
            <a:r>
              <a:rPr lang="en-US" dirty="0" err="1"/>
              <a:t>izmena</a:t>
            </a:r>
            <a:r>
              <a:rPr lang="en-US" dirty="0"/>
              <a:t> — </a:t>
            </a:r>
            <a:r>
              <a:rPr lang="en-US" dirty="0" err="1"/>
              <a:t>promena</a:t>
            </a:r>
            <a:r>
              <a:rPr lang="en-US" dirty="0"/>
              <a:t> plate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masteru</a:t>
            </a:r>
            <a:r>
              <a:rPr lang="en-US" dirty="0"/>
              <a:t> mora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vidljiva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slave </a:t>
            </a:r>
            <a:r>
              <a:rPr lang="en-US" dirty="0" err="1"/>
              <a:t>bazi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identičnom</a:t>
            </a:r>
            <a:r>
              <a:rPr lang="en-US" dirty="0"/>
              <a:t> </a:t>
            </a:r>
            <a:r>
              <a:rPr lang="en-US" dirty="0" err="1"/>
              <a:t>vrednošću</a:t>
            </a:r>
            <a:r>
              <a:rPr lang="en-US" dirty="0"/>
              <a:t>, </a:t>
            </a:r>
            <a:r>
              <a:rPr lang="en-US" dirty="0" err="1"/>
              <a:t>čime</a:t>
            </a:r>
            <a:r>
              <a:rPr lang="en-US" dirty="0"/>
              <a:t> se </a:t>
            </a:r>
            <a:r>
              <a:rPr lang="en-US" dirty="0" err="1"/>
              <a:t>potvrđuje</a:t>
            </a:r>
            <a:r>
              <a:rPr lang="en-US" dirty="0"/>
              <a:t> da se </a:t>
            </a:r>
            <a:r>
              <a:rPr lang="en-US" dirty="0" err="1"/>
              <a:t>binarne</a:t>
            </a:r>
            <a:r>
              <a:rPr lang="en-US" dirty="0"/>
              <a:t> </a:t>
            </a:r>
            <a:r>
              <a:rPr lang="en-US" dirty="0" err="1"/>
              <a:t>promene</a:t>
            </a:r>
            <a:r>
              <a:rPr lang="en-US" dirty="0"/>
              <a:t> </a:t>
            </a:r>
            <a:r>
              <a:rPr lang="en-US" dirty="0" err="1"/>
              <a:t>pravilno</a:t>
            </a:r>
            <a:r>
              <a:rPr lang="en-US" dirty="0"/>
              <a:t> </a:t>
            </a:r>
            <a:r>
              <a:rPr lang="en-US" dirty="0" err="1"/>
              <a:t>prenose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archive directory.</a:t>
            </a:r>
          </a:p>
          <a:p>
            <a:r>
              <a:rPr lang="en-US" b="1" dirty="0"/>
              <a:t>Test 3 — DELETE</a:t>
            </a:r>
            <a:r>
              <a:rPr lang="en-US" dirty="0"/>
              <a:t> </a:t>
            </a:r>
            <a:r>
              <a:rPr lang="en-US" dirty="0" err="1"/>
              <a:t>verifikuje</a:t>
            </a:r>
            <a:r>
              <a:rPr lang="en-US" dirty="0"/>
              <a:t> </a:t>
            </a:r>
            <a:r>
              <a:rPr lang="en-US" dirty="0" err="1"/>
              <a:t>referijalni</a:t>
            </a:r>
            <a:r>
              <a:rPr lang="en-US" dirty="0"/>
              <a:t> </a:t>
            </a:r>
            <a:r>
              <a:rPr lang="en-US" dirty="0" err="1"/>
              <a:t>integritet</a:t>
            </a:r>
            <a:r>
              <a:rPr lang="en-US" dirty="0"/>
              <a:t> </a:t>
            </a:r>
            <a:r>
              <a:rPr lang="en-US" dirty="0" err="1"/>
              <a:t>pri</a:t>
            </a:r>
            <a:r>
              <a:rPr lang="en-US" dirty="0"/>
              <a:t> </a:t>
            </a:r>
            <a:r>
              <a:rPr lang="en-US" dirty="0" err="1"/>
              <a:t>brisanju</a:t>
            </a:r>
            <a:r>
              <a:rPr lang="en-US" dirty="0"/>
              <a:t> — </a:t>
            </a:r>
            <a:r>
              <a:rPr lang="en-US" dirty="0" err="1"/>
              <a:t>brisanje</a:t>
            </a:r>
            <a:r>
              <a:rPr lang="en-US" dirty="0"/>
              <a:t> se mora </a:t>
            </a:r>
            <a:r>
              <a:rPr lang="en-US" dirty="0" err="1"/>
              <a:t>izvršiti</a:t>
            </a:r>
            <a:r>
              <a:rPr lang="en-US" dirty="0"/>
              <a:t> u </a:t>
            </a:r>
            <a:r>
              <a:rPr lang="en-US" dirty="0" err="1"/>
              <a:t>ispravnom</a:t>
            </a:r>
            <a:r>
              <a:rPr lang="en-US" dirty="0"/>
              <a:t> </a:t>
            </a:r>
            <a:r>
              <a:rPr lang="en-US" dirty="0" err="1"/>
              <a:t>redosledu</a:t>
            </a:r>
            <a:r>
              <a:rPr lang="en-US" dirty="0"/>
              <a:t> (</a:t>
            </a:r>
            <a:r>
              <a:rPr lang="en-US" dirty="0" err="1"/>
              <a:t>prvo</a:t>
            </a:r>
            <a:r>
              <a:rPr lang="en-US" dirty="0"/>
              <a:t> SALARY_HISTORY, pa EMPLOYEE), a COUNT </a:t>
            </a:r>
            <a:r>
              <a:rPr lang="en-US" dirty="0" err="1"/>
              <a:t>na</a:t>
            </a:r>
            <a:r>
              <a:rPr lang="en-US" dirty="0"/>
              <a:t> slave </a:t>
            </a:r>
            <a:r>
              <a:rPr lang="en-US" dirty="0" err="1"/>
              <a:t>bazi</a:t>
            </a:r>
            <a:r>
              <a:rPr lang="en-US" dirty="0"/>
              <a:t> mora </a:t>
            </a:r>
            <a:r>
              <a:rPr lang="en-US" dirty="0" err="1"/>
              <a:t>potvrditi</a:t>
            </a:r>
            <a:r>
              <a:rPr lang="en-US" dirty="0"/>
              <a:t> da je </a:t>
            </a:r>
            <a:r>
              <a:rPr lang="en-US" dirty="0" err="1"/>
              <a:t>integritet</a:t>
            </a:r>
            <a:r>
              <a:rPr lang="en-US" dirty="0"/>
              <a:t> </a:t>
            </a:r>
            <a:r>
              <a:rPr lang="en-US" dirty="0" err="1"/>
              <a:t>očuvan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oba </a:t>
            </a:r>
            <a:r>
              <a:rPr lang="en-US" dirty="0" err="1"/>
              <a:t>čvora</a:t>
            </a:r>
            <a:r>
              <a:rPr lang="en-US" dirty="0"/>
              <a:t>.</a:t>
            </a:r>
          </a:p>
          <a:p>
            <a:r>
              <a:rPr lang="en-US" b="1" dirty="0"/>
              <a:t>Test 4 — Health-check</a:t>
            </a:r>
            <a:r>
              <a:rPr lang="en-US" dirty="0"/>
              <a:t> je </a:t>
            </a:r>
            <a:r>
              <a:rPr lang="en-US" dirty="0" err="1"/>
              <a:t>najvažniji</a:t>
            </a:r>
            <a:r>
              <a:rPr lang="en-US" dirty="0"/>
              <a:t> monitoring </a:t>
            </a:r>
            <a:r>
              <a:rPr lang="en-US" dirty="0" err="1"/>
              <a:t>alat</a:t>
            </a:r>
            <a:r>
              <a:rPr lang="en-US" dirty="0"/>
              <a:t> — </a:t>
            </a:r>
            <a:r>
              <a:rPr lang="en-US" dirty="0" err="1"/>
              <a:t>poređenjem</a:t>
            </a:r>
            <a:r>
              <a:rPr lang="en-US" dirty="0"/>
              <a:t> MON$NEXT_TRANSACTION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mastera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replike</a:t>
            </a:r>
            <a:r>
              <a:rPr lang="en-US" dirty="0"/>
              <a:t> </a:t>
            </a:r>
            <a:r>
              <a:rPr lang="en-US" dirty="0" err="1"/>
              <a:t>dobijamo</a:t>
            </a:r>
            <a:r>
              <a:rPr lang="en-US" dirty="0"/>
              <a:t> </a:t>
            </a:r>
            <a:r>
              <a:rPr lang="en-US" dirty="0" err="1"/>
              <a:t>direktan</a:t>
            </a:r>
            <a:r>
              <a:rPr lang="en-US" dirty="0"/>
              <a:t> </a:t>
            </a:r>
            <a:r>
              <a:rPr lang="en-US" dirty="0" err="1"/>
              <a:t>uvid</a:t>
            </a:r>
            <a:r>
              <a:rPr lang="en-US" dirty="0"/>
              <a:t> u </a:t>
            </a:r>
            <a:r>
              <a:rPr lang="en-US" dirty="0" err="1"/>
              <a:t>zdravlje</a:t>
            </a:r>
            <a:r>
              <a:rPr lang="en-US" dirty="0"/>
              <a:t> </a:t>
            </a:r>
            <a:r>
              <a:rPr lang="en-US" dirty="0" err="1"/>
              <a:t>replikacije</a:t>
            </a:r>
            <a:r>
              <a:rPr lang="en-US" dirty="0"/>
              <a:t>, mala </a:t>
            </a:r>
            <a:r>
              <a:rPr lang="en-US" dirty="0" err="1"/>
              <a:t>razlika</a:t>
            </a:r>
            <a:r>
              <a:rPr lang="en-US" dirty="0"/>
              <a:t> </a:t>
            </a:r>
            <a:r>
              <a:rPr lang="en-US" dirty="0" err="1"/>
              <a:t>znači</a:t>
            </a:r>
            <a:r>
              <a:rPr lang="en-US" dirty="0"/>
              <a:t> </a:t>
            </a:r>
            <a:r>
              <a:rPr lang="en-US" dirty="0" err="1"/>
              <a:t>zdravo</a:t>
            </a:r>
            <a:r>
              <a:rPr lang="en-US" dirty="0"/>
              <a:t> </a:t>
            </a:r>
            <a:r>
              <a:rPr lang="en-US" dirty="0" err="1"/>
              <a:t>okruženje</a:t>
            </a:r>
            <a:r>
              <a:rPr lang="en-US" dirty="0"/>
              <a:t>, a </a:t>
            </a:r>
            <a:r>
              <a:rPr lang="en-US" dirty="0" err="1"/>
              <a:t>velika</a:t>
            </a:r>
            <a:r>
              <a:rPr lang="en-US" dirty="0"/>
              <a:t> </a:t>
            </a:r>
            <a:r>
              <a:rPr lang="en-US" dirty="0" err="1"/>
              <a:t>razlika</a:t>
            </a:r>
            <a:r>
              <a:rPr lang="en-US" dirty="0"/>
              <a:t> </a:t>
            </a:r>
            <a:r>
              <a:rPr lang="en-US" dirty="0" err="1"/>
              <a:t>signalizira</a:t>
            </a:r>
            <a:r>
              <a:rPr lang="en-US" dirty="0"/>
              <a:t> lag problem koji </a:t>
            </a:r>
            <a:r>
              <a:rPr lang="en-US" dirty="0" err="1"/>
              <a:t>zahteva</a:t>
            </a:r>
            <a:r>
              <a:rPr lang="en-US" dirty="0"/>
              <a:t> </a:t>
            </a:r>
            <a:r>
              <a:rPr lang="en-US" dirty="0" err="1"/>
              <a:t>hitnu</a:t>
            </a:r>
            <a:r>
              <a:rPr lang="en-US" dirty="0"/>
              <a:t> </a:t>
            </a:r>
            <a:r>
              <a:rPr lang="en-US" dirty="0" err="1"/>
              <a:t>dijagnostiku</a:t>
            </a:r>
            <a:r>
              <a:rPr lang="en-US" dirty="0"/>
              <a:t>.</a:t>
            </a:r>
          </a:p>
          <a:p>
            <a:r>
              <a:rPr lang="en-US" b="1" dirty="0"/>
              <a:t>Test 5 — </a:t>
            </a:r>
            <a:r>
              <a:rPr lang="en-US" b="1" dirty="0" err="1"/>
              <a:t>Isključivanje</a:t>
            </a:r>
            <a:r>
              <a:rPr lang="en-US" b="1" dirty="0"/>
              <a:t> </a:t>
            </a:r>
            <a:r>
              <a:rPr lang="en-US" b="1" dirty="0" err="1"/>
              <a:t>tabele</a:t>
            </a:r>
            <a:r>
              <a:rPr lang="en-US" dirty="0"/>
              <a:t> </a:t>
            </a:r>
            <a:r>
              <a:rPr lang="en-US" dirty="0" err="1"/>
              <a:t>demonstrira</a:t>
            </a:r>
            <a:r>
              <a:rPr lang="en-US" dirty="0"/>
              <a:t> </a:t>
            </a:r>
            <a:r>
              <a:rPr lang="en-US" dirty="0" err="1"/>
              <a:t>fleksibilnost</a:t>
            </a:r>
            <a:r>
              <a:rPr lang="en-US" dirty="0"/>
              <a:t> </a:t>
            </a:r>
            <a:r>
              <a:rPr lang="en-US" dirty="0" err="1"/>
              <a:t>logičke</a:t>
            </a:r>
            <a:r>
              <a:rPr lang="en-US" dirty="0"/>
              <a:t> </a:t>
            </a:r>
            <a:r>
              <a:rPr lang="en-US" dirty="0" err="1"/>
              <a:t>replikacije</a:t>
            </a:r>
            <a:r>
              <a:rPr lang="en-US" dirty="0"/>
              <a:t> — </a:t>
            </a:r>
            <a:r>
              <a:rPr lang="en-US" dirty="0" err="1"/>
              <a:t>komandom</a:t>
            </a:r>
            <a:r>
              <a:rPr lang="en-US" dirty="0"/>
              <a:t> ALTER PUBLICATION </a:t>
            </a:r>
            <a:r>
              <a:rPr lang="en-US" dirty="0" err="1"/>
              <a:t>konkretna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se </a:t>
            </a:r>
            <a:r>
              <a:rPr lang="en-US" dirty="0" err="1"/>
              <a:t>isključuje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replikacije</a:t>
            </a:r>
            <a:r>
              <a:rPr lang="en-US" dirty="0"/>
              <a:t> bez </a:t>
            </a:r>
            <a:r>
              <a:rPr lang="en-US" dirty="0" err="1"/>
              <a:t>uticaja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ostale</a:t>
            </a:r>
            <a:r>
              <a:rPr lang="en-US" dirty="0"/>
              <a:t> </a:t>
            </a:r>
            <a:r>
              <a:rPr lang="en-US" dirty="0" err="1"/>
              <a:t>tabele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jedna</a:t>
            </a:r>
            <a:r>
              <a:rPr lang="en-US" dirty="0"/>
              <a:t> od </a:t>
            </a:r>
            <a:r>
              <a:rPr lang="en-US" dirty="0" err="1"/>
              <a:t>ključnih</a:t>
            </a:r>
            <a:r>
              <a:rPr lang="en-US" dirty="0"/>
              <a:t> </a:t>
            </a:r>
            <a:r>
              <a:rPr lang="en-US" dirty="0" err="1"/>
              <a:t>prednosti</a:t>
            </a:r>
            <a:r>
              <a:rPr lang="en-US" dirty="0"/>
              <a:t> </a:t>
            </a:r>
            <a:r>
              <a:rPr lang="en-US" dirty="0" err="1"/>
              <a:t>logičke</a:t>
            </a:r>
            <a:r>
              <a:rPr lang="en-US" dirty="0"/>
              <a:t>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binarnom</a:t>
            </a:r>
            <a:r>
              <a:rPr lang="en-US" dirty="0"/>
              <a:t> </a:t>
            </a:r>
            <a:r>
              <a:rPr lang="en-US" dirty="0" err="1"/>
              <a:t>replikacijom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Mirroring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replikacija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fundamentalno</a:t>
            </a:r>
            <a:r>
              <a:rPr lang="en-US" dirty="0"/>
              <a:t> </a:t>
            </a:r>
            <a:r>
              <a:rPr lang="en-US" dirty="0" err="1"/>
              <a:t>različita</a:t>
            </a:r>
            <a:r>
              <a:rPr lang="en-US" dirty="0"/>
              <a:t> </a:t>
            </a:r>
            <a:r>
              <a:rPr lang="en-US" dirty="0" err="1"/>
              <a:t>mehanizma</a:t>
            </a:r>
            <a:r>
              <a:rPr lang="en-US" dirty="0"/>
              <a:t> — Mirroring je </a:t>
            </a:r>
            <a:r>
              <a:rPr lang="en-US" dirty="0" err="1"/>
              <a:t>hardverska</a:t>
            </a:r>
            <a:r>
              <a:rPr lang="en-US" dirty="0"/>
              <a:t> </a:t>
            </a:r>
            <a:r>
              <a:rPr lang="en-US" dirty="0" err="1"/>
              <a:t>redundansa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radi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nivou</a:t>
            </a:r>
            <a:r>
              <a:rPr lang="en-US" dirty="0"/>
              <a:t> </a:t>
            </a:r>
            <a:r>
              <a:rPr lang="en-US" dirty="0" err="1"/>
              <a:t>stranica</a:t>
            </a:r>
            <a:r>
              <a:rPr lang="en-US" dirty="0"/>
              <a:t> </a:t>
            </a:r>
            <a:r>
              <a:rPr lang="en-US" dirty="0" err="1"/>
              <a:t>isključivo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LAN-a, </a:t>
            </a:r>
            <a:r>
              <a:rPr lang="en-US" dirty="0" err="1"/>
              <a:t>dok</a:t>
            </a:r>
            <a:r>
              <a:rPr lang="en-US" dirty="0"/>
              <a:t> je </a:t>
            </a:r>
            <a:r>
              <a:rPr lang="en-US" dirty="0" err="1"/>
              <a:t>replikacija</a:t>
            </a:r>
            <a:r>
              <a:rPr lang="en-US" dirty="0"/>
              <a:t> </a:t>
            </a:r>
            <a:r>
              <a:rPr lang="en-US" dirty="0" err="1"/>
              <a:t>logička</a:t>
            </a:r>
            <a:r>
              <a:rPr lang="en-US" dirty="0"/>
              <a:t> </a:t>
            </a:r>
            <a:r>
              <a:rPr lang="en-US" dirty="0" err="1"/>
              <a:t>sinhronizacija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podržava</a:t>
            </a:r>
            <a:r>
              <a:rPr lang="en-US" dirty="0"/>
              <a:t> WAN </a:t>
            </a:r>
            <a:r>
              <a:rPr lang="en-US" dirty="0" err="1"/>
              <a:t>veze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selektivno</a:t>
            </a:r>
            <a:r>
              <a:rPr lang="en-US" dirty="0"/>
              <a:t> </a:t>
            </a:r>
            <a:r>
              <a:rPr lang="en-US" dirty="0" err="1"/>
              <a:t>kopiranje</a:t>
            </a:r>
            <a:r>
              <a:rPr lang="en-US" dirty="0"/>
              <a:t> </a:t>
            </a:r>
            <a:r>
              <a:rPr lang="en-US" dirty="0" err="1"/>
              <a:t>specifičnih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.</a:t>
            </a:r>
          </a:p>
          <a:p>
            <a:r>
              <a:rPr lang="en-US" dirty="0" err="1"/>
              <a:t>Nativna</a:t>
            </a:r>
            <a:r>
              <a:rPr lang="en-US" dirty="0"/>
              <a:t> </a:t>
            </a:r>
            <a:r>
              <a:rPr lang="en-US" dirty="0" err="1"/>
              <a:t>replikacija</a:t>
            </a:r>
            <a:r>
              <a:rPr lang="en-US" dirty="0"/>
              <a:t> </a:t>
            </a:r>
            <a:r>
              <a:rPr lang="en-US" dirty="0" err="1"/>
              <a:t>uvedena</a:t>
            </a:r>
            <a:r>
              <a:rPr lang="en-US" dirty="0"/>
              <a:t> u Firebird 4.0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revolucionarnu</a:t>
            </a:r>
            <a:r>
              <a:rPr lang="en-US" dirty="0"/>
              <a:t> </a:t>
            </a:r>
            <a:r>
              <a:rPr lang="en-US" dirty="0" err="1"/>
              <a:t>promenu</a:t>
            </a:r>
            <a:r>
              <a:rPr lang="en-US" dirty="0"/>
              <a:t> — po </a:t>
            </a:r>
            <a:r>
              <a:rPr lang="en-US" dirty="0" err="1"/>
              <a:t>prvi</a:t>
            </a:r>
            <a:r>
              <a:rPr lang="en-US" dirty="0"/>
              <a:t> put je </a:t>
            </a:r>
            <a:r>
              <a:rPr lang="en-US" dirty="0" err="1"/>
              <a:t>replikacija</a:t>
            </a:r>
            <a:r>
              <a:rPr lang="en-US" dirty="0"/>
              <a:t> </a:t>
            </a:r>
            <a:r>
              <a:rPr lang="en-US" dirty="0" err="1"/>
              <a:t>ugrađeni</a:t>
            </a:r>
            <a:r>
              <a:rPr lang="en-US" dirty="0"/>
              <a:t> </a:t>
            </a:r>
            <a:r>
              <a:rPr lang="en-US" dirty="0" err="1"/>
              <a:t>mehanizam</a:t>
            </a:r>
            <a:r>
              <a:rPr lang="en-US" dirty="0"/>
              <a:t> </a:t>
            </a:r>
            <a:r>
              <a:rPr lang="en-US" dirty="0" err="1"/>
              <a:t>samog</a:t>
            </a:r>
            <a:r>
              <a:rPr lang="en-US" dirty="0"/>
              <a:t> engine-a bez </a:t>
            </a:r>
            <a:r>
              <a:rPr lang="en-US" dirty="0" err="1"/>
              <a:t>potrebe</a:t>
            </a:r>
            <a:r>
              <a:rPr lang="en-US" dirty="0"/>
              <a:t> za </a:t>
            </a:r>
            <a:r>
              <a:rPr lang="en-US" dirty="0" err="1"/>
              <a:t>alatima</a:t>
            </a:r>
            <a:r>
              <a:rPr lang="en-US" dirty="0"/>
              <a:t> </a:t>
            </a:r>
            <a:r>
              <a:rPr lang="en-US" dirty="0" err="1"/>
              <a:t>trećih</a:t>
            </a:r>
            <a:r>
              <a:rPr lang="en-US" dirty="0"/>
              <a:t> </a:t>
            </a:r>
            <a:r>
              <a:rPr lang="en-US" dirty="0" err="1"/>
              <a:t>strana</a:t>
            </a:r>
            <a:r>
              <a:rPr lang="en-US" dirty="0"/>
              <a:t>.</a:t>
            </a:r>
          </a:p>
          <a:p>
            <a:r>
              <a:rPr lang="en-US" dirty="0"/>
              <a:t>Izbor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sinhrona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asinhrona</a:t>
            </a:r>
            <a:r>
              <a:rPr lang="en-US" dirty="0"/>
              <a:t> </a:t>
            </a:r>
            <a:r>
              <a:rPr lang="en-US" dirty="0" err="1"/>
              <a:t>režima</a:t>
            </a:r>
            <a:r>
              <a:rPr lang="en-US" dirty="0"/>
              <a:t> </a:t>
            </a:r>
            <a:r>
              <a:rPr lang="en-US" dirty="0" err="1"/>
              <a:t>uvek</a:t>
            </a:r>
            <a:r>
              <a:rPr lang="en-US" dirty="0"/>
              <a:t> se </a:t>
            </a:r>
            <a:r>
              <a:rPr lang="en-US" dirty="0" err="1"/>
              <a:t>svodi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poslovni</a:t>
            </a:r>
            <a:r>
              <a:rPr lang="en-US" dirty="0"/>
              <a:t> </a:t>
            </a:r>
            <a:r>
              <a:rPr lang="en-US" dirty="0" err="1"/>
              <a:t>zahtev</a:t>
            </a:r>
            <a:r>
              <a:rPr lang="en-US" dirty="0"/>
              <a:t> — Zero Data Loss za </a:t>
            </a:r>
            <a:r>
              <a:rPr lang="en-US" dirty="0" err="1"/>
              <a:t>finansije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zdravstvo</a:t>
            </a:r>
            <a:r>
              <a:rPr lang="en-US" dirty="0"/>
              <a:t>, </a:t>
            </a:r>
            <a:r>
              <a:rPr lang="en-US" dirty="0" err="1"/>
              <a:t>maksimalna</a:t>
            </a:r>
            <a:r>
              <a:rPr lang="en-US" dirty="0"/>
              <a:t> </a:t>
            </a:r>
            <a:r>
              <a:rPr lang="en-US" dirty="0" err="1"/>
              <a:t>brzina</a:t>
            </a:r>
            <a:r>
              <a:rPr lang="en-US" dirty="0"/>
              <a:t> za </a:t>
            </a:r>
            <a:r>
              <a:rPr lang="en-US" dirty="0" err="1"/>
              <a:t>geografski</a:t>
            </a:r>
            <a:r>
              <a:rPr lang="en-US" dirty="0"/>
              <a:t> </a:t>
            </a:r>
            <a:r>
              <a:rPr lang="en-US" dirty="0" err="1"/>
              <a:t>distribuirane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WAN </a:t>
            </a:r>
            <a:r>
              <a:rPr lang="en-US" dirty="0" err="1"/>
              <a:t>vezama</a:t>
            </a:r>
            <a:r>
              <a:rPr lang="en-US" dirty="0"/>
              <a:t>.</a:t>
            </a:r>
          </a:p>
          <a:p>
            <a:r>
              <a:rPr lang="en-US" dirty="0" err="1"/>
              <a:t>Eho</a:t>
            </a:r>
            <a:r>
              <a:rPr lang="en-US" dirty="0"/>
              <a:t> </a:t>
            </a:r>
            <a:r>
              <a:rPr lang="en-US" dirty="0" err="1"/>
              <a:t>efekat</a:t>
            </a:r>
            <a:r>
              <a:rPr lang="en-US" dirty="0"/>
              <a:t> je </a:t>
            </a:r>
            <a:r>
              <a:rPr lang="en-US" dirty="0" err="1"/>
              <a:t>jedan</a:t>
            </a:r>
            <a:r>
              <a:rPr lang="en-US" dirty="0"/>
              <a:t> od </a:t>
            </a:r>
            <a:r>
              <a:rPr lang="en-US" dirty="0" err="1"/>
              <a:t>najvećih</a:t>
            </a:r>
            <a:r>
              <a:rPr lang="en-US" dirty="0"/>
              <a:t> </a:t>
            </a:r>
            <a:r>
              <a:rPr lang="en-US" dirty="0" err="1"/>
              <a:t>izazova</a:t>
            </a:r>
            <a:r>
              <a:rPr lang="en-US" dirty="0"/>
              <a:t> u Multi-Master </a:t>
            </a:r>
            <a:r>
              <a:rPr lang="en-US" dirty="0" err="1"/>
              <a:t>topologijama</a:t>
            </a:r>
            <a:r>
              <a:rPr lang="en-US" dirty="0"/>
              <a:t> — RDB$GET_CONTEXT('SYSTEM','REPLICATING') je </a:t>
            </a:r>
            <a:r>
              <a:rPr lang="en-US" dirty="0" err="1"/>
              <a:t>ključni</a:t>
            </a:r>
            <a:r>
              <a:rPr lang="en-US" dirty="0"/>
              <a:t> </a:t>
            </a:r>
            <a:r>
              <a:rPr lang="en-US" dirty="0" err="1"/>
              <a:t>mehanizam</a:t>
            </a:r>
            <a:r>
              <a:rPr lang="en-US" dirty="0"/>
              <a:t> koji </a:t>
            </a:r>
            <a:r>
              <a:rPr lang="en-US" dirty="0" err="1"/>
              <a:t>sprečava</a:t>
            </a:r>
            <a:r>
              <a:rPr lang="en-US" dirty="0"/>
              <a:t> </a:t>
            </a:r>
            <a:r>
              <a:rPr lang="en-US" dirty="0" err="1"/>
              <a:t>beskonačne</a:t>
            </a:r>
            <a:r>
              <a:rPr lang="en-US" dirty="0"/>
              <a:t> </a:t>
            </a:r>
            <a:r>
              <a:rPr lang="en-US" dirty="0" err="1"/>
              <a:t>petlje</a:t>
            </a:r>
            <a:r>
              <a:rPr lang="en-US" dirty="0"/>
              <a:t> </a:t>
            </a:r>
            <a:r>
              <a:rPr lang="en-US" dirty="0" err="1"/>
              <a:t>tako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trigeri</a:t>
            </a:r>
            <a:r>
              <a:rPr lang="en-US" dirty="0"/>
              <a:t> ne </a:t>
            </a:r>
            <a:r>
              <a:rPr lang="en-US" dirty="0" err="1"/>
              <a:t>okidaju</a:t>
            </a:r>
            <a:r>
              <a:rPr lang="en-US" dirty="0"/>
              <a:t> </a:t>
            </a:r>
            <a:r>
              <a:rPr lang="en-US" dirty="0" err="1"/>
              <a:t>ponovo</a:t>
            </a:r>
            <a:r>
              <a:rPr lang="en-US" dirty="0"/>
              <a:t> </a:t>
            </a:r>
            <a:r>
              <a:rPr lang="en-US" dirty="0" err="1"/>
              <a:t>tokom</a:t>
            </a:r>
            <a:r>
              <a:rPr lang="en-US" dirty="0"/>
              <a:t> </a:t>
            </a:r>
            <a:r>
              <a:rPr lang="en-US" dirty="0" err="1"/>
              <a:t>procesa</a:t>
            </a:r>
            <a:r>
              <a:rPr lang="en-US" dirty="0"/>
              <a:t> </a:t>
            </a:r>
            <a:r>
              <a:rPr lang="en-US" dirty="0" err="1"/>
              <a:t>replikacije</a:t>
            </a:r>
            <a:r>
              <a:rPr lang="en-US" dirty="0"/>
              <a:t>.</a:t>
            </a:r>
          </a:p>
          <a:p>
            <a:r>
              <a:rPr lang="en-US" dirty="0"/>
              <a:t>Firebird 4.0/5.0 je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nedavno</a:t>
            </a:r>
            <a:r>
              <a:rPr lang="en-US" dirty="0"/>
              <a:t> </a:t>
            </a:r>
            <a:r>
              <a:rPr lang="en-US" dirty="0" err="1"/>
              <a:t>dostigao</a:t>
            </a:r>
            <a:r>
              <a:rPr lang="en-US" dirty="0"/>
              <a:t> enterprise </a:t>
            </a:r>
            <a:r>
              <a:rPr lang="en-US" dirty="0" err="1"/>
              <a:t>nivo</a:t>
            </a:r>
            <a:r>
              <a:rPr lang="en-US" dirty="0"/>
              <a:t> </a:t>
            </a:r>
            <a:r>
              <a:rPr lang="en-US" dirty="0" err="1"/>
              <a:t>replikacije</a:t>
            </a:r>
            <a:r>
              <a:rPr lang="en-US" dirty="0"/>
              <a:t> koji PostgreSQL </a:t>
            </a:r>
            <a:r>
              <a:rPr lang="en-US" dirty="0" err="1"/>
              <a:t>i</a:t>
            </a:r>
            <a:r>
              <a:rPr lang="en-US" dirty="0"/>
              <a:t> MSSQL </a:t>
            </a:r>
            <a:r>
              <a:rPr lang="en-US" dirty="0" err="1"/>
              <a:t>imaju</a:t>
            </a:r>
            <a:r>
              <a:rPr lang="en-US" dirty="0"/>
              <a:t>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godinama</a:t>
            </a:r>
            <a:r>
              <a:rPr lang="en-US" dirty="0"/>
              <a:t> —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prednost</a:t>
            </a:r>
            <a:r>
              <a:rPr lang="en-US" dirty="0"/>
              <a:t> </a:t>
            </a:r>
            <a:r>
              <a:rPr lang="en-US" dirty="0" err="1"/>
              <a:t>Firebirda</a:t>
            </a:r>
            <a:r>
              <a:rPr lang="en-US" dirty="0"/>
              <a:t> </a:t>
            </a:r>
            <a:r>
              <a:rPr lang="en-US" dirty="0" err="1"/>
              <a:t>ostaje</a:t>
            </a:r>
            <a:r>
              <a:rPr lang="en-US" dirty="0"/>
              <a:t> </a:t>
            </a:r>
            <a:r>
              <a:rPr lang="en-US" dirty="0" err="1"/>
              <a:t>izuzetno</a:t>
            </a:r>
            <a:r>
              <a:rPr lang="en-US" dirty="0"/>
              <a:t> </a:t>
            </a:r>
            <a:r>
              <a:rPr lang="en-US" dirty="0" err="1"/>
              <a:t>niska</a:t>
            </a:r>
            <a:r>
              <a:rPr lang="en-US" dirty="0"/>
              <a:t> </a:t>
            </a:r>
            <a:r>
              <a:rPr lang="en-US" dirty="0" err="1"/>
              <a:t>potrošnja</a:t>
            </a:r>
            <a:r>
              <a:rPr lang="en-US" dirty="0"/>
              <a:t> </a:t>
            </a:r>
            <a:r>
              <a:rPr lang="en-US" dirty="0" err="1"/>
              <a:t>resursa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jednostavnost</a:t>
            </a:r>
            <a:r>
              <a:rPr lang="en-US" dirty="0"/>
              <a:t> </a:t>
            </a:r>
            <a:r>
              <a:rPr lang="en-US" dirty="0" err="1"/>
              <a:t>administracije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8942832" cy="548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Replikacija podataka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(Replication and Mirroring)</a:t>
            </a:r>
            <a:endParaRPr lang="en-US" sz="4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Firebird baze podataka</a:t>
            </a:r>
            <a:endParaRPr lang="en-US" sz="20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3F7093A-1B0E-EA2D-69D0-73E890752FCC}"/>
              </a:ext>
            </a:extLst>
          </p:cNvPr>
          <p:cNvSpPr/>
          <p:nvPr/>
        </p:nvSpPr>
        <p:spPr>
          <a:xfrm>
            <a:off x="660399" y="3863340"/>
            <a:ext cx="35269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Mentor: dr Aleksandar S. Stanimirović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35D96694-6F48-ADBB-997C-AC6A87633411}"/>
              </a:ext>
            </a:extLst>
          </p:cNvPr>
          <p:cNvSpPr/>
          <p:nvPr/>
        </p:nvSpPr>
        <p:spPr>
          <a:xfrm>
            <a:off x="660399" y="3510643"/>
            <a:ext cx="35632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400" i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Student:  </a:t>
            </a:r>
            <a:r>
              <a:rPr lang="en-US" sz="1400" i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Jefimija </a:t>
            </a:r>
            <a:r>
              <a:rPr lang="en-US" sz="1400" i="1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Stamenovi</a:t>
            </a:r>
            <a:r>
              <a:rPr lang="sr-Latn-RS" sz="1400" i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ć 1820/2024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E222DE8-FECA-E6C1-2899-17F8A6C2661A}"/>
              </a:ext>
            </a:extLst>
          </p:cNvPr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Elektronski fakultet u </a:t>
            </a:r>
            <a:r>
              <a:rPr lang="en-US" sz="1000" b="1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Nišu</a:t>
            </a:r>
            <a:r>
              <a:rPr lang="sr-Latn-RS" sz="10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·</a:t>
            </a:r>
            <a:r>
              <a:rPr lang="sr-Latn-RS" sz="10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Master </a:t>
            </a:r>
            <a:r>
              <a:rPr lang="en-US" sz="1000" b="1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akademske</a:t>
            </a:r>
            <a:r>
              <a:rPr lang="en-US" sz="10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studije</a:t>
            </a:r>
            <a:r>
              <a:rPr lang="en-US" sz="10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 ·  Sistemi za upravljanje </a:t>
            </a:r>
            <a:r>
              <a:rPr lang="en-US" sz="1000" b="1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bazama</a:t>
            </a:r>
            <a:r>
              <a:rPr lang="en-US" sz="10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podataka</a:t>
            </a:r>
            <a:r>
              <a:rPr lang="sr-Latn-RS" sz="10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·  Mart 2026. </a:t>
            </a:r>
            <a:endParaRPr lang="en-US" sz="1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0"/>
            <a:ext cx="9006840" cy="6583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Sadržaj prezentacije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941832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28600" y="941832"/>
            <a:ext cx="502920" cy="80467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46888" y="1106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10058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 i CAP teorema</a:t>
            </a:r>
            <a:endParaRPr lang="en-US" sz="1600" b="1" dirty="0"/>
          </a:p>
        </p:txBody>
      </p:sp>
      <p:sp>
        <p:nvSpPr>
          <p:cNvPr id="9" name="Text 7"/>
          <p:cNvSpPr/>
          <p:nvPr/>
        </p:nvSpPr>
        <p:spPr>
          <a:xfrm>
            <a:off x="822960" y="136245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Konzistentnost vs Dostupnost — fundamentalni kompromis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" y="1901952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28600" y="1901952"/>
            <a:ext cx="502920" cy="80467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46888" y="2066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19659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Preslikavanje (Mirroring)</a:t>
            </a:r>
            <a:endParaRPr lang="en-US" sz="1600" b="1" dirty="0"/>
          </a:p>
        </p:txBody>
      </p:sp>
      <p:sp>
        <p:nvSpPr>
          <p:cNvPr id="14" name="Text 12"/>
          <p:cNvSpPr/>
          <p:nvPr/>
        </p:nvSpPr>
        <p:spPr>
          <a:xfrm>
            <a:off x="822960" y="232257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Arhitektura, MANUAL/AUTO re</a:t>
            </a:r>
            <a:r>
              <a:rPr lang="sr-Latn-R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scenario oporavka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" y="2862072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228600" y="2862072"/>
            <a:ext cx="502920" cy="80467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46888" y="3026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29260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Nativna binarna replikacija</a:t>
            </a:r>
            <a:endParaRPr lang="en-US" sz="1600" b="1" dirty="0"/>
          </a:p>
        </p:txBody>
      </p:sp>
      <p:sp>
        <p:nvSpPr>
          <p:cNvPr id="19" name="Text 17"/>
          <p:cNvSpPr/>
          <p:nvPr/>
        </p:nvSpPr>
        <p:spPr>
          <a:xfrm>
            <a:off x="822960" y="328269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Firebird 4.0 — replikacioni dnevnici, sinhronizacija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8600" y="3822192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28600" y="3822192"/>
            <a:ext cx="502920" cy="80467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46888" y="3986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2960" y="38862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Sinhrona vs Asinhrona replikacija</a:t>
            </a:r>
            <a:endParaRPr lang="en-US" sz="1600" b="1" dirty="0"/>
          </a:p>
        </p:txBody>
      </p:sp>
      <p:sp>
        <p:nvSpPr>
          <p:cNvPr id="24" name="Text 22"/>
          <p:cNvSpPr/>
          <p:nvPr/>
        </p:nvSpPr>
        <p:spPr>
          <a:xfrm>
            <a:off x="822960" y="424281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Loss vs Replication Lag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941832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754880" y="941832"/>
            <a:ext cx="502920" cy="80467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773168" y="1106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49240" y="10058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</a:t>
            </a:r>
            <a:r>
              <a:rPr lang="sr-Latn-R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 </a:t>
            </a:r>
            <a:r>
              <a:rPr lang="en-US" sz="16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replikacija</a:t>
            </a:r>
            <a:endParaRPr lang="en-US" sz="1600" b="1" dirty="0"/>
          </a:p>
        </p:txBody>
      </p:sp>
      <p:sp>
        <p:nvSpPr>
          <p:cNvPr id="29" name="Text 27"/>
          <p:cNvSpPr/>
          <p:nvPr/>
        </p:nvSpPr>
        <p:spPr>
          <a:xfrm>
            <a:off x="5349240" y="136245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Trigeri, REPLICATION_LOG tabela, re</a:t>
            </a:r>
            <a:r>
              <a:rPr lang="sr-Latn-R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avanje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konflikata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54880" y="1901952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754880" y="1901952"/>
            <a:ext cx="502920" cy="80467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773168" y="2066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5349240" y="19659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Multi-Master topologije</a:t>
            </a:r>
            <a:endParaRPr lang="en-US" sz="1600" b="1" dirty="0"/>
          </a:p>
        </p:txBody>
      </p:sp>
      <p:sp>
        <p:nvSpPr>
          <p:cNvPr id="34" name="Text 32"/>
          <p:cNvSpPr/>
          <p:nvPr/>
        </p:nvSpPr>
        <p:spPr>
          <a:xfrm>
            <a:off x="5349240" y="232257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Star, Mesh, Ring — eho efekat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</a:t>
            </a:r>
            <a:r>
              <a:rPr lang="sr-Latn-R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ša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vanje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754880" y="2862072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4754880" y="2862072"/>
            <a:ext cx="502920" cy="80467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773168" y="3026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5349240" y="29260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</a:t>
            </a:r>
            <a:r>
              <a:rPr lang="sr-Latn-R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6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implementacija</a:t>
            </a:r>
            <a:endParaRPr lang="en-US" sz="1600" b="1" dirty="0"/>
          </a:p>
        </p:txBody>
      </p:sp>
      <p:sp>
        <p:nvSpPr>
          <p:cNvPr id="39" name="Text 37"/>
          <p:cNvSpPr/>
          <p:nvPr/>
        </p:nvSpPr>
        <p:spPr>
          <a:xfrm>
            <a:off x="5349240" y="328269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koraka konfiguracije + 5 verifikacionih primera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0"/>
            <a:ext cx="9006840" cy="6583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teorema — temeljni kompromis svakog distribuiranog sistema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2743200" cy="960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20040" y="8503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11480" y="1527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764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Konzistentnost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173803"/>
            <a:ext cx="25603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 slave 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</a:t>
            </a:r>
            <a:r>
              <a:rPr lang="sr-Latn-R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svakom 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trenutku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sr-Latn-RS" sz="140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1B2A4A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Zahteva sinhronizaciju pre odgovora 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korisniku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sr-Latn-RS" sz="140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1B2A4A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Primer: 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finansijske aplikacije, 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knji</a:t>
            </a:r>
            <a:r>
              <a:rPr lang="sr-Latn-R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realnom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vremenu</a:t>
            </a:r>
            <a:endParaRPr lang="en-US" sz="1400" dirty="0">
              <a:solidFill>
                <a:srgbClr val="1B2A4A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18688" y="82296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218688" y="822960"/>
            <a:ext cx="2743200" cy="960120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218688" y="8503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3310128" y="1527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10128" y="1764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Dostupnost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10128" y="2173803"/>
            <a:ext cx="25603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na brzini rada i kontinuitetu 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servisa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sr-Latn-RS" sz="140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1B2A4A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Korisnik ne </a:t>
            </a:r>
            <a:r>
              <a:rPr lang="sr-Latn-R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 potvrdu slave 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servera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sr-Latn-RS" sz="140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1B2A4A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Primer: 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prikupljanje podataka sa 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mernih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</a:t>
            </a:r>
            <a:r>
              <a:rPr lang="sr-Latn-R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IoT 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endParaRPr lang="en-US" sz="1400" dirty="0">
              <a:solidFill>
                <a:srgbClr val="1B2A4A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17336" y="82296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117336" y="822960"/>
            <a:ext cx="2743200" cy="960120"/>
          </a:xfrm>
          <a:prstGeom prst="rect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117336" y="8503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6208776" y="1527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Part. Tolerance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08776" y="1764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Otpornost na particije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08776" y="2173803"/>
            <a:ext cx="25603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funkcioni</a:t>
            </a:r>
            <a:r>
              <a:rPr lang="sr-Latn-R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 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mre</a:t>
            </a:r>
            <a:r>
              <a:rPr lang="sr-Latn-R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nije 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pouzdana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sr-Latn-RS" sz="140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1B2A4A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Firebird bira: ili C+P (sinhrono) ili A+P (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asinhrono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sr-Latn-RS" sz="140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1B2A4A"/>
              </a:solidFill>
            </a:endParaRPr>
          </a:p>
          <a:p>
            <a:pPr marL="0" indent="0">
              <a:buNone/>
            </a:pPr>
            <a:r>
              <a:rPr lang="sr-Latn-R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 moguće 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imati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sva tri 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istovremeno</a:t>
            </a:r>
            <a:endParaRPr lang="en-US" sz="1400" dirty="0">
              <a:solidFill>
                <a:srgbClr val="1B2A4A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0040" y="4453128"/>
            <a:ext cx="8540496" cy="54864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11480" y="44988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Firebird 4.0 nudi OBA režima: sinhroni (C+P) za finansije i asinhroni (A+P) za visoku propusnost.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0"/>
            <a:ext cx="9006840" cy="6583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Preslikavanje (Mirroring) — arhitektura i režimi rada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560320" cy="77724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28600" y="777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Korisni</a:t>
            </a:r>
            <a:r>
              <a:rPr lang="sr-Latn-R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34640" y="1005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sr-Latn-RS" b="1" dirty="0"/>
              <a:t>→</a:t>
            </a:r>
            <a:endParaRPr lang="en-US" sz="2000" b="1" dirty="0"/>
          </a:p>
        </p:txBody>
      </p:sp>
      <p:sp>
        <p:nvSpPr>
          <p:cNvPr id="8" name="Shape 6"/>
          <p:cNvSpPr/>
          <p:nvPr/>
        </p:nvSpPr>
        <p:spPr>
          <a:xfrm>
            <a:off x="3337560" y="777240"/>
            <a:ext cx="2423160" cy="777240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337560" y="777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Upis na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PRIMARNI disk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83580" y="1005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>
              <a:solidFill>
                <a:srgbClr val="1B2A4A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63640" y="777240"/>
            <a:ext cx="2651760" cy="77724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263640" y="7772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Upis na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disk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600" y="1645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Upis je UVEK sinhroni — baza ceka potvrdu OBA diska. </a:t>
            </a:r>
            <a:r>
              <a:rPr lang="en-US" sz="14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Operi</a:t>
            </a:r>
            <a:r>
              <a:rPr lang="sr-Latn-R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na nivou stranica (4–16 KB), ne SQL naredbi.</a:t>
            </a:r>
            <a:endParaRPr lang="en-US" sz="1400" b="1" dirty="0">
              <a:solidFill>
                <a:srgbClr val="1B2A4A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28600" y="201168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28600" y="2011680"/>
            <a:ext cx="64008" cy="1371600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65760" y="2084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režim (strogi)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2468880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Ispravnost kopije je prioritet </a:t>
            </a:r>
            <a:r>
              <a:rPr lang="en-US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dostupno</a:t>
            </a:r>
            <a:r>
              <a:rPr lang="sr-Latn-R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šć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>
              <a:solidFill>
                <a:srgbClr val="1B2A4A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shadow disk </a:t>
            </a:r>
            <a:r>
              <a:rPr lang="en-US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zaka</a:t>
            </a:r>
            <a:r>
              <a:rPr lang="sr-Latn-R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-&gt; </a:t>
            </a: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 BAZA SE ZATVARA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>
              <a:solidFill>
                <a:srgbClr val="1B2A4A"/>
              </a:solidFill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Koristiti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finansijski</a:t>
            </a:r>
            <a:r>
              <a:rPr lang="sr-Latn-R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</a:t>
            </a:r>
            <a:r>
              <a:rPr lang="en-US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r>
              <a:rPr lang="sr-Latn-R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</a:t>
            </a:r>
            <a:r>
              <a:rPr lang="sr-Latn-R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čno za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ERP</a:t>
            </a:r>
            <a:r>
              <a:rPr lang="sr-Latn-R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sisteme</a:t>
            </a:r>
            <a:endParaRPr lang="en-US" sz="1200" dirty="0">
              <a:solidFill>
                <a:srgbClr val="1B2A4A"/>
              </a:solidFill>
            </a:endParaRPr>
          </a:p>
          <a:p>
            <a:r>
              <a:rPr lang="en-US" sz="1200" dirty="0">
                <a:solidFill>
                  <a:srgbClr val="1B2A4A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CREATE SHADOW 1 MANUAL 'D:\</a:t>
            </a:r>
            <a:r>
              <a:rPr lang="sr-Latn-RS" sz="1200" dirty="0">
                <a:solidFill>
                  <a:srgbClr val="1B2A4A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Mirror</a:t>
            </a:r>
            <a:r>
              <a:rPr lang="en-US" sz="1200" dirty="0">
                <a:solidFill>
                  <a:srgbClr val="1B2A4A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\</a:t>
            </a:r>
            <a:r>
              <a:rPr lang="sr-Latn-RS" sz="1200" dirty="0">
                <a:solidFill>
                  <a:srgbClr val="1B2A4A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naziv_baze</a:t>
            </a:r>
            <a:r>
              <a:rPr lang="en-US" sz="1200" dirty="0">
                <a:solidFill>
                  <a:srgbClr val="1B2A4A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.shd';</a:t>
            </a:r>
            <a:endParaRPr lang="en-US" sz="1200" dirty="0">
              <a:solidFill>
                <a:srgbClr val="1B2A4A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0" y="2011680"/>
            <a:ext cx="4343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64008" cy="137160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709160" y="208483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režim (tolerantni)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09160" y="2468880"/>
            <a:ext cx="4160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Neprekidni rad je prioritet nad redundansom.</a:t>
            </a:r>
            <a:endParaRPr lang="en-US" sz="1200" dirty="0">
              <a:solidFill>
                <a:srgbClr val="1B2A4A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shadow disk </a:t>
            </a:r>
            <a:r>
              <a:rPr lang="en-US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zaka</a:t>
            </a:r>
            <a:r>
              <a:rPr lang="sr-Latn-R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-&gt; baza NASTAVLJA RAD bez </a:t>
            </a:r>
            <a:r>
              <a:rPr lang="en-US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preslikavanja</a:t>
            </a:r>
            <a:endParaRPr lang="en-US" sz="1200" dirty="0">
              <a:solidFill>
                <a:srgbClr val="1B2A4A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Koristiti kod: dev/test okruzenja, </a:t>
            </a:r>
            <a:r>
              <a:rPr lang="en-US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r>
              <a:rPr lang="sr-Latn-R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 backup generatorom.</a:t>
            </a:r>
            <a:endParaRPr lang="en-US" sz="1200" dirty="0">
              <a:solidFill>
                <a:srgbClr val="1B2A4A"/>
              </a:solidFill>
            </a:endParaRPr>
          </a:p>
          <a:p>
            <a:r>
              <a:rPr lang="en-US" sz="1200" dirty="0">
                <a:solidFill>
                  <a:srgbClr val="1B2A4A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CREATE SHADOW 1 AUTO 'D:\</a:t>
            </a:r>
            <a:r>
              <a:rPr lang="sr-Latn-RS" sz="1200" dirty="0">
                <a:solidFill>
                  <a:srgbClr val="1B2A4A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Mirror</a:t>
            </a:r>
            <a:r>
              <a:rPr lang="en-US" sz="1200" dirty="0">
                <a:solidFill>
                  <a:srgbClr val="1B2A4A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\</a:t>
            </a:r>
            <a:r>
              <a:rPr lang="sr-Latn-RS" sz="1200" dirty="0">
                <a:solidFill>
                  <a:srgbClr val="1B2A4A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naziv_baze</a:t>
            </a:r>
            <a:r>
              <a:rPr lang="en-US" sz="1200" dirty="0">
                <a:solidFill>
                  <a:srgbClr val="1B2A4A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200" dirty="0" err="1">
                <a:solidFill>
                  <a:srgbClr val="1B2A4A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shd</a:t>
            </a:r>
            <a:r>
              <a:rPr lang="en-US" sz="1200" dirty="0">
                <a:solidFill>
                  <a:srgbClr val="1B2A4A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';</a:t>
            </a:r>
            <a:endParaRPr lang="en-US" sz="1200" dirty="0">
              <a:solidFill>
                <a:srgbClr val="1B2A4A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60604" y="3538728"/>
            <a:ext cx="8686800" cy="142515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228600" y="3538728"/>
            <a:ext cx="64008" cy="142515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65760" y="356695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Ograničenja preslikavanja: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5760" y="3995928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SzPct val="15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kazna (oba diska se </a:t>
            </a:r>
            <a:r>
              <a:rPr lang="sr-Latn-R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ekaju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</a:t>
            </a:r>
            <a:endParaRPr lang="sr-Latn-RS" sz="140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5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 za LAN — nije za WAN  </a:t>
            </a:r>
            <a:endParaRPr lang="sr-Latn-RS" sz="140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5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read offloading — shadow 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itljiv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dok je 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aktivan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sr-Latn-RS" sz="140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50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</a:t>
            </a:r>
            <a:r>
              <a:rPr lang="sr-Latn-R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ODS (ista verzija Firebird)  </a:t>
            </a:r>
            <a:endParaRPr lang="sr-Latn-RS" sz="140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5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raspodele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optere</a:t>
            </a:r>
            <a:r>
              <a:rPr lang="sr-Latn-R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</a:t>
            </a:r>
            <a:r>
              <a:rPr lang="en-US" sz="14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enja</a:t>
            </a:r>
            <a:endParaRPr lang="en-US" sz="1400" dirty="0">
              <a:solidFill>
                <a:srgbClr val="1B2A4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0"/>
            <a:ext cx="9006840" cy="6583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Nativna binarna replikacija — Firebird 4.0 revolucija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8686800" cy="59436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Firebird 4.0 uvodi PRVU nativnu binarnu replikaciju u </a:t>
            </a:r>
            <a:r>
              <a:rPr lang="en-US" sz="16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standardnu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distribuciju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bez alata </a:t>
            </a:r>
            <a:r>
              <a:rPr lang="en-US" sz="16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</a:t>
            </a:r>
            <a:r>
              <a:rPr lang="sr-Latn-R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ći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</a:t>
            </a:r>
            <a:r>
              <a:rPr lang="en-US" sz="16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strana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228600" y="1527048"/>
            <a:ext cx="1542143" cy="804672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28600" y="1527048"/>
            <a:ext cx="1542143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baza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70743" y="1783080"/>
            <a:ext cx="1860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sr-Latn-RS" sz="1200" b="1" dirty="0">
                <a:solidFill>
                  <a:schemeClr val="accent5">
                    <a:lumMod val="50000"/>
                  </a:schemeClr>
                </a:solidFill>
              </a:rPr>
              <a:t>→</a:t>
            </a:r>
            <a:endParaRPr lang="en-US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1965960" y="1527048"/>
            <a:ext cx="1600200" cy="804672"/>
          </a:xfrm>
          <a:prstGeom prst="rect">
            <a:avLst/>
          </a:prstGeom>
          <a:solidFill>
            <a:srgbClr val="243660"/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 sz="1200"/>
          </a:p>
        </p:txBody>
      </p:sp>
      <p:sp>
        <p:nvSpPr>
          <p:cNvPr id="11" name="Text 9"/>
          <p:cNvSpPr/>
          <p:nvPr/>
        </p:nvSpPr>
        <p:spPr>
          <a:xfrm>
            <a:off x="1965960" y="1527048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84448" y="1783080"/>
            <a:ext cx="109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03320" y="1527048"/>
            <a:ext cx="1600200" cy="804672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 sz="1200"/>
          </a:p>
        </p:txBody>
      </p:sp>
      <p:sp>
        <p:nvSpPr>
          <p:cNvPr id="14" name="Text 12"/>
          <p:cNvSpPr/>
          <p:nvPr/>
        </p:nvSpPr>
        <p:spPr>
          <a:xfrm>
            <a:off x="3703320" y="1527048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21808" y="1783080"/>
            <a:ext cx="109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40680" y="1527048"/>
            <a:ext cx="1600200" cy="804672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440680" y="1527048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Replikacioni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178040" y="1527048"/>
            <a:ext cx="1600200" cy="804672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178040" y="1527048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baza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28600" y="2496312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228600" y="2496312"/>
            <a:ext cx="64008" cy="135331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65760" y="2533179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Segment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2866136"/>
            <a:ext cx="2560320" cy="88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Promene se akumuliraju u memorijskom baferu (BufferPoolSize).</a:t>
            </a:r>
            <a:endParaRPr lang="en-US" sz="1200" dirty="0">
              <a:solidFill>
                <a:srgbClr val="1B2A4A"/>
              </a:solidFill>
            </a:endParaRPr>
          </a:p>
          <a:p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 se </a:t>
            </a:r>
            <a:r>
              <a:rPr lang="en-US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napuni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>
                <a:solidFill>
                  <a:srgbClr val="1B2A4A"/>
                </a:solidFill>
              </a:rPr>
              <a:t>→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flush na disk kao binarni segment.</a:t>
            </a:r>
            <a:endParaRPr lang="en-US" sz="1200" dirty="0">
              <a:solidFill>
                <a:srgbClr val="1B2A4A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154680" y="2496312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154680" y="2496312"/>
            <a:ext cx="64008" cy="1353312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3291840" y="2533179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Replikacioni Agent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91840" y="2866136"/>
            <a:ext cx="2560320" cy="88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Namenski podsistem unutar engine-a.</a:t>
            </a:r>
            <a:endParaRPr lang="en-US" sz="1200" dirty="0">
              <a:solidFill>
                <a:srgbClr val="1B2A4A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Kontinuirano skenira archive directory.</a:t>
            </a:r>
            <a:endParaRPr lang="en-US" sz="1200" dirty="0">
              <a:solidFill>
                <a:srgbClr val="1B2A4A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Primenjuje segmente na slave bazu kroz SQL replay.</a:t>
            </a:r>
            <a:endParaRPr lang="en-US" sz="1200" dirty="0">
              <a:solidFill>
                <a:srgbClr val="1B2A4A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80760" y="2496312"/>
            <a:ext cx="283464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080760" y="2496312"/>
            <a:ext cx="64008" cy="1353312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217920" y="2533179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GUID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17920" y="2866136"/>
            <a:ext cx="2651760" cy="881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baza prihvata SAMO logove od mastera </a:t>
            </a:r>
            <a:r>
              <a:rPr lang="en-US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</a:t>
            </a:r>
            <a:r>
              <a:rPr lang="sr-Latn-R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čn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tim GUID-om.</a:t>
            </a:r>
            <a:endParaRPr lang="en-US" sz="1200" dirty="0">
              <a:solidFill>
                <a:srgbClr val="1B2A4A"/>
              </a:solidFill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</a:t>
            </a:r>
            <a:r>
              <a:rPr lang="sr-Latn-R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 </a:t>
            </a:r>
            <a:r>
              <a:rPr lang="en-US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nenamerno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</a:t>
            </a:r>
            <a:r>
              <a:rPr lang="sr-Latn-R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ša</a:t>
            </a:r>
            <a:r>
              <a:rPr lang="en-US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nje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podataka </a:t>
            </a:r>
            <a:r>
              <a:rPr lang="en-US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r>
              <a:rPr lang="en-US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</a:t>
            </a:r>
            <a:r>
              <a:rPr lang="sr-Latn-R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</a:t>
            </a:r>
            <a:r>
              <a:rPr lang="en-US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servera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>
              <a:solidFill>
                <a:srgbClr val="1B2A4A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28600" y="3995928"/>
            <a:ext cx="8686800" cy="1083564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228600" y="3995928"/>
            <a:ext cx="8686800" cy="329184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320040" y="40325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</a:t>
            </a:r>
            <a:r>
              <a:rPr lang="sr-Latn-R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parametri replication.conf (master)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320040" y="4379976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journal_directory = C:\repl\journal          # privremeni segmenti</a:t>
            </a:r>
            <a:endParaRPr lang="en-US" sz="1000" dirty="0">
              <a:solidFill>
                <a:srgbClr val="1B2A4A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journal_archive_directory = C:\repl\archive    # trajni arhiv</a:t>
            </a:r>
            <a:endParaRPr lang="en-US" sz="1000" dirty="0">
              <a:solidFill>
                <a:srgbClr val="1B2A4A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journal_archive_timeout = 30                   # sekundi pre flush-a</a:t>
            </a:r>
            <a:endParaRPr lang="en-US" sz="1000" dirty="0">
              <a:solidFill>
                <a:srgbClr val="1B2A4A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sync_replica = localhost:D:\baze\slave.fdb      # sinhroni slave</a:t>
            </a:r>
            <a:endParaRPr lang="en-US" sz="1000" dirty="0">
              <a:solidFill>
                <a:srgbClr val="1B2A4A"/>
              </a:solidFill>
            </a:endParaRPr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98D39A59-BF7B-CCE8-54FF-78E6A6460A73}"/>
              </a:ext>
            </a:extLst>
          </p:cNvPr>
          <p:cNvSpPr/>
          <p:nvPr/>
        </p:nvSpPr>
        <p:spPr>
          <a:xfrm>
            <a:off x="3541704" y="1789176"/>
            <a:ext cx="1860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sr-Latn-RS" sz="1200" b="1" dirty="0">
                <a:solidFill>
                  <a:schemeClr val="accent5">
                    <a:lumMod val="50000"/>
                  </a:schemeClr>
                </a:solidFill>
              </a:rPr>
              <a:t>→</a:t>
            </a:r>
            <a:endParaRPr lang="en-US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2DF9C73A-38FB-9133-D16F-45D9DBF9A0BA}"/>
              </a:ext>
            </a:extLst>
          </p:cNvPr>
          <p:cNvSpPr/>
          <p:nvPr/>
        </p:nvSpPr>
        <p:spPr>
          <a:xfrm>
            <a:off x="5279064" y="1783080"/>
            <a:ext cx="1860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sr-Latn-RS" sz="1200" b="1" dirty="0">
                <a:solidFill>
                  <a:schemeClr val="accent5">
                    <a:lumMod val="50000"/>
                  </a:schemeClr>
                </a:solidFill>
              </a:rPr>
              <a:t>→</a:t>
            </a:r>
            <a:endParaRPr lang="en-US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3E1FB7B9-750F-1F77-7680-E3E8DC918BC2}"/>
              </a:ext>
            </a:extLst>
          </p:cNvPr>
          <p:cNvSpPr/>
          <p:nvPr/>
        </p:nvSpPr>
        <p:spPr>
          <a:xfrm>
            <a:off x="7016424" y="1789176"/>
            <a:ext cx="1860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sr-Latn-RS" sz="1200" b="1" dirty="0">
                <a:solidFill>
                  <a:schemeClr val="accent5">
                    <a:lumMod val="50000"/>
                  </a:schemeClr>
                </a:solidFill>
              </a:rPr>
              <a:t>→</a:t>
            </a:r>
            <a:endParaRPr lang="en-US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0"/>
            <a:ext cx="9006840" cy="6583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Sinhrona vs Asinhrona replikacija — ključni kompromis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1605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160520" cy="4114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20040" y="795528"/>
            <a:ext cx="3977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SINHRONI režim (Synchronous)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359672"/>
            <a:ext cx="201168" cy="2011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94360" y="131488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</a:t>
            </a:r>
            <a:r>
              <a:rPr lang="sr-Latn-BA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 potvrdu slave-a pre odgovora korisniku.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" y="1789440"/>
            <a:ext cx="201168" cy="2011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94360" y="174464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Loss (RPO = 0) —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apsolutna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identičnost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7472" y="2219208"/>
            <a:ext cx="201168" cy="2011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214791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Latencija upisa =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latencija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mre</a:t>
            </a:r>
            <a:r>
              <a:rPr lang="sr-Latn-BA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" y="2648976"/>
            <a:ext cx="201168" cy="2011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94360" y="257768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Preporuka: gigabit LAN ili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direktan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7472" y="3078744"/>
            <a:ext cx="201168" cy="2011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94360" y="300744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Koristiti za: finansije, bankarstvo, zdravstvo.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" y="3508512"/>
            <a:ext cx="201168" cy="2011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94360" y="346372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Konfiguracija: sync_replica = slave_connection_string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777240"/>
            <a:ext cx="41605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754880" y="777240"/>
            <a:ext cx="416052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846320" y="795528"/>
            <a:ext cx="3977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ASINHRONI režim (Asynchronous)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73752" y="1333168"/>
            <a:ext cx="201168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120640" y="126187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upisuje lokalno, log </a:t>
            </a:r>
            <a:r>
              <a:rPr lang="sr-Latn-BA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alje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pozadini.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73752" y="1762936"/>
            <a:ext cx="201168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120640" y="169164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Lag — slave kasni za masterom.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73752" y="2192704"/>
            <a:ext cx="201168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5120640" y="212140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Maksimalna brzina za lokalne korisnike.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73752" y="2622472"/>
            <a:ext cx="201168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120640" y="255117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Preporuka: WAN veze,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</a:t>
            </a:r>
            <a:r>
              <a:rPr lang="sr-Latn-BA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fski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udaljeni slave.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73752" y="3052240"/>
            <a:ext cx="201168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120640" y="298094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&gt; 0 — prihvatljiv gubitak podataka.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73752" y="3482008"/>
            <a:ext cx="201168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120640" y="341071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Konfiguracija: async_replica = slave_connection_string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338364" y="243627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0"/>
            <a:ext cx="9006840" cy="6583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Logička replikacija zasnovana na trigerima (CDC)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8686800" cy="8549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64008" cy="6583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65760" y="805236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Šta je CDC (Change Data Capture)?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079556"/>
            <a:ext cx="8503920" cy="47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razliku od binarne replikacije koja kopira stranice,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</a:t>
            </a:r>
            <a:r>
              <a:rPr lang="sr-Latn-BA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replikacija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presre</a:t>
            </a:r>
            <a:r>
              <a:rPr lang="sr-Latn-BA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svaki INSERT/UPDATE/DELETE kroz trigere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</a:t>
            </a:r>
            <a:r>
              <a:rPr lang="sr-Latn-BA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promene u namenske tabele (audit log). Prednost: selektivna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replikacija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</a:t>
            </a:r>
            <a:r>
              <a:rPr lang="sr-Latn-BA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tabela, cross-version,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heterogena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okru</a:t>
            </a:r>
            <a:r>
              <a:rPr lang="sr-Latn-BA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enja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705355"/>
            <a:ext cx="4160520" cy="1968425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28600" y="1705356"/>
            <a:ext cx="4160520" cy="32918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20040" y="17419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REPLICATION_LOG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2089404"/>
            <a:ext cx="3977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REPLICATION_LOG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LOG_ID      BIGINT GENERATED BY DEFAULT AS IDENTITY PRIMARY KEY,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TABLE_NAME  VARCHAR(64) NOT NULL,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OPERATION   CHAR(1) NOT NULL,  -- I/U/D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PK_VALUE    VARCHAR(50),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CHANGED_AT  TIMESTAMP DEFAULT CURRENT_TIMESTAMP,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PAYLOAD     BLOB SUB_TYPE TEXT  -- JSON/XML sadrzaj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0" y="1705355"/>
            <a:ext cx="4343400" cy="1977569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572000" y="1705356"/>
            <a:ext cx="4343400" cy="32918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63440" y="174193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Triger za hvatanje promena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63440" y="2089404"/>
            <a:ext cx="4160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TRIGGER TRG_EMP_REPL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AFTER INSERT OR UPDATE OR DELETE ON EMPLOYEE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(RDB$GET_CONTEXT('SYSTEM','REPLICATING') IS NULL) THEN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BEGIN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INSERT INTO REPLICATION_LOG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(TABLE_NAME, OPERATION, PK_VALUE, PAYLOAD)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 ('EMPLOYEE',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WHEN INSERTING THEN 'I'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WHEN UPDATING THEN 'U' ELSE 'D' END,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CAST(NEW.EMP_NO AS VARCHAR(50)),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/* JSON payload */ NULL);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28600" y="3746934"/>
            <a:ext cx="2743200" cy="127769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28600" y="3746934"/>
            <a:ext cx="64008" cy="1277693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65760" y="37769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Write Wins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" y="4051300"/>
            <a:ext cx="2560320" cy="2379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</a:t>
            </a:r>
            <a:r>
              <a:rPr lang="sr-Latn-BA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češć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strategija.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odlu</a:t>
            </a:r>
            <a:r>
              <a:rPr lang="sr-Latn-BA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uje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koji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zapis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pobe</a:t>
            </a:r>
            <a:r>
              <a:rPr lang="sr-Latn-BA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uje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Rizik kod jednakih timestamp vrednosti.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27248" y="3746934"/>
            <a:ext cx="2743200" cy="127769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127248" y="3746934"/>
            <a:ext cx="64008" cy="1277693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264408" y="37769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Priority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64408" y="4051300"/>
            <a:ext cx="2560320" cy="2379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Unapred definisana hijerarhija servera.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uvek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pobe</a:t>
            </a:r>
            <a:r>
              <a:rPr lang="sr-Latn-BA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uje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nad slave </a:t>
            </a:r>
            <a:r>
              <a:rPr lang="sr-Latn-BA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vorom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Jednostavna implementacija.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25896" y="3746934"/>
            <a:ext cx="2743200" cy="127769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025896" y="3746934"/>
            <a:ext cx="64008" cy="1277693"/>
          </a:xfrm>
          <a:prstGeom prst="rect">
            <a:avLst/>
          </a:prstGeom>
          <a:solidFill>
            <a:srgbClr val="2436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163056" y="37769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Aplikativna logika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63056" y="4051300"/>
            <a:ext cx="2560320" cy="2379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</a:t>
            </a:r>
            <a:r>
              <a:rPr lang="sr-Latn-BA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podatke (finansije, zalihe).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</a:t>
            </a:r>
            <a:r>
              <a:rPr lang="sr-Latn-BA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revizija ili domain-specific pravila.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Najsigurniji,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najslo</a:t>
            </a:r>
            <a:r>
              <a:rPr lang="sr-Latn-BA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že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niji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pristup.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28600" y="5088636"/>
            <a:ext cx="8686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RDB$GET_CONTEXT('SYSTEM','REPLICATING') sprecava 'eho' efekat — triger ne pali sam sebe na replici!</a:t>
            </a:r>
            <a:endParaRPr lang="en-US" sz="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0"/>
            <a:ext cx="9006840" cy="6583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Multi-Master topologije i eho efekat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743200" cy="4114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20040" y="795528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(Zvezda)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periferni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BA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vorovi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povezuju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isklju</a:t>
            </a:r>
            <a:r>
              <a:rPr lang="sr-Latn-BA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 centralnim serverom.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Centalni server je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jedina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</a:t>
            </a:r>
            <a:r>
              <a:rPr lang="sr-Latn-BA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 replikacije.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Prednost: jednostavna administracija, centralizovana kontrola.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Slabost: centralni server =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jedina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</a:t>
            </a:r>
            <a:r>
              <a:rPr lang="sr-Latn-BA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 kvara (SPOF).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Idealno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</a:t>
            </a:r>
            <a:r>
              <a:rPr lang="sr-Latn-BA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ERP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r>
              <a:rPr lang="sr-Latn-BA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centralnom bazom i filijalama.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27248" y="77724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127248" y="777240"/>
            <a:ext cx="274320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218688" y="795528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(Mreza)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18688" y="1261872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BA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direktno povezan sa svim ostalima.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</a:t>
            </a:r>
            <a:r>
              <a:rPr lang="sr-Latn-R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tačke kvara (SPOF)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izuzetno visoka tolerancija na kvarove.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Prednost: maksimalna redundansa i propusnost.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Slabost: kompleksna konfiguracija, eksponencijalni rast veza.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r>
              <a:rPr lang="sr-Latn-BA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lno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za: mission-critical sistemi,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finansijske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</a:t>
            </a:r>
            <a:r>
              <a:rPr lang="sr-Latn-BA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erze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25896" y="77724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025896" y="777240"/>
            <a:ext cx="2743200" cy="4114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117336" y="795528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(Prsten)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17336" y="1261872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Podaci putuju sekvencijalno od </a:t>
            </a:r>
            <a:r>
              <a:rPr lang="sr-Latn-BA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sr-Latn-BA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dok se krug ne zatvori.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Prednost: ravnomerna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raspodela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optere</a:t>
            </a:r>
            <a:r>
              <a:rPr lang="sr-Latn-BA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će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nja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Slabost: spor oporavak, jedan kvar prekida ceo prsten.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r>
              <a:rPr lang="sr-Latn-BA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za: sistemi sa jasnom geografskom distribucijom.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28600" y="3749040"/>
            <a:ext cx="8686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28600" y="3749040"/>
            <a:ext cx="64008" cy="11887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65760" y="37947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Eho efekat (Echo Effect) — beskonačna petlja replikacije: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409651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A replikuje promenu na B, a B replikuje sve promene nazad na A —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nastaje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beskona</a:t>
            </a:r>
            <a:r>
              <a:rPr lang="sr-Latn-BA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petlja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r>
              <a:rPr lang="sr-Latn-BA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IF (RDB$GET_CONTEXT('SYSTEM','REPLICATING') IS NULL) THEN -- promena je nastala od korisnika, </a:t>
            </a:r>
            <a:r>
              <a:rPr lang="sr-Latn-BA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replikacionog agenta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Firebird 4.0 automatski setuje REPLICATING = TRUE pri primeni logova, pa se triger 'prepoznaje'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preska</a:t>
            </a:r>
            <a:r>
              <a:rPr lang="sr-Latn-BA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0"/>
            <a:ext cx="9006840" cy="6583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Praktična implementacija — 8 koraka konfiguracije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74904" y="841248"/>
            <a:ext cx="202996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74904" y="841248"/>
            <a:ext cx="2029968" cy="411480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74904" y="841248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9052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databases.conf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" y="1344168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Times New Roman" panose="02020603050405020304" pitchFamily="18" charset="0"/>
              </a:rPr>
              <a:t>Kreirati aliase za master i slave bazu.</a:t>
            </a:r>
            <a:endParaRPr lang="en-US" sz="1200" dirty="0">
              <a:latin typeface="+mj-l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42032" y="841248"/>
            <a:ext cx="202996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2542032" y="841248"/>
            <a:ext cx="2029968" cy="411480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542032" y="841248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35224" y="9052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+ Restore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33472" y="1344168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gbak -b master.fdb </a:t>
            </a:r>
            <a:r>
              <a:rPr lang="en-US" sz="1200" dirty="0" err="1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master.fbk</a:t>
            </a:r>
            <a:endParaRPr lang="sr-Latn-RS" sz="1200" dirty="0">
              <a:solidFill>
                <a:srgbClr val="47556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gbak -r master.fbk </a:t>
            </a:r>
            <a:r>
              <a:rPr lang="en-US" sz="1200" dirty="0" err="1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slave.fdb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841248"/>
            <a:ext cx="202996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709160" y="841248"/>
            <a:ext cx="2029968" cy="411480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709160" y="841248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02352" y="9052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gstat -h (GUID)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1344168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Times New Roman" panose="02020603050405020304" pitchFamily="18" charset="0"/>
              </a:rPr>
              <a:t>Preuzeti DATABASE GUID </a:t>
            </a:r>
            <a:r>
              <a:rPr lang="en-US" sz="1200" dirty="0" err="1">
                <a:solidFill>
                  <a:srgbClr val="475569"/>
                </a:solidFill>
                <a:latin typeface="+mj-lt"/>
                <a:ea typeface="Consolas" pitchFamily="34" charset="-122"/>
                <a:cs typeface="Times New Roman" panose="02020603050405020304" pitchFamily="18" charset="0"/>
              </a:rPr>
              <a:t>mastera</a:t>
            </a: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Times New Roman" panose="02020603050405020304" pitchFamily="18" charset="0"/>
              </a:rPr>
              <a:t>.</a:t>
            </a:r>
            <a:endParaRPr lang="sr-Latn-RS" sz="1200" dirty="0">
              <a:solidFill>
                <a:srgbClr val="475569"/>
              </a:solidFill>
              <a:latin typeface="+mj-lt"/>
              <a:ea typeface="Consolas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+mj-lt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Times New Roman" panose="02020603050405020304" pitchFamily="18" charset="0"/>
              </a:rPr>
              <a:t>Unet u </a:t>
            </a:r>
            <a:r>
              <a:rPr lang="en-US" sz="1200" dirty="0" err="1">
                <a:solidFill>
                  <a:srgbClr val="475569"/>
                </a:solidFill>
                <a:latin typeface="+mj-lt"/>
                <a:ea typeface="Consolas" pitchFamily="34" charset="-122"/>
                <a:cs typeface="Times New Roman" panose="02020603050405020304" pitchFamily="18" charset="0"/>
              </a:rPr>
              <a:t>source_gui</a:t>
            </a:r>
            <a:r>
              <a:rPr lang="sr-Latn-R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Times New Roman" panose="02020603050405020304" pitchFamily="18" charset="0"/>
              </a:rPr>
              <a:t>d u konfiguraciji</a:t>
            </a: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Times New Roman" panose="02020603050405020304" pitchFamily="18" charset="0"/>
              </a:rPr>
              <a:t>.</a:t>
            </a:r>
            <a:endParaRPr lang="en-US" sz="1200" dirty="0">
              <a:latin typeface="+mj-lt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876288" y="841248"/>
            <a:ext cx="202996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876288" y="841248"/>
            <a:ext cx="2029968" cy="411480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876288" y="841248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69480" y="9052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struktura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67728" y="1344168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Times New Roman" panose="02020603050405020304" pitchFamily="18" charset="0"/>
              </a:rPr>
              <a:t>Kreirati Journal i Archive </a:t>
            </a:r>
            <a:r>
              <a:rPr lang="en-US" sz="1200" dirty="0" err="1">
                <a:solidFill>
                  <a:srgbClr val="475569"/>
                </a:solidFill>
                <a:latin typeface="+mj-lt"/>
                <a:ea typeface="Consolas" pitchFamily="34" charset="-122"/>
                <a:cs typeface="Times New Roman" panose="02020603050405020304" pitchFamily="18" charset="0"/>
              </a:rPr>
              <a:t>direktorijume</a:t>
            </a: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Times New Roman" panose="02020603050405020304" pitchFamily="18" charset="0"/>
              </a:rPr>
              <a:t>.</a:t>
            </a:r>
            <a:endParaRPr lang="sr-Latn-RS" sz="1200" dirty="0">
              <a:solidFill>
                <a:srgbClr val="475569"/>
              </a:solidFill>
              <a:latin typeface="+mj-lt"/>
              <a:ea typeface="Consolas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+mj-lt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Times New Roman" panose="02020603050405020304" pitchFamily="18" charset="0"/>
              </a:rPr>
              <a:t>Odvajanje privremenih od trajnih segmenata.</a:t>
            </a:r>
            <a:endParaRPr lang="en-US" sz="1200" dirty="0">
              <a:latin typeface="+mj-lt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74904" y="2926080"/>
            <a:ext cx="202996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 sz="1200"/>
          </a:p>
        </p:txBody>
      </p:sp>
      <p:sp>
        <p:nvSpPr>
          <p:cNvPr id="30" name="Shape 28"/>
          <p:cNvSpPr/>
          <p:nvPr/>
        </p:nvSpPr>
        <p:spPr>
          <a:xfrm>
            <a:off x="374904" y="2926080"/>
            <a:ext cx="2029968" cy="411480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374904" y="292608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8096" y="2990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replication.conf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66344" y="342900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Times New Roman" panose="02020603050405020304" pitchFamily="18" charset="0"/>
              </a:rPr>
              <a:t>Podesiti journal, archive, sync_replica, source_guid parametre za obe instance.</a:t>
            </a:r>
            <a:endParaRPr lang="en-US" sz="1200" dirty="0">
              <a:latin typeface="+mj-lt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542032" y="2926080"/>
            <a:ext cx="202996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2542032" y="2926080"/>
            <a:ext cx="2029968" cy="411480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2542032" y="292608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935224" y="2990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servisa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633472" y="342900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Times New Roman" panose="02020603050405020304" pitchFamily="18" charset="0"/>
              </a:rPr>
              <a:t>Restartovati Firebird servis nakon izmene konfiguracionih fajlova.</a:t>
            </a:r>
            <a:endParaRPr lang="en-US" sz="1200" dirty="0">
              <a:latin typeface="+mj-lt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709160" y="2926080"/>
            <a:ext cx="202996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4709160" y="2926080"/>
            <a:ext cx="2029968" cy="411480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4709160" y="292608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102352" y="2990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DATABASE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800600" y="342900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DATABASE ENABLE PUBLICATION;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ea typeface="Consolas" pitchFamily="34" charset="-122"/>
                <a:cs typeface="Consolas" pitchFamily="34" charset="-120"/>
              </a:rPr>
              <a:t>(master: </a:t>
            </a:r>
            <a:r>
              <a:rPr lang="en-US" sz="1200" dirty="0" err="1">
                <a:solidFill>
                  <a:srgbClr val="475569"/>
                </a:solidFill>
                <a:ea typeface="Consolas" pitchFamily="34" charset="-122"/>
                <a:cs typeface="Consolas" pitchFamily="34" charset="-120"/>
              </a:rPr>
              <a:t>uklju</a:t>
            </a:r>
            <a:r>
              <a:rPr lang="sr-Latn-RS" sz="1200" dirty="0">
                <a:solidFill>
                  <a:srgbClr val="475569"/>
                </a:solidFill>
                <a:ea typeface="Consolas" pitchFamily="34" charset="-122"/>
                <a:cs typeface="Consolas" pitchFamily="34" charset="-120"/>
              </a:rPr>
              <a:t>č</a:t>
            </a:r>
            <a:r>
              <a:rPr lang="en-US" sz="1200" dirty="0" err="1">
                <a:solidFill>
                  <a:srgbClr val="475569"/>
                </a:solidFill>
                <a:ea typeface="Consolas" pitchFamily="34" charset="-122"/>
                <a:cs typeface="Consolas" pitchFamily="34" charset="-120"/>
              </a:rPr>
              <a:t>uje</a:t>
            </a:r>
            <a:r>
              <a:rPr lang="en-US" sz="1200" dirty="0">
                <a:solidFill>
                  <a:srgbClr val="475569"/>
                </a:solidFill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 err="1">
                <a:solidFill>
                  <a:srgbClr val="475569"/>
                </a:solidFill>
                <a:ea typeface="Consolas" pitchFamily="34" charset="-122"/>
                <a:cs typeface="Consolas" pitchFamily="34" charset="-120"/>
              </a:rPr>
              <a:t>pra</a:t>
            </a:r>
            <a:r>
              <a:rPr lang="sr-Latn-RS" sz="1200" dirty="0">
                <a:solidFill>
                  <a:srgbClr val="475569"/>
                </a:solidFill>
                <a:ea typeface="Consolas" pitchFamily="34" charset="-122"/>
                <a:cs typeface="Consolas" pitchFamily="34" charset="-120"/>
              </a:rPr>
              <a:t>ć</a:t>
            </a:r>
            <a:r>
              <a:rPr lang="en-US" sz="1200" dirty="0" err="1">
                <a:solidFill>
                  <a:srgbClr val="475569"/>
                </a:solidFill>
                <a:ea typeface="Consolas" pitchFamily="34" charset="-122"/>
                <a:cs typeface="Consolas" pitchFamily="34" charset="-120"/>
              </a:rPr>
              <a:t>enje</a:t>
            </a:r>
            <a:r>
              <a:rPr lang="en-US" sz="1200" dirty="0">
                <a:solidFill>
                  <a:srgbClr val="475569"/>
                </a:solidFill>
                <a:ea typeface="Consolas" pitchFamily="34" charset="-122"/>
                <a:cs typeface="Consolas" pitchFamily="34" charset="-120"/>
              </a:rPr>
              <a:t> tabela)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gfix -replica READ_ONLY slave.fdb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876288" y="2926080"/>
            <a:ext cx="202996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6876288" y="2926080"/>
            <a:ext cx="2029968" cy="411480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6876288" y="292608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269480" y="2990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korisnika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912864" y="3429000"/>
            <a:ext cx="19385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MAPPING repl_agent USING PLUGIN SRP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USER replication_user TO USER SYSDBA;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 err="1">
                <a:solidFill>
                  <a:srgbClr val="475569"/>
                </a:solidFill>
                <a:ea typeface="Consolas" pitchFamily="34" charset="-122"/>
                <a:cs typeface="Consolas" pitchFamily="34" charset="-120"/>
              </a:rPr>
              <a:t>repli</a:t>
            </a:r>
            <a:r>
              <a:rPr lang="sr-Latn-RS" sz="1000" dirty="0">
                <a:solidFill>
                  <a:srgbClr val="475569"/>
                </a:solidFill>
                <a:ea typeface="Consolas" pitchFamily="34" charset="-122"/>
                <a:cs typeface="Consolas" pitchFamily="34" charset="-120"/>
              </a:rPr>
              <a:t>k</a:t>
            </a:r>
            <a:r>
              <a:rPr lang="en-US" sz="1000" dirty="0">
                <a:solidFill>
                  <a:srgbClr val="475569"/>
                </a:solidFill>
                <a:ea typeface="Consolas" pitchFamily="34" charset="-122"/>
                <a:cs typeface="Consolas" pitchFamily="34" charset="-120"/>
              </a:rPr>
              <a:t>a prihvata agenta kao SYSDBA)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0"/>
            <a:ext cx="9006840" cy="6583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Verifikacija — 5 primera potvrđivanja rada replikacije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743200" cy="41148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28600" y="7772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" y="83210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28016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Master: </a:t>
            </a:r>
            <a:endParaRPr lang="sr-Latn-RS" sz="1200" b="1" dirty="0">
              <a:solidFill>
                <a:srgbClr val="475569"/>
              </a:solidFill>
              <a:latin typeface="+mj-lt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INSERT INTO EMPLOYEE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EMP_NO=1000; COMMIT;</a:t>
            </a:r>
            <a:endParaRPr lang="en-US" sz="1200" dirty="0">
              <a:latin typeface="+mj-lt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Slave: </a:t>
            </a:r>
            <a:endParaRPr lang="sr-Latn-RS" sz="1200" b="1" dirty="0">
              <a:solidFill>
                <a:srgbClr val="475569"/>
              </a:solidFill>
              <a:latin typeface="+mj-lt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SELECT * FROM EMPLOYEE WHERE EMP_NO=1000;</a:t>
            </a:r>
            <a:endParaRPr lang="en-US" sz="1200" dirty="0">
              <a:latin typeface="+mj-lt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O</a:t>
            </a:r>
            <a:r>
              <a:rPr lang="sr-Latn-R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č</a:t>
            </a:r>
            <a:r>
              <a:rPr lang="en-US" sz="1200" dirty="0" err="1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ekivani</a:t>
            </a: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 rezultat: red postoji </a:t>
            </a:r>
            <a:r>
              <a:rPr lang="en-US" sz="1200" dirty="0" err="1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na</a:t>
            </a: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replici</a:t>
            </a:r>
            <a:endParaRPr lang="en-US" sz="1200" dirty="0"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127248" y="77724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127248" y="777240"/>
            <a:ext cx="2743200" cy="4114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127248" y="7772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83210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18688" y="128016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Master: </a:t>
            </a:r>
            <a:endParaRPr lang="sr-Latn-RS" sz="1200" b="1" dirty="0">
              <a:solidFill>
                <a:srgbClr val="475569"/>
              </a:solidFill>
              <a:latin typeface="+mj-lt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UPDATE EMPLOYEE SET SALARY=60000 WHERE EMP_NO=1000; COMMIT;</a:t>
            </a:r>
            <a:endParaRPr lang="en-US" sz="1200" dirty="0">
              <a:latin typeface="+mj-lt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Slave: </a:t>
            </a:r>
            <a:endParaRPr lang="sr-Latn-RS" sz="1200" b="1" dirty="0">
              <a:solidFill>
                <a:srgbClr val="475569"/>
              </a:solidFill>
              <a:latin typeface="+mj-lt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SELECT SALARY FROM EMPLOYEE WHERE EMP_NO=1000;</a:t>
            </a:r>
            <a:endParaRPr lang="en-US" sz="1200" dirty="0">
              <a:latin typeface="+mj-lt"/>
            </a:endParaRPr>
          </a:p>
          <a:p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O</a:t>
            </a:r>
            <a:r>
              <a:rPr lang="sr-Latn-R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č</a:t>
            </a:r>
            <a:r>
              <a:rPr lang="en-US" sz="1200" dirty="0" err="1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ekivani</a:t>
            </a: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rezultat</a:t>
            </a: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: SALARY=60000.</a:t>
            </a:r>
            <a:endParaRPr lang="en-US" sz="1200" dirty="0">
              <a:latin typeface="+mj-lt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25896" y="77724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025896" y="777240"/>
            <a:ext cx="2743200" cy="411480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025896" y="7772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83210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17336" y="128016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Master: </a:t>
            </a:r>
            <a:endParaRPr lang="sr-Latn-RS" sz="1200" b="1" dirty="0">
              <a:solidFill>
                <a:srgbClr val="475569"/>
              </a:solidFill>
              <a:latin typeface="+mj-lt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DELETE iz SALARY_HISTORY pa iz EMPLOYEE; COMMIT;</a:t>
            </a:r>
            <a:endParaRPr lang="en-US" sz="1200" dirty="0">
              <a:latin typeface="+mj-lt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Slave: </a:t>
            </a:r>
            <a:endParaRPr lang="sr-Latn-RS" sz="1200" b="1" dirty="0">
              <a:solidFill>
                <a:srgbClr val="475569"/>
              </a:solidFill>
              <a:latin typeface="+mj-lt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SELECT COUNT(*)</a:t>
            </a:r>
            <a:endParaRPr lang="en-US" sz="1200" dirty="0">
              <a:latin typeface="+mj-lt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Klju</a:t>
            </a:r>
            <a:r>
              <a:rPr lang="sr-Latn-R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č</a:t>
            </a: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no: referenc. </a:t>
            </a:r>
            <a:r>
              <a:rPr lang="en-US" sz="1200" dirty="0" err="1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integritet</a:t>
            </a: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 o</a:t>
            </a:r>
            <a:r>
              <a:rPr lang="sr-Latn-R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č</a:t>
            </a:r>
            <a:r>
              <a:rPr lang="en-US" sz="1200" dirty="0" err="1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uvan</a:t>
            </a:r>
            <a:r>
              <a:rPr lang="en-U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 na OBA </a:t>
            </a:r>
            <a:r>
              <a:rPr lang="sr-Latn-RS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č</a:t>
            </a:r>
            <a:r>
              <a:rPr lang="en-US" sz="1200" dirty="0" err="1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vora</a:t>
            </a:r>
            <a:r>
              <a:rPr lang="sr-Latn-BA" sz="12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.</a:t>
            </a:r>
            <a:endParaRPr lang="en-US" sz="1200" dirty="0">
              <a:latin typeface="+mj-lt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8600" y="2953512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 sz="1200">
              <a:latin typeface="+mj-lt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28600" y="2953512"/>
            <a:ext cx="2743200" cy="4114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28600" y="29535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" y="30083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" y="3456432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SELECT MON$NEXT_TRANSACTION FROM MON$DATABASE;</a:t>
            </a:r>
            <a:endParaRPr lang="sr-Latn-RS" sz="1400" dirty="0">
              <a:solidFill>
                <a:srgbClr val="475569"/>
              </a:solidFill>
              <a:latin typeface="+mj-lt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400" dirty="0">
              <a:latin typeface="+mj-lt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(pokrenuti na masteru i replici)</a:t>
            </a:r>
            <a:endParaRPr lang="en-US" sz="1400" dirty="0">
              <a:latin typeface="+mj-lt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Mala razlika = zdravo. </a:t>
            </a:r>
            <a:endParaRPr lang="sr-Latn-RS" sz="1400" dirty="0">
              <a:solidFill>
                <a:srgbClr val="475569"/>
              </a:solidFill>
              <a:latin typeface="+mj-lt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Velika razlika = lag problem</a:t>
            </a:r>
            <a:r>
              <a:rPr lang="sr-Latn-BA" sz="14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.</a:t>
            </a:r>
            <a:endParaRPr lang="en-US" sz="1400" dirty="0">
              <a:latin typeface="+mj-lt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127248" y="2953512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127248" y="2953512"/>
            <a:ext cx="2743200" cy="411480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3127248" y="29535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47872" y="30083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Isklju</a:t>
            </a:r>
            <a:r>
              <a:rPr lang="sr-Latn-R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sr-Latn-R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vanje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</a:t>
            </a:r>
            <a:r>
              <a:rPr lang="sr-Latn-R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18688" y="3456432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ALTER PUBLICATION SET TABLE EMPLOYEE INACTIVE;</a:t>
            </a:r>
            <a:endParaRPr lang="sr-Latn-RS" sz="1400" dirty="0">
              <a:solidFill>
                <a:srgbClr val="475569"/>
              </a:solidFill>
              <a:latin typeface="+mj-lt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400" dirty="0">
              <a:latin typeface="+mj-lt"/>
            </a:endParaRPr>
          </a:p>
          <a:p>
            <a:pPr marL="0" indent="0">
              <a:buNone/>
            </a:pPr>
            <a:r>
              <a:rPr lang="sr-Latn-RS" sz="14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400" dirty="0" err="1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abela</a:t>
            </a:r>
            <a:r>
              <a:rPr lang="en-US" sz="14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 se </a:t>
            </a:r>
            <a:r>
              <a:rPr lang="en-US" sz="1400" dirty="0" err="1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isklju</a:t>
            </a:r>
            <a:r>
              <a:rPr lang="sr-Latn-RS" sz="14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č</a:t>
            </a:r>
            <a:r>
              <a:rPr lang="en-US" sz="1400" dirty="0" err="1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uje</a:t>
            </a:r>
            <a:r>
              <a:rPr lang="en-US" sz="14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 iz replikacije bez </a:t>
            </a:r>
            <a:r>
              <a:rPr lang="en-US" sz="1400" dirty="0" err="1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gubljenja</a:t>
            </a:r>
            <a:r>
              <a:rPr lang="en-US" sz="14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ostalih</a:t>
            </a:r>
            <a:endParaRPr lang="sr-Latn-RS" sz="1400" dirty="0">
              <a:solidFill>
                <a:srgbClr val="475569"/>
              </a:solidFill>
              <a:latin typeface="+mj-lt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400" dirty="0">
              <a:latin typeface="+mj-lt"/>
            </a:endParaRPr>
          </a:p>
          <a:p>
            <a:pPr marL="0" indent="0">
              <a:buNone/>
            </a:pPr>
            <a:r>
              <a:rPr lang="en-US" sz="1400" dirty="0" err="1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Fleksibilnost</a:t>
            </a:r>
            <a:r>
              <a:rPr lang="en-US" sz="14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logi</a:t>
            </a:r>
            <a:r>
              <a:rPr lang="sr-Latn-RS" sz="14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č</a:t>
            </a:r>
            <a:r>
              <a:rPr lang="en-US" sz="1400" dirty="0" err="1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ke</a:t>
            </a:r>
            <a:r>
              <a:rPr lang="en-US" sz="14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replikacije</a:t>
            </a:r>
            <a:r>
              <a:rPr lang="sr-Latn-BA" sz="1400" dirty="0">
                <a:solidFill>
                  <a:srgbClr val="475569"/>
                </a:solidFill>
                <a:latin typeface="+mj-lt"/>
                <a:ea typeface="Consolas" pitchFamily="34" charset="-122"/>
                <a:cs typeface="Consolas" pitchFamily="34" charset="-120"/>
              </a:rPr>
              <a:t>.</a:t>
            </a:r>
            <a:endParaRPr lang="en-US" sz="1400" dirty="0">
              <a:latin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02336" y="2676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Ključni zaključci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9007"/>
            <a:ext cx="8412480" cy="640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sz="120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989007"/>
            <a:ext cx="73152" cy="6400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30352" y="1098735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Mirroring vs Replikacija: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017520" y="1098735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Preslikavanje = hardverska redundansa (LAN)</a:t>
            </a:r>
            <a:endParaRPr lang="sr-Latn-RS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Replikacija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</a:t>
            </a:r>
            <a:r>
              <a:rPr lang="sr-Latn-R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 sinhronizacija (WAN + selekcija).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47959"/>
            <a:ext cx="8412480" cy="640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sz="120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1747959"/>
            <a:ext cx="73152" cy="6400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30352" y="1857687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Nativna replikacija FB 4.0: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017520" y="1857687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Revolucionarna promena —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ugra</a:t>
            </a:r>
            <a:r>
              <a:rPr lang="sr-Latn-R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mehanizam bez alata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</a:t>
            </a:r>
            <a:r>
              <a:rPr lang="sr-Latn-R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06911"/>
            <a:ext cx="8412480" cy="640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sz="120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5760" y="2506911"/>
            <a:ext cx="73152" cy="6400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30352" y="2616639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Sinhrono vs Asinhrono: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017520" y="2616639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Loss (sinhrono) ili maksimalna brzina (asinhrono) — biramo prema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poslovnom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zahtevu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265863"/>
            <a:ext cx="8412480" cy="640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sz="120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5760" y="3265863"/>
            <a:ext cx="73152" cy="6400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30352" y="3375591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Eho efekat: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017520" y="3375591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RDB$GET_CONTEXT('SYSTEM','REPLICATING')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</a:t>
            </a:r>
            <a:r>
              <a:rPr lang="sr-Latn-R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</a:t>
            </a:r>
            <a:r>
              <a:rPr lang="sr-Latn-R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avanja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beskona</a:t>
            </a:r>
            <a:r>
              <a:rPr lang="sr-Latn-R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petlji u Multi-Master</a:t>
            </a:r>
            <a:r>
              <a:rPr lang="sr-Latn-R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024815"/>
            <a:ext cx="8412480" cy="640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sz="120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5760" y="4024815"/>
            <a:ext cx="73152" cy="6400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30352" y="4134543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Firebird vs konkurencija: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3017520" y="4134543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i MSSQL imaju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zrelija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</a:t>
            </a:r>
            <a:r>
              <a:rPr lang="sr-Latn-R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Firebird 4.0/5.0 tek dostigao enterprise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nivo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replikacije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436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191CE844-74B2-1141-0575-D5F64587F5D3}"/>
              </a:ext>
            </a:extLst>
          </p:cNvPr>
          <p:cNvSpPr/>
          <p:nvPr/>
        </p:nvSpPr>
        <p:spPr>
          <a:xfrm>
            <a:off x="201168" y="0"/>
            <a:ext cx="8942832" cy="548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3750</Words>
  <Application>Microsoft Office PowerPoint</Application>
  <PresentationFormat>On-screen Show (16:9)</PresentationFormat>
  <Paragraphs>337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Jefimija Stamenovic</cp:lastModifiedBy>
  <cp:revision>100</cp:revision>
  <dcterms:created xsi:type="dcterms:W3CDTF">2026-03-11T06:47:54Z</dcterms:created>
  <dcterms:modified xsi:type="dcterms:W3CDTF">2026-03-16T09:24:58Z</dcterms:modified>
</cp:coreProperties>
</file>