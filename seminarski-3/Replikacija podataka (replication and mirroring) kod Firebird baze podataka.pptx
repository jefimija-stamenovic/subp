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B2A4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54391" autoAdjust="0"/>
  </p:normalViewPr>
  <p:slideViewPr>
    <p:cSldViewPr snapToGrid="0" snapToObjects="1">
      <p:cViewPr>
        <p:scale>
          <a:sx n="60" d="100"/>
          <a:sy n="60" d="100"/>
        </p:scale>
        <p:origin x="77" y="3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391811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Ovo je </a:t>
            </a:r>
            <a:r>
              <a:rPr lang="en-US" dirty="0" err="1"/>
              <a:t>sadržaj</a:t>
            </a:r>
            <a:r>
              <a:rPr lang="en-US" dirty="0"/>
              <a:t> </a:t>
            </a:r>
            <a:r>
              <a:rPr lang="en-US" dirty="0" err="1"/>
              <a:t>prezentacije</a:t>
            </a:r>
            <a:r>
              <a:rPr lang="en-US" dirty="0"/>
              <a:t> </a:t>
            </a:r>
            <a:r>
              <a:rPr lang="en-US" dirty="0" err="1"/>
              <a:t>koja</a:t>
            </a:r>
            <a:r>
              <a:rPr lang="en-US" dirty="0"/>
              <a:t> </a:t>
            </a:r>
            <a:r>
              <a:rPr lang="en-US" dirty="0" err="1"/>
              <a:t>pokriva</a:t>
            </a:r>
            <a:r>
              <a:rPr lang="en-US" dirty="0"/>
              <a:t> </a:t>
            </a:r>
            <a:r>
              <a:rPr lang="en-US" dirty="0" err="1"/>
              <a:t>sedam</a:t>
            </a:r>
            <a:r>
              <a:rPr lang="en-US" dirty="0"/>
              <a:t> </a:t>
            </a:r>
            <a:r>
              <a:rPr lang="en-US" dirty="0" err="1"/>
              <a:t>ključnih</a:t>
            </a:r>
            <a:r>
              <a:rPr lang="en-US" dirty="0"/>
              <a:t> </a:t>
            </a:r>
            <a:r>
              <a:rPr lang="en-US" dirty="0" err="1"/>
              <a:t>oblasti</a:t>
            </a:r>
            <a:r>
              <a:rPr lang="en-US" dirty="0"/>
              <a:t> </a:t>
            </a:r>
            <a:r>
              <a:rPr lang="en-US" dirty="0" err="1"/>
              <a:t>replikacije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visoke</a:t>
            </a:r>
            <a:r>
              <a:rPr lang="en-US" dirty="0"/>
              <a:t> </a:t>
            </a:r>
            <a:r>
              <a:rPr lang="en-US" dirty="0" err="1"/>
              <a:t>dostupnosti</a:t>
            </a:r>
            <a:r>
              <a:rPr lang="en-US" dirty="0"/>
              <a:t> u Firebird </a:t>
            </a:r>
            <a:r>
              <a:rPr lang="en-US" dirty="0" err="1"/>
              <a:t>sistemu</a:t>
            </a:r>
            <a:r>
              <a:rPr lang="en-US" dirty="0"/>
              <a:t>.</a:t>
            </a:r>
          </a:p>
          <a:p>
            <a:r>
              <a:rPr lang="en-US" dirty="0" err="1"/>
              <a:t>Krećemo</a:t>
            </a:r>
            <a:r>
              <a:rPr lang="en-US" dirty="0"/>
              <a:t> od </a:t>
            </a:r>
            <a:r>
              <a:rPr lang="en-US" b="1" dirty="0"/>
              <a:t>CAP </a:t>
            </a:r>
            <a:r>
              <a:rPr lang="en-US" b="1" dirty="0" err="1"/>
              <a:t>teoreme</a:t>
            </a:r>
            <a:r>
              <a:rPr lang="en-US" dirty="0"/>
              <a:t> </a:t>
            </a:r>
            <a:r>
              <a:rPr lang="en-US" dirty="0" err="1"/>
              <a:t>kao</a:t>
            </a:r>
            <a:r>
              <a:rPr lang="en-US" dirty="0"/>
              <a:t> </a:t>
            </a:r>
            <a:r>
              <a:rPr lang="en-US" dirty="0" err="1"/>
              <a:t>teorijsk</a:t>
            </a:r>
            <a:r>
              <a:rPr lang="sr-Latn-RS" dirty="0"/>
              <a:t>e osnove, odnosno, </a:t>
            </a:r>
            <a:r>
              <a:rPr lang="en-US" dirty="0" err="1"/>
              <a:t>fundamentalnog</a:t>
            </a:r>
            <a:r>
              <a:rPr lang="en-US" dirty="0"/>
              <a:t> </a:t>
            </a:r>
            <a:r>
              <a:rPr lang="en-US" dirty="0" err="1"/>
              <a:t>kompromisa</a:t>
            </a:r>
            <a:r>
              <a:rPr lang="en-US" dirty="0"/>
              <a:t> </a:t>
            </a:r>
            <a:r>
              <a:rPr lang="en-US" dirty="0" err="1"/>
              <a:t>između</a:t>
            </a:r>
            <a:r>
              <a:rPr lang="en-US" dirty="0"/>
              <a:t> </a:t>
            </a:r>
            <a:r>
              <a:rPr lang="en-US" dirty="0" err="1"/>
              <a:t>konzistentnosti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dostupnosti</a:t>
            </a:r>
            <a:r>
              <a:rPr lang="en-US" dirty="0"/>
              <a:t> u </a:t>
            </a:r>
            <a:r>
              <a:rPr lang="en-US" dirty="0" err="1"/>
              <a:t>distribuiranim</a:t>
            </a:r>
            <a:r>
              <a:rPr lang="en-US" dirty="0"/>
              <a:t> </a:t>
            </a:r>
            <a:r>
              <a:rPr lang="en-US" dirty="0" err="1"/>
              <a:t>sistemima</a:t>
            </a:r>
            <a:r>
              <a:rPr lang="en-US" dirty="0"/>
              <a:t>, </a:t>
            </a:r>
            <a:r>
              <a:rPr lang="en-US" dirty="0" err="1"/>
              <a:t>nakon</a:t>
            </a:r>
            <a:r>
              <a:rPr lang="en-US" dirty="0"/>
              <a:t> </a:t>
            </a:r>
            <a:r>
              <a:rPr lang="en-US" dirty="0" err="1"/>
              <a:t>čega</a:t>
            </a:r>
            <a:r>
              <a:rPr lang="en-US" dirty="0"/>
              <a:t> </a:t>
            </a:r>
            <a:r>
              <a:rPr lang="en-US" dirty="0" err="1"/>
              <a:t>analiziramo</a:t>
            </a:r>
            <a:r>
              <a:rPr lang="en-US" dirty="0"/>
              <a:t> </a:t>
            </a:r>
            <a:r>
              <a:rPr lang="en-US" b="1" dirty="0" err="1"/>
              <a:t>Preslikavanje</a:t>
            </a:r>
            <a:r>
              <a:rPr lang="en-US" b="1" dirty="0"/>
              <a:t> (Mirroring)</a:t>
            </a:r>
            <a:r>
              <a:rPr lang="en-US" dirty="0"/>
              <a:t> </a:t>
            </a:r>
            <a:r>
              <a:rPr lang="en-US" dirty="0" err="1"/>
              <a:t>sa</a:t>
            </a:r>
            <a:r>
              <a:rPr lang="en-US" dirty="0"/>
              <a:t> MANUAL/AUTO </a:t>
            </a:r>
            <a:r>
              <a:rPr lang="en-US" dirty="0" err="1"/>
              <a:t>režimima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scenarijima</a:t>
            </a:r>
            <a:r>
              <a:rPr lang="en-US" dirty="0"/>
              <a:t> </a:t>
            </a:r>
            <a:r>
              <a:rPr lang="en-US" dirty="0" err="1"/>
              <a:t>oporavka</a:t>
            </a:r>
            <a:r>
              <a:rPr lang="en-US" dirty="0"/>
              <a:t>.</a:t>
            </a:r>
          </a:p>
          <a:p>
            <a:r>
              <a:rPr lang="en-US" dirty="0" err="1"/>
              <a:t>Centralni</a:t>
            </a:r>
            <a:r>
              <a:rPr lang="en-US" dirty="0"/>
              <a:t> deo </a:t>
            </a:r>
            <a:r>
              <a:rPr lang="en-US" dirty="0" err="1"/>
              <a:t>pokriva</a:t>
            </a:r>
            <a:r>
              <a:rPr lang="en-US" dirty="0"/>
              <a:t> </a:t>
            </a:r>
            <a:r>
              <a:rPr lang="en-US" dirty="0" err="1"/>
              <a:t>replikacione</a:t>
            </a:r>
            <a:r>
              <a:rPr lang="en-US" dirty="0"/>
              <a:t> </a:t>
            </a:r>
            <a:r>
              <a:rPr lang="en-US" dirty="0" err="1"/>
              <a:t>mehanizme</a:t>
            </a:r>
            <a:r>
              <a:rPr lang="en-US" dirty="0"/>
              <a:t> — </a:t>
            </a:r>
            <a:r>
              <a:rPr lang="en-US" b="1" dirty="0" err="1"/>
              <a:t>Nativna</a:t>
            </a:r>
            <a:r>
              <a:rPr lang="en-US" b="1" dirty="0"/>
              <a:t> </a:t>
            </a:r>
            <a:r>
              <a:rPr lang="en-US" b="1" dirty="0" err="1"/>
              <a:t>binarna</a:t>
            </a:r>
            <a:r>
              <a:rPr lang="en-US" b="1" dirty="0"/>
              <a:t> </a:t>
            </a:r>
            <a:r>
              <a:rPr lang="en-US" b="1" dirty="0" err="1"/>
              <a:t>replikacija</a:t>
            </a:r>
            <a:r>
              <a:rPr lang="en-US" dirty="0"/>
              <a:t> </a:t>
            </a:r>
            <a:r>
              <a:rPr lang="en-US" dirty="0" err="1"/>
              <a:t>uvedena</a:t>
            </a:r>
            <a:r>
              <a:rPr lang="en-US" dirty="0"/>
              <a:t> u Firebird 4.0 </a:t>
            </a:r>
            <a:r>
              <a:rPr lang="en-US" dirty="0" err="1"/>
              <a:t>sa</a:t>
            </a:r>
            <a:r>
              <a:rPr lang="en-US" dirty="0"/>
              <a:t> </a:t>
            </a:r>
            <a:r>
              <a:rPr lang="en-US" dirty="0" err="1"/>
              <a:t>replikacionim</a:t>
            </a:r>
            <a:r>
              <a:rPr lang="en-US" dirty="0"/>
              <a:t> </a:t>
            </a:r>
            <a:r>
              <a:rPr lang="en-US" dirty="0" err="1"/>
              <a:t>dnevnicima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sinhronizacijom</a:t>
            </a:r>
            <a:r>
              <a:rPr lang="en-US" dirty="0"/>
              <a:t>, </a:t>
            </a:r>
            <a:r>
              <a:rPr lang="en-US" dirty="0" err="1"/>
              <a:t>kao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razlike</a:t>
            </a:r>
            <a:r>
              <a:rPr lang="en-US" dirty="0"/>
              <a:t> </a:t>
            </a:r>
            <a:r>
              <a:rPr lang="en-US" dirty="0" err="1"/>
              <a:t>između</a:t>
            </a:r>
            <a:r>
              <a:rPr lang="en-US" dirty="0"/>
              <a:t> </a:t>
            </a:r>
            <a:r>
              <a:rPr lang="en-US" b="1" dirty="0" err="1"/>
              <a:t>Sinhrona</a:t>
            </a:r>
            <a:r>
              <a:rPr lang="en-US" b="1" dirty="0"/>
              <a:t> </a:t>
            </a:r>
            <a:r>
              <a:rPr lang="en-US" b="1" dirty="0" err="1"/>
              <a:t>i</a:t>
            </a:r>
            <a:r>
              <a:rPr lang="en-US" b="1" dirty="0"/>
              <a:t> </a:t>
            </a:r>
            <a:r>
              <a:rPr lang="en-US" b="1" dirty="0" err="1"/>
              <a:t>Asinhrona</a:t>
            </a:r>
            <a:r>
              <a:rPr lang="en-US" b="1" dirty="0"/>
              <a:t> </a:t>
            </a:r>
            <a:r>
              <a:rPr lang="en-US" b="1" dirty="0" err="1"/>
              <a:t>replikacije</a:t>
            </a:r>
            <a:r>
              <a:rPr lang="en-US" dirty="0"/>
              <a:t> </a:t>
            </a:r>
            <a:r>
              <a:rPr lang="en-US" dirty="0" err="1"/>
              <a:t>kroz</a:t>
            </a:r>
            <a:r>
              <a:rPr lang="en-US" dirty="0"/>
              <a:t> </a:t>
            </a:r>
            <a:r>
              <a:rPr lang="en-US" dirty="0" err="1"/>
              <a:t>prizmu</a:t>
            </a:r>
            <a:r>
              <a:rPr lang="en-US" dirty="0"/>
              <a:t> Zero Data Loss vs Replication Lag </a:t>
            </a:r>
            <a:r>
              <a:rPr lang="en-US" dirty="0" err="1"/>
              <a:t>kompromisa</a:t>
            </a:r>
            <a:r>
              <a:rPr lang="en-US" dirty="0"/>
              <a:t>.</a:t>
            </a:r>
          </a:p>
          <a:p>
            <a:r>
              <a:rPr lang="en-US" dirty="0" err="1"/>
              <a:t>Praktični</a:t>
            </a:r>
            <a:r>
              <a:rPr lang="en-US" dirty="0"/>
              <a:t> </a:t>
            </a:r>
            <a:r>
              <a:rPr lang="en-US" dirty="0" err="1"/>
              <a:t>aspekti</a:t>
            </a:r>
            <a:r>
              <a:rPr lang="en-US" dirty="0"/>
              <a:t> </a:t>
            </a:r>
            <a:r>
              <a:rPr lang="en-US" dirty="0" err="1"/>
              <a:t>obuhvataju</a:t>
            </a:r>
            <a:r>
              <a:rPr lang="en-US" dirty="0"/>
              <a:t> </a:t>
            </a:r>
            <a:r>
              <a:rPr lang="en-US" b="1" dirty="0" err="1"/>
              <a:t>Logičku</a:t>
            </a:r>
            <a:r>
              <a:rPr lang="en-US" b="1" dirty="0"/>
              <a:t> </a:t>
            </a:r>
            <a:r>
              <a:rPr lang="en-US" b="1" dirty="0" err="1"/>
              <a:t>replikaciju</a:t>
            </a:r>
            <a:r>
              <a:rPr lang="en-US" dirty="0"/>
              <a:t> </a:t>
            </a:r>
            <a:r>
              <a:rPr lang="en-US" dirty="0" err="1"/>
              <a:t>putem</a:t>
            </a:r>
            <a:r>
              <a:rPr lang="en-US" dirty="0"/>
              <a:t> </a:t>
            </a:r>
            <a:r>
              <a:rPr lang="en-US" dirty="0" err="1"/>
              <a:t>trigera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REPLICATION_LOG </a:t>
            </a:r>
            <a:r>
              <a:rPr lang="en-US" dirty="0" err="1"/>
              <a:t>tabele</a:t>
            </a:r>
            <a:r>
              <a:rPr lang="en-US" dirty="0"/>
              <a:t> </a:t>
            </a:r>
            <a:r>
              <a:rPr lang="en-US" dirty="0" err="1"/>
              <a:t>sa</a:t>
            </a:r>
            <a:r>
              <a:rPr lang="en-US" dirty="0"/>
              <a:t> </a:t>
            </a:r>
            <a:r>
              <a:rPr lang="en-US" dirty="0" err="1"/>
              <a:t>rešavanjem</a:t>
            </a:r>
            <a:r>
              <a:rPr lang="en-US" dirty="0"/>
              <a:t> </a:t>
            </a:r>
            <a:r>
              <a:rPr lang="en-US" dirty="0" err="1"/>
              <a:t>konflikata</a:t>
            </a:r>
            <a:r>
              <a:rPr lang="en-US" dirty="0"/>
              <a:t>, </a:t>
            </a:r>
            <a:r>
              <a:rPr lang="en-US" dirty="0" err="1"/>
              <a:t>kao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b="1" dirty="0"/>
              <a:t>Multi-Master </a:t>
            </a:r>
            <a:r>
              <a:rPr lang="en-US" b="1" dirty="0" err="1"/>
              <a:t>topologije</a:t>
            </a:r>
            <a:r>
              <a:rPr lang="en-US" dirty="0"/>
              <a:t> — Star, Mesh </a:t>
            </a:r>
            <a:r>
              <a:rPr lang="en-US" dirty="0" err="1"/>
              <a:t>i</a:t>
            </a:r>
            <a:r>
              <a:rPr lang="en-US" dirty="0"/>
              <a:t> Ring </a:t>
            </a:r>
            <a:r>
              <a:rPr lang="en-US" dirty="0" err="1"/>
              <a:t>arhitekture</a:t>
            </a:r>
            <a:r>
              <a:rPr lang="en-US" dirty="0"/>
              <a:t> </a:t>
            </a:r>
            <a:r>
              <a:rPr lang="en-US" dirty="0" err="1"/>
              <a:t>sa</a:t>
            </a:r>
            <a:r>
              <a:rPr lang="en-US" dirty="0"/>
              <a:t> </a:t>
            </a:r>
            <a:r>
              <a:rPr lang="en-US" dirty="0" err="1"/>
              <a:t>analizom</a:t>
            </a:r>
            <a:r>
              <a:rPr lang="en-US" dirty="0"/>
              <a:t> </a:t>
            </a:r>
            <a:r>
              <a:rPr lang="en-US" dirty="0" err="1"/>
              <a:t>eho</a:t>
            </a:r>
            <a:r>
              <a:rPr lang="en-US" dirty="0"/>
              <a:t> </a:t>
            </a:r>
            <a:r>
              <a:rPr lang="en-US" dirty="0" err="1"/>
              <a:t>efekta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načinima</a:t>
            </a:r>
            <a:r>
              <a:rPr lang="en-US" dirty="0"/>
              <a:t> </a:t>
            </a:r>
            <a:r>
              <a:rPr lang="en-US" dirty="0" err="1"/>
              <a:t>njegovog</a:t>
            </a:r>
            <a:r>
              <a:rPr lang="en-US" dirty="0"/>
              <a:t> </a:t>
            </a:r>
            <a:r>
              <a:rPr lang="en-US" dirty="0" err="1"/>
              <a:t>rešavanja</a:t>
            </a:r>
            <a:r>
              <a:rPr lang="en-US" dirty="0"/>
              <a:t>.</a:t>
            </a:r>
          </a:p>
          <a:p>
            <a:r>
              <a:rPr lang="en-US" dirty="0"/>
              <a:t>Prezentacija se </a:t>
            </a:r>
            <a:r>
              <a:rPr lang="en-US" dirty="0" err="1"/>
              <a:t>zaključuje</a:t>
            </a:r>
            <a:r>
              <a:rPr lang="en-US" dirty="0"/>
              <a:t> </a:t>
            </a:r>
            <a:r>
              <a:rPr lang="en-US" b="1" dirty="0" err="1"/>
              <a:t>Praktičnom</a:t>
            </a:r>
            <a:r>
              <a:rPr lang="en-US" b="1" dirty="0"/>
              <a:t> </a:t>
            </a:r>
            <a:r>
              <a:rPr lang="en-US" b="1" dirty="0" err="1"/>
              <a:t>implementacijom</a:t>
            </a:r>
            <a:r>
              <a:rPr lang="en-US" dirty="0"/>
              <a:t> </a:t>
            </a:r>
            <a:r>
              <a:rPr lang="en-US" dirty="0" err="1"/>
              <a:t>kroz</a:t>
            </a:r>
            <a:r>
              <a:rPr lang="en-US" dirty="0"/>
              <a:t> 8 </a:t>
            </a:r>
            <a:r>
              <a:rPr lang="en-US" dirty="0" err="1"/>
              <a:t>koraka</a:t>
            </a:r>
            <a:r>
              <a:rPr lang="en-US" dirty="0"/>
              <a:t> </a:t>
            </a:r>
            <a:r>
              <a:rPr lang="en-US" dirty="0" err="1"/>
              <a:t>konfiguracije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5 </a:t>
            </a:r>
            <a:r>
              <a:rPr lang="en-US" dirty="0" err="1"/>
              <a:t>verifikacionih</a:t>
            </a:r>
            <a:r>
              <a:rPr lang="en-US" dirty="0"/>
              <a:t> </a:t>
            </a:r>
            <a:r>
              <a:rPr lang="en-US" dirty="0" err="1"/>
              <a:t>primera</a:t>
            </a:r>
            <a:r>
              <a:rPr lang="en-US" dirty="0"/>
              <a:t> koji </a:t>
            </a:r>
            <a:r>
              <a:rPr lang="en-US" dirty="0" err="1"/>
              <a:t>demonstriraju</a:t>
            </a:r>
            <a:r>
              <a:rPr lang="en-US" dirty="0"/>
              <a:t> </a:t>
            </a:r>
            <a:r>
              <a:rPr lang="en-US" dirty="0" err="1"/>
              <a:t>postavljanje</a:t>
            </a:r>
            <a:r>
              <a:rPr lang="en-US" dirty="0"/>
              <a:t> </a:t>
            </a:r>
            <a:r>
              <a:rPr lang="en-US" dirty="0" err="1"/>
              <a:t>replikacije</a:t>
            </a:r>
            <a:r>
              <a:rPr lang="en-US" dirty="0"/>
              <a:t> u </a:t>
            </a:r>
            <a:r>
              <a:rPr lang="en-US" dirty="0" err="1"/>
              <a:t>realnom</a:t>
            </a:r>
            <a:r>
              <a:rPr lang="en-US" dirty="0"/>
              <a:t> </a:t>
            </a:r>
            <a:r>
              <a:rPr lang="en-US" dirty="0" err="1"/>
              <a:t>okruženju</a:t>
            </a:r>
            <a:r>
              <a:rPr lang="en-US" dirty="0"/>
              <a:t>. 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 </a:t>
            </a:r>
            <a:r>
              <a:rPr lang="en-US" dirty="0" err="1"/>
              <a:t>teorema</a:t>
            </a:r>
            <a:r>
              <a:rPr lang="en-US" dirty="0"/>
              <a:t> </a:t>
            </a:r>
            <a:r>
              <a:rPr lang="en-US" dirty="0" err="1"/>
              <a:t>kaže</a:t>
            </a:r>
            <a:r>
              <a:rPr lang="en-US" dirty="0"/>
              <a:t> da </a:t>
            </a:r>
            <a:r>
              <a:rPr lang="en-US" dirty="0" err="1"/>
              <a:t>nijedan</a:t>
            </a:r>
            <a:r>
              <a:rPr lang="en-US" dirty="0"/>
              <a:t> </a:t>
            </a:r>
            <a:r>
              <a:rPr lang="en-US" dirty="0" err="1"/>
              <a:t>distribuirani</a:t>
            </a:r>
            <a:r>
              <a:rPr lang="en-US" dirty="0"/>
              <a:t> </a:t>
            </a:r>
            <a:r>
              <a:rPr lang="en-US" dirty="0" err="1"/>
              <a:t>sistem</a:t>
            </a:r>
            <a:r>
              <a:rPr lang="en-US" dirty="0"/>
              <a:t> ne </a:t>
            </a:r>
            <a:r>
              <a:rPr lang="en-US" dirty="0" err="1"/>
              <a:t>može</a:t>
            </a:r>
            <a:r>
              <a:rPr lang="en-US" dirty="0"/>
              <a:t> </a:t>
            </a:r>
            <a:r>
              <a:rPr lang="en-US" dirty="0" err="1"/>
              <a:t>istovremeno</a:t>
            </a:r>
            <a:r>
              <a:rPr lang="en-US" dirty="0"/>
              <a:t> </a:t>
            </a:r>
            <a:r>
              <a:rPr lang="en-US" dirty="0" err="1"/>
              <a:t>garantovati</a:t>
            </a:r>
            <a:r>
              <a:rPr lang="en-US" dirty="0"/>
              <a:t> </a:t>
            </a:r>
            <a:r>
              <a:rPr lang="en-US" dirty="0" err="1"/>
              <a:t>sva</a:t>
            </a:r>
            <a:r>
              <a:rPr lang="en-US" dirty="0"/>
              <a:t> tri </a:t>
            </a:r>
            <a:r>
              <a:rPr lang="en-US" dirty="0" err="1"/>
              <a:t>svojstva</a:t>
            </a:r>
            <a:r>
              <a:rPr lang="en-US" dirty="0"/>
              <a:t> — </a:t>
            </a:r>
            <a:r>
              <a:rPr lang="en-US" dirty="0" err="1"/>
              <a:t>Konzistentnost</a:t>
            </a:r>
            <a:r>
              <a:rPr lang="en-US" dirty="0"/>
              <a:t>, Dostupnost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Otpornost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particije</a:t>
            </a:r>
            <a:r>
              <a:rPr lang="en-US" dirty="0"/>
              <a:t> — </a:t>
            </a:r>
            <a:r>
              <a:rPr lang="en-US" dirty="0" err="1"/>
              <a:t>već</a:t>
            </a:r>
            <a:r>
              <a:rPr lang="en-US" dirty="0"/>
              <a:t> mora da </a:t>
            </a:r>
            <a:r>
              <a:rPr lang="en-US" dirty="0" err="1"/>
              <a:t>izabere</a:t>
            </a:r>
            <a:r>
              <a:rPr lang="en-US" dirty="0"/>
              <a:t> </a:t>
            </a:r>
            <a:r>
              <a:rPr lang="en-US" dirty="0" err="1"/>
              <a:t>dva</a:t>
            </a:r>
            <a:r>
              <a:rPr lang="en-US" dirty="0"/>
              <a:t> od tri.</a:t>
            </a:r>
          </a:p>
          <a:p>
            <a:r>
              <a:rPr lang="en-US" b="1" dirty="0" err="1"/>
              <a:t>Konzistentnost</a:t>
            </a:r>
            <a:r>
              <a:rPr lang="en-US" dirty="0"/>
              <a:t> </a:t>
            </a:r>
            <a:r>
              <a:rPr lang="en-US" dirty="0" err="1"/>
              <a:t>garantuje</a:t>
            </a:r>
            <a:r>
              <a:rPr lang="en-US" dirty="0"/>
              <a:t> da </a:t>
            </a:r>
            <a:r>
              <a:rPr lang="en-US" dirty="0" err="1"/>
              <a:t>su</a:t>
            </a:r>
            <a:r>
              <a:rPr lang="en-US" dirty="0"/>
              <a:t> master </a:t>
            </a:r>
            <a:r>
              <a:rPr lang="en-US" dirty="0" err="1"/>
              <a:t>i</a:t>
            </a:r>
            <a:r>
              <a:rPr lang="en-US" dirty="0"/>
              <a:t> slave </a:t>
            </a:r>
            <a:r>
              <a:rPr lang="en-US" dirty="0" err="1"/>
              <a:t>identični</a:t>
            </a:r>
            <a:r>
              <a:rPr lang="en-US" dirty="0"/>
              <a:t> u </a:t>
            </a:r>
            <a:r>
              <a:rPr lang="en-US" dirty="0" err="1"/>
              <a:t>svakom</a:t>
            </a:r>
            <a:r>
              <a:rPr lang="en-US" dirty="0"/>
              <a:t> </a:t>
            </a:r>
            <a:r>
              <a:rPr lang="en-US" dirty="0" err="1"/>
              <a:t>trenutku</a:t>
            </a:r>
            <a:r>
              <a:rPr lang="en-US" dirty="0"/>
              <a:t> — </a:t>
            </a:r>
            <a:r>
              <a:rPr lang="en-US" dirty="0" err="1"/>
              <a:t>zahteva</a:t>
            </a:r>
            <a:r>
              <a:rPr lang="en-US" dirty="0"/>
              <a:t> </a:t>
            </a:r>
            <a:r>
              <a:rPr lang="en-US" dirty="0" err="1"/>
              <a:t>sinhronizaciju</a:t>
            </a:r>
            <a:r>
              <a:rPr lang="en-US" dirty="0"/>
              <a:t> pre </a:t>
            </a:r>
            <a:r>
              <a:rPr lang="en-US" dirty="0" err="1"/>
              <a:t>odgovora</a:t>
            </a:r>
            <a:r>
              <a:rPr lang="en-US" dirty="0"/>
              <a:t> </a:t>
            </a:r>
            <a:r>
              <a:rPr lang="en-US" dirty="0" err="1"/>
              <a:t>korisniku</a:t>
            </a:r>
            <a:r>
              <a:rPr lang="en-US" dirty="0"/>
              <a:t>, </a:t>
            </a:r>
            <a:r>
              <a:rPr lang="en-US" dirty="0" err="1"/>
              <a:t>što</a:t>
            </a:r>
            <a:r>
              <a:rPr lang="en-US" dirty="0"/>
              <a:t> ga </a:t>
            </a:r>
            <a:r>
              <a:rPr lang="en-US" dirty="0" err="1"/>
              <a:t>čini</a:t>
            </a:r>
            <a:r>
              <a:rPr lang="en-US" dirty="0"/>
              <a:t> </a:t>
            </a:r>
            <a:r>
              <a:rPr lang="en-US" dirty="0" err="1"/>
              <a:t>idealnim</a:t>
            </a:r>
            <a:r>
              <a:rPr lang="en-US" dirty="0"/>
              <a:t> za </a:t>
            </a:r>
            <a:r>
              <a:rPr lang="en-US" dirty="0" err="1"/>
              <a:t>finansijske</a:t>
            </a:r>
            <a:r>
              <a:rPr lang="en-US" dirty="0"/>
              <a:t> </a:t>
            </a:r>
            <a:r>
              <a:rPr lang="en-US" dirty="0" err="1"/>
              <a:t>aplikacije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knjiženje</a:t>
            </a:r>
            <a:r>
              <a:rPr lang="en-US" dirty="0"/>
              <a:t> u </a:t>
            </a:r>
            <a:r>
              <a:rPr lang="en-US" dirty="0" err="1"/>
              <a:t>realnom</a:t>
            </a:r>
            <a:r>
              <a:rPr lang="en-US" dirty="0"/>
              <a:t> </a:t>
            </a:r>
            <a:r>
              <a:rPr lang="en-US" dirty="0" err="1"/>
              <a:t>vremenu</a:t>
            </a:r>
            <a:r>
              <a:rPr lang="en-US" dirty="0"/>
              <a:t>.</a:t>
            </a:r>
          </a:p>
          <a:p>
            <a:r>
              <a:rPr lang="en-US" b="1" dirty="0"/>
              <a:t>Dostupnost</a:t>
            </a:r>
            <a:r>
              <a:rPr lang="en-US" dirty="0"/>
              <a:t> </a:t>
            </a:r>
            <a:r>
              <a:rPr lang="en-US" dirty="0" err="1"/>
              <a:t>stavlja</a:t>
            </a:r>
            <a:r>
              <a:rPr lang="en-US" dirty="0"/>
              <a:t> </a:t>
            </a:r>
            <a:r>
              <a:rPr lang="en-US" dirty="0" err="1"/>
              <a:t>fokus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brzinu</a:t>
            </a:r>
            <a:r>
              <a:rPr lang="en-US" dirty="0"/>
              <a:t> rada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kontinuitet</a:t>
            </a:r>
            <a:r>
              <a:rPr lang="en-US" dirty="0"/>
              <a:t> </a:t>
            </a:r>
            <a:r>
              <a:rPr lang="en-US" dirty="0" err="1"/>
              <a:t>servisa</a:t>
            </a:r>
            <a:r>
              <a:rPr lang="en-US" dirty="0"/>
              <a:t> — </a:t>
            </a:r>
            <a:r>
              <a:rPr lang="en-US" dirty="0" err="1"/>
              <a:t>korisnik</a:t>
            </a:r>
            <a:r>
              <a:rPr lang="en-US" dirty="0"/>
              <a:t> ne </a:t>
            </a:r>
            <a:r>
              <a:rPr lang="en-US" dirty="0" err="1"/>
              <a:t>čeka</a:t>
            </a:r>
            <a:r>
              <a:rPr lang="en-US" dirty="0"/>
              <a:t> </a:t>
            </a:r>
            <a:r>
              <a:rPr lang="en-US" dirty="0" err="1"/>
              <a:t>potvrdu</a:t>
            </a:r>
            <a:r>
              <a:rPr lang="en-US" dirty="0"/>
              <a:t> slave </a:t>
            </a:r>
            <a:r>
              <a:rPr lang="en-US" dirty="0" err="1"/>
              <a:t>servera</a:t>
            </a:r>
            <a:r>
              <a:rPr lang="en-US" dirty="0"/>
              <a:t>, </a:t>
            </a:r>
            <a:r>
              <a:rPr lang="en-US" dirty="0" err="1"/>
              <a:t>što</a:t>
            </a:r>
            <a:r>
              <a:rPr lang="en-US" dirty="0"/>
              <a:t> je </a:t>
            </a:r>
            <a:r>
              <a:rPr lang="en-US" dirty="0" err="1"/>
              <a:t>idealno</a:t>
            </a:r>
            <a:r>
              <a:rPr lang="en-US" dirty="0"/>
              <a:t> za </a:t>
            </a:r>
            <a:r>
              <a:rPr lang="en-US" dirty="0" err="1"/>
              <a:t>prikupljanje</a:t>
            </a:r>
            <a:r>
              <a:rPr lang="en-US" dirty="0"/>
              <a:t> </a:t>
            </a:r>
            <a:r>
              <a:rPr lang="en-US" dirty="0" err="1"/>
              <a:t>podataka</a:t>
            </a:r>
            <a:r>
              <a:rPr lang="en-US" dirty="0"/>
              <a:t> </a:t>
            </a:r>
            <a:r>
              <a:rPr lang="en-US" dirty="0" err="1"/>
              <a:t>sa</a:t>
            </a:r>
            <a:r>
              <a:rPr lang="en-US" dirty="0"/>
              <a:t> </a:t>
            </a:r>
            <a:r>
              <a:rPr lang="en-US" dirty="0" err="1"/>
              <a:t>mernih</a:t>
            </a:r>
            <a:r>
              <a:rPr lang="en-US" dirty="0"/>
              <a:t> </a:t>
            </a:r>
            <a:r>
              <a:rPr lang="en-US" dirty="0" err="1"/>
              <a:t>uređaja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IoT </a:t>
            </a:r>
            <a:r>
              <a:rPr lang="en-US" dirty="0" err="1"/>
              <a:t>sisteme</a:t>
            </a:r>
            <a:r>
              <a:rPr lang="en-US" dirty="0"/>
              <a:t> </a:t>
            </a:r>
            <a:r>
              <a:rPr lang="en-US" dirty="0" err="1"/>
              <a:t>gde</a:t>
            </a:r>
            <a:r>
              <a:rPr lang="en-US" dirty="0"/>
              <a:t> je </a:t>
            </a:r>
            <a:r>
              <a:rPr lang="en-US" dirty="0" err="1"/>
              <a:t>brzina</a:t>
            </a:r>
            <a:r>
              <a:rPr lang="en-US" dirty="0"/>
              <a:t> </a:t>
            </a:r>
            <a:r>
              <a:rPr lang="en-US" dirty="0" err="1"/>
              <a:t>važnija</a:t>
            </a:r>
            <a:r>
              <a:rPr lang="en-US" dirty="0"/>
              <a:t> od </a:t>
            </a:r>
            <a:r>
              <a:rPr lang="en-US" dirty="0" err="1"/>
              <a:t>trenutne</a:t>
            </a:r>
            <a:r>
              <a:rPr lang="en-US" dirty="0"/>
              <a:t> </a:t>
            </a:r>
            <a:r>
              <a:rPr lang="en-US" dirty="0" err="1"/>
              <a:t>konzistentnosti</a:t>
            </a:r>
            <a:r>
              <a:rPr lang="en-US" dirty="0"/>
              <a:t>.</a:t>
            </a:r>
          </a:p>
          <a:p>
            <a:r>
              <a:rPr lang="en-US" b="1" dirty="0" err="1"/>
              <a:t>Otpornost</a:t>
            </a:r>
            <a:r>
              <a:rPr lang="en-US" b="1" dirty="0"/>
              <a:t> </a:t>
            </a:r>
            <a:r>
              <a:rPr lang="en-US" b="1" dirty="0" err="1"/>
              <a:t>na</a:t>
            </a:r>
            <a:r>
              <a:rPr lang="en-US" b="1" dirty="0"/>
              <a:t> </a:t>
            </a:r>
            <a:r>
              <a:rPr lang="en-US" b="1" dirty="0" err="1"/>
              <a:t>particije</a:t>
            </a:r>
            <a:r>
              <a:rPr lang="en-US" dirty="0"/>
              <a:t> </a:t>
            </a:r>
            <a:r>
              <a:rPr lang="en-US" dirty="0" err="1"/>
              <a:t>znači</a:t>
            </a:r>
            <a:r>
              <a:rPr lang="en-US" dirty="0"/>
              <a:t> da </a:t>
            </a:r>
            <a:r>
              <a:rPr lang="en-US" dirty="0" err="1"/>
              <a:t>sistem</a:t>
            </a:r>
            <a:r>
              <a:rPr lang="en-US" dirty="0"/>
              <a:t> </a:t>
            </a:r>
            <a:r>
              <a:rPr lang="en-US" dirty="0" err="1"/>
              <a:t>funkcioniše</a:t>
            </a:r>
            <a:r>
              <a:rPr lang="en-US" dirty="0"/>
              <a:t> </a:t>
            </a:r>
            <a:r>
              <a:rPr lang="en-US" dirty="0" err="1"/>
              <a:t>čak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kada</a:t>
            </a:r>
            <a:r>
              <a:rPr lang="en-US" dirty="0"/>
              <a:t> </a:t>
            </a:r>
            <a:r>
              <a:rPr lang="en-US" dirty="0" err="1"/>
              <a:t>mrežna</a:t>
            </a:r>
            <a:r>
              <a:rPr lang="en-US" dirty="0"/>
              <a:t> </a:t>
            </a:r>
            <a:r>
              <a:rPr lang="en-US" dirty="0" err="1"/>
              <a:t>veza</a:t>
            </a:r>
            <a:r>
              <a:rPr lang="en-US" dirty="0"/>
              <a:t> </a:t>
            </a:r>
            <a:r>
              <a:rPr lang="en-US" dirty="0" err="1"/>
              <a:t>između</a:t>
            </a:r>
            <a:r>
              <a:rPr lang="en-US" dirty="0"/>
              <a:t> </a:t>
            </a:r>
            <a:r>
              <a:rPr lang="en-US" dirty="0" err="1"/>
              <a:t>čvorova</a:t>
            </a:r>
            <a:r>
              <a:rPr lang="en-US" dirty="0"/>
              <a:t> </a:t>
            </a:r>
            <a:r>
              <a:rPr lang="en-US" dirty="0" err="1"/>
              <a:t>nije</a:t>
            </a:r>
            <a:r>
              <a:rPr lang="en-US" dirty="0"/>
              <a:t> </a:t>
            </a:r>
            <a:r>
              <a:rPr lang="en-US" dirty="0" err="1"/>
              <a:t>pouzdana</a:t>
            </a:r>
            <a:r>
              <a:rPr lang="en-US" dirty="0"/>
              <a:t> — </a:t>
            </a:r>
            <a:r>
              <a:rPr lang="en-US" dirty="0" err="1"/>
              <a:t>ovo</a:t>
            </a:r>
            <a:r>
              <a:rPr lang="en-US" dirty="0"/>
              <a:t> </a:t>
            </a:r>
            <a:r>
              <a:rPr lang="en-US" dirty="0" err="1"/>
              <a:t>svojstvo</a:t>
            </a:r>
            <a:r>
              <a:rPr lang="en-US" dirty="0"/>
              <a:t> je u </a:t>
            </a:r>
            <a:r>
              <a:rPr lang="en-US" dirty="0" err="1"/>
              <a:t>praksi</a:t>
            </a:r>
            <a:r>
              <a:rPr lang="en-US" dirty="0"/>
              <a:t> </a:t>
            </a:r>
            <a:r>
              <a:rPr lang="en-US" dirty="0" err="1"/>
              <a:t>obavezno</a:t>
            </a:r>
            <a:r>
              <a:rPr lang="en-US" dirty="0"/>
              <a:t> za </a:t>
            </a:r>
            <a:r>
              <a:rPr lang="en-US" dirty="0" err="1"/>
              <a:t>svaki</a:t>
            </a:r>
            <a:r>
              <a:rPr lang="en-US" dirty="0"/>
              <a:t> </a:t>
            </a:r>
            <a:r>
              <a:rPr lang="en-US" dirty="0" err="1"/>
              <a:t>distribuirani</a:t>
            </a:r>
            <a:r>
              <a:rPr lang="en-US" dirty="0"/>
              <a:t> </a:t>
            </a:r>
            <a:r>
              <a:rPr lang="en-US" dirty="0" err="1"/>
              <a:t>sistem</a:t>
            </a:r>
            <a:r>
              <a:rPr lang="en-US" dirty="0"/>
              <a:t>, pa je </a:t>
            </a:r>
            <a:r>
              <a:rPr lang="en-US" dirty="0" err="1"/>
              <a:t>pravi</a:t>
            </a:r>
            <a:r>
              <a:rPr lang="en-US" dirty="0"/>
              <a:t> </a:t>
            </a:r>
            <a:r>
              <a:rPr lang="en-US" dirty="0" err="1"/>
              <a:t>izbor</a:t>
            </a:r>
            <a:r>
              <a:rPr lang="en-US" dirty="0"/>
              <a:t> </a:t>
            </a:r>
            <a:r>
              <a:rPr lang="en-US" dirty="0" err="1"/>
              <a:t>uvek</a:t>
            </a:r>
            <a:r>
              <a:rPr lang="en-US" dirty="0"/>
              <a:t> </a:t>
            </a:r>
            <a:r>
              <a:rPr lang="en-US" dirty="0" err="1"/>
              <a:t>između</a:t>
            </a:r>
            <a:r>
              <a:rPr lang="en-US" dirty="0"/>
              <a:t> C </a:t>
            </a:r>
            <a:r>
              <a:rPr lang="en-US" dirty="0" err="1"/>
              <a:t>i</a:t>
            </a:r>
            <a:r>
              <a:rPr lang="en-US" dirty="0"/>
              <a:t> A.</a:t>
            </a:r>
          </a:p>
          <a:p>
            <a:r>
              <a:rPr lang="en-US" dirty="0"/>
              <a:t>Firebird 4.0 </a:t>
            </a:r>
            <a:r>
              <a:rPr lang="en-US" dirty="0" err="1"/>
              <a:t>nudi</a:t>
            </a:r>
            <a:r>
              <a:rPr lang="en-US" dirty="0"/>
              <a:t> oba </a:t>
            </a:r>
            <a:r>
              <a:rPr lang="en-US" dirty="0" err="1"/>
              <a:t>režima</a:t>
            </a:r>
            <a:r>
              <a:rPr lang="en-US" dirty="0"/>
              <a:t> — </a:t>
            </a:r>
            <a:r>
              <a:rPr lang="en-US" dirty="0" err="1"/>
              <a:t>sinhroni</a:t>
            </a:r>
            <a:r>
              <a:rPr lang="en-US" dirty="0"/>
              <a:t> (C+P) za </a:t>
            </a:r>
            <a:r>
              <a:rPr lang="en-US" dirty="0" err="1"/>
              <a:t>finansijske</a:t>
            </a:r>
            <a:r>
              <a:rPr lang="en-US" dirty="0"/>
              <a:t> </a:t>
            </a:r>
            <a:r>
              <a:rPr lang="en-US" dirty="0" err="1"/>
              <a:t>sisteme</a:t>
            </a:r>
            <a:r>
              <a:rPr lang="en-US" dirty="0"/>
              <a:t> </a:t>
            </a:r>
            <a:r>
              <a:rPr lang="en-US" dirty="0" err="1"/>
              <a:t>gde</a:t>
            </a:r>
            <a:r>
              <a:rPr lang="en-US" dirty="0"/>
              <a:t> je </a:t>
            </a:r>
            <a:r>
              <a:rPr lang="en-US" dirty="0" err="1"/>
              <a:t>konzistentnost</a:t>
            </a:r>
            <a:r>
              <a:rPr lang="en-US" dirty="0"/>
              <a:t> </a:t>
            </a:r>
            <a:r>
              <a:rPr lang="en-US" dirty="0" err="1"/>
              <a:t>apsolutni</a:t>
            </a:r>
            <a:r>
              <a:rPr lang="en-US" dirty="0"/>
              <a:t> </a:t>
            </a:r>
            <a:r>
              <a:rPr lang="en-US" dirty="0" err="1"/>
              <a:t>prioritet</a:t>
            </a:r>
            <a:r>
              <a:rPr lang="en-US" dirty="0"/>
              <a:t>,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asinhroni</a:t>
            </a:r>
            <a:r>
              <a:rPr lang="en-US" dirty="0"/>
              <a:t> (A+P) za </a:t>
            </a:r>
            <a:r>
              <a:rPr lang="en-US" dirty="0" err="1"/>
              <a:t>sisteme</a:t>
            </a:r>
            <a:r>
              <a:rPr lang="en-US" dirty="0"/>
              <a:t> </a:t>
            </a:r>
            <a:r>
              <a:rPr lang="en-US" dirty="0" err="1"/>
              <a:t>sa</a:t>
            </a:r>
            <a:r>
              <a:rPr lang="en-US" dirty="0"/>
              <a:t> </a:t>
            </a:r>
            <a:r>
              <a:rPr lang="en-US" dirty="0" err="1"/>
              <a:t>visokom</a:t>
            </a:r>
            <a:r>
              <a:rPr lang="en-US" dirty="0"/>
              <a:t> </a:t>
            </a:r>
            <a:r>
              <a:rPr lang="en-US" dirty="0" err="1"/>
              <a:t>propusnošću</a:t>
            </a:r>
            <a:r>
              <a:rPr lang="en-US" dirty="0"/>
              <a:t> </a:t>
            </a:r>
            <a:r>
              <a:rPr lang="en-US" dirty="0" err="1"/>
              <a:t>gde</a:t>
            </a:r>
            <a:r>
              <a:rPr lang="en-US" dirty="0"/>
              <a:t> je </a:t>
            </a:r>
            <a:r>
              <a:rPr lang="en-US" dirty="0" err="1"/>
              <a:t>važnija</a:t>
            </a:r>
            <a:r>
              <a:rPr lang="en-US" dirty="0"/>
              <a:t> </a:t>
            </a:r>
            <a:r>
              <a:rPr lang="en-US" dirty="0" err="1"/>
              <a:t>dostupnost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brzina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Preslikavanje</a:t>
            </a:r>
            <a:r>
              <a:rPr lang="en-US" dirty="0"/>
              <a:t> (Mirroring) je </a:t>
            </a:r>
            <a:r>
              <a:rPr lang="en-US" dirty="0" err="1"/>
              <a:t>mehanizam</a:t>
            </a:r>
            <a:r>
              <a:rPr lang="en-US" dirty="0"/>
              <a:t> </a:t>
            </a:r>
            <a:r>
              <a:rPr lang="en-US" dirty="0" err="1"/>
              <a:t>visoke</a:t>
            </a:r>
            <a:r>
              <a:rPr lang="en-US" dirty="0"/>
              <a:t> </a:t>
            </a:r>
            <a:r>
              <a:rPr lang="en-US" dirty="0" err="1"/>
              <a:t>dostupnosti</a:t>
            </a:r>
            <a:r>
              <a:rPr lang="en-US" dirty="0"/>
              <a:t> u </a:t>
            </a:r>
            <a:r>
              <a:rPr lang="en-US" dirty="0" err="1"/>
              <a:t>Firebirdu</a:t>
            </a:r>
            <a:r>
              <a:rPr lang="en-US" dirty="0"/>
              <a:t> koji </a:t>
            </a:r>
            <a:r>
              <a:rPr lang="en-US" dirty="0" err="1"/>
              <a:t>operišena</a:t>
            </a:r>
            <a:r>
              <a:rPr lang="en-US" dirty="0"/>
              <a:t> </a:t>
            </a:r>
            <a:r>
              <a:rPr lang="en-US" dirty="0" err="1"/>
              <a:t>nivou</a:t>
            </a:r>
            <a:r>
              <a:rPr lang="en-US" dirty="0"/>
              <a:t> </a:t>
            </a:r>
            <a:r>
              <a:rPr lang="en-US" dirty="0" err="1"/>
              <a:t>stranica</a:t>
            </a:r>
            <a:r>
              <a:rPr lang="en-US" dirty="0"/>
              <a:t> (4–16 KB) — </a:t>
            </a:r>
            <a:r>
              <a:rPr lang="en-US" dirty="0" err="1"/>
              <a:t>svaki</a:t>
            </a:r>
            <a:r>
              <a:rPr lang="en-US" dirty="0"/>
              <a:t> COMMIT </a:t>
            </a:r>
            <a:r>
              <a:rPr lang="en-US" dirty="0" err="1"/>
              <a:t>istovremeno</a:t>
            </a:r>
            <a:r>
              <a:rPr lang="en-US" dirty="0"/>
              <a:t> </a:t>
            </a:r>
            <a:r>
              <a:rPr lang="en-US" dirty="0" err="1"/>
              <a:t>upisuje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primarni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shadow disk, a </a:t>
            </a:r>
            <a:r>
              <a:rPr lang="en-US" dirty="0" err="1"/>
              <a:t>baza</a:t>
            </a:r>
            <a:r>
              <a:rPr lang="en-US" dirty="0"/>
              <a:t> </a:t>
            </a:r>
            <a:r>
              <a:rPr lang="en-US" dirty="0" err="1"/>
              <a:t>čeka</a:t>
            </a:r>
            <a:r>
              <a:rPr lang="en-US" dirty="0"/>
              <a:t> </a:t>
            </a:r>
            <a:r>
              <a:rPr lang="en-US" dirty="0" err="1"/>
              <a:t>potvrdu</a:t>
            </a:r>
            <a:r>
              <a:rPr lang="en-US" dirty="0"/>
              <a:t> oba </a:t>
            </a:r>
            <a:r>
              <a:rPr lang="en-US" dirty="0" err="1"/>
              <a:t>diska</a:t>
            </a:r>
            <a:r>
              <a:rPr lang="en-US" dirty="0"/>
              <a:t> pre </a:t>
            </a:r>
            <a:r>
              <a:rPr lang="en-US" dirty="0" err="1"/>
              <a:t>nego</a:t>
            </a:r>
            <a:r>
              <a:rPr lang="en-US" dirty="0"/>
              <a:t> </a:t>
            </a:r>
            <a:r>
              <a:rPr lang="en-US" dirty="0" err="1"/>
              <a:t>što</a:t>
            </a:r>
            <a:r>
              <a:rPr lang="en-US" dirty="0"/>
              <a:t> </a:t>
            </a:r>
            <a:r>
              <a:rPr lang="en-US" dirty="0" err="1"/>
              <a:t>odgovori</a:t>
            </a:r>
            <a:r>
              <a:rPr lang="en-US" dirty="0"/>
              <a:t> </a:t>
            </a:r>
            <a:r>
              <a:rPr lang="en-US" dirty="0" err="1"/>
              <a:t>korisniku</a:t>
            </a:r>
            <a:r>
              <a:rPr lang="en-US" dirty="0"/>
              <a:t>.</a:t>
            </a:r>
          </a:p>
          <a:p>
            <a:r>
              <a:rPr lang="en-US" b="1" dirty="0"/>
              <a:t>MANUAL </a:t>
            </a:r>
            <a:r>
              <a:rPr lang="en-US" b="1" dirty="0" err="1"/>
              <a:t>režim</a:t>
            </a:r>
            <a:r>
              <a:rPr lang="en-US" dirty="0"/>
              <a:t> </a:t>
            </a:r>
            <a:r>
              <a:rPr lang="en-US" dirty="0" err="1"/>
              <a:t>stavlja</a:t>
            </a:r>
            <a:r>
              <a:rPr lang="en-US" dirty="0"/>
              <a:t> </a:t>
            </a:r>
            <a:r>
              <a:rPr lang="en-US" dirty="0" err="1"/>
              <a:t>ispravnost</a:t>
            </a:r>
            <a:r>
              <a:rPr lang="en-US" dirty="0"/>
              <a:t> </a:t>
            </a:r>
            <a:r>
              <a:rPr lang="en-US" dirty="0" err="1"/>
              <a:t>kopije</a:t>
            </a:r>
            <a:r>
              <a:rPr lang="en-US" dirty="0"/>
              <a:t> </a:t>
            </a:r>
            <a:r>
              <a:rPr lang="en-US" dirty="0" err="1"/>
              <a:t>kao</a:t>
            </a:r>
            <a:r>
              <a:rPr lang="en-US" dirty="0"/>
              <a:t> </a:t>
            </a:r>
            <a:r>
              <a:rPr lang="en-US" dirty="0" err="1"/>
              <a:t>prioritet</a:t>
            </a:r>
            <a:r>
              <a:rPr lang="en-US" dirty="0"/>
              <a:t> </a:t>
            </a:r>
            <a:r>
              <a:rPr lang="en-US" dirty="0" err="1"/>
              <a:t>iznad</a:t>
            </a:r>
            <a:r>
              <a:rPr lang="en-US" dirty="0"/>
              <a:t> </a:t>
            </a:r>
            <a:r>
              <a:rPr lang="en-US" dirty="0" err="1"/>
              <a:t>dostupnosti</a:t>
            </a:r>
            <a:r>
              <a:rPr lang="en-US" dirty="0"/>
              <a:t> — </a:t>
            </a:r>
            <a:r>
              <a:rPr lang="en-US" dirty="0" err="1"/>
              <a:t>ako</a:t>
            </a:r>
            <a:r>
              <a:rPr lang="en-US" dirty="0"/>
              <a:t> shadow disk </a:t>
            </a:r>
            <a:r>
              <a:rPr lang="en-US" dirty="0" err="1"/>
              <a:t>zakaže</a:t>
            </a:r>
            <a:r>
              <a:rPr lang="en-US" dirty="0"/>
              <a:t>, </a:t>
            </a:r>
            <a:r>
              <a:rPr lang="en-US" dirty="0" err="1"/>
              <a:t>cela</a:t>
            </a:r>
            <a:r>
              <a:rPr lang="en-US" dirty="0"/>
              <a:t> </a:t>
            </a:r>
            <a:r>
              <a:rPr lang="en-US" dirty="0" err="1"/>
              <a:t>baza</a:t>
            </a:r>
            <a:r>
              <a:rPr lang="en-US" dirty="0"/>
              <a:t> se </a:t>
            </a:r>
            <a:r>
              <a:rPr lang="en-US" dirty="0" err="1"/>
              <a:t>zatvara</a:t>
            </a:r>
            <a:r>
              <a:rPr lang="en-US" dirty="0"/>
              <a:t>, </a:t>
            </a:r>
            <a:r>
              <a:rPr lang="en-US" dirty="0" err="1"/>
              <a:t>što</a:t>
            </a:r>
            <a:r>
              <a:rPr lang="en-US" dirty="0"/>
              <a:t> ga </a:t>
            </a:r>
            <a:r>
              <a:rPr lang="en-US" dirty="0" err="1"/>
              <a:t>čini</a:t>
            </a:r>
            <a:r>
              <a:rPr lang="en-US" dirty="0"/>
              <a:t> </a:t>
            </a:r>
            <a:r>
              <a:rPr lang="en-US" dirty="0" err="1"/>
              <a:t>kritičnim</a:t>
            </a:r>
            <a:r>
              <a:rPr lang="en-US" dirty="0"/>
              <a:t> za </a:t>
            </a:r>
            <a:r>
              <a:rPr lang="en-US" dirty="0" err="1"/>
              <a:t>finansijske</a:t>
            </a:r>
            <a:r>
              <a:rPr lang="en-US" dirty="0"/>
              <a:t> </a:t>
            </a:r>
            <a:r>
              <a:rPr lang="en-US" dirty="0" err="1"/>
              <a:t>sisteme</a:t>
            </a:r>
            <a:r>
              <a:rPr lang="en-US" dirty="0"/>
              <a:t> </a:t>
            </a:r>
            <a:r>
              <a:rPr lang="en-US" dirty="0" err="1"/>
              <a:t>gde</a:t>
            </a:r>
            <a:r>
              <a:rPr lang="en-US" dirty="0"/>
              <a:t> je </a:t>
            </a:r>
            <a:r>
              <a:rPr lang="en-US" dirty="0" err="1"/>
              <a:t>integritet</a:t>
            </a:r>
            <a:r>
              <a:rPr lang="en-US" dirty="0"/>
              <a:t> </a:t>
            </a:r>
            <a:r>
              <a:rPr lang="en-US" dirty="0" err="1"/>
              <a:t>podataka</a:t>
            </a:r>
            <a:r>
              <a:rPr lang="en-US" dirty="0"/>
              <a:t> </a:t>
            </a:r>
            <a:r>
              <a:rPr lang="en-US" dirty="0" err="1"/>
              <a:t>apsolutno</a:t>
            </a:r>
            <a:r>
              <a:rPr lang="en-US" dirty="0"/>
              <a:t> </a:t>
            </a:r>
            <a:r>
              <a:rPr lang="en-US" dirty="0" err="1"/>
              <a:t>neprihvatljiv</a:t>
            </a:r>
            <a:r>
              <a:rPr lang="en-US" dirty="0"/>
              <a:t> </a:t>
            </a:r>
            <a:r>
              <a:rPr lang="en-US" dirty="0" err="1"/>
              <a:t>kompromis</a:t>
            </a:r>
            <a:r>
              <a:rPr lang="en-US" dirty="0"/>
              <a:t>.</a:t>
            </a:r>
          </a:p>
          <a:p>
            <a:r>
              <a:rPr lang="en-US" b="1" dirty="0"/>
              <a:t>AUTO </a:t>
            </a:r>
            <a:r>
              <a:rPr lang="en-US" b="1" dirty="0" err="1"/>
              <a:t>režim</a:t>
            </a:r>
            <a:r>
              <a:rPr lang="en-US" dirty="0"/>
              <a:t> </a:t>
            </a:r>
            <a:r>
              <a:rPr lang="en-US" dirty="0" err="1"/>
              <a:t>stavlja</a:t>
            </a:r>
            <a:r>
              <a:rPr lang="en-US" dirty="0"/>
              <a:t> </a:t>
            </a:r>
            <a:r>
              <a:rPr lang="en-US" dirty="0" err="1"/>
              <a:t>neprekidni</a:t>
            </a:r>
            <a:r>
              <a:rPr lang="en-US" dirty="0"/>
              <a:t> rad </a:t>
            </a:r>
            <a:r>
              <a:rPr lang="en-US" dirty="0" err="1"/>
              <a:t>kao</a:t>
            </a:r>
            <a:r>
              <a:rPr lang="en-US" dirty="0"/>
              <a:t> </a:t>
            </a:r>
            <a:r>
              <a:rPr lang="en-US" dirty="0" err="1"/>
              <a:t>prioritet</a:t>
            </a:r>
            <a:r>
              <a:rPr lang="en-US" dirty="0"/>
              <a:t> </a:t>
            </a:r>
            <a:r>
              <a:rPr lang="en-US" dirty="0" err="1"/>
              <a:t>iznad</a:t>
            </a:r>
            <a:r>
              <a:rPr lang="en-US" dirty="0"/>
              <a:t> </a:t>
            </a:r>
            <a:r>
              <a:rPr lang="en-US" dirty="0" err="1"/>
              <a:t>redundanse</a:t>
            </a:r>
            <a:r>
              <a:rPr lang="en-US" dirty="0"/>
              <a:t> — </a:t>
            </a:r>
            <a:r>
              <a:rPr lang="en-US" dirty="0" err="1"/>
              <a:t>ako</a:t>
            </a:r>
            <a:r>
              <a:rPr lang="en-US" dirty="0"/>
              <a:t> shadow disk </a:t>
            </a:r>
            <a:r>
              <a:rPr lang="en-US" dirty="0" err="1"/>
              <a:t>zakaže</a:t>
            </a:r>
            <a:r>
              <a:rPr lang="en-US" dirty="0"/>
              <a:t>, </a:t>
            </a:r>
            <a:r>
              <a:rPr lang="en-US" dirty="0" err="1"/>
              <a:t>baza</a:t>
            </a:r>
            <a:r>
              <a:rPr lang="en-US" dirty="0"/>
              <a:t> </a:t>
            </a:r>
            <a:r>
              <a:rPr lang="en-US" dirty="0" err="1"/>
              <a:t>nastavlja</a:t>
            </a:r>
            <a:r>
              <a:rPr lang="en-US" dirty="0"/>
              <a:t> rad bez </a:t>
            </a:r>
            <a:r>
              <a:rPr lang="en-US" dirty="0" err="1"/>
              <a:t>preslikavanja</a:t>
            </a:r>
            <a:r>
              <a:rPr lang="en-US" dirty="0"/>
              <a:t>, </a:t>
            </a:r>
            <a:r>
              <a:rPr lang="en-US" dirty="0" err="1"/>
              <a:t>što</a:t>
            </a:r>
            <a:r>
              <a:rPr lang="en-US" dirty="0"/>
              <a:t> ga </a:t>
            </a:r>
            <a:r>
              <a:rPr lang="en-US" dirty="0" err="1"/>
              <a:t>čini</a:t>
            </a:r>
            <a:r>
              <a:rPr lang="en-US" dirty="0"/>
              <a:t> </a:t>
            </a:r>
            <a:r>
              <a:rPr lang="en-US" dirty="0" err="1"/>
              <a:t>pogodnim</a:t>
            </a:r>
            <a:r>
              <a:rPr lang="en-US" dirty="0"/>
              <a:t> za dev/test </a:t>
            </a:r>
            <a:r>
              <a:rPr lang="en-US" dirty="0" err="1"/>
              <a:t>okruženja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sisteme</a:t>
            </a:r>
            <a:r>
              <a:rPr lang="en-US" dirty="0"/>
              <a:t> koji </a:t>
            </a:r>
            <a:r>
              <a:rPr lang="en-US" dirty="0" err="1"/>
              <a:t>koriste</a:t>
            </a:r>
            <a:r>
              <a:rPr lang="en-US" dirty="0"/>
              <a:t> shadow </a:t>
            </a:r>
            <a:r>
              <a:rPr lang="en-US" dirty="0" err="1"/>
              <a:t>kao</a:t>
            </a:r>
            <a:r>
              <a:rPr lang="en-US" dirty="0"/>
              <a:t> backup generator.</a:t>
            </a:r>
          </a:p>
          <a:p>
            <a:r>
              <a:rPr lang="en-US" dirty="0" err="1"/>
              <a:t>Važno</a:t>
            </a:r>
            <a:r>
              <a:rPr lang="en-US" dirty="0"/>
              <a:t> je </a:t>
            </a:r>
            <a:r>
              <a:rPr lang="en-US" dirty="0" err="1"/>
              <a:t>razumeti</a:t>
            </a:r>
            <a:r>
              <a:rPr lang="en-US" dirty="0"/>
              <a:t> </a:t>
            </a:r>
            <a:r>
              <a:rPr lang="en-US" dirty="0" err="1"/>
              <a:t>ograničenja</a:t>
            </a:r>
            <a:r>
              <a:rPr lang="en-US" dirty="0"/>
              <a:t> </a:t>
            </a:r>
            <a:r>
              <a:rPr lang="en-US" dirty="0" err="1"/>
              <a:t>preslikavanja</a:t>
            </a:r>
            <a:r>
              <a:rPr lang="en-US" dirty="0"/>
              <a:t> — oba </a:t>
            </a:r>
            <a:r>
              <a:rPr lang="en-US" dirty="0" err="1"/>
              <a:t>diska</a:t>
            </a:r>
            <a:r>
              <a:rPr lang="en-US" dirty="0"/>
              <a:t> se </a:t>
            </a:r>
            <a:r>
              <a:rPr lang="en-US" dirty="0" err="1"/>
              <a:t>čekaju</a:t>
            </a:r>
            <a:r>
              <a:rPr lang="en-US" dirty="0"/>
              <a:t> </a:t>
            </a:r>
            <a:r>
              <a:rPr lang="en-US" dirty="0" err="1"/>
              <a:t>što</a:t>
            </a:r>
            <a:r>
              <a:rPr lang="en-US" dirty="0"/>
              <a:t> </a:t>
            </a:r>
            <a:r>
              <a:rPr lang="en-US" dirty="0" err="1"/>
              <a:t>uvodi</a:t>
            </a:r>
            <a:r>
              <a:rPr lang="en-US" dirty="0"/>
              <a:t> I/O </a:t>
            </a:r>
            <a:r>
              <a:rPr lang="en-US" dirty="0" err="1"/>
              <a:t>kaznu</a:t>
            </a:r>
            <a:r>
              <a:rPr lang="en-US" dirty="0"/>
              <a:t>, </a:t>
            </a:r>
            <a:r>
              <a:rPr lang="en-US" dirty="0" err="1"/>
              <a:t>radi</a:t>
            </a:r>
            <a:r>
              <a:rPr lang="en-US" dirty="0"/>
              <a:t> </a:t>
            </a:r>
            <a:r>
              <a:rPr lang="en-US" dirty="0" err="1"/>
              <a:t>samo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LAN </a:t>
            </a:r>
            <a:r>
              <a:rPr lang="en-US" dirty="0" err="1"/>
              <a:t>mreži</a:t>
            </a:r>
            <a:r>
              <a:rPr lang="en-US" dirty="0"/>
              <a:t>, shadow </a:t>
            </a:r>
            <a:r>
              <a:rPr lang="en-US" dirty="0" err="1"/>
              <a:t>nije</a:t>
            </a:r>
            <a:r>
              <a:rPr lang="en-US" dirty="0"/>
              <a:t> </a:t>
            </a:r>
            <a:r>
              <a:rPr lang="en-US" dirty="0" err="1"/>
              <a:t>čitljiv</a:t>
            </a:r>
            <a:r>
              <a:rPr lang="en-US" dirty="0"/>
              <a:t> </a:t>
            </a:r>
            <a:r>
              <a:rPr lang="en-US" dirty="0" err="1"/>
              <a:t>dok</a:t>
            </a:r>
            <a:r>
              <a:rPr lang="en-US" dirty="0"/>
              <a:t> je </a:t>
            </a:r>
            <a:r>
              <a:rPr lang="en-US" dirty="0" err="1"/>
              <a:t>aktivan</a:t>
            </a:r>
            <a:r>
              <a:rPr lang="en-US" dirty="0"/>
              <a:t>, oba </a:t>
            </a:r>
            <a:r>
              <a:rPr lang="en-US" dirty="0" err="1"/>
              <a:t>servera</a:t>
            </a:r>
            <a:r>
              <a:rPr lang="en-US" dirty="0"/>
              <a:t> </a:t>
            </a:r>
            <a:r>
              <a:rPr lang="en-US" dirty="0" err="1"/>
              <a:t>moraju</a:t>
            </a:r>
            <a:r>
              <a:rPr lang="en-US" dirty="0"/>
              <a:t> </a:t>
            </a:r>
            <a:r>
              <a:rPr lang="en-US" dirty="0" err="1"/>
              <a:t>imati</a:t>
            </a:r>
            <a:r>
              <a:rPr lang="en-US" dirty="0"/>
              <a:t> </a:t>
            </a:r>
            <a:r>
              <a:rPr lang="en-US" dirty="0" err="1"/>
              <a:t>identičnu</a:t>
            </a:r>
            <a:r>
              <a:rPr lang="en-US" dirty="0"/>
              <a:t> ODS </a:t>
            </a:r>
            <a:r>
              <a:rPr lang="en-US" dirty="0" err="1"/>
              <a:t>verziju</a:t>
            </a:r>
            <a:r>
              <a:rPr lang="en-US" dirty="0"/>
              <a:t>, </a:t>
            </a:r>
            <a:r>
              <a:rPr lang="en-US" dirty="0" err="1"/>
              <a:t>i</a:t>
            </a:r>
            <a:r>
              <a:rPr lang="en-US" dirty="0"/>
              <a:t> ne </a:t>
            </a:r>
            <a:r>
              <a:rPr lang="en-US" dirty="0" err="1"/>
              <a:t>postoji</a:t>
            </a:r>
            <a:r>
              <a:rPr lang="en-US" dirty="0"/>
              <a:t> </a:t>
            </a:r>
            <a:r>
              <a:rPr lang="en-US" dirty="0" err="1"/>
              <a:t>raspodela</a:t>
            </a:r>
            <a:r>
              <a:rPr lang="en-US" dirty="0"/>
              <a:t> </a:t>
            </a:r>
            <a:r>
              <a:rPr lang="en-US" dirty="0" err="1"/>
              <a:t>opterećenja</a:t>
            </a:r>
            <a:r>
              <a:rPr lang="en-US" dirty="0"/>
              <a:t> </a:t>
            </a:r>
            <a:r>
              <a:rPr lang="en-US" dirty="0" err="1"/>
              <a:t>između</a:t>
            </a:r>
            <a:r>
              <a:rPr lang="en-US" dirty="0"/>
              <a:t> </a:t>
            </a:r>
            <a:r>
              <a:rPr lang="en-US" dirty="0" err="1"/>
              <a:t>primarnog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shadow </a:t>
            </a:r>
            <a:r>
              <a:rPr lang="en-US" dirty="0" err="1"/>
              <a:t>diska</a:t>
            </a:r>
            <a:r>
              <a:rPr lang="en-US" dirty="0"/>
              <a:t>.</a:t>
            </a:r>
          </a:p>
          <a:p>
            <a:r>
              <a:rPr lang="en-US" dirty="0" err="1"/>
              <a:t>Ključna</a:t>
            </a:r>
            <a:r>
              <a:rPr lang="en-US" dirty="0"/>
              <a:t> </a:t>
            </a:r>
            <a:r>
              <a:rPr lang="en-US" dirty="0" err="1"/>
              <a:t>razlika</a:t>
            </a:r>
            <a:r>
              <a:rPr lang="en-US" dirty="0"/>
              <a:t> u </a:t>
            </a:r>
            <a:r>
              <a:rPr lang="en-US" dirty="0" err="1"/>
              <a:t>odnosu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replikaciju</a:t>
            </a:r>
            <a:r>
              <a:rPr lang="en-US" dirty="0"/>
              <a:t> je da mirroring </a:t>
            </a:r>
            <a:r>
              <a:rPr lang="en-US" dirty="0" err="1"/>
              <a:t>operišena</a:t>
            </a:r>
            <a:r>
              <a:rPr lang="en-US" dirty="0"/>
              <a:t> </a:t>
            </a:r>
            <a:r>
              <a:rPr lang="en-US" dirty="0" err="1"/>
              <a:t>fizičkom</a:t>
            </a:r>
            <a:r>
              <a:rPr lang="en-US" dirty="0"/>
              <a:t> </a:t>
            </a:r>
            <a:r>
              <a:rPr lang="en-US" dirty="0" err="1"/>
              <a:t>nivou</a:t>
            </a:r>
            <a:r>
              <a:rPr lang="en-US" dirty="0"/>
              <a:t> </a:t>
            </a:r>
            <a:r>
              <a:rPr lang="en-US" dirty="0" err="1"/>
              <a:t>stranica</a:t>
            </a:r>
            <a:r>
              <a:rPr lang="en-US" dirty="0"/>
              <a:t>, ne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nivou</a:t>
            </a:r>
            <a:r>
              <a:rPr lang="en-US" dirty="0"/>
              <a:t> SQL </a:t>
            </a:r>
            <a:r>
              <a:rPr lang="en-US" dirty="0" err="1"/>
              <a:t>naredbi</a:t>
            </a:r>
            <a:r>
              <a:rPr lang="en-US" dirty="0"/>
              <a:t> — </a:t>
            </a:r>
            <a:r>
              <a:rPr lang="en-US" dirty="0" err="1"/>
              <a:t>što</a:t>
            </a:r>
            <a:r>
              <a:rPr lang="en-US" dirty="0"/>
              <a:t> </a:t>
            </a:r>
            <a:r>
              <a:rPr lang="en-US" dirty="0" err="1"/>
              <a:t>znači</a:t>
            </a:r>
            <a:r>
              <a:rPr lang="en-US" dirty="0"/>
              <a:t> da je shadow </a:t>
            </a:r>
            <a:r>
              <a:rPr lang="en-US" dirty="0" err="1"/>
              <a:t>uvek</a:t>
            </a:r>
            <a:r>
              <a:rPr lang="en-US" dirty="0"/>
              <a:t> </a:t>
            </a:r>
            <a:r>
              <a:rPr lang="en-US" dirty="0" err="1"/>
              <a:t>identična</a:t>
            </a:r>
            <a:r>
              <a:rPr lang="en-US" dirty="0"/>
              <a:t> </a:t>
            </a:r>
            <a:r>
              <a:rPr lang="en-US" dirty="0" err="1"/>
              <a:t>binarna</a:t>
            </a:r>
            <a:r>
              <a:rPr lang="en-US" dirty="0"/>
              <a:t> </a:t>
            </a:r>
            <a:r>
              <a:rPr lang="en-US" dirty="0" err="1"/>
              <a:t>kopija</a:t>
            </a:r>
            <a:r>
              <a:rPr lang="en-US" dirty="0"/>
              <a:t> </a:t>
            </a:r>
            <a:r>
              <a:rPr lang="en-US" dirty="0" err="1"/>
              <a:t>primarnog</a:t>
            </a:r>
            <a:r>
              <a:rPr lang="en-US" dirty="0"/>
              <a:t> </a:t>
            </a:r>
            <a:r>
              <a:rPr lang="en-US" dirty="0" err="1"/>
              <a:t>diska</a:t>
            </a:r>
            <a:r>
              <a:rPr lang="en-US" dirty="0"/>
              <a:t> u </a:t>
            </a:r>
            <a:r>
              <a:rPr lang="en-US" dirty="0" err="1"/>
              <a:t>realnom</a:t>
            </a:r>
            <a:r>
              <a:rPr lang="en-US" dirty="0"/>
              <a:t> </a:t>
            </a:r>
            <a:r>
              <a:rPr lang="en-US" dirty="0" err="1"/>
              <a:t>vremenu</a:t>
            </a:r>
            <a:r>
              <a:rPr lang="en-US" dirty="0"/>
              <a:t>. 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Firebird 4.0 </a:t>
            </a:r>
            <a:r>
              <a:rPr lang="en-US" dirty="0" err="1"/>
              <a:t>uvodi</a:t>
            </a:r>
            <a:r>
              <a:rPr lang="en-US" dirty="0"/>
              <a:t> </a:t>
            </a:r>
            <a:r>
              <a:rPr lang="en-US" dirty="0" err="1"/>
              <a:t>prvu</a:t>
            </a:r>
            <a:r>
              <a:rPr lang="en-US" dirty="0"/>
              <a:t> </a:t>
            </a:r>
            <a:r>
              <a:rPr lang="en-US" dirty="0" err="1"/>
              <a:t>nativnu</a:t>
            </a:r>
            <a:r>
              <a:rPr lang="en-US" dirty="0"/>
              <a:t> </a:t>
            </a:r>
            <a:r>
              <a:rPr lang="en-US" dirty="0" err="1"/>
              <a:t>binarnu</a:t>
            </a:r>
            <a:r>
              <a:rPr lang="en-US" dirty="0"/>
              <a:t> </a:t>
            </a:r>
            <a:r>
              <a:rPr lang="en-US" dirty="0" err="1"/>
              <a:t>replikaciju</a:t>
            </a:r>
            <a:r>
              <a:rPr lang="en-US" dirty="0"/>
              <a:t> u </a:t>
            </a:r>
            <a:r>
              <a:rPr lang="en-US" dirty="0" err="1"/>
              <a:t>standardnu</a:t>
            </a:r>
            <a:r>
              <a:rPr lang="en-US" dirty="0"/>
              <a:t> </a:t>
            </a:r>
            <a:r>
              <a:rPr lang="en-US" dirty="0" err="1"/>
              <a:t>distribuciju</a:t>
            </a:r>
            <a:r>
              <a:rPr lang="en-US" dirty="0"/>
              <a:t> bez alata </a:t>
            </a:r>
            <a:r>
              <a:rPr lang="en-US" dirty="0" err="1"/>
              <a:t>trećih</a:t>
            </a:r>
            <a:r>
              <a:rPr lang="en-US" dirty="0"/>
              <a:t> </a:t>
            </a:r>
            <a:r>
              <a:rPr lang="en-US" dirty="0" err="1"/>
              <a:t>strana</a:t>
            </a:r>
            <a:r>
              <a:rPr lang="en-US" dirty="0"/>
              <a:t> — </a:t>
            </a:r>
            <a:r>
              <a:rPr lang="en-US" dirty="0" err="1"/>
              <a:t>što</a:t>
            </a:r>
            <a:r>
              <a:rPr lang="en-US" dirty="0"/>
              <a:t> </a:t>
            </a:r>
            <a:r>
              <a:rPr lang="en-US" dirty="0" err="1"/>
              <a:t>predstavlja</a:t>
            </a:r>
            <a:r>
              <a:rPr lang="en-US" dirty="0"/>
              <a:t> </a:t>
            </a:r>
            <a:r>
              <a:rPr lang="en-US" dirty="0" err="1"/>
              <a:t>revolucionarnu</a:t>
            </a:r>
            <a:r>
              <a:rPr lang="en-US" dirty="0"/>
              <a:t> </a:t>
            </a:r>
            <a:r>
              <a:rPr lang="en-US" dirty="0" err="1"/>
              <a:t>promenu</a:t>
            </a:r>
            <a:r>
              <a:rPr lang="en-US" dirty="0"/>
              <a:t> </a:t>
            </a:r>
            <a:r>
              <a:rPr lang="en-US" dirty="0" err="1"/>
              <a:t>jer</a:t>
            </a:r>
            <a:r>
              <a:rPr lang="en-US" dirty="0"/>
              <a:t> je </a:t>
            </a:r>
            <a:r>
              <a:rPr lang="en-US" dirty="0" err="1"/>
              <a:t>replikacija</a:t>
            </a:r>
            <a:r>
              <a:rPr lang="en-US" dirty="0"/>
              <a:t> </a:t>
            </a:r>
            <a:r>
              <a:rPr lang="en-US" dirty="0" err="1"/>
              <a:t>sada</a:t>
            </a:r>
            <a:r>
              <a:rPr lang="en-US" dirty="0"/>
              <a:t> </a:t>
            </a:r>
            <a:r>
              <a:rPr lang="en-US" dirty="0" err="1"/>
              <a:t>integralni</a:t>
            </a:r>
            <a:r>
              <a:rPr lang="en-US" dirty="0"/>
              <a:t> deo </a:t>
            </a:r>
            <a:r>
              <a:rPr lang="en-US" dirty="0" err="1"/>
              <a:t>samog</a:t>
            </a:r>
            <a:r>
              <a:rPr lang="en-US" dirty="0"/>
              <a:t> engine-a.</a:t>
            </a:r>
            <a:r>
              <a:rPr lang="sr-Latn-RS" dirty="0"/>
              <a:t> </a:t>
            </a:r>
            <a:endParaRPr lang="en-US" dirty="0"/>
          </a:p>
          <a:p>
            <a:r>
              <a:rPr lang="en-US" dirty="0" err="1"/>
              <a:t>Proces</a:t>
            </a:r>
            <a:r>
              <a:rPr lang="en-US" dirty="0"/>
              <a:t> </a:t>
            </a:r>
            <a:r>
              <a:rPr lang="en-US" dirty="0" err="1"/>
              <a:t>funkcioniše</a:t>
            </a:r>
            <a:r>
              <a:rPr lang="en-US" dirty="0"/>
              <a:t> </a:t>
            </a:r>
            <a:r>
              <a:rPr lang="en-US" dirty="0" err="1"/>
              <a:t>kroz</a:t>
            </a:r>
            <a:r>
              <a:rPr lang="en-US" dirty="0"/>
              <a:t> </a:t>
            </a:r>
            <a:r>
              <a:rPr lang="en-US" dirty="0" err="1"/>
              <a:t>četiri</a:t>
            </a:r>
            <a:r>
              <a:rPr lang="en-US" dirty="0"/>
              <a:t> </a:t>
            </a:r>
            <a:r>
              <a:rPr lang="en-US" dirty="0" err="1"/>
              <a:t>koraka</a:t>
            </a:r>
            <a:r>
              <a:rPr lang="en-US" dirty="0"/>
              <a:t> — </a:t>
            </a:r>
            <a:r>
              <a:rPr lang="en-US" dirty="0" err="1"/>
              <a:t>svaki</a:t>
            </a:r>
            <a:r>
              <a:rPr lang="en-US" dirty="0"/>
              <a:t> COMMIT </a:t>
            </a:r>
            <a:r>
              <a:rPr lang="en-US" dirty="0" err="1"/>
              <a:t>na</a:t>
            </a:r>
            <a:r>
              <a:rPr lang="en-US" dirty="0"/>
              <a:t> master </a:t>
            </a:r>
            <a:r>
              <a:rPr lang="en-US" dirty="0" err="1"/>
              <a:t>bazi</a:t>
            </a:r>
            <a:r>
              <a:rPr lang="en-US" dirty="0"/>
              <a:t> </a:t>
            </a:r>
            <a:r>
              <a:rPr lang="en-US" dirty="0" err="1"/>
              <a:t>akumulira</a:t>
            </a:r>
            <a:r>
              <a:rPr lang="en-US" dirty="0"/>
              <a:t> </a:t>
            </a:r>
            <a:r>
              <a:rPr lang="en-US" dirty="0" err="1"/>
              <a:t>promene</a:t>
            </a:r>
            <a:r>
              <a:rPr lang="en-US" dirty="0"/>
              <a:t> u </a:t>
            </a:r>
            <a:r>
              <a:rPr lang="en-US" b="1" dirty="0"/>
              <a:t>Journal Segment</a:t>
            </a:r>
            <a:r>
              <a:rPr lang="en-US" dirty="0"/>
              <a:t> </a:t>
            </a:r>
            <a:r>
              <a:rPr lang="en-US" dirty="0" err="1"/>
              <a:t>memorijskom</a:t>
            </a:r>
            <a:r>
              <a:rPr lang="en-US" dirty="0"/>
              <a:t> </a:t>
            </a:r>
            <a:r>
              <a:rPr lang="en-US" dirty="0" err="1"/>
              <a:t>baferu</a:t>
            </a:r>
            <a:r>
              <a:rPr lang="en-US" dirty="0"/>
              <a:t>, </a:t>
            </a:r>
            <a:r>
              <a:rPr lang="en-US" dirty="0" err="1"/>
              <a:t>kada</a:t>
            </a:r>
            <a:r>
              <a:rPr lang="en-US" dirty="0"/>
              <a:t> se </a:t>
            </a:r>
            <a:r>
              <a:rPr lang="en-US" dirty="0" err="1"/>
              <a:t>napuni</a:t>
            </a:r>
            <a:r>
              <a:rPr lang="en-US" dirty="0"/>
              <a:t> </a:t>
            </a:r>
            <a:r>
              <a:rPr lang="en-US" dirty="0" err="1"/>
              <a:t>vrši</a:t>
            </a:r>
            <a:r>
              <a:rPr lang="en-US" dirty="0"/>
              <a:t> se flush </a:t>
            </a:r>
            <a:r>
              <a:rPr lang="en-US" dirty="0" err="1"/>
              <a:t>na</a:t>
            </a:r>
            <a:r>
              <a:rPr lang="en-US" dirty="0"/>
              <a:t> disk </a:t>
            </a:r>
            <a:r>
              <a:rPr lang="en-US" dirty="0" err="1"/>
              <a:t>kao</a:t>
            </a:r>
            <a:r>
              <a:rPr lang="en-US" dirty="0"/>
              <a:t> </a:t>
            </a:r>
            <a:r>
              <a:rPr lang="en-US" dirty="0" err="1"/>
              <a:t>binarni</a:t>
            </a:r>
            <a:r>
              <a:rPr lang="en-US" dirty="0"/>
              <a:t> segment, </a:t>
            </a:r>
            <a:r>
              <a:rPr lang="en-US" b="1" dirty="0" err="1"/>
              <a:t>Replikacioni</a:t>
            </a:r>
            <a:r>
              <a:rPr lang="en-US" b="1" dirty="0"/>
              <a:t> Agent</a:t>
            </a:r>
            <a:r>
              <a:rPr lang="en-US" dirty="0"/>
              <a:t> </a:t>
            </a:r>
            <a:r>
              <a:rPr lang="en-US" dirty="0" err="1"/>
              <a:t>kontinuirano</a:t>
            </a:r>
            <a:r>
              <a:rPr lang="en-US" dirty="0"/>
              <a:t> </a:t>
            </a:r>
            <a:r>
              <a:rPr lang="en-US" dirty="0" err="1"/>
              <a:t>skenira</a:t>
            </a:r>
            <a:r>
              <a:rPr lang="en-US" dirty="0"/>
              <a:t> archive directory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primenjuje</a:t>
            </a:r>
            <a:r>
              <a:rPr lang="en-US" dirty="0"/>
              <a:t> </a:t>
            </a:r>
            <a:r>
              <a:rPr lang="en-US" dirty="0" err="1"/>
              <a:t>segmente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slave </a:t>
            </a:r>
            <a:r>
              <a:rPr lang="en-US" dirty="0" err="1"/>
              <a:t>bazu</a:t>
            </a:r>
            <a:r>
              <a:rPr lang="en-US" dirty="0"/>
              <a:t> </a:t>
            </a:r>
            <a:r>
              <a:rPr lang="en-US" dirty="0" err="1"/>
              <a:t>kroz</a:t>
            </a:r>
            <a:r>
              <a:rPr lang="en-US" dirty="0"/>
              <a:t> SQL replay.</a:t>
            </a:r>
            <a:r>
              <a:rPr lang="sr-Latn-RS" dirty="0"/>
              <a:t> </a:t>
            </a:r>
            <a:r>
              <a:rPr lang="en-US" b="1" dirty="0"/>
              <a:t>Journal Segment</a:t>
            </a:r>
            <a:r>
              <a:rPr lang="en-US" dirty="0"/>
              <a:t> je </a:t>
            </a:r>
            <a:r>
              <a:rPr lang="en-US" dirty="0" err="1"/>
              <a:t>privremeni</a:t>
            </a:r>
            <a:r>
              <a:rPr lang="en-US" dirty="0"/>
              <a:t> </a:t>
            </a:r>
            <a:r>
              <a:rPr lang="en-US" dirty="0" err="1"/>
              <a:t>memorijski</a:t>
            </a:r>
            <a:r>
              <a:rPr lang="en-US" dirty="0"/>
              <a:t> </a:t>
            </a:r>
            <a:r>
              <a:rPr lang="en-US" dirty="0" err="1"/>
              <a:t>bafer</a:t>
            </a:r>
            <a:r>
              <a:rPr lang="en-US" dirty="0"/>
              <a:t> </a:t>
            </a:r>
            <a:r>
              <a:rPr lang="en-US" dirty="0" err="1"/>
              <a:t>veličine</a:t>
            </a:r>
            <a:r>
              <a:rPr lang="en-US" dirty="0"/>
              <a:t> </a:t>
            </a:r>
            <a:r>
              <a:rPr lang="en-US" dirty="0" err="1"/>
              <a:t>BufferPoolSize</a:t>
            </a:r>
            <a:r>
              <a:rPr lang="en-US" dirty="0"/>
              <a:t> — </a:t>
            </a:r>
            <a:r>
              <a:rPr lang="en-US" dirty="0" err="1"/>
              <a:t>promene</a:t>
            </a:r>
            <a:r>
              <a:rPr lang="en-US" dirty="0"/>
              <a:t> se </a:t>
            </a:r>
            <a:r>
              <a:rPr lang="en-US" dirty="0" err="1"/>
              <a:t>akumuliraju</a:t>
            </a:r>
            <a:r>
              <a:rPr lang="en-US" dirty="0"/>
              <a:t> u </a:t>
            </a:r>
            <a:r>
              <a:rPr lang="en-US" dirty="0" err="1"/>
              <a:t>memoriji</a:t>
            </a:r>
            <a:r>
              <a:rPr lang="en-US" dirty="0"/>
              <a:t> </a:t>
            </a:r>
            <a:r>
              <a:rPr lang="en-US" dirty="0" err="1"/>
              <a:t>radi</a:t>
            </a:r>
            <a:r>
              <a:rPr lang="en-US" dirty="0"/>
              <a:t> </a:t>
            </a:r>
            <a:r>
              <a:rPr lang="en-US" dirty="0" err="1"/>
              <a:t>performansi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tek</a:t>
            </a:r>
            <a:r>
              <a:rPr lang="en-US" dirty="0"/>
              <a:t> </a:t>
            </a:r>
            <a:r>
              <a:rPr lang="en-US" dirty="0" err="1"/>
              <a:t>kada</a:t>
            </a:r>
            <a:r>
              <a:rPr lang="en-US" dirty="0"/>
              <a:t> se </a:t>
            </a:r>
            <a:r>
              <a:rPr lang="en-US" dirty="0" err="1"/>
              <a:t>napune</a:t>
            </a:r>
            <a:r>
              <a:rPr lang="en-US" dirty="0"/>
              <a:t> </a:t>
            </a:r>
            <a:r>
              <a:rPr lang="en-US" dirty="0" err="1"/>
              <a:t>upisuju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disk </a:t>
            </a:r>
            <a:r>
              <a:rPr lang="en-US" dirty="0" err="1"/>
              <a:t>kao</a:t>
            </a:r>
            <a:r>
              <a:rPr lang="en-US" dirty="0"/>
              <a:t> </a:t>
            </a:r>
            <a:r>
              <a:rPr lang="en-US" dirty="0" err="1"/>
              <a:t>trajni</a:t>
            </a:r>
            <a:r>
              <a:rPr lang="en-US" dirty="0"/>
              <a:t> </a:t>
            </a:r>
            <a:r>
              <a:rPr lang="en-US" dirty="0" err="1"/>
              <a:t>arhivski</a:t>
            </a:r>
            <a:r>
              <a:rPr lang="en-US" dirty="0"/>
              <a:t> segment.</a:t>
            </a:r>
            <a:r>
              <a:rPr lang="sr-Latn-RS" dirty="0"/>
              <a:t> </a:t>
            </a:r>
            <a:r>
              <a:rPr lang="en-US" b="1" dirty="0"/>
              <a:t>Source GUID</a:t>
            </a:r>
            <a:r>
              <a:rPr lang="en-US" dirty="0"/>
              <a:t> je </a:t>
            </a:r>
            <a:r>
              <a:rPr lang="en-US" dirty="0" err="1"/>
              <a:t>sigurnosni</a:t>
            </a:r>
            <a:r>
              <a:rPr lang="en-US" dirty="0"/>
              <a:t> </a:t>
            </a:r>
            <a:r>
              <a:rPr lang="en-US" dirty="0" err="1"/>
              <a:t>mehanizam</a:t>
            </a:r>
            <a:r>
              <a:rPr lang="en-US" dirty="0"/>
              <a:t> koji </a:t>
            </a:r>
            <a:r>
              <a:rPr lang="en-US" dirty="0" err="1"/>
              <a:t>garantuje</a:t>
            </a:r>
            <a:r>
              <a:rPr lang="en-US" dirty="0"/>
              <a:t> da slave </a:t>
            </a:r>
            <a:r>
              <a:rPr lang="en-US" dirty="0" err="1"/>
              <a:t>baza</a:t>
            </a:r>
            <a:r>
              <a:rPr lang="en-US" dirty="0"/>
              <a:t> </a:t>
            </a:r>
            <a:r>
              <a:rPr lang="en-US" dirty="0" err="1"/>
              <a:t>prihvata</a:t>
            </a:r>
            <a:r>
              <a:rPr lang="en-US" dirty="0"/>
              <a:t> </a:t>
            </a:r>
            <a:r>
              <a:rPr lang="en-US" dirty="0" err="1"/>
              <a:t>logove</a:t>
            </a:r>
            <a:r>
              <a:rPr lang="en-US" dirty="0"/>
              <a:t> </a:t>
            </a:r>
            <a:r>
              <a:rPr lang="en-US" dirty="0" err="1"/>
              <a:t>isključivo</a:t>
            </a:r>
            <a:r>
              <a:rPr lang="en-US" dirty="0"/>
              <a:t> od </a:t>
            </a:r>
            <a:r>
              <a:rPr lang="en-US" dirty="0" err="1"/>
              <a:t>svog</a:t>
            </a:r>
            <a:r>
              <a:rPr lang="en-US" dirty="0"/>
              <a:t> </a:t>
            </a:r>
            <a:r>
              <a:rPr lang="en-US" dirty="0" err="1"/>
              <a:t>mastera</a:t>
            </a:r>
            <a:r>
              <a:rPr lang="en-US" dirty="0"/>
              <a:t> </a:t>
            </a:r>
            <a:r>
              <a:rPr lang="en-US" dirty="0" err="1"/>
              <a:t>sa</a:t>
            </a:r>
            <a:r>
              <a:rPr lang="en-US" dirty="0"/>
              <a:t> </a:t>
            </a:r>
            <a:r>
              <a:rPr lang="en-US" dirty="0" err="1"/>
              <a:t>tačno</a:t>
            </a:r>
            <a:r>
              <a:rPr lang="en-US" dirty="0"/>
              <a:t> </a:t>
            </a:r>
            <a:r>
              <a:rPr lang="en-US" dirty="0" err="1"/>
              <a:t>tim</a:t>
            </a:r>
            <a:r>
              <a:rPr lang="en-US" dirty="0"/>
              <a:t> GUID-om — </a:t>
            </a:r>
            <a:r>
              <a:rPr lang="en-US" dirty="0" err="1"/>
              <a:t>čime</a:t>
            </a:r>
            <a:r>
              <a:rPr lang="en-US" dirty="0"/>
              <a:t> se </a:t>
            </a:r>
            <a:r>
              <a:rPr lang="en-US" dirty="0" err="1"/>
              <a:t>sprečava</a:t>
            </a:r>
            <a:r>
              <a:rPr lang="en-US" dirty="0"/>
              <a:t> </a:t>
            </a:r>
            <a:r>
              <a:rPr lang="en-US" dirty="0" err="1"/>
              <a:t>nenamerno</a:t>
            </a:r>
            <a:r>
              <a:rPr lang="en-US" dirty="0"/>
              <a:t> </a:t>
            </a:r>
            <a:r>
              <a:rPr lang="en-US" dirty="0" err="1"/>
              <a:t>mešanje</a:t>
            </a:r>
            <a:r>
              <a:rPr lang="en-US" dirty="0"/>
              <a:t> </a:t>
            </a:r>
            <a:r>
              <a:rPr lang="en-US" dirty="0" err="1"/>
              <a:t>podataka</a:t>
            </a:r>
            <a:r>
              <a:rPr lang="en-US" dirty="0"/>
              <a:t> </a:t>
            </a:r>
            <a:r>
              <a:rPr lang="en-US" dirty="0" err="1"/>
              <a:t>sa</a:t>
            </a:r>
            <a:r>
              <a:rPr lang="en-US" dirty="0"/>
              <a:t> </a:t>
            </a:r>
            <a:r>
              <a:rPr lang="en-US" dirty="0" err="1"/>
              <a:t>pogrešnog</a:t>
            </a:r>
            <a:r>
              <a:rPr lang="en-US" dirty="0"/>
              <a:t> </a:t>
            </a:r>
            <a:r>
              <a:rPr lang="en-US" dirty="0" err="1"/>
              <a:t>servera</a:t>
            </a:r>
            <a:r>
              <a:rPr lang="en-US" dirty="0"/>
              <a:t>.</a:t>
            </a:r>
          </a:p>
          <a:p>
            <a:r>
              <a:rPr lang="en-US" dirty="0" err="1"/>
              <a:t>Ključni</a:t>
            </a:r>
            <a:r>
              <a:rPr lang="en-US" dirty="0"/>
              <a:t> </a:t>
            </a:r>
            <a:r>
              <a:rPr lang="en-US" dirty="0" err="1"/>
              <a:t>parametri</a:t>
            </a:r>
            <a:r>
              <a:rPr lang="en-US" dirty="0"/>
              <a:t> u </a:t>
            </a:r>
            <a:r>
              <a:rPr lang="en-US" dirty="0" err="1"/>
              <a:t>replication.conf</a:t>
            </a:r>
            <a:r>
              <a:rPr lang="en-US" dirty="0"/>
              <a:t> </a:t>
            </a:r>
            <a:r>
              <a:rPr lang="en-US" dirty="0" err="1"/>
              <a:t>definišu</a:t>
            </a:r>
            <a:r>
              <a:rPr lang="en-US" dirty="0"/>
              <a:t> </a:t>
            </a:r>
            <a:r>
              <a:rPr lang="en-US" dirty="0" err="1"/>
              <a:t>lokaciju</a:t>
            </a:r>
            <a:r>
              <a:rPr lang="en-US" dirty="0"/>
              <a:t> </a:t>
            </a:r>
            <a:r>
              <a:rPr lang="en-US" dirty="0" err="1"/>
              <a:t>privremenih</a:t>
            </a:r>
            <a:r>
              <a:rPr lang="en-US" dirty="0"/>
              <a:t> </a:t>
            </a:r>
            <a:r>
              <a:rPr lang="en-US" dirty="0" err="1"/>
              <a:t>segmenata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trajnog</a:t>
            </a:r>
            <a:r>
              <a:rPr lang="en-US" dirty="0"/>
              <a:t> </a:t>
            </a:r>
            <a:r>
              <a:rPr lang="en-US" dirty="0" err="1"/>
              <a:t>arhiva</a:t>
            </a:r>
            <a:r>
              <a:rPr lang="en-US" dirty="0"/>
              <a:t>, timeout pre flush-a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adresu</a:t>
            </a:r>
            <a:r>
              <a:rPr lang="en-US" dirty="0"/>
              <a:t> slave </a:t>
            </a:r>
            <a:r>
              <a:rPr lang="en-US" dirty="0" err="1"/>
              <a:t>baze</a:t>
            </a:r>
            <a:r>
              <a:rPr lang="en-US" dirty="0"/>
              <a:t> — a </a:t>
            </a:r>
            <a:r>
              <a:rPr lang="en-US" dirty="0" err="1"/>
              <a:t>izbor</a:t>
            </a:r>
            <a:r>
              <a:rPr lang="en-US" dirty="0"/>
              <a:t> </a:t>
            </a:r>
            <a:r>
              <a:rPr lang="en-US" dirty="0" err="1"/>
              <a:t>između</a:t>
            </a:r>
            <a:r>
              <a:rPr lang="en-US" dirty="0"/>
              <a:t> </a:t>
            </a:r>
            <a:r>
              <a:rPr lang="en-US" dirty="0" err="1"/>
              <a:t>sinhroni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asinhroni</a:t>
            </a:r>
            <a:r>
              <a:rPr lang="en-US" dirty="0"/>
              <a:t> mod </a:t>
            </a:r>
            <a:r>
              <a:rPr lang="en-US" dirty="0" err="1"/>
              <a:t>direktno</a:t>
            </a:r>
            <a:r>
              <a:rPr lang="en-US" dirty="0"/>
              <a:t> </a:t>
            </a:r>
            <a:r>
              <a:rPr lang="en-US" dirty="0" err="1"/>
              <a:t>određuje</a:t>
            </a:r>
            <a:r>
              <a:rPr lang="en-US" dirty="0"/>
              <a:t> </a:t>
            </a:r>
            <a:r>
              <a:rPr lang="en-US" dirty="0" err="1"/>
              <a:t>balans</a:t>
            </a:r>
            <a:r>
              <a:rPr lang="en-US" dirty="0"/>
              <a:t> </a:t>
            </a:r>
            <a:r>
              <a:rPr lang="en-US" dirty="0" err="1"/>
              <a:t>između</a:t>
            </a:r>
            <a:r>
              <a:rPr lang="en-US" dirty="0"/>
              <a:t> Zero Data Loss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performansi</a:t>
            </a:r>
            <a:r>
              <a:rPr lang="en-US" dirty="0"/>
              <a:t> </a:t>
            </a:r>
            <a:r>
              <a:rPr lang="en-US" dirty="0" err="1"/>
              <a:t>sistema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Izbor </a:t>
            </a:r>
            <a:r>
              <a:rPr lang="en-US" dirty="0" err="1"/>
              <a:t>između</a:t>
            </a:r>
            <a:r>
              <a:rPr lang="en-US" dirty="0"/>
              <a:t> </a:t>
            </a:r>
            <a:r>
              <a:rPr lang="en-US" dirty="0" err="1"/>
              <a:t>sinhrona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asinhrona</a:t>
            </a:r>
            <a:r>
              <a:rPr lang="en-US" dirty="0"/>
              <a:t> </a:t>
            </a:r>
            <a:r>
              <a:rPr lang="en-US" dirty="0" err="1"/>
              <a:t>replikacije</a:t>
            </a:r>
            <a:r>
              <a:rPr lang="en-US" dirty="0"/>
              <a:t> </a:t>
            </a:r>
            <a:r>
              <a:rPr lang="en-US" dirty="0" err="1"/>
              <a:t>predstavlja</a:t>
            </a:r>
            <a:r>
              <a:rPr lang="en-US" dirty="0"/>
              <a:t> </a:t>
            </a:r>
            <a:r>
              <a:rPr lang="en-US" dirty="0" err="1"/>
              <a:t>fundamentalni</a:t>
            </a:r>
            <a:r>
              <a:rPr lang="en-US" dirty="0"/>
              <a:t> </a:t>
            </a:r>
            <a:r>
              <a:rPr lang="en-US" dirty="0" err="1"/>
              <a:t>kompromis</a:t>
            </a:r>
            <a:r>
              <a:rPr lang="en-US" dirty="0"/>
              <a:t> </a:t>
            </a:r>
            <a:r>
              <a:rPr lang="en-US" dirty="0" err="1"/>
              <a:t>između</a:t>
            </a:r>
            <a:r>
              <a:rPr lang="en-US" dirty="0"/>
              <a:t> </a:t>
            </a:r>
            <a:r>
              <a:rPr lang="en-US" dirty="0" err="1"/>
              <a:t>garantovane</a:t>
            </a:r>
            <a:r>
              <a:rPr lang="en-US" dirty="0"/>
              <a:t> </a:t>
            </a:r>
            <a:r>
              <a:rPr lang="en-US" dirty="0" err="1"/>
              <a:t>konzistentnosti</a:t>
            </a:r>
            <a:r>
              <a:rPr lang="en-US" dirty="0"/>
              <a:t> </a:t>
            </a:r>
            <a:r>
              <a:rPr lang="en-US" dirty="0" err="1"/>
              <a:t>podataka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brzine</a:t>
            </a:r>
            <a:r>
              <a:rPr lang="en-US" dirty="0"/>
              <a:t> rada </a:t>
            </a:r>
            <a:r>
              <a:rPr lang="en-US" dirty="0" err="1"/>
              <a:t>sistema</a:t>
            </a:r>
            <a:r>
              <a:rPr lang="en-US" dirty="0"/>
              <a:t>.</a:t>
            </a:r>
          </a:p>
          <a:p>
            <a:r>
              <a:rPr lang="en-US" b="1" dirty="0" err="1"/>
              <a:t>Sinhroni</a:t>
            </a:r>
            <a:r>
              <a:rPr lang="en-US" b="1" dirty="0"/>
              <a:t> </a:t>
            </a:r>
            <a:r>
              <a:rPr lang="en-US" b="1" dirty="0" err="1"/>
              <a:t>režim</a:t>
            </a:r>
            <a:r>
              <a:rPr lang="en-US" dirty="0"/>
              <a:t> </a:t>
            </a:r>
            <a:r>
              <a:rPr lang="en-US" dirty="0" err="1"/>
              <a:t>garantuje</a:t>
            </a:r>
            <a:r>
              <a:rPr lang="en-US" dirty="0"/>
              <a:t> Zero Data Loss (RPO = 0) — master </a:t>
            </a:r>
            <a:r>
              <a:rPr lang="en-US" dirty="0" err="1"/>
              <a:t>čeka</a:t>
            </a:r>
            <a:r>
              <a:rPr lang="en-US" dirty="0"/>
              <a:t> </a:t>
            </a:r>
            <a:r>
              <a:rPr lang="en-US" dirty="0" err="1"/>
              <a:t>potvrdu</a:t>
            </a:r>
            <a:r>
              <a:rPr lang="en-US" dirty="0"/>
              <a:t> slave-a pre </a:t>
            </a:r>
            <a:r>
              <a:rPr lang="en-US" dirty="0" err="1"/>
              <a:t>odgovora</a:t>
            </a:r>
            <a:r>
              <a:rPr lang="en-US" dirty="0"/>
              <a:t> </a:t>
            </a:r>
            <a:r>
              <a:rPr lang="en-US" dirty="0" err="1"/>
              <a:t>korisniku</a:t>
            </a:r>
            <a:r>
              <a:rPr lang="en-US" dirty="0"/>
              <a:t>, </a:t>
            </a:r>
            <a:r>
              <a:rPr lang="en-US" dirty="0" err="1"/>
              <a:t>što</a:t>
            </a:r>
            <a:r>
              <a:rPr lang="en-US" dirty="0"/>
              <a:t> </a:t>
            </a:r>
            <a:r>
              <a:rPr lang="en-US" dirty="0" err="1"/>
              <a:t>znači</a:t>
            </a:r>
            <a:r>
              <a:rPr lang="en-US" dirty="0"/>
              <a:t> </a:t>
            </a:r>
            <a:r>
              <a:rPr lang="en-US" dirty="0" err="1"/>
              <a:t>apsolutnu</a:t>
            </a:r>
            <a:r>
              <a:rPr lang="en-US" dirty="0"/>
              <a:t> </a:t>
            </a:r>
            <a:r>
              <a:rPr lang="en-US" dirty="0" err="1"/>
              <a:t>identičnost</a:t>
            </a:r>
            <a:r>
              <a:rPr lang="en-US" dirty="0"/>
              <a:t> </a:t>
            </a:r>
            <a:r>
              <a:rPr lang="en-US" dirty="0" err="1"/>
              <a:t>između</a:t>
            </a:r>
            <a:r>
              <a:rPr lang="en-US" dirty="0"/>
              <a:t> master </a:t>
            </a:r>
            <a:r>
              <a:rPr lang="en-US" dirty="0" err="1"/>
              <a:t>i</a:t>
            </a:r>
            <a:r>
              <a:rPr lang="en-US" dirty="0"/>
              <a:t> slave </a:t>
            </a:r>
            <a:r>
              <a:rPr lang="en-US" dirty="0" err="1"/>
              <a:t>baze</a:t>
            </a:r>
            <a:r>
              <a:rPr lang="en-US" dirty="0"/>
              <a:t> u </a:t>
            </a:r>
            <a:r>
              <a:rPr lang="en-US" dirty="0" err="1"/>
              <a:t>svakom</a:t>
            </a:r>
            <a:r>
              <a:rPr lang="en-US" dirty="0"/>
              <a:t> </a:t>
            </a:r>
            <a:r>
              <a:rPr lang="en-US" dirty="0" err="1"/>
              <a:t>trenutku</a:t>
            </a:r>
            <a:r>
              <a:rPr lang="en-US" dirty="0"/>
              <a:t>, </a:t>
            </a:r>
            <a:r>
              <a:rPr lang="en-US" dirty="0" err="1"/>
              <a:t>ali</a:t>
            </a:r>
            <a:r>
              <a:rPr lang="en-US" dirty="0"/>
              <a:t> </a:t>
            </a:r>
            <a:r>
              <a:rPr lang="en-US" dirty="0" err="1"/>
              <a:t>latencija</a:t>
            </a:r>
            <a:r>
              <a:rPr lang="en-US" dirty="0"/>
              <a:t> </a:t>
            </a:r>
            <a:r>
              <a:rPr lang="en-US" dirty="0" err="1"/>
              <a:t>upisa</a:t>
            </a:r>
            <a:r>
              <a:rPr lang="en-US" dirty="0"/>
              <a:t> </a:t>
            </a:r>
            <a:r>
              <a:rPr lang="en-US" dirty="0" err="1"/>
              <a:t>direktno</a:t>
            </a:r>
            <a:r>
              <a:rPr lang="en-US" dirty="0"/>
              <a:t> </a:t>
            </a:r>
            <a:r>
              <a:rPr lang="en-US" dirty="0" err="1"/>
              <a:t>zavisi</a:t>
            </a:r>
            <a:r>
              <a:rPr lang="en-US" dirty="0"/>
              <a:t> od </a:t>
            </a:r>
            <a:r>
              <a:rPr lang="en-US" dirty="0" err="1"/>
              <a:t>latencije</a:t>
            </a:r>
            <a:r>
              <a:rPr lang="en-US" dirty="0"/>
              <a:t> </a:t>
            </a:r>
            <a:r>
              <a:rPr lang="en-US" dirty="0" err="1"/>
              <a:t>mreže</a:t>
            </a:r>
            <a:r>
              <a:rPr lang="en-US" dirty="0"/>
              <a:t>, pa se </a:t>
            </a:r>
            <a:r>
              <a:rPr lang="en-US" dirty="0" err="1"/>
              <a:t>preporučuje</a:t>
            </a:r>
            <a:r>
              <a:rPr lang="en-US" dirty="0"/>
              <a:t> </a:t>
            </a:r>
            <a:r>
              <a:rPr lang="en-US" dirty="0" err="1"/>
              <a:t>isključivo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gigabit LAN-u </a:t>
            </a:r>
            <a:r>
              <a:rPr lang="en-US" dirty="0" err="1"/>
              <a:t>ili</a:t>
            </a:r>
            <a:r>
              <a:rPr lang="en-US" dirty="0"/>
              <a:t> </a:t>
            </a:r>
            <a:r>
              <a:rPr lang="en-US" dirty="0" err="1"/>
              <a:t>direktnom</a:t>
            </a:r>
            <a:r>
              <a:rPr lang="en-US" dirty="0"/>
              <a:t> </a:t>
            </a:r>
            <a:r>
              <a:rPr lang="en-US" dirty="0" err="1"/>
              <a:t>linku</a:t>
            </a:r>
            <a:r>
              <a:rPr lang="en-US" dirty="0"/>
              <a:t>.</a:t>
            </a:r>
          </a:p>
          <a:p>
            <a:r>
              <a:rPr lang="en-US" b="1" dirty="0" err="1"/>
              <a:t>Asinhroni</a:t>
            </a:r>
            <a:r>
              <a:rPr lang="en-US" b="1" dirty="0"/>
              <a:t> </a:t>
            </a:r>
            <a:r>
              <a:rPr lang="en-US" b="1" dirty="0" err="1"/>
              <a:t>režim</a:t>
            </a:r>
            <a:r>
              <a:rPr lang="en-US" dirty="0"/>
              <a:t> </a:t>
            </a:r>
            <a:r>
              <a:rPr lang="en-US" dirty="0" err="1"/>
              <a:t>stavlja</a:t>
            </a:r>
            <a:r>
              <a:rPr lang="en-US" dirty="0"/>
              <a:t> </a:t>
            </a:r>
            <a:r>
              <a:rPr lang="en-US" dirty="0" err="1"/>
              <a:t>brzinu</a:t>
            </a:r>
            <a:r>
              <a:rPr lang="en-US" dirty="0"/>
              <a:t> </a:t>
            </a:r>
            <a:r>
              <a:rPr lang="en-US" dirty="0" err="1"/>
              <a:t>kao</a:t>
            </a:r>
            <a:r>
              <a:rPr lang="en-US" dirty="0"/>
              <a:t> </a:t>
            </a:r>
            <a:r>
              <a:rPr lang="en-US" dirty="0" err="1"/>
              <a:t>prioritet</a:t>
            </a:r>
            <a:r>
              <a:rPr lang="en-US" dirty="0"/>
              <a:t> — master </a:t>
            </a:r>
            <a:r>
              <a:rPr lang="en-US" dirty="0" err="1"/>
              <a:t>upisuje</a:t>
            </a:r>
            <a:r>
              <a:rPr lang="en-US" dirty="0"/>
              <a:t> </a:t>
            </a:r>
            <a:r>
              <a:rPr lang="en-US" dirty="0" err="1"/>
              <a:t>lokalno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šalje</a:t>
            </a:r>
            <a:r>
              <a:rPr lang="en-US" dirty="0"/>
              <a:t> log u </a:t>
            </a:r>
            <a:r>
              <a:rPr lang="en-US" dirty="0" err="1"/>
              <a:t>pozadini</a:t>
            </a:r>
            <a:r>
              <a:rPr lang="en-US" dirty="0"/>
              <a:t> bez </a:t>
            </a:r>
            <a:r>
              <a:rPr lang="en-US" dirty="0" err="1"/>
              <a:t>čekanja</a:t>
            </a:r>
            <a:r>
              <a:rPr lang="en-US" dirty="0"/>
              <a:t>, </a:t>
            </a:r>
            <a:r>
              <a:rPr lang="en-US" dirty="0" err="1"/>
              <a:t>čime</a:t>
            </a:r>
            <a:r>
              <a:rPr lang="en-US" dirty="0"/>
              <a:t> se </a:t>
            </a:r>
            <a:r>
              <a:rPr lang="en-US" dirty="0" err="1"/>
              <a:t>postiže</a:t>
            </a:r>
            <a:r>
              <a:rPr lang="en-US" dirty="0"/>
              <a:t> </a:t>
            </a:r>
            <a:r>
              <a:rPr lang="en-US" dirty="0" err="1"/>
              <a:t>maksimalna</a:t>
            </a:r>
            <a:r>
              <a:rPr lang="en-US" dirty="0"/>
              <a:t> </a:t>
            </a:r>
            <a:r>
              <a:rPr lang="en-US" dirty="0" err="1"/>
              <a:t>brzina</a:t>
            </a:r>
            <a:r>
              <a:rPr lang="en-US" dirty="0"/>
              <a:t> za </a:t>
            </a:r>
            <a:r>
              <a:rPr lang="en-US" dirty="0" err="1"/>
              <a:t>lokalne</a:t>
            </a:r>
            <a:r>
              <a:rPr lang="en-US" dirty="0"/>
              <a:t> </a:t>
            </a:r>
            <a:r>
              <a:rPr lang="en-US" dirty="0" err="1"/>
              <a:t>korisnike</a:t>
            </a:r>
            <a:r>
              <a:rPr lang="en-US" dirty="0"/>
              <a:t>, </a:t>
            </a:r>
            <a:r>
              <a:rPr lang="en-US" dirty="0" err="1"/>
              <a:t>ali</a:t>
            </a:r>
            <a:r>
              <a:rPr lang="en-US" dirty="0"/>
              <a:t> slave </a:t>
            </a:r>
            <a:r>
              <a:rPr lang="en-US" dirty="0" err="1"/>
              <a:t>kasni</a:t>
            </a:r>
            <a:r>
              <a:rPr lang="en-US" dirty="0"/>
              <a:t> za </a:t>
            </a:r>
            <a:r>
              <a:rPr lang="en-US" dirty="0" err="1"/>
              <a:t>masterom</a:t>
            </a:r>
            <a:r>
              <a:rPr lang="en-US" dirty="0"/>
              <a:t> </a:t>
            </a:r>
            <a:r>
              <a:rPr lang="en-US" dirty="0" err="1"/>
              <a:t>što</a:t>
            </a:r>
            <a:r>
              <a:rPr lang="en-US" dirty="0"/>
              <a:t> </a:t>
            </a:r>
            <a:r>
              <a:rPr lang="en-US" dirty="0" err="1"/>
              <a:t>znači</a:t>
            </a:r>
            <a:r>
              <a:rPr lang="en-US" dirty="0"/>
              <a:t> </a:t>
            </a:r>
            <a:r>
              <a:rPr lang="en-US" dirty="0" err="1"/>
              <a:t>prihvatljiv</a:t>
            </a:r>
            <a:r>
              <a:rPr lang="en-US" dirty="0"/>
              <a:t> </a:t>
            </a:r>
            <a:r>
              <a:rPr lang="en-US" dirty="0" err="1"/>
              <a:t>gubitak</a:t>
            </a:r>
            <a:r>
              <a:rPr lang="en-US" dirty="0"/>
              <a:t> </a:t>
            </a:r>
            <a:r>
              <a:rPr lang="en-US" dirty="0" err="1"/>
              <a:t>podataka</a:t>
            </a:r>
            <a:r>
              <a:rPr lang="en-US" dirty="0"/>
              <a:t> (RPO &gt; 0).</a:t>
            </a:r>
          </a:p>
          <a:p>
            <a:r>
              <a:rPr lang="en-US" dirty="0" err="1"/>
              <a:t>Sinhroni</a:t>
            </a:r>
            <a:r>
              <a:rPr lang="en-US" dirty="0"/>
              <a:t> </a:t>
            </a:r>
            <a:r>
              <a:rPr lang="en-US" dirty="0" err="1"/>
              <a:t>režim</a:t>
            </a:r>
            <a:r>
              <a:rPr lang="en-US" dirty="0"/>
              <a:t> je </a:t>
            </a:r>
            <a:r>
              <a:rPr lang="en-US" dirty="0" err="1"/>
              <a:t>obavezan</a:t>
            </a:r>
            <a:r>
              <a:rPr lang="en-US" dirty="0"/>
              <a:t> za </a:t>
            </a:r>
            <a:r>
              <a:rPr lang="en-US" dirty="0" err="1"/>
              <a:t>kritične</a:t>
            </a:r>
            <a:r>
              <a:rPr lang="en-US" dirty="0"/>
              <a:t> </a:t>
            </a:r>
            <a:r>
              <a:rPr lang="en-US" dirty="0" err="1"/>
              <a:t>sisteme</a:t>
            </a:r>
            <a:r>
              <a:rPr lang="en-US" dirty="0"/>
              <a:t> </a:t>
            </a:r>
            <a:r>
              <a:rPr lang="en-US" dirty="0" err="1"/>
              <a:t>poput</a:t>
            </a:r>
            <a:r>
              <a:rPr lang="en-US" dirty="0"/>
              <a:t> </a:t>
            </a:r>
            <a:r>
              <a:rPr lang="en-US" dirty="0" err="1"/>
              <a:t>finansija</a:t>
            </a:r>
            <a:r>
              <a:rPr lang="en-US" dirty="0"/>
              <a:t>, </a:t>
            </a:r>
            <a:r>
              <a:rPr lang="en-US" dirty="0" err="1"/>
              <a:t>bankarstva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zdravstva</a:t>
            </a:r>
            <a:r>
              <a:rPr lang="en-US" dirty="0"/>
              <a:t> </a:t>
            </a:r>
            <a:r>
              <a:rPr lang="en-US" dirty="0" err="1"/>
              <a:t>gde</a:t>
            </a:r>
            <a:r>
              <a:rPr lang="en-US" dirty="0"/>
              <a:t> </a:t>
            </a:r>
            <a:r>
              <a:rPr lang="en-US" dirty="0" err="1"/>
              <a:t>gubitak</a:t>
            </a:r>
            <a:r>
              <a:rPr lang="en-US" dirty="0"/>
              <a:t> </a:t>
            </a:r>
            <a:r>
              <a:rPr lang="en-US" dirty="0" err="1"/>
              <a:t>podataka</a:t>
            </a:r>
            <a:r>
              <a:rPr lang="en-US" dirty="0"/>
              <a:t> </a:t>
            </a:r>
            <a:r>
              <a:rPr lang="en-US" dirty="0" err="1"/>
              <a:t>nije</a:t>
            </a:r>
            <a:r>
              <a:rPr lang="en-US" dirty="0"/>
              <a:t> </a:t>
            </a:r>
            <a:r>
              <a:rPr lang="en-US" dirty="0" err="1"/>
              <a:t>prihvatljiv</a:t>
            </a:r>
            <a:r>
              <a:rPr lang="en-US" dirty="0"/>
              <a:t> </a:t>
            </a:r>
            <a:r>
              <a:rPr lang="en-US" dirty="0" err="1"/>
              <a:t>ni</a:t>
            </a:r>
            <a:r>
              <a:rPr lang="en-US" dirty="0"/>
              <a:t> u </a:t>
            </a:r>
            <a:r>
              <a:rPr lang="en-US" dirty="0" err="1"/>
              <a:t>jednom</a:t>
            </a:r>
            <a:r>
              <a:rPr lang="en-US" dirty="0"/>
              <a:t> </a:t>
            </a:r>
            <a:r>
              <a:rPr lang="en-US" dirty="0" err="1"/>
              <a:t>scenariju</a:t>
            </a:r>
            <a:r>
              <a:rPr lang="en-US" dirty="0"/>
              <a:t>.</a:t>
            </a:r>
          </a:p>
          <a:p>
            <a:r>
              <a:rPr lang="en-US" dirty="0" err="1"/>
              <a:t>Asinhroni</a:t>
            </a:r>
            <a:r>
              <a:rPr lang="en-US" dirty="0"/>
              <a:t> </a:t>
            </a:r>
            <a:r>
              <a:rPr lang="en-US" dirty="0" err="1"/>
              <a:t>režim</a:t>
            </a:r>
            <a:r>
              <a:rPr lang="en-US" dirty="0"/>
              <a:t> je </a:t>
            </a:r>
            <a:r>
              <a:rPr lang="en-US" dirty="0" err="1"/>
              <a:t>idealan</a:t>
            </a:r>
            <a:r>
              <a:rPr lang="en-US" dirty="0"/>
              <a:t> za WAN </a:t>
            </a:r>
            <a:r>
              <a:rPr lang="en-US" dirty="0" err="1"/>
              <a:t>veze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geografski</a:t>
            </a:r>
            <a:r>
              <a:rPr lang="en-US" dirty="0"/>
              <a:t> </a:t>
            </a:r>
            <a:r>
              <a:rPr lang="en-US" dirty="0" err="1"/>
              <a:t>udaljene</a:t>
            </a:r>
            <a:r>
              <a:rPr lang="en-US" dirty="0"/>
              <a:t> slave </a:t>
            </a:r>
            <a:r>
              <a:rPr lang="en-US" dirty="0" err="1"/>
              <a:t>servere</a:t>
            </a:r>
            <a:r>
              <a:rPr lang="en-US" dirty="0"/>
              <a:t> </a:t>
            </a:r>
            <a:r>
              <a:rPr lang="en-US" dirty="0" err="1"/>
              <a:t>gde</a:t>
            </a:r>
            <a:r>
              <a:rPr lang="en-US" dirty="0"/>
              <a:t> bi </a:t>
            </a:r>
            <a:r>
              <a:rPr lang="en-US" dirty="0" err="1"/>
              <a:t>čekanje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potvrdu</a:t>
            </a:r>
            <a:r>
              <a:rPr lang="en-US" dirty="0"/>
              <a:t> </a:t>
            </a:r>
            <a:r>
              <a:rPr lang="en-US" dirty="0" err="1"/>
              <a:t>predaleke</a:t>
            </a:r>
            <a:r>
              <a:rPr lang="en-US" dirty="0"/>
              <a:t> slave </a:t>
            </a:r>
            <a:r>
              <a:rPr lang="en-US" dirty="0" err="1"/>
              <a:t>baze</a:t>
            </a:r>
            <a:r>
              <a:rPr lang="en-US" dirty="0"/>
              <a:t> </a:t>
            </a:r>
            <a:r>
              <a:rPr lang="en-US" dirty="0" err="1"/>
              <a:t>drastično</a:t>
            </a:r>
            <a:r>
              <a:rPr lang="en-US" dirty="0"/>
              <a:t> </a:t>
            </a:r>
            <a:r>
              <a:rPr lang="en-US" dirty="0" err="1"/>
              <a:t>usporilo</a:t>
            </a:r>
            <a:r>
              <a:rPr lang="en-US" dirty="0"/>
              <a:t> rad </a:t>
            </a:r>
            <a:r>
              <a:rPr lang="en-US" dirty="0" err="1"/>
              <a:t>sistema</a:t>
            </a:r>
            <a:r>
              <a:rPr lang="en-US" dirty="0"/>
              <a:t> za </a:t>
            </a:r>
            <a:r>
              <a:rPr lang="en-US" dirty="0" err="1"/>
              <a:t>lokalne</a:t>
            </a:r>
            <a:r>
              <a:rPr lang="en-US" dirty="0"/>
              <a:t> </a:t>
            </a:r>
            <a:r>
              <a:rPr lang="en-US" dirty="0" err="1"/>
              <a:t>korisnike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Logička</a:t>
            </a:r>
            <a:r>
              <a:rPr lang="en-US" dirty="0"/>
              <a:t> </a:t>
            </a:r>
            <a:r>
              <a:rPr lang="en-US" dirty="0" err="1"/>
              <a:t>replikacija</a:t>
            </a:r>
            <a:r>
              <a:rPr lang="en-US" dirty="0"/>
              <a:t> </a:t>
            </a:r>
            <a:r>
              <a:rPr lang="en-US" dirty="0" err="1"/>
              <a:t>zasnovana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CDC </a:t>
            </a:r>
            <a:r>
              <a:rPr lang="en-US" dirty="0" err="1"/>
              <a:t>principu</a:t>
            </a:r>
            <a:r>
              <a:rPr lang="en-US" dirty="0"/>
              <a:t> </a:t>
            </a:r>
            <a:r>
              <a:rPr lang="en-US" dirty="0" err="1"/>
              <a:t>presreće</a:t>
            </a:r>
            <a:r>
              <a:rPr lang="en-US" dirty="0"/>
              <a:t> </a:t>
            </a:r>
            <a:r>
              <a:rPr lang="en-US" dirty="0" err="1"/>
              <a:t>svaki</a:t>
            </a:r>
            <a:r>
              <a:rPr lang="en-US" dirty="0"/>
              <a:t> INSERT, UPDATE </a:t>
            </a:r>
            <a:r>
              <a:rPr lang="en-US" dirty="0" err="1"/>
              <a:t>i</a:t>
            </a:r>
            <a:r>
              <a:rPr lang="en-US" dirty="0"/>
              <a:t> DELETE </a:t>
            </a:r>
            <a:r>
              <a:rPr lang="en-US" dirty="0" err="1"/>
              <a:t>kroz</a:t>
            </a:r>
            <a:r>
              <a:rPr lang="en-US" dirty="0"/>
              <a:t> </a:t>
            </a:r>
            <a:r>
              <a:rPr lang="en-US" dirty="0" err="1"/>
              <a:t>trigere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beleži</a:t>
            </a:r>
            <a:r>
              <a:rPr lang="en-US" dirty="0"/>
              <a:t> </a:t>
            </a:r>
            <a:r>
              <a:rPr lang="en-US" dirty="0" err="1"/>
              <a:t>promene</a:t>
            </a:r>
            <a:r>
              <a:rPr lang="en-US" dirty="0"/>
              <a:t> u </a:t>
            </a:r>
            <a:r>
              <a:rPr lang="en-US" dirty="0" err="1"/>
              <a:t>namensku</a:t>
            </a:r>
            <a:r>
              <a:rPr lang="en-US" dirty="0"/>
              <a:t> REPLICATION_LOG </a:t>
            </a:r>
            <a:r>
              <a:rPr lang="en-US" dirty="0" err="1"/>
              <a:t>tabelu</a:t>
            </a:r>
            <a:r>
              <a:rPr lang="en-US" dirty="0"/>
              <a:t>, za </a:t>
            </a:r>
            <a:r>
              <a:rPr lang="en-US" dirty="0" err="1"/>
              <a:t>razliku</a:t>
            </a:r>
            <a:r>
              <a:rPr lang="en-US" dirty="0"/>
              <a:t> od </a:t>
            </a:r>
            <a:r>
              <a:rPr lang="en-US" dirty="0" err="1"/>
              <a:t>binarne</a:t>
            </a:r>
            <a:r>
              <a:rPr lang="en-US" dirty="0"/>
              <a:t> </a:t>
            </a:r>
            <a:r>
              <a:rPr lang="en-US" dirty="0" err="1"/>
              <a:t>replikacije</a:t>
            </a:r>
            <a:r>
              <a:rPr lang="en-US" dirty="0"/>
              <a:t> </a:t>
            </a:r>
            <a:r>
              <a:rPr lang="en-US" dirty="0" err="1"/>
              <a:t>koja</a:t>
            </a:r>
            <a:r>
              <a:rPr lang="en-US" dirty="0"/>
              <a:t> </a:t>
            </a:r>
            <a:r>
              <a:rPr lang="en-US" dirty="0" err="1"/>
              <a:t>kopira</a:t>
            </a:r>
            <a:r>
              <a:rPr lang="en-US" dirty="0"/>
              <a:t> </a:t>
            </a:r>
            <a:r>
              <a:rPr lang="en-US" dirty="0" err="1"/>
              <a:t>fizičke</a:t>
            </a:r>
            <a:r>
              <a:rPr lang="en-US" dirty="0"/>
              <a:t> </a:t>
            </a:r>
            <a:r>
              <a:rPr lang="en-US" dirty="0" err="1"/>
              <a:t>stranice</a:t>
            </a:r>
            <a:r>
              <a:rPr lang="en-US" dirty="0"/>
              <a:t>.</a:t>
            </a:r>
          </a:p>
          <a:p>
            <a:r>
              <a:rPr lang="en-US" dirty="0" err="1"/>
              <a:t>Ključna</a:t>
            </a:r>
            <a:r>
              <a:rPr lang="en-US" dirty="0"/>
              <a:t> </a:t>
            </a:r>
            <a:r>
              <a:rPr lang="en-US" dirty="0" err="1"/>
              <a:t>prednost</a:t>
            </a:r>
            <a:r>
              <a:rPr lang="en-US" dirty="0"/>
              <a:t> CDC </a:t>
            </a:r>
            <a:r>
              <a:rPr lang="en-US" dirty="0" err="1"/>
              <a:t>pristupa</a:t>
            </a:r>
            <a:r>
              <a:rPr lang="en-US" dirty="0"/>
              <a:t> je </a:t>
            </a:r>
            <a:r>
              <a:rPr lang="en-US" dirty="0" err="1"/>
              <a:t>selektivnost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fleksibilnost</a:t>
            </a:r>
            <a:r>
              <a:rPr lang="en-US" dirty="0"/>
              <a:t> — </a:t>
            </a:r>
            <a:r>
              <a:rPr lang="en-US" dirty="0" err="1"/>
              <a:t>moguće</a:t>
            </a:r>
            <a:r>
              <a:rPr lang="en-US" dirty="0"/>
              <a:t> je </a:t>
            </a:r>
            <a:r>
              <a:rPr lang="en-US" dirty="0" err="1"/>
              <a:t>replicirati</a:t>
            </a:r>
            <a:r>
              <a:rPr lang="en-US" dirty="0"/>
              <a:t> </a:t>
            </a:r>
            <a:r>
              <a:rPr lang="en-US" dirty="0" err="1"/>
              <a:t>samo</a:t>
            </a:r>
            <a:r>
              <a:rPr lang="en-US" dirty="0"/>
              <a:t> </a:t>
            </a:r>
            <a:r>
              <a:rPr lang="en-US" dirty="0" err="1"/>
              <a:t>specifične</a:t>
            </a:r>
            <a:r>
              <a:rPr lang="en-US" dirty="0"/>
              <a:t> </a:t>
            </a:r>
            <a:r>
              <a:rPr lang="en-US" dirty="0" err="1"/>
              <a:t>tabele</a:t>
            </a:r>
            <a:r>
              <a:rPr lang="en-US" dirty="0"/>
              <a:t>, </a:t>
            </a:r>
            <a:r>
              <a:rPr lang="en-US" dirty="0" err="1"/>
              <a:t>između</a:t>
            </a:r>
            <a:r>
              <a:rPr lang="en-US" dirty="0"/>
              <a:t> </a:t>
            </a:r>
            <a:r>
              <a:rPr lang="en-US" dirty="0" err="1"/>
              <a:t>različitih</a:t>
            </a:r>
            <a:r>
              <a:rPr lang="en-US" dirty="0"/>
              <a:t> </a:t>
            </a:r>
            <a:r>
              <a:rPr lang="en-US" dirty="0" err="1"/>
              <a:t>verzija</a:t>
            </a:r>
            <a:r>
              <a:rPr lang="en-US" dirty="0"/>
              <a:t> </a:t>
            </a:r>
            <a:r>
              <a:rPr lang="en-US" dirty="0" err="1"/>
              <a:t>Firebirda</a:t>
            </a:r>
            <a:r>
              <a:rPr lang="en-US" dirty="0"/>
              <a:t>, pa </a:t>
            </a:r>
            <a:r>
              <a:rPr lang="en-US" dirty="0" err="1"/>
              <a:t>čak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ka </a:t>
            </a:r>
            <a:r>
              <a:rPr lang="en-US" dirty="0" err="1"/>
              <a:t>heterogenim</a:t>
            </a:r>
            <a:r>
              <a:rPr lang="en-US" dirty="0"/>
              <a:t> </a:t>
            </a:r>
            <a:r>
              <a:rPr lang="en-US" dirty="0" err="1"/>
              <a:t>sistemima</a:t>
            </a:r>
            <a:r>
              <a:rPr lang="en-US" dirty="0"/>
              <a:t> </a:t>
            </a:r>
            <a:r>
              <a:rPr lang="en-US" dirty="0" err="1"/>
              <a:t>poput</a:t>
            </a:r>
            <a:r>
              <a:rPr lang="en-US" dirty="0"/>
              <a:t> PostgreSQL-a, </a:t>
            </a:r>
            <a:r>
              <a:rPr lang="en-US" dirty="0" err="1"/>
              <a:t>što</a:t>
            </a:r>
            <a:r>
              <a:rPr lang="en-US" dirty="0"/>
              <a:t> </a:t>
            </a:r>
            <a:r>
              <a:rPr lang="en-US" dirty="0" err="1"/>
              <a:t>binarnu</a:t>
            </a:r>
            <a:r>
              <a:rPr lang="en-US" dirty="0"/>
              <a:t> </a:t>
            </a:r>
            <a:r>
              <a:rPr lang="en-US" dirty="0" err="1"/>
              <a:t>replikaciju</a:t>
            </a:r>
            <a:r>
              <a:rPr lang="en-US" dirty="0"/>
              <a:t> ne </a:t>
            </a:r>
            <a:r>
              <a:rPr lang="en-US" dirty="0" err="1"/>
              <a:t>može</a:t>
            </a:r>
            <a:r>
              <a:rPr lang="en-US" dirty="0"/>
              <a:t>.</a:t>
            </a:r>
          </a:p>
          <a:p>
            <a:r>
              <a:rPr lang="en-US" b="1" dirty="0"/>
              <a:t>REPLICATION_LOG </a:t>
            </a:r>
            <a:r>
              <a:rPr lang="en-US" b="1" dirty="0" err="1"/>
              <a:t>tabela</a:t>
            </a:r>
            <a:r>
              <a:rPr lang="en-US" dirty="0"/>
              <a:t> </a:t>
            </a:r>
            <a:r>
              <a:rPr lang="en-US" dirty="0" err="1"/>
              <a:t>čuva</a:t>
            </a:r>
            <a:r>
              <a:rPr lang="en-US" dirty="0"/>
              <a:t> </a:t>
            </a:r>
            <a:r>
              <a:rPr lang="en-US" dirty="0" err="1"/>
              <a:t>sve</a:t>
            </a:r>
            <a:r>
              <a:rPr lang="en-US" dirty="0"/>
              <a:t> </a:t>
            </a:r>
            <a:r>
              <a:rPr lang="en-US" dirty="0" err="1"/>
              <a:t>potrebne</a:t>
            </a:r>
            <a:r>
              <a:rPr lang="en-US" dirty="0"/>
              <a:t> </a:t>
            </a:r>
            <a:r>
              <a:rPr lang="en-US" dirty="0" err="1"/>
              <a:t>informacije</a:t>
            </a:r>
            <a:r>
              <a:rPr lang="en-US" dirty="0"/>
              <a:t> o </a:t>
            </a:r>
            <a:r>
              <a:rPr lang="en-US" dirty="0" err="1"/>
              <a:t>svakoj</a:t>
            </a:r>
            <a:r>
              <a:rPr lang="en-US" dirty="0"/>
              <a:t> </a:t>
            </a:r>
            <a:r>
              <a:rPr lang="en-US" dirty="0" err="1"/>
              <a:t>promeni</a:t>
            </a:r>
            <a:r>
              <a:rPr lang="en-US" dirty="0"/>
              <a:t> — </a:t>
            </a:r>
            <a:r>
              <a:rPr lang="en-US" dirty="0" err="1"/>
              <a:t>ime</a:t>
            </a:r>
            <a:r>
              <a:rPr lang="en-US" dirty="0"/>
              <a:t> </a:t>
            </a:r>
            <a:r>
              <a:rPr lang="en-US" dirty="0" err="1"/>
              <a:t>tabele</a:t>
            </a:r>
            <a:r>
              <a:rPr lang="en-US" dirty="0"/>
              <a:t>, tip </a:t>
            </a:r>
            <a:r>
              <a:rPr lang="en-US" dirty="0" err="1"/>
              <a:t>operacije</a:t>
            </a:r>
            <a:r>
              <a:rPr lang="en-US" dirty="0"/>
              <a:t>, </a:t>
            </a:r>
            <a:r>
              <a:rPr lang="en-US" dirty="0" err="1"/>
              <a:t>vrednost</a:t>
            </a:r>
            <a:r>
              <a:rPr lang="en-US" dirty="0"/>
              <a:t> </a:t>
            </a:r>
            <a:r>
              <a:rPr lang="en-US" dirty="0" err="1"/>
              <a:t>primarnog</a:t>
            </a:r>
            <a:r>
              <a:rPr lang="en-US" dirty="0"/>
              <a:t> </a:t>
            </a:r>
            <a:r>
              <a:rPr lang="en-US" dirty="0" err="1"/>
              <a:t>ključa</a:t>
            </a:r>
            <a:r>
              <a:rPr lang="en-US" dirty="0"/>
              <a:t>, timestamp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kompletan</a:t>
            </a:r>
            <a:r>
              <a:rPr lang="en-US" dirty="0"/>
              <a:t> JSON/XML </a:t>
            </a:r>
            <a:r>
              <a:rPr lang="en-US" dirty="0" err="1"/>
              <a:t>sadržaj</a:t>
            </a:r>
            <a:r>
              <a:rPr lang="en-US" dirty="0"/>
              <a:t> </a:t>
            </a:r>
            <a:r>
              <a:rPr lang="en-US" dirty="0" err="1"/>
              <a:t>promene</a:t>
            </a:r>
            <a:r>
              <a:rPr lang="en-US" dirty="0"/>
              <a:t> </a:t>
            </a:r>
            <a:r>
              <a:rPr lang="en-US" dirty="0" err="1"/>
              <a:t>kao</a:t>
            </a:r>
            <a:r>
              <a:rPr lang="en-US" dirty="0"/>
              <a:t> payload.</a:t>
            </a:r>
          </a:p>
          <a:p>
            <a:r>
              <a:rPr lang="en-US" b="1" dirty="0"/>
              <a:t>Triger TRG_EMP_REPL</a:t>
            </a:r>
            <a:r>
              <a:rPr lang="en-US" dirty="0"/>
              <a:t> se </a:t>
            </a:r>
            <a:r>
              <a:rPr lang="en-US" dirty="0" err="1"/>
              <a:t>aktivira</a:t>
            </a:r>
            <a:r>
              <a:rPr lang="en-US" dirty="0"/>
              <a:t> </a:t>
            </a:r>
            <a:r>
              <a:rPr lang="en-US" dirty="0" err="1"/>
              <a:t>nakon</a:t>
            </a:r>
            <a:r>
              <a:rPr lang="en-US" dirty="0"/>
              <a:t> </a:t>
            </a:r>
            <a:r>
              <a:rPr lang="en-US" dirty="0" err="1"/>
              <a:t>svake</a:t>
            </a:r>
            <a:r>
              <a:rPr lang="en-US" dirty="0"/>
              <a:t> </a:t>
            </a:r>
            <a:r>
              <a:rPr lang="en-US" dirty="0" err="1"/>
              <a:t>promene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tabeli</a:t>
            </a:r>
            <a:r>
              <a:rPr lang="en-US" dirty="0"/>
              <a:t> EMPLOYEE, </a:t>
            </a:r>
            <a:r>
              <a:rPr lang="en-US" dirty="0" err="1"/>
              <a:t>ali</a:t>
            </a:r>
            <a:r>
              <a:rPr lang="en-US" dirty="0"/>
              <a:t> pre </a:t>
            </a:r>
            <a:r>
              <a:rPr lang="en-US" dirty="0" err="1"/>
              <a:t>upisa</a:t>
            </a:r>
            <a:r>
              <a:rPr lang="en-US" dirty="0"/>
              <a:t> u log </a:t>
            </a:r>
            <a:r>
              <a:rPr lang="en-US" dirty="0" err="1"/>
              <a:t>proverava</a:t>
            </a:r>
            <a:r>
              <a:rPr lang="en-US" dirty="0"/>
              <a:t> RDB$GET_CONTEXT — </a:t>
            </a:r>
            <a:r>
              <a:rPr lang="en-US" dirty="0" err="1"/>
              <a:t>ako</a:t>
            </a:r>
            <a:r>
              <a:rPr lang="en-US" dirty="0"/>
              <a:t> je </a:t>
            </a:r>
            <a:r>
              <a:rPr lang="en-US" dirty="0" err="1"/>
              <a:t>vrednost</a:t>
            </a:r>
            <a:r>
              <a:rPr lang="en-US" dirty="0"/>
              <a:t> NULL, </a:t>
            </a:r>
            <a:r>
              <a:rPr lang="en-US" dirty="0" err="1"/>
              <a:t>promena</a:t>
            </a:r>
            <a:r>
              <a:rPr lang="en-US" dirty="0"/>
              <a:t> </a:t>
            </a:r>
            <a:r>
              <a:rPr lang="en-US" dirty="0" err="1"/>
              <a:t>dolazi</a:t>
            </a:r>
            <a:r>
              <a:rPr lang="en-US" dirty="0"/>
              <a:t> od </a:t>
            </a:r>
            <a:r>
              <a:rPr lang="en-US" dirty="0" err="1"/>
              <a:t>korisnika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beleži</a:t>
            </a:r>
            <a:r>
              <a:rPr lang="en-US" dirty="0"/>
              <a:t> se, a </a:t>
            </a:r>
            <a:r>
              <a:rPr lang="en-US" dirty="0" err="1"/>
              <a:t>ako</a:t>
            </a:r>
            <a:r>
              <a:rPr lang="en-US" dirty="0"/>
              <a:t> </a:t>
            </a:r>
            <a:r>
              <a:rPr lang="en-US" dirty="0" err="1"/>
              <a:t>nije</a:t>
            </a:r>
            <a:r>
              <a:rPr lang="en-US" dirty="0"/>
              <a:t> NULL, </a:t>
            </a:r>
            <a:r>
              <a:rPr lang="en-US" dirty="0" err="1"/>
              <a:t>promena</a:t>
            </a:r>
            <a:r>
              <a:rPr lang="en-US" dirty="0"/>
              <a:t> </a:t>
            </a:r>
            <a:r>
              <a:rPr lang="en-US" dirty="0" err="1"/>
              <a:t>dolazi</a:t>
            </a:r>
            <a:r>
              <a:rPr lang="en-US" dirty="0"/>
              <a:t> od </a:t>
            </a:r>
            <a:r>
              <a:rPr lang="en-US" dirty="0" err="1"/>
              <a:t>replikacionog</a:t>
            </a:r>
            <a:r>
              <a:rPr lang="en-US" dirty="0"/>
              <a:t> </a:t>
            </a:r>
            <a:r>
              <a:rPr lang="en-US" dirty="0" err="1"/>
              <a:t>agenta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preskače</a:t>
            </a:r>
            <a:r>
              <a:rPr lang="en-US" dirty="0"/>
              <a:t> se, </a:t>
            </a:r>
            <a:r>
              <a:rPr lang="en-US" dirty="0" err="1"/>
              <a:t>čime</a:t>
            </a:r>
            <a:r>
              <a:rPr lang="en-US" dirty="0"/>
              <a:t> se </a:t>
            </a:r>
            <a:r>
              <a:rPr lang="en-US" dirty="0" err="1"/>
              <a:t>sprečava</a:t>
            </a:r>
            <a:r>
              <a:rPr lang="en-US" dirty="0"/>
              <a:t> </a:t>
            </a:r>
            <a:r>
              <a:rPr lang="en-US" dirty="0" err="1"/>
              <a:t>beskonačna</a:t>
            </a:r>
            <a:r>
              <a:rPr lang="en-US" dirty="0"/>
              <a:t> </a:t>
            </a:r>
            <a:r>
              <a:rPr lang="en-US" dirty="0" err="1"/>
              <a:t>petlja</a:t>
            </a:r>
            <a:r>
              <a:rPr lang="en-US" dirty="0"/>
              <a:t>.</a:t>
            </a:r>
          </a:p>
          <a:p>
            <a:r>
              <a:rPr lang="en-US" dirty="0"/>
              <a:t>Za </a:t>
            </a:r>
            <a:r>
              <a:rPr lang="en-US" dirty="0" err="1"/>
              <a:t>rešavanje</a:t>
            </a:r>
            <a:r>
              <a:rPr lang="en-US" dirty="0"/>
              <a:t> </a:t>
            </a:r>
            <a:r>
              <a:rPr lang="en-US" dirty="0" err="1"/>
              <a:t>konflikata</a:t>
            </a:r>
            <a:r>
              <a:rPr lang="en-US" dirty="0"/>
              <a:t> </a:t>
            </a:r>
            <a:r>
              <a:rPr lang="en-US" dirty="0" err="1"/>
              <a:t>postoje</a:t>
            </a:r>
            <a:r>
              <a:rPr lang="en-US" dirty="0"/>
              <a:t> tri </a:t>
            </a:r>
            <a:r>
              <a:rPr lang="en-US" dirty="0" err="1"/>
              <a:t>strategije</a:t>
            </a:r>
            <a:r>
              <a:rPr lang="en-US" dirty="0"/>
              <a:t> — </a:t>
            </a:r>
            <a:r>
              <a:rPr lang="en-US" b="1" dirty="0"/>
              <a:t>Last Write Wins</a:t>
            </a:r>
            <a:r>
              <a:rPr lang="en-US" dirty="0"/>
              <a:t> </a:t>
            </a:r>
            <a:r>
              <a:rPr lang="en-US" dirty="0" err="1"/>
              <a:t>gde</a:t>
            </a:r>
            <a:r>
              <a:rPr lang="en-US" dirty="0"/>
              <a:t> timestamp </a:t>
            </a:r>
            <a:r>
              <a:rPr lang="en-US" dirty="0" err="1"/>
              <a:t>odlučuje</a:t>
            </a:r>
            <a:r>
              <a:rPr lang="en-US" dirty="0"/>
              <a:t> koji </a:t>
            </a:r>
            <a:r>
              <a:rPr lang="en-US" dirty="0" err="1"/>
              <a:t>zapis</a:t>
            </a:r>
            <a:r>
              <a:rPr lang="en-US" dirty="0"/>
              <a:t> </a:t>
            </a:r>
            <a:r>
              <a:rPr lang="en-US" dirty="0" err="1"/>
              <a:t>pobeđuje</a:t>
            </a:r>
            <a:r>
              <a:rPr lang="en-US" dirty="0"/>
              <a:t>, </a:t>
            </a:r>
            <a:r>
              <a:rPr lang="en-US" b="1" dirty="0"/>
              <a:t>Static Priority</a:t>
            </a:r>
            <a:r>
              <a:rPr lang="en-US" dirty="0"/>
              <a:t> </a:t>
            </a:r>
            <a:r>
              <a:rPr lang="en-US" dirty="0" err="1"/>
              <a:t>gde</a:t>
            </a:r>
            <a:r>
              <a:rPr lang="en-US" dirty="0"/>
              <a:t> master </a:t>
            </a:r>
            <a:r>
              <a:rPr lang="en-US" dirty="0" err="1"/>
              <a:t>uvek</a:t>
            </a:r>
            <a:r>
              <a:rPr lang="en-US" dirty="0"/>
              <a:t> </a:t>
            </a:r>
            <a:r>
              <a:rPr lang="en-US" dirty="0" err="1"/>
              <a:t>pobeđuje</a:t>
            </a:r>
            <a:r>
              <a:rPr lang="en-US" dirty="0"/>
              <a:t> </a:t>
            </a:r>
            <a:r>
              <a:rPr lang="en-US" dirty="0" err="1"/>
              <a:t>nad</a:t>
            </a:r>
            <a:r>
              <a:rPr lang="en-US" dirty="0"/>
              <a:t> slave </a:t>
            </a:r>
            <a:r>
              <a:rPr lang="en-US" dirty="0" err="1"/>
              <a:t>čvorom</a:t>
            </a:r>
            <a:r>
              <a:rPr lang="en-US" dirty="0"/>
              <a:t>,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b="1" dirty="0" err="1"/>
              <a:t>Aplikativna</a:t>
            </a:r>
            <a:r>
              <a:rPr lang="en-US" b="1" dirty="0"/>
              <a:t> </a:t>
            </a:r>
            <a:r>
              <a:rPr lang="en-US" b="1" dirty="0" err="1"/>
              <a:t>logika</a:t>
            </a:r>
            <a:r>
              <a:rPr lang="en-US" dirty="0"/>
              <a:t> </a:t>
            </a:r>
            <a:r>
              <a:rPr lang="en-US" dirty="0" err="1"/>
              <a:t>kao</a:t>
            </a:r>
            <a:r>
              <a:rPr lang="en-US" dirty="0"/>
              <a:t> </a:t>
            </a:r>
            <a:r>
              <a:rPr lang="en-US" dirty="0" err="1"/>
              <a:t>najsigurniji</a:t>
            </a:r>
            <a:r>
              <a:rPr lang="en-US" dirty="0"/>
              <a:t> </a:t>
            </a:r>
            <a:r>
              <a:rPr lang="en-US" dirty="0" err="1"/>
              <a:t>ali</a:t>
            </a:r>
            <a:r>
              <a:rPr lang="en-US" dirty="0"/>
              <a:t> </a:t>
            </a:r>
            <a:r>
              <a:rPr lang="en-US" dirty="0" err="1"/>
              <a:t>najsloženiji</a:t>
            </a:r>
            <a:r>
              <a:rPr lang="en-US" dirty="0"/>
              <a:t> </a:t>
            </a:r>
            <a:r>
              <a:rPr lang="en-US" dirty="0" err="1"/>
              <a:t>pristup</a:t>
            </a:r>
            <a:r>
              <a:rPr lang="en-US" dirty="0"/>
              <a:t> za </a:t>
            </a:r>
            <a:r>
              <a:rPr lang="en-US" dirty="0" err="1"/>
              <a:t>kritične</a:t>
            </a:r>
            <a:r>
              <a:rPr lang="en-US" dirty="0"/>
              <a:t> </a:t>
            </a:r>
            <a:r>
              <a:rPr lang="en-US" dirty="0" err="1"/>
              <a:t>poslovne</a:t>
            </a:r>
            <a:r>
              <a:rPr lang="en-US" dirty="0"/>
              <a:t> </a:t>
            </a:r>
            <a:r>
              <a:rPr lang="en-US" dirty="0" err="1"/>
              <a:t>podatke</a:t>
            </a:r>
            <a:r>
              <a:rPr lang="en-US" dirty="0"/>
              <a:t>. 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Multi-Master </a:t>
            </a:r>
            <a:r>
              <a:rPr lang="en-US" dirty="0" err="1"/>
              <a:t>topologije</a:t>
            </a:r>
            <a:r>
              <a:rPr lang="en-US" dirty="0"/>
              <a:t> </a:t>
            </a:r>
            <a:r>
              <a:rPr lang="en-US" dirty="0" err="1"/>
              <a:t>omogućavaju</a:t>
            </a:r>
            <a:r>
              <a:rPr lang="en-US" dirty="0"/>
              <a:t> da </a:t>
            </a:r>
            <a:r>
              <a:rPr lang="en-US" dirty="0" err="1"/>
              <a:t>više</a:t>
            </a:r>
            <a:r>
              <a:rPr lang="en-US" dirty="0"/>
              <a:t> </a:t>
            </a:r>
            <a:r>
              <a:rPr lang="en-US" dirty="0" err="1"/>
              <a:t>čvorova</a:t>
            </a:r>
            <a:r>
              <a:rPr lang="en-US" dirty="0"/>
              <a:t> </a:t>
            </a:r>
            <a:r>
              <a:rPr lang="en-US" dirty="0" err="1"/>
              <a:t>istovremeno</a:t>
            </a:r>
            <a:r>
              <a:rPr lang="en-US" dirty="0"/>
              <a:t> prima </a:t>
            </a:r>
            <a:r>
              <a:rPr lang="en-US" dirty="0" err="1"/>
              <a:t>upise</a:t>
            </a:r>
            <a:r>
              <a:rPr lang="en-US" dirty="0"/>
              <a:t>, </a:t>
            </a:r>
            <a:r>
              <a:rPr lang="en-US" dirty="0" err="1"/>
              <a:t>ali</a:t>
            </a:r>
            <a:r>
              <a:rPr lang="en-US" dirty="0"/>
              <a:t> </a:t>
            </a:r>
            <a:r>
              <a:rPr lang="en-US" dirty="0" err="1"/>
              <a:t>svaka</a:t>
            </a:r>
            <a:r>
              <a:rPr lang="en-US" dirty="0"/>
              <a:t> </a:t>
            </a:r>
            <a:r>
              <a:rPr lang="en-US" dirty="0" err="1"/>
              <a:t>topologija</a:t>
            </a:r>
            <a:r>
              <a:rPr lang="en-US" dirty="0"/>
              <a:t> </a:t>
            </a:r>
            <a:r>
              <a:rPr lang="en-US" dirty="0" err="1"/>
              <a:t>nosi</a:t>
            </a:r>
            <a:r>
              <a:rPr lang="en-US" dirty="0"/>
              <a:t> </a:t>
            </a:r>
            <a:r>
              <a:rPr lang="en-US" dirty="0" err="1"/>
              <a:t>drugačiji</a:t>
            </a:r>
            <a:r>
              <a:rPr lang="en-US" dirty="0"/>
              <a:t> </a:t>
            </a:r>
            <a:r>
              <a:rPr lang="en-US" dirty="0" err="1"/>
              <a:t>kompromis</a:t>
            </a:r>
            <a:r>
              <a:rPr lang="en-US" dirty="0"/>
              <a:t> </a:t>
            </a:r>
            <a:r>
              <a:rPr lang="en-US" dirty="0" err="1"/>
              <a:t>između</a:t>
            </a:r>
            <a:r>
              <a:rPr lang="en-US" dirty="0"/>
              <a:t> </a:t>
            </a:r>
            <a:r>
              <a:rPr lang="en-US" dirty="0" err="1"/>
              <a:t>jednostavnosti</a:t>
            </a:r>
            <a:r>
              <a:rPr lang="en-US" dirty="0"/>
              <a:t>, </a:t>
            </a:r>
            <a:r>
              <a:rPr lang="en-US" dirty="0" err="1"/>
              <a:t>redundanse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brzine</a:t>
            </a:r>
            <a:r>
              <a:rPr lang="en-US" dirty="0"/>
              <a:t> </a:t>
            </a:r>
            <a:r>
              <a:rPr lang="en-US" dirty="0" err="1"/>
              <a:t>oporavka</a:t>
            </a:r>
            <a:r>
              <a:rPr lang="en-US" dirty="0"/>
              <a:t>.</a:t>
            </a:r>
          </a:p>
          <a:p>
            <a:r>
              <a:rPr lang="en-US" b="1" dirty="0"/>
              <a:t>Star (Zvezda)</a:t>
            </a:r>
            <a:r>
              <a:rPr lang="en-US" dirty="0"/>
              <a:t> </a:t>
            </a:r>
            <a:r>
              <a:rPr lang="en-US" dirty="0" err="1"/>
              <a:t>topologija</a:t>
            </a:r>
            <a:r>
              <a:rPr lang="en-US" dirty="0"/>
              <a:t> </a:t>
            </a:r>
            <a:r>
              <a:rPr lang="en-US" dirty="0" err="1"/>
              <a:t>povezuje</a:t>
            </a:r>
            <a:r>
              <a:rPr lang="en-US" dirty="0"/>
              <a:t> </a:t>
            </a:r>
            <a:r>
              <a:rPr lang="en-US" dirty="0" err="1"/>
              <a:t>sve</a:t>
            </a:r>
            <a:r>
              <a:rPr lang="en-US" dirty="0"/>
              <a:t> </a:t>
            </a:r>
            <a:r>
              <a:rPr lang="en-US" dirty="0" err="1"/>
              <a:t>periferne</a:t>
            </a:r>
            <a:r>
              <a:rPr lang="en-US" dirty="0"/>
              <a:t> </a:t>
            </a:r>
            <a:r>
              <a:rPr lang="en-US" dirty="0" err="1"/>
              <a:t>čvorove</a:t>
            </a:r>
            <a:r>
              <a:rPr lang="en-US" dirty="0"/>
              <a:t> </a:t>
            </a:r>
            <a:r>
              <a:rPr lang="en-US" dirty="0" err="1"/>
              <a:t>isključivo</a:t>
            </a:r>
            <a:r>
              <a:rPr lang="en-US" dirty="0"/>
              <a:t> </a:t>
            </a:r>
            <a:r>
              <a:rPr lang="en-US" dirty="0" err="1"/>
              <a:t>sa</a:t>
            </a:r>
            <a:r>
              <a:rPr lang="en-US" dirty="0"/>
              <a:t> </a:t>
            </a:r>
            <a:r>
              <a:rPr lang="en-US" dirty="0" err="1"/>
              <a:t>centralnim</a:t>
            </a:r>
            <a:r>
              <a:rPr lang="en-US" dirty="0"/>
              <a:t> </a:t>
            </a:r>
            <a:r>
              <a:rPr lang="en-US" dirty="0" err="1"/>
              <a:t>serverom</a:t>
            </a:r>
            <a:r>
              <a:rPr lang="en-US" dirty="0"/>
              <a:t> — </a:t>
            </a:r>
            <a:r>
              <a:rPr lang="en-US" dirty="0" err="1"/>
              <a:t>jednostavna</a:t>
            </a:r>
            <a:r>
              <a:rPr lang="en-US" dirty="0"/>
              <a:t> je za </a:t>
            </a:r>
            <a:r>
              <a:rPr lang="en-US" dirty="0" err="1"/>
              <a:t>administraciju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centralizovanu</a:t>
            </a:r>
            <a:r>
              <a:rPr lang="en-US" dirty="0"/>
              <a:t> </a:t>
            </a:r>
            <a:r>
              <a:rPr lang="en-US" dirty="0" err="1"/>
              <a:t>kontrolu</a:t>
            </a:r>
            <a:r>
              <a:rPr lang="en-US" dirty="0"/>
              <a:t>, </a:t>
            </a:r>
            <a:r>
              <a:rPr lang="en-US" dirty="0" err="1"/>
              <a:t>ali</a:t>
            </a:r>
            <a:r>
              <a:rPr lang="en-US" dirty="0"/>
              <a:t> </a:t>
            </a:r>
            <a:r>
              <a:rPr lang="en-US" dirty="0" err="1"/>
              <a:t>centralni</a:t>
            </a:r>
            <a:r>
              <a:rPr lang="en-US" dirty="0"/>
              <a:t> server </a:t>
            </a:r>
            <a:r>
              <a:rPr lang="en-US" dirty="0" err="1"/>
              <a:t>predstavlja</a:t>
            </a:r>
            <a:r>
              <a:rPr lang="en-US" dirty="0"/>
              <a:t> </a:t>
            </a:r>
            <a:r>
              <a:rPr lang="en-US" dirty="0" err="1"/>
              <a:t>jedinu</a:t>
            </a:r>
            <a:r>
              <a:rPr lang="en-US" dirty="0"/>
              <a:t> </a:t>
            </a:r>
            <a:r>
              <a:rPr lang="en-US" dirty="0" err="1"/>
              <a:t>tačku</a:t>
            </a:r>
            <a:r>
              <a:rPr lang="en-US" dirty="0"/>
              <a:t> </a:t>
            </a:r>
            <a:r>
              <a:rPr lang="en-US" dirty="0" err="1"/>
              <a:t>kvara</a:t>
            </a:r>
            <a:r>
              <a:rPr lang="en-US" dirty="0"/>
              <a:t> (SPOF), </a:t>
            </a:r>
            <a:r>
              <a:rPr lang="en-US" dirty="0" err="1"/>
              <a:t>što</a:t>
            </a:r>
            <a:r>
              <a:rPr lang="en-US" dirty="0"/>
              <a:t> je </a:t>
            </a:r>
            <a:r>
              <a:rPr lang="en-US" dirty="0" err="1"/>
              <a:t>čini</a:t>
            </a:r>
            <a:r>
              <a:rPr lang="en-US" dirty="0"/>
              <a:t> </a:t>
            </a:r>
            <a:r>
              <a:rPr lang="en-US" dirty="0" err="1"/>
              <a:t>idealnom</a:t>
            </a:r>
            <a:r>
              <a:rPr lang="en-US" dirty="0"/>
              <a:t> za ERP </a:t>
            </a:r>
            <a:r>
              <a:rPr lang="en-US" dirty="0" err="1"/>
              <a:t>sisteme</a:t>
            </a:r>
            <a:r>
              <a:rPr lang="en-US" dirty="0"/>
              <a:t> </a:t>
            </a:r>
            <a:r>
              <a:rPr lang="en-US" dirty="0" err="1"/>
              <a:t>sa</a:t>
            </a:r>
            <a:r>
              <a:rPr lang="en-US" dirty="0"/>
              <a:t> </a:t>
            </a:r>
            <a:r>
              <a:rPr lang="en-US" dirty="0" err="1"/>
              <a:t>centralnom</a:t>
            </a:r>
            <a:r>
              <a:rPr lang="en-US" dirty="0"/>
              <a:t> </a:t>
            </a:r>
            <a:r>
              <a:rPr lang="en-US" dirty="0" err="1"/>
              <a:t>bazom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filijalama</a:t>
            </a:r>
            <a:r>
              <a:rPr lang="en-US" dirty="0"/>
              <a:t>.</a:t>
            </a:r>
          </a:p>
          <a:p>
            <a:r>
              <a:rPr lang="en-US" b="1" dirty="0"/>
              <a:t>Mesh (</a:t>
            </a:r>
            <a:r>
              <a:rPr lang="en-US" b="1" dirty="0" err="1"/>
              <a:t>Mreža</a:t>
            </a:r>
            <a:r>
              <a:rPr lang="en-US" b="1" dirty="0"/>
              <a:t>)</a:t>
            </a:r>
            <a:r>
              <a:rPr lang="en-US" dirty="0"/>
              <a:t> </a:t>
            </a:r>
            <a:r>
              <a:rPr lang="en-US" dirty="0" err="1"/>
              <a:t>topologija</a:t>
            </a:r>
            <a:r>
              <a:rPr lang="en-US" dirty="0"/>
              <a:t> </a:t>
            </a:r>
            <a:r>
              <a:rPr lang="en-US" dirty="0" err="1"/>
              <a:t>direktno</a:t>
            </a:r>
            <a:r>
              <a:rPr lang="en-US" dirty="0"/>
              <a:t> </a:t>
            </a:r>
            <a:r>
              <a:rPr lang="en-US" dirty="0" err="1"/>
              <a:t>povezuje</a:t>
            </a:r>
            <a:r>
              <a:rPr lang="en-US" dirty="0"/>
              <a:t> </a:t>
            </a:r>
            <a:r>
              <a:rPr lang="en-US" dirty="0" err="1"/>
              <a:t>svaki</a:t>
            </a:r>
            <a:r>
              <a:rPr lang="en-US" dirty="0"/>
              <a:t> </a:t>
            </a:r>
            <a:r>
              <a:rPr lang="en-US" dirty="0" err="1"/>
              <a:t>čvor</a:t>
            </a:r>
            <a:r>
              <a:rPr lang="en-US" dirty="0"/>
              <a:t> </a:t>
            </a:r>
            <a:r>
              <a:rPr lang="en-US" dirty="0" err="1"/>
              <a:t>sa</a:t>
            </a:r>
            <a:r>
              <a:rPr lang="en-US" dirty="0"/>
              <a:t> </a:t>
            </a:r>
            <a:r>
              <a:rPr lang="en-US" dirty="0" err="1"/>
              <a:t>svim</a:t>
            </a:r>
            <a:r>
              <a:rPr lang="en-US" dirty="0"/>
              <a:t> </a:t>
            </a:r>
            <a:r>
              <a:rPr lang="en-US" dirty="0" err="1"/>
              <a:t>ostalima</a:t>
            </a:r>
            <a:r>
              <a:rPr lang="en-US" dirty="0"/>
              <a:t> — </a:t>
            </a:r>
            <a:r>
              <a:rPr lang="en-US" dirty="0" err="1"/>
              <a:t>nema</a:t>
            </a:r>
            <a:r>
              <a:rPr lang="en-US" dirty="0"/>
              <a:t> SPOF-a, </a:t>
            </a:r>
            <a:r>
              <a:rPr lang="en-US" dirty="0" err="1"/>
              <a:t>pruža</a:t>
            </a:r>
            <a:r>
              <a:rPr lang="en-US" dirty="0"/>
              <a:t> </a:t>
            </a:r>
            <a:r>
              <a:rPr lang="en-US" dirty="0" err="1"/>
              <a:t>maksimalnu</a:t>
            </a:r>
            <a:r>
              <a:rPr lang="en-US" dirty="0"/>
              <a:t> </a:t>
            </a:r>
            <a:r>
              <a:rPr lang="en-US" dirty="0" err="1"/>
              <a:t>redundansu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propusnost</a:t>
            </a:r>
            <a:r>
              <a:rPr lang="en-US" dirty="0"/>
              <a:t>, </a:t>
            </a:r>
            <a:r>
              <a:rPr lang="en-US" dirty="0" err="1"/>
              <a:t>ali</a:t>
            </a:r>
            <a:r>
              <a:rPr lang="en-US" dirty="0"/>
              <a:t> </a:t>
            </a:r>
            <a:r>
              <a:rPr lang="en-US" dirty="0" err="1"/>
              <a:t>eksponencijalni</a:t>
            </a:r>
            <a:r>
              <a:rPr lang="en-US" dirty="0"/>
              <a:t> </a:t>
            </a:r>
            <a:r>
              <a:rPr lang="en-US" dirty="0" err="1"/>
              <a:t>rast</a:t>
            </a:r>
            <a:r>
              <a:rPr lang="en-US" dirty="0"/>
              <a:t> </a:t>
            </a:r>
            <a:r>
              <a:rPr lang="en-US" dirty="0" err="1"/>
              <a:t>veza</a:t>
            </a:r>
            <a:r>
              <a:rPr lang="en-US" dirty="0"/>
              <a:t> </a:t>
            </a:r>
            <a:r>
              <a:rPr lang="en-US" dirty="0" err="1"/>
              <a:t>čini</a:t>
            </a:r>
            <a:r>
              <a:rPr lang="en-US" dirty="0"/>
              <a:t> </a:t>
            </a:r>
            <a:r>
              <a:rPr lang="en-US" dirty="0" err="1"/>
              <a:t>konfiguraciju</a:t>
            </a:r>
            <a:r>
              <a:rPr lang="en-US" dirty="0"/>
              <a:t> </a:t>
            </a:r>
            <a:r>
              <a:rPr lang="en-US" dirty="0" err="1"/>
              <a:t>kompleksnom</a:t>
            </a:r>
            <a:r>
              <a:rPr lang="en-US" dirty="0"/>
              <a:t>, </a:t>
            </a:r>
            <a:r>
              <a:rPr lang="en-US" dirty="0" err="1"/>
              <a:t>što</a:t>
            </a:r>
            <a:r>
              <a:rPr lang="en-US" dirty="0"/>
              <a:t> je </a:t>
            </a:r>
            <a:r>
              <a:rPr lang="en-US" dirty="0" err="1"/>
              <a:t>idealno</a:t>
            </a:r>
            <a:r>
              <a:rPr lang="en-US" dirty="0"/>
              <a:t> za mission-critical </a:t>
            </a:r>
            <a:r>
              <a:rPr lang="en-US" dirty="0" err="1"/>
              <a:t>sisteme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finansijske</a:t>
            </a:r>
            <a:r>
              <a:rPr lang="en-US" dirty="0"/>
              <a:t> </a:t>
            </a:r>
            <a:r>
              <a:rPr lang="en-US" dirty="0" err="1"/>
              <a:t>berze</a:t>
            </a:r>
            <a:r>
              <a:rPr lang="en-US" dirty="0"/>
              <a:t>.</a:t>
            </a:r>
          </a:p>
          <a:p>
            <a:r>
              <a:rPr lang="en-US" b="1" dirty="0"/>
              <a:t>Ring (</a:t>
            </a:r>
            <a:r>
              <a:rPr lang="en-US" b="1" dirty="0" err="1"/>
              <a:t>Prsten</a:t>
            </a:r>
            <a:r>
              <a:rPr lang="en-US" b="1" dirty="0"/>
              <a:t>)</a:t>
            </a:r>
            <a:r>
              <a:rPr lang="en-US" dirty="0"/>
              <a:t> </a:t>
            </a:r>
            <a:r>
              <a:rPr lang="en-US" dirty="0" err="1"/>
              <a:t>topologija</a:t>
            </a:r>
            <a:r>
              <a:rPr lang="en-US" dirty="0"/>
              <a:t> </a:t>
            </a:r>
            <a:r>
              <a:rPr lang="en-US" dirty="0" err="1"/>
              <a:t>šalje</a:t>
            </a:r>
            <a:r>
              <a:rPr lang="en-US" dirty="0"/>
              <a:t> </a:t>
            </a:r>
            <a:r>
              <a:rPr lang="en-US" dirty="0" err="1"/>
              <a:t>podatke</a:t>
            </a:r>
            <a:r>
              <a:rPr lang="en-US" dirty="0"/>
              <a:t> </a:t>
            </a:r>
            <a:r>
              <a:rPr lang="en-US" dirty="0" err="1"/>
              <a:t>sekvencijalno</a:t>
            </a:r>
            <a:r>
              <a:rPr lang="en-US" dirty="0"/>
              <a:t> od </a:t>
            </a:r>
            <a:r>
              <a:rPr lang="en-US" dirty="0" err="1"/>
              <a:t>čvora</a:t>
            </a:r>
            <a:r>
              <a:rPr lang="en-US" dirty="0"/>
              <a:t> do </a:t>
            </a:r>
            <a:r>
              <a:rPr lang="en-US" dirty="0" err="1"/>
              <a:t>čvora</a:t>
            </a:r>
            <a:r>
              <a:rPr lang="en-US" dirty="0"/>
              <a:t> </a:t>
            </a:r>
            <a:r>
              <a:rPr lang="en-US" dirty="0" err="1"/>
              <a:t>dok</a:t>
            </a:r>
            <a:r>
              <a:rPr lang="en-US" dirty="0"/>
              <a:t> se </a:t>
            </a:r>
            <a:r>
              <a:rPr lang="en-US" dirty="0" err="1"/>
              <a:t>krug</a:t>
            </a:r>
            <a:r>
              <a:rPr lang="en-US" dirty="0"/>
              <a:t> ne </a:t>
            </a:r>
            <a:r>
              <a:rPr lang="en-US" dirty="0" err="1"/>
              <a:t>zatvori</a:t>
            </a:r>
            <a:r>
              <a:rPr lang="en-US" dirty="0"/>
              <a:t> — </a:t>
            </a:r>
            <a:r>
              <a:rPr lang="en-US" dirty="0" err="1"/>
              <a:t>ravnomerna</a:t>
            </a:r>
            <a:r>
              <a:rPr lang="en-US" dirty="0"/>
              <a:t> </a:t>
            </a:r>
            <a:r>
              <a:rPr lang="en-US" dirty="0" err="1"/>
              <a:t>raspodela</a:t>
            </a:r>
            <a:r>
              <a:rPr lang="en-US" dirty="0"/>
              <a:t> </a:t>
            </a:r>
            <a:r>
              <a:rPr lang="en-US" dirty="0" err="1"/>
              <a:t>opterećenja</a:t>
            </a:r>
            <a:r>
              <a:rPr lang="en-US" dirty="0"/>
              <a:t> je </a:t>
            </a:r>
            <a:r>
              <a:rPr lang="en-US" dirty="0" err="1"/>
              <a:t>njena</a:t>
            </a:r>
            <a:r>
              <a:rPr lang="en-US" dirty="0"/>
              <a:t> </a:t>
            </a:r>
            <a:r>
              <a:rPr lang="en-US" dirty="0" err="1"/>
              <a:t>prednost</a:t>
            </a:r>
            <a:r>
              <a:rPr lang="en-US" dirty="0"/>
              <a:t>, </a:t>
            </a:r>
            <a:r>
              <a:rPr lang="en-US" dirty="0" err="1"/>
              <a:t>ali</a:t>
            </a:r>
            <a:r>
              <a:rPr lang="en-US" dirty="0"/>
              <a:t> </a:t>
            </a:r>
            <a:r>
              <a:rPr lang="en-US" dirty="0" err="1"/>
              <a:t>jedan</a:t>
            </a:r>
            <a:r>
              <a:rPr lang="en-US" dirty="0"/>
              <a:t> </a:t>
            </a:r>
            <a:r>
              <a:rPr lang="en-US" dirty="0" err="1"/>
              <a:t>kvar</a:t>
            </a:r>
            <a:r>
              <a:rPr lang="en-US" dirty="0"/>
              <a:t> </a:t>
            </a:r>
            <a:r>
              <a:rPr lang="en-US" dirty="0" err="1"/>
              <a:t>prekida</a:t>
            </a:r>
            <a:r>
              <a:rPr lang="en-US" dirty="0"/>
              <a:t> </a:t>
            </a:r>
            <a:r>
              <a:rPr lang="en-US" dirty="0" err="1"/>
              <a:t>ceo</a:t>
            </a:r>
            <a:r>
              <a:rPr lang="en-US" dirty="0"/>
              <a:t> </a:t>
            </a:r>
            <a:r>
              <a:rPr lang="en-US" dirty="0" err="1"/>
              <a:t>prsten</a:t>
            </a:r>
            <a:r>
              <a:rPr lang="en-US" dirty="0"/>
              <a:t>, pa je </a:t>
            </a:r>
            <a:r>
              <a:rPr lang="en-US" dirty="0" err="1"/>
              <a:t>idealna</a:t>
            </a:r>
            <a:r>
              <a:rPr lang="en-US" dirty="0"/>
              <a:t> za </a:t>
            </a:r>
            <a:r>
              <a:rPr lang="en-US" dirty="0" err="1"/>
              <a:t>sisteme</a:t>
            </a:r>
            <a:r>
              <a:rPr lang="en-US" dirty="0"/>
              <a:t> </a:t>
            </a:r>
            <a:r>
              <a:rPr lang="en-US" dirty="0" err="1"/>
              <a:t>sa</a:t>
            </a:r>
            <a:r>
              <a:rPr lang="en-US" dirty="0"/>
              <a:t> </a:t>
            </a:r>
            <a:r>
              <a:rPr lang="en-US" dirty="0" err="1"/>
              <a:t>jasnom</a:t>
            </a:r>
            <a:r>
              <a:rPr lang="en-US" dirty="0"/>
              <a:t> </a:t>
            </a:r>
            <a:r>
              <a:rPr lang="en-US" dirty="0" err="1"/>
              <a:t>geografskom</a:t>
            </a:r>
            <a:r>
              <a:rPr lang="en-US" dirty="0"/>
              <a:t> </a:t>
            </a:r>
            <a:r>
              <a:rPr lang="en-US" dirty="0" err="1"/>
              <a:t>distribucijom</a:t>
            </a:r>
            <a:r>
              <a:rPr lang="en-US" dirty="0"/>
              <a:t>.</a:t>
            </a:r>
          </a:p>
          <a:p>
            <a:r>
              <a:rPr lang="en-US" dirty="0" err="1"/>
              <a:t>Najveći</a:t>
            </a:r>
            <a:r>
              <a:rPr lang="en-US" dirty="0"/>
              <a:t> </a:t>
            </a:r>
            <a:r>
              <a:rPr lang="en-US" dirty="0" err="1"/>
              <a:t>izazov</a:t>
            </a:r>
            <a:r>
              <a:rPr lang="en-US" dirty="0"/>
              <a:t> Multi-Master </a:t>
            </a:r>
            <a:r>
              <a:rPr lang="en-US" dirty="0" err="1"/>
              <a:t>topologija</a:t>
            </a:r>
            <a:r>
              <a:rPr lang="en-US" dirty="0"/>
              <a:t> je </a:t>
            </a:r>
            <a:r>
              <a:rPr lang="en-US" b="1" dirty="0" err="1"/>
              <a:t>eho</a:t>
            </a:r>
            <a:r>
              <a:rPr lang="en-US" b="1" dirty="0"/>
              <a:t> </a:t>
            </a:r>
            <a:r>
              <a:rPr lang="en-US" b="1" dirty="0" err="1"/>
              <a:t>efekat</a:t>
            </a:r>
            <a:r>
              <a:rPr lang="en-US" dirty="0"/>
              <a:t> — </a:t>
            </a:r>
            <a:r>
              <a:rPr lang="en-US" dirty="0" err="1"/>
              <a:t>kada</a:t>
            </a:r>
            <a:r>
              <a:rPr lang="en-US" dirty="0"/>
              <a:t> </a:t>
            </a:r>
            <a:r>
              <a:rPr lang="en-US" dirty="0" err="1"/>
              <a:t>čvor</a:t>
            </a:r>
            <a:r>
              <a:rPr lang="en-US" dirty="0"/>
              <a:t> A </a:t>
            </a:r>
            <a:r>
              <a:rPr lang="en-US" dirty="0" err="1"/>
              <a:t>replicira</a:t>
            </a:r>
            <a:r>
              <a:rPr lang="en-US" dirty="0"/>
              <a:t> </a:t>
            </a:r>
            <a:r>
              <a:rPr lang="en-US" dirty="0" err="1"/>
              <a:t>promenu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B, a B je </a:t>
            </a:r>
            <a:r>
              <a:rPr lang="en-US" dirty="0" err="1"/>
              <a:t>replicira</a:t>
            </a:r>
            <a:r>
              <a:rPr lang="en-US" dirty="0"/>
              <a:t> </a:t>
            </a:r>
            <a:r>
              <a:rPr lang="en-US" dirty="0" err="1"/>
              <a:t>nazad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A </a:t>
            </a:r>
            <a:r>
              <a:rPr lang="en-US" dirty="0" err="1"/>
              <a:t>nastaje</a:t>
            </a:r>
            <a:r>
              <a:rPr lang="en-US" dirty="0"/>
              <a:t> </a:t>
            </a:r>
            <a:r>
              <a:rPr lang="en-US" dirty="0" err="1"/>
              <a:t>beskonačna</a:t>
            </a:r>
            <a:r>
              <a:rPr lang="en-US" dirty="0"/>
              <a:t> </a:t>
            </a:r>
            <a:r>
              <a:rPr lang="en-US" dirty="0" err="1"/>
              <a:t>petlja</a:t>
            </a:r>
            <a:r>
              <a:rPr lang="en-US" dirty="0"/>
              <a:t>, a Firebird 4.0 to </a:t>
            </a:r>
            <a:r>
              <a:rPr lang="en-US" dirty="0" err="1"/>
              <a:t>rešava</a:t>
            </a:r>
            <a:r>
              <a:rPr lang="en-US" dirty="0"/>
              <a:t> </a:t>
            </a:r>
            <a:r>
              <a:rPr lang="en-US" dirty="0" err="1"/>
              <a:t>automatskim</a:t>
            </a:r>
            <a:r>
              <a:rPr lang="en-US" dirty="0"/>
              <a:t> </a:t>
            </a:r>
            <a:r>
              <a:rPr lang="en-US" dirty="0" err="1"/>
              <a:t>postavljanjem</a:t>
            </a:r>
            <a:r>
              <a:rPr lang="en-US" dirty="0"/>
              <a:t> REPLICATING </a:t>
            </a:r>
            <a:r>
              <a:rPr lang="en-US" dirty="0" err="1"/>
              <a:t>konteksta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TRUE </a:t>
            </a:r>
            <a:r>
              <a:rPr lang="en-US" dirty="0" err="1"/>
              <a:t>pri</a:t>
            </a:r>
            <a:r>
              <a:rPr lang="en-US" dirty="0"/>
              <a:t> </a:t>
            </a:r>
            <a:r>
              <a:rPr lang="en-US" dirty="0" err="1"/>
              <a:t>primeni</a:t>
            </a:r>
            <a:r>
              <a:rPr lang="en-US" dirty="0"/>
              <a:t> </a:t>
            </a:r>
            <a:r>
              <a:rPr lang="en-US" dirty="0" err="1"/>
              <a:t>logova</a:t>
            </a:r>
            <a:r>
              <a:rPr lang="en-US" dirty="0"/>
              <a:t>, </a:t>
            </a:r>
            <a:r>
              <a:rPr lang="en-US" dirty="0" err="1"/>
              <a:t>čime</a:t>
            </a:r>
            <a:r>
              <a:rPr lang="en-US" dirty="0"/>
              <a:t> </a:t>
            </a:r>
            <a:r>
              <a:rPr lang="en-US" dirty="0" err="1"/>
              <a:t>triger</a:t>
            </a:r>
            <a:r>
              <a:rPr lang="en-US" dirty="0"/>
              <a:t> </a:t>
            </a:r>
            <a:r>
              <a:rPr lang="en-US" dirty="0" err="1"/>
              <a:t>prepoznaje</a:t>
            </a:r>
            <a:r>
              <a:rPr lang="en-US" dirty="0"/>
              <a:t> da se </a:t>
            </a:r>
            <a:r>
              <a:rPr lang="en-US" dirty="0" err="1"/>
              <a:t>radi</a:t>
            </a:r>
            <a:r>
              <a:rPr lang="en-US" dirty="0"/>
              <a:t> o </a:t>
            </a:r>
            <a:r>
              <a:rPr lang="en-US" dirty="0" err="1"/>
              <a:t>replikacionoj</a:t>
            </a:r>
            <a:r>
              <a:rPr lang="en-US" dirty="0"/>
              <a:t> </a:t>
            </a:r>
            <a:r>
              <a:rPr lang="en-US" dirty="0" err="1"/>
              <a:t>promeni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preskače</a:t>
            </a:r>
            <a:r>
              <a:rPr lang="en-US" dirty="0"/>
              <a:t> je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Konfiguracija</a:t>
            </a:r>
            <a:r>
              <a:rPr lang="en-US" dirty="0"/>
              <a:t> </a:t>
            </a:r>
            <a:r>
              <a:rPr lang="en-US" dirty="0" err="1"/>
              <a:t>nativne</a:t>
            </a:r>
            <a:r>
              <a:rPr lang="en-US" dirty="0"/>
              <a:t> </a:t>
            </a:r>
            <a:r>
              <a:rPr lang="en-US" dirty="0" err="1"/>
              <a:t>replikacije</a:t>
            </a:r>
            <a:r>
              <a:rPr lang="en-US" dirty="0"/>
              <a:t> u Firebird 4.0 </a:t>
            </a:r>
            <a:r>
              <a:rPr lang="en-US" dirty="0" err="1"/>
              <a:t>odvija</a:t>
            </a:r>
            <a:r>
              <a:rPr lang="en-US" dirty="0"/>
              <a:t> se </a:t>
            </a:r>
            <a:r>
              <a:rPr lang="en-US" dirty="0" err="1"/>
              <a:t>kroz</a:t>
            </a:r>
            <a:r>
              <a:rPr lang="en-US" dirty="0"/>
              <a:t> 8 </a:t>
            </a:r>
            <a:r>
              <a:rPr lang="en-US" dirty="0" err="1"/>
              <a:t>precizno</a:t>
            </a:r>
            <a:r>
              <a:rPr lang="en-US" dirty="0"/>
              <a:t> </a:t>
            </a:r>
            <a:r>
              <a:rPr lang="en-US" dirty="0" err="1"/>
              <a:t>definisanih</a:t>
            </a:r>
            <a:r>
              <a:rPr lang="en-US" dirty="0"/>
              <a:t> </a:t>
            </a:r>
            <a:r>
              <a:rPr lang="en-US" dirty="0" err="1"/>
              <a:t>koraka</a:t>
            </a:r>
            <a:r>
              <a:rPr lang="en-US" dirty="0"/>
              <a:t> koji </a:t>
            </a:r>
            <a:r>
              <a:rPr lang="en-US" dirty="0" err="1"/>
              <a:t>moraju</a:t>
            </a:r>
            <a:r>
              <a:rPr lang="en-US" dirty="0"/>
              <a:t> </a:t>
            </a:r>
            <a:r>
              <a:rPr lang="en-US" dirty="0" err="1"/>
              <a:t>biti</a:t>
            </a:r>
            <a:r>
              <a:rPr lang="en-US" dirty="0"/>
              <a:t> </a:t>
            </a:r>
            <a:r>
              <a:rPr lang="en-US" dirty="0" err="1"/>
              <a:t>izvršeni</a:t>
            </a:r>
            <a:r>
              <a:rPr lang="en-US" dirty="0"/>
              <a:t> </a:t>
            </a:r>
            <a:r>
              <a:rPr lang="en-US" dirty="0" err="1"/>
              <a:t>ispravnim</a:t>
            </a:r>
            <a:r>
              <a:rPr lang="en-US" dirty="0"/>
              <a:t> </a:t>
            </a:r>
            <a:r>
              <a:rPr lang="en-US" dirty="0" err="1"/>
              <a:t>redosledom</a:t>
            </a:r>
            <a:r>
              <a:rPr lang="en-US" dirty="0"/>
              <a:t>.</a:t>
            </a:r>
          </a:p>
          <a:p>
            <a:r>
              <a:rPr lang="en-US" b="1" dirty="0" err="1"/>
              <a:t>Koraci</a:t>
            </a:r>
            <a:r>
              <a:rPr lang="en-US" b="1" dirty="0"/>
              <a:t> 1-2</a:t>
            </a:r>
            <a:r>
              <a:rPr lang="en-US" dirty="0"/>
              <a:t> </a:t>
            </a:r>
            <a:r>
              <a:rPr lang="en-US" dirty="0" err="1"/>
              <a:t>postavljaju</a:t>
            </a:r>
            <a:r>
              <a:rPr lang="en-US" dirty="0"/>
              <a:t> </a:t>
            </a:r>
            <a:r>
              <a:rPr lang="en-US" dirty="0" err="1"/>
              <a:t>osnovu</a:t>
            </a:r>
            <a:r>
              <a:rPr lang="en-US" dirty="0"/>
              <a:t> — </a:t>
            </a:r>
            <a:r>
              <a:rPr lang="en-US" dirty="0" err="1"/>
              <a:t>kreiranje</a:t>
            </a:r>
            <a:r>
              <a:rPr lang="en-US" dirty="0"/>
              <a:t> </a:t>
            </a:r>
            <a:r>
              <a:rPr lang="en-US" dirty="0" err="1"/>
              <a:t>aliasa</a:t>
            </a:r>
            <a:r>
              <a:rPr lang="en-US" dirty="0"/>
              <a:t> za master </a:t>
            </a:r>
            <a:r>
              <a:rPr lang="en-US" dirty="0" err="1"/>
              <a:t>i</a:t>
            </a:r>
            <a:r>
              <a:rPr lang="en-US" dirty="0"/>
              <a:t> slave </a:t>
            </a:r>
            <a:r>
              <a:rPr lang="en-US" dirty="0" err="1"/>
              <a:t>bazu</a:t>
            </a:r>
            <a:r>
              <a:rPr lang="en-US" dirty="0"/>
              <a:t> u </a:t>
            </a:r>
            <a:r>
              <a:rPr lang="en-US" dirty="0" err="1"/>
              <a:t>databases.conf</a:t>
            </a:r>
            <a:r>
              <a:rPr lang="en-US" dirty="0"/>
              <a:t>, </a:t>
            </a:r>
            <a:r>
              <a:rPr lang="en-US" dirty="0" err="1"/>
              <a:t>nakon</a:t>
            </a:r>
            <a:r>
              <a:rPr lang="en-US" dirty="0"/>
              <a:t> </a:t>
            </a:r>
            <a:r>
              <a:rPr lang="en-US" dirty="0" err="1"/>
              <a:t>čega</a:t>
            </a:r>
            <a:r>
              <a:rPr lang="en-US" dirty="0"/>
              <a:t> se slave </a:t>
            </a:r>
            <a:r>
              <a:rPr lang="en-US" dirty="0" err="1"/>
              <a:t>baza</a:t>
            </a:r>
            <a:r>
              <a:rPr lang="en-US" dirty="0"/>
              <a:t> </a:t>
            </a:r>
            <a:r>
              <a:rPr lang="en-US" dirty="0" err="1"/>
              <a:t>kreira</a:t>
            </a:r>
            <a:r>
              <a:rPr lang="en-US" dirty="0"/>
              <a:t> </a:t>
            </a:r>
            <a:r>
              <a:rPr lang="en-US" dirty="0" err="1"/>
              <a:t>kao</a:t>
            </a:r>
            <a:r>
              <a:rPr lang="en-US" dirty="0"/>
              <a:t> </a:t>
            </a:r>
            <a:r>
              <a:rPr lang="en-US" dirty="0" err="1"/>
              <a:t>tačna</a:t>
            </a:r>
            <a:r>
              <a:rPr lang="en-US" dirty="0"/>
              <a:t> </a:t>
            </a:r>
            <a:r>
              <a:rPr lang="en-US" dirty="0" err="1"/>
              <a:t>kopija</a:t>
            </a:r>
            <a:r>
              <a:rPr lang="en-US" dirty="0"/>
              <a:t> </a:t>
            </a:r>
            <a:r>
              <a:rPr lang="en-US" dirty="0" err="1"/>
              <a:t>mastera</a:t>
            </a:r>
            <a:r>
              <a:rPr lang="en-US" dirty="0"/>
              <a:t> </a:t>
            </a:r>
            <a:r>
              <a:rPr lang="en-US" dirty="0" err="1"/>
              <a:t>kroz</a:t>
            </a:r>
            <a:r>
              <a:rPr lang="en-US" dirty="0"/>
              <a:t> backup </a:t>
            </a:r>
            <a:r>
              <a:rPr lang="en-US" dirty="0" err="1"/>
              <a:t>i</a:t>
            </a:r>
            <a:r>
              <a:rPr lang="en-US" dirty="0"/>
              <a:t> restore </a:t>
            </a:r>
            <a:r>
              <a:rPr lang="en-US" dirty="0" err="1"/>
              <a:t>proceduru</a:t>
            </a:r>
            <a:r>
              <a:rPr lang="en-US" dirty="0"/>
              <a:t> </a:t>
            </a:r>
            <a:r>
              <a:rPr lang="en-US" dirty="0" err="1"/>
              <a:t>komandama</a:t>
            </a:r>
            <a:r>
              <a:rPr lang="en-US" dirty="0"/>
              <a:t> </a:t>
            </a:r>
            <a:r>
              <a:rPr lang="en-US" dirty="0" err="1"/>
              <a:t>gbak</a:t>
            </a:r>
            <a:r>
              <a:rPr lang="en-US" dirty="0"/>
              <a:t>.</a:t>
            </a:r>
          </a:p>
          <a:p>
            <a:r>
              <a:rPr lang="en-US" b="1" dirty="0" err="1"/>
              <a:t>Koraci</a:t>
            </a:r>
            <a:r>
              <a:rPr lang="en-US" b="1" dirty="0"/>
              <a:t> 3-4</a:t>
            </a:r>
            <a:r>
              <a:rPr lang="en-US" dirty="0"/>
              <a:t> </a:t>
            </a:r>
            <a:r>
              <a:rPr lang="en-US" dirty="0" err="1"/>
              <a:t>pripremaju</a:t>
            </a:r>
            <a:r>
              <a:rPr lang="en-US" dirty="0"/>
              <a:t> </a:t>
            </a:r>
            <a:r>
              <a:rPr lang="en-US" dirty="0" err="1"/>
              <a:t>replikacionu</a:t>
            </a:r>
            <a:r>
              <a:rPr lang="en-US" dirty="0"/>
              <a:t> </a:t>
            </a:r>
            <a:r>
              <a:rPr lang="en-US" dirty="0" err="1"/>
              <a:t>infrastrukturu</a:t>
            </a:r>
            <a:r>
              <a:rPr lang="en-US" dirty="0"/>
              <a:t> — </a:t>
            </a:r>
            <a:r>
              <a:rPr lang="en-US" dirty="0" err="1"/>
              <a:t>preuzimanje</a:t>
            </a:r>
            <a:r>
              <a:rPr lang="en-US" dirty="0"/>
              <a:t> DATABASE GUID </a:t>
            </a:r>
            <a:r>
              <a:rPr lang="en-US" dirty="0" err="1"/>
              <a:t>mastera</a:t>
            </a:r>
            <a:r>
              <a:rPr lang="en-US" dirty="0"/>
              <a:t> </a:t>
            </a:r>
            <a:r>
              <a:rPr lang="en-US" dirty="0" err="1"/>
              <a:t>komandom</a:t>
            </a:r>
            <a:r>
              <a:rPr lang="en-US" dirty="0"/>
              <a:t> </a:t>
            </a:r>
            <a:r>
              <a:rPr lang="en-US" dirty="0" err="1"/>
              <a:t>gstat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upisivanje</a:t>
            </a:r>
            <a:r>
              <a:rPr lang="en-US" dirty="0"/>
              <a:t> u </a:t>
            </a:r>
            <a:r>
              <a:rPr lang="en-US" dirty="0" err="1"/>
              <a:t>konfiguraciju</a:t>
            </a:r>
            <a:r>
              <a:rPr lang="en-US" dirty="0"/>
              <a:t> </a:t>
            </a:r>
            <a:r>
              <a:rPr lang="en-US" dirty="0" err="1"/>
              <a:t>kao</a:t>
            </a:r>
            <a:r>
              <a:rPr lang="en-US" dirty="0"/>
              <a:t> </a:t>
            </a:r>
            <a:r>
              <a:rPr lang="en-US" dirty="0" err="1"/>
              <a:t>source_guid</a:t>
            </a:r>
            <a:r>
              <a:rPr lang="en-US" dirty="0"/>
              <a:t>, </a:t>
            </a:r>
            <a:r>
              <a:rPr lang="en-US" dirty="0" err="1"/>
              <a:t>te</a:t>
            </a:r>
            <a:r>
              <a:rPr lang="en-US" dirty="0"/>
              <a:t> </a:t>
            </a:r>
            <a:r>
              <a:rPr lang="en-US" dirty="0" err="1"/>
              <a:t>kreiranje</a:t>
            </a:r>
            <a:r>
              <a:rPr lang="en-US" dirty="0"/>
              <a:t> Journal </a:t>
            </a:r>
            <a:r>
              <a:rPr lang="en-US" dirty="0" err="1"/>
              <a:t>i</a:t>
            </a:r>
            <a:r>
              <a:rPr lang="en-US" dirty="0"/>
              <a:t> Archive </a:t>
            </a:r>
            <a:r>
              <a:rPr lang="en-US" dirty="0" err="1"/>
              <a:t>direktorijuma</a:t>
            </a:r>
            <a:r>
              <a:rPr lang="en-US" dirty="0"/>
              <a:t> za </a:t>
            </a:r>
            <a:r>
              <a:rPr lang="en-US" dirty="0" err="1"/>
              <a:t>odvajanje</a:t>
            </a:r>
            <a:r>
              <a:rPr lang="en-US" dirty="0"/>
              <a:t> </a:t>
            </a:r>
            <a:r>
              <a:rPr lang="en-US" dirty="0" err="1"/>
              <a:t>privremenih</a:t>
            </a:r>
            <a:r>
              <a:rPr lang="en-US" dirty="0"/>
              <a:t> od </a:t>
            </a:r>
            <a:r>
              <a:rPr lang="en-US" dirty="0" err="1"/>
              <a:t>trajnih</a:t>
            </a:r>
            <a:r>
              <a:rPr lang="en-US" dirty="0"/>
              <a:t> </a:t>
            </a:r>
            <a:r>
              <a:rPr lang="en-US" dirty="0" err="1"/>
              <a:t>segmenata</a:t>
            </a:r>
            <a:r>
              <a:rPr lang="en-US" dirty="0"/>
              <a:t>.</a:t>
            </a:r>
          </a:p>
          <a:p>
            <a:r>
              <a:rPr lang="en-US" b="1" dirty="0"/>
              <a:t>Korak 5</a:t>
            </a:r>
            <a:r>
              <a:rPr lang="en-US" dirty="0"/>
              <a:t> je </a:t>
            </a:r>
            <a:r>
              <a:rPr lang="en-US" dirty="0" err="1"/>
              <a:t>centralni</a:t>
            </a:r>
            <a:r>
              <a:rPr lang="en-US" dirty="0"/>
              <a:t> </a:t>
            </a:r>
            <a:r>
              <a:rPr lang="en-US" dirty="0" err="1"/>
              <a:t>korak</a:t>
            </a:r>
            <a:r>
              <a:rPr lang="en-US" dirty="0"/>
              <a:t> </a:t>
            </a:r>
            <a:r>
              <a:rPr lang="en-US" dirty="0" err="1"/>
              <a:t>konfiguracije</a:t>
            </a:r>
            <a:r>
              <a:rPr lang="en-US" dirty="0"/>
              <a:t> — u </a:t>
            </a:r>
            <a:r>
              <a:rPr lang="en-US" dirty="0" err="1"/>
              <a:t>replication.conf</a:t>
            </a:r>
            <a:r>
              <a:rPr lang="en-US" dirty="0"/>
              <a:t> se </a:t>
            </a:r>
            <a:r>
              <a:rPr lang="en-US" dirty="0" err="1"/>
              <a:t>podešavaju</a:t>
            </a:r>
            <a:r>
              <a:rPr lang="en-US" dirty="0"/>
              <a:t> </a:t>
            </a:r>
            <a:r>
              <a:rPr lang="en-US" dirty="0" err="1"/>
              <a:t>putanje</a:t>
            </a:r>
            <a:r>
              <a:rPr lang="en-US" dirty="0"/>
              <a:t> journal </a:t>
            </a:r>
            <a:r>
              <a:rPr lang="en-US" dirty="0" err="1"/>
              <a:t>i</a:t>
            </a:r>
            <a:r>
              <a:rPr lang="en-US" dirty="0"/>
              <a:t> archive </a:t>
            </a:r>
            <a:r>
              <a:rPr lang="en-US" dirty="0" err="1"/>
              <a:t>direktorijuma</a:t>
            </a:r>
            <a:r>
              <a:rPr lang="en-US" dirty="0"/>
              <a:t>, </a:t>
            </a:r>
            <a:r>
              <a:rPr lang="en-US" dirty="0" err="1"/>
              <a:t>source_guid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sync_replica</a:t>
            </a:r>
            <a:r>
              <a:rPr lang="en-US" dirty="0"/>
              <a:t> </a:t>
            </a:r>
            <a:r>
              <a:rPr lang="en-US" dirty="0" err="1"/>
              <a:t>parametri</a:t>
            </a:r>
            <a:r>
              <a:rPr lang="en-US" dirty="0"/>
              <a:t> za </a:t>
            </a:r>
            <a:r>
              <a:rPr lang="en-US" dirty="0" err="1"/>
              <a:t>obe</a:t>
            </a:r>
            <a:r>
              <a:rPr lang="en-US" dirty="0"/>
              <a:t> instance, </a:t>
            </a:r>
            <a:r>
              <a:rPr lang="en-US" dirty="0" err="1"/>
              <a:t>što</a:t>
            </a:r>
            <a:r>
              <a:rPr lang="en-US" dirty="0"/>
              <a:t> </a:t>
            </a:r>
            <a:r>
              <a:rPr lang="en-US" dirty="0" err="1"/>
              <a:t>direktno</a:t>
            </a:r>
            <a:r>
              <a:rPr lang="en-US" dirty="0"/>
              <a:t> </a:t>
            </a:r>
            <a:r>
              <a:rPr lang="en-US" dirty="0" err="1"/>
              <a:t>određuje</a:t>
            </a:r>
            <a:r>
              <a:rPr lang="en-US" dirty="0"/>
              <a:t> da li </a:t>
            </a:r>
            <a:r>
              <a:rPr lang="en-US" dirty="0" err="1"/>
              <a:t>će</a:t>
            </a:r>
            <a:r>
              <a:rPr lang="en-US" dirty="0"/>
              <a:t> </a:t>
            </a:r>
            <a:r>
              <a:rPr lang="en-US" dirty="0" err="1"/>
              <a:t>replikacija</a:t>
            </a:r>
            <a:r>
              <a:rPr lang="en-US" dirty="0"/>
              <a:t> </a:t>
            </a:r>
            <a:r>
              <a:rPr lang="en-US" dirty="0" err="1"/>
              <a:t>biti</a:t>
            </a:r>
            <a:r>
              <a:rPr lang="en-US" dirty="0"/>
              <a:t> </a:t>
            </a:r>
            <a:r>
              <a:rPr lang="en-US" dirty="0" err="1"/>
              <a:t>sinhrona</a:t>
            </a:r>
            <a:r>
              <a:rPr lang="en-US" dirty="0"/>
              <a:t> </a:t>
            </a:r>
            <a:r>
              <a:rPr lang="en-US" dirty="0" err="1"/>
              <a:t>ili</a:t>
            </a:r>
            <a:r>
              <a:rPr lang="en-US" dirty="0"/>
              <a:t> </a:t>
            </a:r>
            <a:r>
              <a:rPr lang="en-US" dirty="0" err="1"/>
              <a:t>asinhrona</a:t>
            </a:r>
            <a:r>
              <a:rPr lang="en-US" dirty="0"/>
              <a:t>.</a:t>
            </a:r>
          </a:p>
          <a:p>
            <a:r>
              <a:rPr lang="en-US" b="1" dirty="0" err="1"/>
              <a:t>Koraci</a:t>
            </a:r>
            <a:r>
              <a:rPr lang="en-US" b="1" dirty="0"/>
              <a:t> 6-7</a:t>
            </a:r>
            <a:r>
              <a:rPr lang="en-US" dirty="0"/>
              <a:t> </a:t>
            </a:r>
            <a:r>
              <a:rPr lang="en-US" dirty="0" err="1"/>
              <a:t>aktiviraju</a:t>
            </a:r>
            <a:r>
              <a:rPr lang="en-US" dirty="0"/>
              <a:t> </a:t>
            </a:r>
            <a:r>
              <a:rPr lang="en-US" dirty="0" err="1"/>
              <a:t>replikaciju</a:t>
            </a:r>
            <a:r>
              <a:rPr lang="en-US" dirty="0"/>
              <a:t> — Firebird </a:t>
            </a:r>
            <a:r>
              <a:rPr lang="en-US" dirty="0" err="1"/>
              <a:t>servis</a:t>
            </a:r>
            <a:r>
              <a:rPr lang="en-US" dirty="0"/>
              <a:t> se </a:t>
            </a:r>
            <a:r>
              <a:rPr lang="en-US" dirty="0" err="1"/>
              <a:t>restartuje</a:t>
            </a:r>
            <a:r>
              <a:rPr lang="en-US" dirty="0"/>
              <a:t> </a:t>
            </a:r>
            <a:r>
              <a:rPr lang="en-US" dirty="0" err="1"/>
              <a:t>nakon</a:t>
            </a:r>
            <a:r>
              <a:rPr lang="en-US" dirty="0"/>
              <a:t> </a:t>
            </a:r>
            <a:r>
              <a:rPr lang="en-US" dirty="0" err="1"/>
              <a:t>izmena</a:t>
            </a:r>
            <a:r>
              <a:rPr lang="en-US" dirty="0"/>
              <a:t> </a:t>
            </a:r>
            <a:r>
              <a:rPr lang="en-US" dirty="0" err="1"/>
              <a:t>konfiguracionih</a:t>
            </a:r>
            <a:r>
              <a:rPr lang="en-US" dirty="0"/>
              <a:t> </a:t>
            </a:r>
            <a:r>
              <a:rPr lang="en-US" dirty="0" err="1"/>
              <a:t>fajlova</a:t>
            </a:r>
            <a:r>
              <a:rPr lang="en-US" dirty="0"/>
              <a:t>, </a:t>
            </a:r>
            <a:r>
              <a:rPr lang="en-US" dirty="0" err="1"/>
              <a:t>nakon</a:t>
            </a:r>
            <a:r>
              <a:rPr lang="en-US" dirty="0"/>
              <a:t> </a:t>
            </a:r>
            <a:r>
              <a:rPr lang="en-US" dirty="0" err="1"/>
              <a:t>čega</a:t>
            </a:r>
            <a:r>
              <a:rPr lang="en-US" dirty="0"/>
              <a:t> se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masteru</a:t>
            </a:r>
            <a:r>
              <a:rPr lang="en-US" dirty="0"/>
              <a:t> </a:t>
            </a:r>
            <a:r>
              <a:rPr lang="en-US" dirty="0" err="1"/>
              <a:t>izvršava</a:t>
            </a:r>
            <a:r>
              <a:rPr lang="en-US" dirty="0"/>
              <a:t> ALTER DATABASE ENABLE PUBLICATION za </a:t>
            </a:r>
            <a:r>
              <a:rPr lang="en-US" dirty="0" err="1"/>
              <a:t>uključivanje</a:t>
            </a:r>
            <a:r>
              <a:rPr lang="en-US" dirty="0"/>
              <a:t> </a:t>
            </a:r>
            <a:r>
              <a:rPr lang="en-US" dirty="0" err="1"/>
              <a:t>praćenja</a:t>
            </a:r>
            <a:r>
              <a:rPr lang="en-US" dirty="0"/>
              <a:t> </a:t>
            </a:r>
            <a:r>
              <a:rPr lang="en-US" dirty="0" err="1"/>
              <a:t>tabela</a:t>
            </a:r>
            <a:r>
              <a:rPr lang="en-US" dirty="0"/>
              <a:t>, a </a:t>
            </a:r>
            <a:r>
              <a:rPr lang="en-US" dirty="0" err="1"/>
              <a:t>na</a:t>
            </a:r>
            <a:r>
              <a:rPr lang="en-US" dirty="0"/>
              <a:t> slave </a:t>
            </a:r>
            <a:r>
              <a:rPr lang="en-US" dirty="0" err="1"/>
              <a:t>bazi</a:t>
            </a:r>
            <a:r>
              <a:rPr lang="en-US" dirty="0"/>
              <a:t> </a:t>
            </a:r>
            <a:r>
              <a:rPr lang="en-US" dirty="0" err="1"/>
              <a:t>gfix</a:t>
            </a:r>
            <a:r>
              <a:rPr lang="en-US" dirty="0"/>
              <a:t> -replica READ_ONLY </a:t>
            </a:r>
            <a:r>
              <a:rPr lang="en-US" dirty="0" err="1"/>
              <a:t>postavlja</a:t>
            </a:r>
            <a:r>
              <a:rPr lang="en-US" dirty="0"/>
              <a:t> je u read-only mod.</a:t>
            </a:r>
          </a:p>
          <a:p>
            <a:r>
              <a:rPr lang="en-US" b="1" dirty="0"/>
              <a:t>Korak 8</a:t>
            </a:r>
            <a:r>
              <a:rPr lang="en-US" dirty="0"/>
              <a:t> </a:t>
            </a:r>
            <a:r>
              <a:rPr lang="en-US" dirty="0" err="1"/>
              <a:t>rešava</a:t>
            </a:r>
            <a:r>
              <a:rPr lang="en-US" dirty="0"/>
              <a:t> </a:t>
            </a:r>
            <a:r>
              <a:rPr lang="en-US" dirty="0" err="1"/>
              <a:t>bezbednosni</a:t>
            </a:r>
            <a:r>
              <a:rPr lang="en-US" dirty="0"/>
              <a:t> </a:t>
            </a:r>
            <a:r>
              <a:rPr lang="en-US" dirty="0" err="1"/>
              <a:t>aspekt</a:t>
            </a:r>
            <a:r>
              <a:rPr lang="en-US" dirty="0"/>
              <a:t> — CREATE MAPPING </a:t>
            </a:r>
            <a:r>
              <a:rPr lang="en-US" dirty="0" err="1"/>
              <a:t>omogućava</a:t>
            </a:r>
            <a:r>
              <a:rPr lang="en-US" dirty="0"/>
              <a:t> </a:t>
            </a:r>
            <a:r>
              <a:rPr lang="en-US" dirty="0" err="1"/>
              <a:t>replikacionom</a:t>
            </a:r>
            <a:r>
              <a:rPr lang="en-US" dirty="0"/>
              <a:t> </a:t>
            </a:r>
            <a:r>
              <a:rPr lang="en-US" dirty="0" err="1"/>
              <a:t>agentu</a:t>
            </a:r>
            <a:r>
              <a:rPr lang="en-US" dirty="0"/>
              <a:t> da se </a:t>
            </a:r>
            <a:r>
              <a:rPr lang="en-US" dirty="0" err="1"/>
              <a:t>autentifikuje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slave </a:t>
            </a:r>
            <a:r>
              <a:rPr lang="en-US" dirty="0" err="1"/>
              <a:t>bazi</a:t>
            </a:r>
            <a:r>
              <a:rPr lang="en-US" dirty="0"/>
              <a:t> </a:t>
            </a:r>
            <a:r>
              <a:rPr lang="en-US" dirty="0" err="1"/>
              <a:t>kao</a:t>
            </a:r>
            <a:r>
              <a:rPr lang="en-US" dirty="0"/>
              <a:t> SYSDBA, </a:t>
            </a:r>
            <a:r>
              <a:rPr lang="en-US" dirty="0" err="1"/>
              <a:t>što</a:t>
            </a:r>
            <a:r>
              <a:rPr lang="en-US" dirty="0"/>
              <a:t> je </a:t>
            </a:r>
            <a:r>
              <a:rPr lang="en-US" dirty="0" err="1"/>
              <a:t>preduslov</a:t>
            </a:r>
            <a:r>
              <a:rPr lang="en-US" dirty="0"/>
              <a:t> da agent </a:t>
            </a:r>
            <a:r>
              <a:rPr lang="en-US" dirty="0" err="1"/>
              <a:t>može</a:t>
            </a:r>
            <a:r>
              <a:rPr lang="en-US" dirty="0"/>
              <a:t> da </a:t>
            </a:r>
            <a:r>
              <a:rPr lang="en-US" dirty="0" err="1"/>
              <a:t>primenjuje</a:t>
            </a:r>
            <a:r>
              <a:rPr lang="en-US" dirty="0"/>
              <a:t> </a:t>
            </a:r>
            <a:r>
              <a:rPr lang="en-US" dirty="0" err="1"/>
              <a:t>promene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slave </a:t>
            </a:r>
            <a:r>
              <a:rPr lang="en-US" dirty="0" err="1"/>
              <a:t>bazi</a:t>
            </a:r>
            <a:r>
              <a:rPr lang="en-US" dirty="0"/>
              <a:t> bez </a:t>
            </a:r>
            <a:r>
              <a:rPr lang="en-US" dirty="0" err="1"/>
              <a:t>zasebnih</a:t>
            </a:r>
            <a:r>
              <a:rPr lang="en-US" dirty="0"/>
              <a:t> </a:t>
            </a:r>
            <a:r>
              <a:rPr lang="en-US" dirty="0" err="1"/>
              <a:t>kredencijala</a:t>
            </a:r>
            <a:r>
              <a:rPr lang="en-US" dirty="0"/>
              <a:t>. 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Pet </a:t>
            </a:r>
            <a:r>
              <a:rPr lang="en-US" dirty="0" err="1"/>
              <a:t>verifikacionih</a:t>
            </a:r>
            <a:r>
              <a:rPr lang="en-US" dirty="0"/>
              <a:t> </a:t>
            </a:r>
            <a:r>
              <a:rPr lang="en-US" dirty="0" err="1"/>
              <a:t>testova</a:t>
            </a:r>
            <a:r>
              <a:rPr lang="en-US" dirty="0"/>
              <a:t> </a:t>
            </a:r>
            <a:r>
              <a:rPr lang="en-US" dirty="0" err="1"/>
              <a:t>potvrđuju</a:t>
            </a:r>
            <a:r>
              <a:rPr lang="en-US" dirty="0"/>
              <a:t> da </a:t>
            </a:r>
            <a:r>
              <a:rPr lang="en-US" dirty="0" err="1"/>
              <a:t>replikacija</a:t>
            </a:r>
            <a:r>
              <a:rPr lang="en-US" dirty="0"/>
              <a:t> </a:t>
            </a:r>
            <a:r>
              <a:rPr lang="en-US" dirty="0" err="1"/>
              <a:t>funkcioniše</a:t>
            </a:r>
            <a:r>
              <a:rPr lang="en-US" dirty="0"/>
              <a:t> </a:t>
            </a:r>
            <a:r>
              <a:rPr lang="en-US" dirty="0" err="1"/>
              <a:t>ispravno</a:t>
            </a:r>
            <a:r>
              <a:rPr lang="en-US" dirty="0"/>
              <a:t> u </a:t>
            </a:r>
            <a:r>
              <a:rPr lang="en-US" dirty="0" err="1"/>
              <a:t>svim</a:t>
            </a:r>
            <a:r>
              <a:rPr lang="en-US" dirty="0"/>
              <a:t> </a:t>
            </a:r>
            <a:r>
              <a:rPr lang="en-US" dirty="0" err="1"/>
              <a:t>ključnim</a:t>
            </a:r>
            <a:r>
              <a:rPr lang="en-US" dirty="0"/>
              <a:t> </a:t>
            </a:r>
            <a:r>
              <a:rPr lang="en-US" dirty="0" err="1"/>
              <a:t>scenarijima</a:t>
            </a:r>
            <a:r>
              <a:rPr lang="en-US" dirty="0"/>
              <a:t> rada </a:t>
            </a:r>
            <a:r>
              <a:rPr lang="en-US" dirty="0" err="1"/>
              <a:t>sistema</a:t>
            </a:r>
            <a:r>
              <a:rPr lang="en-US" dirty="0"/>
              <a:t>.</a:t>
            </a:r>
          </a:p>
          <a:p>
            <a:r>
              <a:rPr lang="en-US" b="1" dirty="0"/>
              <a:t>Test 1 — INSERT</a:t>
            </a:r>
            <a:r>
              <a:rPr lang="en-US" dirty="0"/>
              <a:t> </a:t>
            </a:r>
            <a:r>
              <a:rPr lang="en-US" dirty="0" err="1"/>
              <a:t>verifikuje</a:t>
            </a:r>
            <a:r>
              <a:rPr lang="en-US" dirty="0"/>
              <a:t> </a:t>
            </a:r>
            <a:r>
              <a:rPr lang="en-US" dirty="0" err="1"/>
              <a:t>osnovnu</a:t>
            </a:r>
            <a:r>
              <a:rPr lang="en-US" dirty="0"/>
              <a:t> </a:t>
            </a:r>
            <a:r>
              <a:rPr lang="en-US" dirty="0" err="1"/>
              <a:t>replikaciju</a:t>
            </a:r>
            <a:r>
              <a:rPr lang="en-US" dirty="0"/>
              <a:t> — </a:t>
            </a:r>
            <a:r>
              <a:rPr lang="en-US" dirty="0" err="1"/>
              <a:t>nakon</a:t>
            </a:r>
            <a:r>
              <a:rPr lang="en-US" dirty="0"/>
              <a:t> </a:t>
            </a:r>
            <a:r>
              <a:rPr lang="en-US" dirty="0" err="1"/>
              <a:t>unosa</a:t>
            </a:r>
            <a:r>
              <a:rPr lang="en-US" dirty="0"/>
              <a:t> </a:t>
            </a:r>
            <a:r>
              <a:rPr lang="en-US" dirty="0" err="1"/>
              <a:t>novog</a:t>
            </a:r>
            <a:r>
              <a:rPr lang="en-US" dirty="0"/>
              <a:t> </a:t>
            </a:r>
            <a:r>
              <a:rPr lang="en-US" dirty="0" err="1"/>
              <a:t>zaposlenog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COMMIT-a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masteru</a:t>
            </a:r>
            <a:r>
              <a:rPr lang="en-US" dirty="0"/>
              <a:t>, SELECT </a:t>
            </a:r>
            <a:r>
              <a:rPr lang="en-US" dirty="0" err="1"/>
              <a:t>na</a:t>
            </a:r>
            <a:r>
              <a:rPr lang="en-US" dirty="0"/>
              <a:t> slave </a:t>
            </a:r>
            <a:r>
              <a:rPr lang="en-US" dirty="0" err="1"/>
              <a:t>bazi</a:t>
            </a:r>
            <a:r>
              <a:rPr lang="en-US" dirty="0"/>
              <a:t> mora da </a:t>
            </a:r>
            <a:r>
              <a:rPr lang="en-US" dirty="0" err="1"/>
              <a:t>vrati</a:t>
            </a:r>
            <a:r>
              <a:rPr lang="en-US" dirty="0"/>
              <a:t> taj </a:t>
            </a:r>
            <a:r>
              <a:rPr lang="en-US" dirty="0" err="1"/>
              <a:t>isti</a:t>
            </a:r>
            <a:r>
              <a:rPr lang="en-US" dirty="0"/>
              <a:t> red, </a:t>
            </a:r>
            <a:r>
              <a:rPr lang="en-US" dirty="0" err="1"/>
              <a:t>što</a:t>
            </a:r>
            <a:r>
              <a:rPr lang="en-US" dirty="0"/>
              <a:t> </a:t>
            </a:r>
            <a:r>
              <a:rPr lang="en-US" dirty="0" err="1"/>
              <a:t>potvrđuje</a:t>
            </a:r>
            <a:r>
              <a:rPr lang="en-US" dirty="0"/>
              <a:t> da journal </a:t>
            </a:r>
            <a:r>
              <a:rPr lang="en-US" dirty="0" err="1"/>
              <a:t>segmenti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replikacioni</a:t>
            </a:r>
            <a:r>
              <a:rPr lang="en-US" dirty="0"/>
              <a:t> agent </a:t>
            </a:r>
            <a:r>
              <a:rPr lang="en-US" dirty="0" err="1"/>
              <a:t>rade</a:t>
            </a:r>
            <a:r>
              <a:rPr lang="en-US" dirty="0"/>
              <a:t> </a:t>
            </a:r>
            <a:r>
              <a:rPr lang="en-US" dirty="0" err="1"/>
              <a:t>ispravno</a:t>
            </a:r>
            <a:r>
              <a:rPr lang="en-US" dirty="0"/>
              <a:t>.</a:t>
            </a:r>
          </a:p>
          <a:p>
            <a:r>
              <a:rPr lang="en-US" b="1" dirty="0"/>
              <a:t>Test 2 — UPDATE</a:t>
            </a:r>
            <a:r>
              <a:rPr lang="en-US" dirty="0"/>
              <a:t> </a:t>
            </a:r>
            <a:r>
              <a:rPr lang="en-US" dirty="0" err="1"/>
              <a:t>verifikuje</a:t>
            </a:r>
            <a:r>
              <a:rPr lang="en-US" dirty="0"/>
              <a:t> </a:t>
            </a:r>
            <a:r>
              <a:rPr lang="en-US" dirty="0" err="1"/>
              <a:t>replikaciju</a:t>
            </a:r>
            <a:r>
              <a:rPr lang="en-US" dirty="0"/>
              <a:t> </a:t>
            </a:r>
            <a:r>
              <a:rPr lang="en-US" dirty="0" err="1"/>
              <a:t>izmena</a:t>
            </a:r>
            <a:r>
              <a:rPr lang="en-US" dirty="0"/>
              <a:t> — </a:t>
            </a:r>
            <a:r>
              <a:rPr lang="en-US" dirty="0" err="1"/>
              <a:t>promena</a:t>
            </a:r>
            <a:r>
              <a:rPr lang="en-US" dirty="0"/>
              <a:t> plate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masteru</a:t>
            </a:r>
            <a:r>
              <a:rPr lang="en-US" dirty="0"/>
              <a:t> mora </a:t>
            </a:r>
            <a:r>
              <a:rPr lang="en-US" dirty="0" err="1"/>
              <a:t>biti</a:t>
            </a:r>
            <a:r>
              <a:rPr lang="en-US" dirty="0"/>
              <a:t> </a:t>
            </a:r>
            <a:r>
              <a:rPr lang="en-US" dirty="0" err="1"/>
              <a:t>vidljiva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slave </a:t>
            </a:r>
            <a:r>
              <a:rPr lang="en-US" dirty="0" err="1"/>
              <a:t>bazi</a:t>
            </a:r>
            <a:r>
              <a:rPr lang="en-US" dirty="0"/>
              <a:t> </a:t>
            </a:r>
            <a:r>
              <a:rPr lang="en-US" dirty="0" err="1"/>
              <a:t>sa</a:t>
            </a:r>
            <a:r>
              <a:rPr lang="en-US" dirty="0"/>
              <a:t> </a:t>
            </a:r>
            <a:r>
              <a:rPr lang="en-US" dirty="0" err="1"/>
              <a:t>identičnom</a:t>
            </a:r>
            <a:r>
              <a:rPr lang="en-US" dirty="0"/>
              <a:t> </a:t>
            </a:r>
            <a:r>
              <a:rPr lang="en-US" dirty="0" err="1"/>
              <a:t>vrednošću</a:t>
            </a:r>
            <a:r>
              <a:rPr lang="en-US" dirty="0"/>
              <a:t>, </a:t>
            </a:r>
            <a:r>
              <a:rPr lang="en-US" dirty="0" err="1"/>
              <a:t>čime</a:t>
            </a:r>
            <a:r>
              <a:rPr lang="en-US" dirty="0"/>
              <a:t> se </a:t>
            </a:r>
            <a:r>
              <a:rPr lang="en-US" dirty="0" err="1"/>
              <a:t>potvrđuje</a:t>
            </a:r>
            <a:r>
              <a:rPr lang="en-US" dirty="0"/>
              <a:t> da se </a:t>
            </a:r>
            <a:r>
              <a:rPr lang="en-US" dirty="0" err="1"/>
              <a:t>binarne</a:t>
            </a:r>
            <a:r>
              <a:rPr lang="en-US" dirty="0"/>
              <a:t> </a:t>
            </a:r>
            <a:r>
              <a:rPr lang="en-US" dirty="0" err="1"/>
              <a:t>promene</a:t>
            </a:r>
            <a:r>
              <a:rPr lang="en-US" dirty="0"/>
              <a:t> </a:t>
            </a:r>
            <a:r>
              <a:rPr lang="en-US" dirty="0" err="1"/>
              <a:t>pravilno</a:t>
            </a:r>
            <a:r>
              <a:rPr lang="en-US" dirty="0"/>
              <a:t> </a:t>
            </a:r>
            <a:r>
              <a:rPr lang="en-US" dirty="0" err="1"/>
              <a:t>prenose</a:t>
            </a:r>
            <a:r>
              <a:rPr lang="en-US" dirty="0"/>
              <a:t> </a:t>
            </a:r>
            <a:r>
              <a:rPr lang="en-US" dirty="0" err="1"/>
              <a:t>kroz</a:t>
            </a:r>
            <a:r>
              <a:rPr lang="en-US" dirty="0"/>
              <a:t> archive directory.</a:t>
            </a:r>
          </a:p>
          <a:p>
            <a:r>
              <a:rPr lang="en-US" b="1" dirty="0"/>
              <a:t>Test 3 — DELETE</a:t>
            </a:r>
            <a:r>
              <a:rPr lang="en-US" dirty="0"/>
              <a:t> </a:t>
            </a:r>
            <a:r>
              <a:rPr lang="en-US" dirty="0" err="1"/>
              <a:t>verifikuje</a:t>
            </a:r>
            <a:r>
              <a:rPr lang="en-US" dirty="0"/>
              <a:t> </a:t>
            </a:r>
            <a:r>
              <a:rPr lang="en-US" dirty="0" err="1"/>
              <a:t>referijalni</a:t>
            </a:r>
            <a:r>
              <a:rPr lang="en-US" dirty="0"/>
              <a:t> </a:t>
            </a:r>
            <a:r>
              <a:rPr lang="en-US" dirty="0" err="1"/>
              <a:t>integritet</a:t>
            </a:r>
            <a:r>
              <a:rPr lang="en-US" dirty="0"/>
              <a:t> </a:t>
            </a:r>
            <a:r>
              <a:rPr lang="en-US" dirty="0" err="1"/>
              <a:t>pri</a:t>
            </a:r>
            <a:r>
              <a:rPr lang="en-US" dirty="0"/>
              <a:t> </a:t>
            </a:r>
            <a:r>
              <a:rPr lang="en-US" dirty="0" err="1"/>
              <a:t>brisanju</a:t>
            </a:r>
            <a:r>
              <a:rPr lang="en-US" dirty="0"/>
              <a:t> — </a:t>
            </a:r>
            <a:r>
              <a:rPr lang="en-US" dirty="0" err="1"/>
              <a:t>brisanje</a:t>
            </a:r>
            <a:r>
              <a:rPr lang="en-US" dirty="0"/>
              <a:t> se mora </a:t>
            </a:r>
            <a:r>
              <a:rPr lang="en-US" dirty="0" err="1"/>
              <a:t>izvršiti</a:t>
            </a:r>
            <a:r>
              <a:rPr lang="en-US" dirty="0"/>
              <a:t> u </a:t>
            </a:r>
            <a:r>
              <a:rPr lang="en-US" dirty="0" err="1"/>
              <a:t>ispravnom</a:t>
            </a:r>
            <a:r>
              <a:rPr lang="en-US" dirty="0"/>
              <a:t> </a:t>
            </a:r>
            <a:r>
              <a:rPr lang="en-US" dirty="0" err="1"/>
              <a:t>redosledu</a:t>
            </a:r>
            <a:r>
              <a:rPr lang="en-US" dirty="0"/>
              <a:t> (</a:t>
            </a:r>
            <a:r>
              <a:rPr lang="en-US" dirty="0" err="1"/>
              <a:t>prvo</a:t>
            </a:r>
            <a:r>
              <a:rPr lang="en-US" dirty="0"/>
              <a:t> SALARY_HISTORY, pa EMPLOYEE), a COUNT </a:t>
            </a:r>
            <a:r>
              <a:rPr lang="en-US" dirty="0" err="1"/>
              <a:t>na</a:t>
            </a:r>
            <a:r>
              <a:rPr lang="en-US" dirty="0"/>
              <a:t> slave </a:t>
            </a:r>
            <a:r>
              <a:rPr lang="en-US" dirty="0" err="1"/>
              <a:t>bazi</a:t>
            </a:r>
            <a:r>
              <a:rPr lang="en-US" dirty="0"/>
              <a:t> mora </a:t>
            </a:r>
            <a:r>
              <a:rPr lang="en-US" dirty="0" err="1"/>
              <a:t>potvrditi</a:t>
            </a:r>
            <a:r>
              <a:rPr lang="en-US" dirty="0"/>
              <a:t> da je </a:t>
            </a:r>
            <a:r>
              <a:rPr lang="en-US" dirty="0" err="1"/>
              <a:t>integritet</a:t>
            </a:r>
            <a:r>
              <a:rPr lang="en-US" dirty="0"/>
              <a:t> </a:t>
            </a:r>
            <a:r>
              <a:rPr lang="en-US" dirty="0" err="1"/>
              <a:t>očuvan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oba </a:t>
            </a:r>
            <a:r>
              <a:rPr lang="en-US" dirty="0" err="1"/>
              <a:t>čvora</a:t>
            </a:r>
            <a:r>
              <a:rPr lang="en-US" dirty="0"/>
              <a:t>.</a:t>
            </a:r>
          </a:p>
          <a:p>
            <a:r>
              <a:rPr lang="en-US" b="1" dirty="0"/>
              <a:t>Test 4 — Health-check</a:t>
            </a:r>
            <a:r>
              <a:rPr lang="en-US" dirty="0"/>
              <a:t> je </a:t>
            </a:r>
            <a:r>
              <a:rPr lang="en-US" dirty="0" err="1"/>
              <a:t>najvažniji</a:t>
            </a:r>
            <a:r>
              <a:rPr lang="en-US" dirty="0"/>
              <a:t> monitoring </a:t>
            </a:r>
            <a:r>
              <a:rPr lang="en-US" dirty="0" err="1"/>
              <a:t>alat</a:t>
            </a:r>
            <a:r>
              <a:rPr lang="en-US" dirty="0"/>
              <a:t> — </a:t>
            </a:r>
            <a:r>
              <a:rPr lang="en-US" dirty="0" err="1"/>
              <a:t>poređenjem</a:t>
            </a:r>
            <a:r>
              <a:rPr lang="en-US" dirty="0"/>
              <a:t> MON$NEXT_TRANSACTION </a:t>
            </a:r>
            <a:r>
              <a:rPr lang="en-US" dirty="0" err="1"/>
              <a:t>između</a:t>
            </a:r>
            <a:r>
              <a:rPr lang="en-US" dirty="0"/>
              <a:t> </a:t>
            </a:r>
            <a:r>
              <a:rPr lang="en-US" dirty="0" err="1"/>
              <a:t>mastera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replike</a:t>
            </a:r>
            <a:r>
              <a:rPr lang="en-US" dirty="0"/>
              <a:t> </a:t>
            </a:r>
            <a:r>
              <a:rPr lang="en-US" dirty="0" err="1"/>
              <a:t>dobijamo</a:t>
            </a:r>
            <a:r>
              <a:rPr lang="en-US" dirty="0"/>
              <a:t> </a:t>
            </a:r>
            <a:r>
              <a:rPr lang="en-US" dirty="0" err="1"/>
              <a:t>direktan</a:t>
            </a:r>
            <a:r>
              <a:rPr lang="en-US" dirty="0"/>
              <a:t> </a:t>
            </a:r>
            <a:r>
              <a:rPr lang="en-US" dirty="0" err="1"/>
              <a:t>uvid</a:t>
            </a:r>
            <a:r>
              <a:rPr lang="en-US" dirty="0"/>
              <a:t> u </a:t>
            </a:r>
            <a:r>
              <a:rPr lang="en-US" dirty="0" err="1"/>
              <a:t>zdravlje</a:t>
            </a:r>
            <a:r>
              <a:rPr lang="en-US" dirty="0"/>
              <a:t> </a:t>
            </a:r>
            <a:r>
              <a:rPr lang="en-US" dirty="0" err="1"/>
              <a:t>replikacije</a:t>
            </a:r>
            <a:r>
              <a:rPr lang="en-US" dirty="0"/>
              <a:t>, mala </a:t>
            </a:r>
            <a:r>
              <a:rPr lang="en-US" dirty="0" err="1"/>
              <a:t>razlika</a:t>
            </a:r>
            <a:r>
              <a:rPr lang="en-US" dirty="0"/>
              <a:t> </a:t>
            </a:r>
            <a:r>
              <a:rPr lang="en-US" dirty="0" err="1"/>
              <a:t>znači</a:t>
            </a:r>
            <a:r>
              <a:rPr lang="en-US" dirty="0"/>
              <a:t> </a:t>
            </a:r>
            <a:r>
              <a:rPr lang="en-US" dirty="0" err="1"/>
              <a:t>zdravo</a:t>
            </a:r>
            <a:r>
              <a:rPr lang="en-US" dirty="0"/>
              <a:t> </a:t>
            </a:r>
            <a:r>
              <a:rPr lang="en-US" dirty="0" err="1"/>
              <a:t>okruženje</a:t>
            </a:r>
            <a:r>
              <a:rPr lang="en-US" dirty="0"/>
              <a:t>, a </a:t>
            </a:r>
            <a:r>
              <a:rPr lang="en-US" dirty="0" err="1"/>
              <a:t>velika</a:t>
            </a:r>
            <a:r>
              <a:rPr lang="en-US" dirty="0"/>
              <a:t> </a:t>
            </a:r>
            <a:r>
              <a:rPr lang="en-US" dirty="0" err="1"/>
              <a:t>razlika</a:t>
            </a:r>
            <a:r>
              <a:rPr lang="en-US" dirty="0"/>
              <a:t> </a:t>
            </a:r>
            <a:r>
              <a:rPr lang="en-US" dirty="0" err="1"/>
              <a:t>signalizira</a:t>
            </a:r>
            <a:r>
              <a:rPr lang="en-US" dirty="0"/>
              <a:t> lag problem koji </a:t>
            </a:r>
            <a:r>
              <a:rPr lang="en-US" dirty="0" err="1"/>
              <a:t>zahteva</a:t>
            </a:r>
            <a:r>
              <a:rPr lang="en-US" dirty="0"/>
              <a:t> </a:t>
            </a:r>
            <a:r>
              <a:rPr lang="en-US" dirty="0" err="1"/>
              <a:t>hitnu</a:t>
            </a:r>
            <a:r>
              <a:rPr lang="en-US" dirty="0"/>
              <a:t> </a:t>
            </a:r>
            <a:r>
              <a:rPr lang="en-US" dirty="0" err="1"/>
              <a:t>dijagnostiku</a:t>
            </a:r>
            <a:r>
              <a:rPr lang="en-US" dirty="0"/>
              <a:t>.</a:t>
            </a:r>
          </a:p>
          <a:p>
            <a:r>
              <a:rPr lang="en-US" b="1" dirty="0"/>
              <a:t>Test 5 — </a:t>
            </a:r>
            <a:r>
              <a:rPr lang="en-US" b="1" dirty="0" err="1"/>
              <a:t>Isključivanje</a:t>
            </a:r>
            <a:r>
              <a:rPr lang="en-US" b="1" dirty="0"/>
              <a:t> </a:t>
            </a:r>
            <a:r>
              <a:rPr lang="en-US" b="1" dirty="0" err="1"/>
              <a:t>tabele</a:t>
            </a:r>
            <a:r>
              <a:rPr lang="en-US" dirty="0"/>
              <a:t> </a:t>
            </a:r>
            <a:r>
              <a:rPr lang="en-US" dirty="0" err="1"/>
              <a:t>demonstrira</a:t>
            </a:r>
            <a:r>
              <a:rPr lang="en-US" dirty="0"/>
              <a:t> </a:t>
            </a:r>
            <a:r>
              <a:rPr lang="en-US" dirty="0" err="1"/>
              <a:t>fleksibilnost</a:t>
            </a:r>
            <a:r>
              <a:rPr lang="en-US" dirty="0"/>
              <a:t> </a:t>
            </a:r>
            <a:r>
              <a:rPr lang="en-US" dirty="0" err="1"/>
              <a:t>logičke</a:t>
            </a:r>
            <a:r>
              <a:rPr lang="en-US" dirty="0"/>
              <a:t> </a:t>
            </a:r>
            <a:r>
              <a:rPr lang="en-US" dirty="0" err="1"/>
              <a:t>replikacije</a:t>
            </a:r>
            <a:r>
              <a:rPr lang="en-US" dirty="0"/>
              <a:t> — </a:t>
            </a:r>
            <a:r>
              <a:rPr lang="en-US" dirty="0" err="1"/>
              <a:t>komandom</a:t>
            </a:r>
            <a:r>
              <a:rPr lang="en-US" dirty="0"/>
              <a:t> ALTER PUBLICATION </a:t>
            </a:r>
            <a:r>
              <a:rPr lang="en-US" dirty="0" err="1"/>
              <a:t>konkretna</a:t>
            </a:r>
            <a:r>
              <a:rPr lang="en-US" dirty="0"/>
              <a:t> </a:t>
            </a:r>
            <a:r>
              <a:rPr lang="en-US" dirty="0" err="1"/>
              <a:t>tabela</a:t>
            </a:r>
            <a:r>
              <a:rPr lang="en-US" dirty="0"/>
              <a:t> se </a:t>
            </a:r>
            <a:r>
              <a:rPr lang="en-US" dirty="0" err="1"/>
              <a:t>isključuje</a:t>
            </a:r>
            <a:r>
              <a:rPr lang="en-US" dirty="0"/>
              <a:t> </a:t>
            </a:r>
            <a:r>
              <a:rPr lang="en-US" dirty="0" err="1"/>
              <a:t>iz</a:t>
            </a:r>
            <a:r>
              <a:rPr lang="en-US" dirty="0"/>
              <a:t> </a:t>
            </a:r>
            <a:r>
              <a:rPr lang="en-US" dirty="0" err="1"/>
              <a:t>replikacije</a:t>
            </a:r>
            <a:r>
              <a:rPr lang="en-US" dirty="0"/>
              <a:t> bez </a:t>
            </a:r>
            <a:r>
              <a:rPr lang="en-US" dirty="0" err="1"/>
              <a:t>uticaja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ostale</a:t>
            </a:r>
            <a:r>
              <a:rPr lang="en-US" dirty="0"/>
              <a:t> </a:t>
            </a:r>
            <a:r>
              <a:rPr lang="en-US" dirty="0" err="1"/>
              <a:t>tabele</a:t>
            </a:r>
            <a:r>
              <a:rPr lang="en-US" dirty="0"/>
              <a:t>, </a:t>
            </a:r>
            <a:r>
              <a:rPr lang="en-US" dirty="0" err="1"/>
              <a:t>što</a:t>
            </a:r>
            <a:r>
              <a:rPr lang="en-US" dirty="0"/>
              <a:t> je </a:t>
            </a:r>
            <a:r>
              <a:rPr lang="en-US" dirty="0" err="1"/>
              <a:t>jedna</a:t>
            </a:r>
            <a:r>
              <a:rPr lang="en-US" dirty="0"/>
              <a:t> od </a:t>
            </a:r>
            <a:r>
              <a:rPr lang="en-US" dirty="0" err="1"/>
              <a:t>ključnih</a:t>
            </a:r>
            <a:r>
              <a:rPr lang="en-US" dirty="0"/>
              <a:t> </a:t>
            </a:r>
            <a:r>
              <a:rPr lang="en-US" dirty="0" err="1"/>
              <a:t>prednosti</a:t>
            </a:r>
            <a:r>
              <a:rPr lang="en-US" dirty="0"/>
              <a:t> </a:t>
            </a:r>
            <a:r>
              <a:rPr lang="en-US" dirty="0" err="1"/>
              <a:t>logičke</a:t>
            </a:r>
            <a:r>
              <a:rPr lang="en-US" dirty="0"/>
              <a:t> </a:t>
            </a:r>
            <a:r>
              <a:rPr lang="en-US" dirty="0" err="1"/>
              <a:t>nad</a:t>
            </a:r>
            <a:r>
              <a:rPr lang="en-US" dirty="0"/>
              <a:t> </a:t>
            </a:r>
            <a:r>
              <a:rPr lang="en-US" dirty="0" err="1"/>
              <a:t>binarnom</a:t>
            </a:r>
            <a:r>
              <a:rPr lang="en-US" dirty="0"/>
              <a:t> </a:t>
            </a:r>
            <a:r>
              <a:rPr lang="en-US" dirty="0" err="1"/>
              <a:t>replikacijom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Mirroring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replikacija</a:t>
            </a:r>
            <a:r>
              <a:rPr lang="en-US" dirty="0"/>
              <a:t> </a:t>
            </a:r>
            <a:r>
              <a:rPr lang="en-US" dirty="0" err="1"/>
              <a:t>su</a:t>
            </a:r>
            <a:r>
              <a:rPr lang="en-US" dirty="0"/>
              <a:t> </a:t>
            </a:r>
            <a:r>
              <a:rPr lang="en-US" dirty="0" err="1"/>
              <a:t>dva</a:t>
            </a:r>
            <a:r>
              <a:rPr lang="en-US" dirty="0"/>
              <a:t> </a:t>
            </a:r>
            <a:r>
              <a:rPr lang="en-US" dirty="0" err="1"/>
              <a:t>fundamentalno</a:t>
            </a:r>
            <a:r>
              <a:rPr lang="en-US" dirty="0"/>
              <a:t> </a:t>
            </a:r>
            <a:r>
              <a:rPr lang="en-US" dirty="0" err="1"/>
              <a:t>različita</a:t>
            </a:r>
            <a:r>
              <a:rPr lang="en-US" dirty="0"/>
              <a:t> </a:t>
            </a:r>
            <a:r>
              <a:rPr lang="en-US" dirty="0" err="1"/>
              <a:t>mehanizma</a:t>
            </a:r>
            <a:r>
              <a:rPr lang="en-US" dirty="0"/>
              <a:t> — Mirroring je </a:t>
            </a:r>
            <a:r>
              <a:rPr lang="en-US" dirty="0" err="1"/>
              <a:t>hardverska</a:t>
            </a:r>
            <a:r>
              <a:rPr lang="en-US" dirty="0"/>
              <a:t> </a:t>
            </a:r>
            <a:r>
              <a:rPr lang="en-US" dirty="0" err="1"/>
              <a:t>redundansa</a:t>
            </a:r>
            <a:r>
              <a:rPr lang="en-US" dirty="0"/>
              <a:t> </a:t>
            </a:r>
            <a:r>
              <a:rPr lang="en-US" dirty="0" err="1"/>
              <a:t>koja</a:t>
            </a:r>
            <a:r>
              <a:rPr lang="en-US" dirty="0"/>
              <a:t> </a:t>
            </a:r>
            <a:r>
              <a:rPr lang="en-US" dirty="0" err="1"/>
              <a:t>radi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nivou</a:t>
            </a:r>
            <a:r>
              <a:rPr lang="en-US" dirty="0"/>
              <a:t> </a:t>
            </a:r>
            <a:r>
              <a:rPr lang="en-US" dirty="0" err="1"/>
              <a:t>stranica</a:t>
            </a:r>
            <a:r>
              <a:rPr lang="en-US" dirty="0"/>
              <a:t> </a:t>
            </a:r>
            <a:r>
              <a:rPr lang="en-US" dirty="0" err="1"/>
              <a:t>isključivo</a:t>
            </a:r>
            <a:r>
              <a:rPr lang="en-US" dirty="0"/>
              <a:t> </a:t>
            </a:r>
            <a:r>
              <a:rPr lang="en-US" dirty="0" err="1"/>
              <a:t>unutar</a:t>
            </a:r>
            <a:r>
              <a:rPr lang="en-US" dirty="0"/>
              <a:t> LAN-a, </a:t>
            </a:r>
            <a:r>
              <a:rPr lang="en-US" dirty="0" err="1"/>
              <a:t>dok</a:t>
            </a:r>
            <a:r>
              <a:rPr lang="en-US" dirty="0"/>
              <a:t> je </a:t>
            </a:r>
            <a:r>
              <a:rPr lang="en-US" dirty="0" err="1"/>
              <a:t>replikacija</a:t>
            </a:r>
            <a:r>
              <a:rPr lang="en-US" dirty="0"/>
              <a:t> </a:t>
            </a:r>
            <a:r>
              <a:rPr lang="en-US" dirty="0" err="1"/>
              <a:t>logička</a:t>
            </a:r>
            <a:r>
              <a:rPr lang="en-US" dirty="0"/>
              <a:t> </a:t>
            </a:r>
            <a:r>
              <a:rPr lang="en-US" dirty="0" err="1"/>
              <a:t>sinhronizacija</a:t>
            </a:r>
            <a:r>
              <a:rPr lang="en-US" dirty="0"/>
              <a:t> </a:t>
            </a:r>
            <a:r>
              <a:rPr lang="en-US" dirty="0" err="1"/>
              <a:t>koja</a:t>
            </a:r>
            <a:r>
              <a:rPr lang="en-US" dirty="0"/>
              <a:t> </a:t>
            </a:r>
            <a:r>
              <a:rPr lang="en-US" dirty="0" err="1"/>
              <a:t>podržava</a:t>
            </a:r>
            <a:r>
              <a:rPr lang="en-US" dirty="0"/>
              <a:t> WAN </a:t>
            </a:r>
            <a:r>
              <a:rPr lang="en-US" dirty="0" err="1"/>
              <a:t>veze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selektivno</a:t>
            </a:r>
            <a:r>
              <a:rPr lang="en-US" dirty="0"/>
              <a:t> </a:t>
            </a:r>
            <a:r>
              <a:rPr lang="en-US" dirty="0" err="1"/>
              <a:t>kopiranje</a:t>
            </a:r>
            <a:r>
              <a:rPr lang="en-US" dirty="0"/>
              <a:t> </a:t>
            </a:r>
            <a:r>
              <a:rPr lang="en-US" dirty="0" err="1"/>
              <a:t>specifičnih</a:t>
            </a:r>
            <a:r>
              <a:rPr lang="en-US" dirty="0"/>
              <a:t> </a:t>
            </a:r>
            <a:r>
              <a:rPr lang="en-US" dirty="0" err="1"/>
              <a:t>tabela</a:t>
            </a:r>
            <a:r>
              <a:rPr lang="en-US" dirty="0"/>
              <a:t>.</a:t>
            </a:r>
          </a:p>
          <a:p>
            <a:r>
              <a:rPr lang="en-US" dirty="0" err="1"/>
              <a:t>Nativna</a:t>
            </a:r>
            <a:r>
              <a:rPr lang="en-US" dirty="0"/>
              <a:t> </a:t>
            </a:r>
            <a:r>
              <a:rPr lang="en-US" dirty="0" err="1"/>
              <a:t>replikacija</a:t>
            </a:r>
            <a:r>
              <a:rPr lang="en-US" dirty="0"/>
              <a:t> </a:t>
            </a:r>
            <a:r>
              <a:rPr lang="en-US" dirty="0" err="1"/>
              <a:t>uvedena</a:t>
            </a:r>
            <a:r>
              <a:rPr lang="en-US" dirty="0"/>
              <a:t> u Firebird 4.0 </a:t>
            </a:r>
            <a:r>
              <a:rPr lang="en-US" dirty="0" err="1"/>
              <a:t>predstavlja</a:t>
            </a:r>
            <a:r>
              <a:rPr lang="en-US" dirty="0"/>
              <a:t> </a:t>
            </a:r>
            <a:r>
              <a:rPr lang="en-US" dirty="0" err="1"/>
              <a:t>revolucionarnu</a:t>
            </a:r>
            <a:r>
              <a:rPr lang="en-US" dirty="0"/>
              <a:t> </a:t>
            </a:r>
            <a:r>
              <a:rPr lang="en-US" dirty="0" err="1"/>
              <a:t>promenu</a:t>
            </a:r>
            <a:r>
              <a:rPr lang="en-US" dirty="0"/>
              <a:t> — po </a:t>
            </a:r>
            <a:r>
              <a:rPr lang="en-US" dirty="0" err="1"/>
              <a:t>prvi</a:t>
            </a:r>
            <a:r>
              <a:rPr lang="en-US" dirty="0"/>
              <a:t> put je </a:t>
            </a:r>
            <a:r>
              <a:rPr lang="en-US" dirty="0" err="1"/>
              <a:t>replikacija</a:t>
            </a:r>
            <a:r>
              <a:rPr lang="en-US" dirty="0"/>
              <a:t> </a:t>
            </a:r>
            <a:r>
              <a:rPr lang="en-US" dirty="0" err="1"/>
              <a:t>ugrađeni</a:t>
            </a:r>
            <a:r>
              <a:rPr lang="en-US" dirty="0"/>
              <a:t> </a:t>
            </a:r>
            <a:r>
              <a:rPr lang="en-US" dirty="0" err="1"/>
              <a:t>mehanizam</a:t>
            </a:r>
            <a:r>
              <a:rPr lang="en-US" dirty="0"/>
              <a:t> </a:t>
            </a:r>
            <a:r>
              <a:rPr lang="en-US" dirty="0" err="1"/>
              <a:t>samog</a:t>
            </a:r>
            <a:r>
              <a:rPr lang="en-US" dirty="0"/>
              <a:t> engine-a bez </a:t>
            </a:r>
            <a:r>
              <a:rPr lang="en-US" dirty="0" err="1"/>
              <a:t>potrebe</a:t>
            </a:r>
            <a:r>
              <a:rPr lang="en-US" dirty="0"/>
              <a:t> za </a:t>
            </a:r>
            <a:r>
              <a:rPr lang="en-US" dirty="0" err="1"/>
              <a:t>alatima</a:t>
            </a:r>
            <a:r>
              <a:rPr lang="en-US" dirty="0"/>
              <a:t> </a:t>
            </a:r>
            <a:r>
              <a:rPr lang="en-US" dirty="0" err="1"/>
              <a:t>trećih</a:t>
            </a:r>
            <a:r>
              <a:rPr lang="en-US" dirty="0"/>
              <a:t> </a:t>
            </a:r>
            <a:r>
              <a:rPr lang="en-US" dirty="0" err="1"/>
              <a:t>strana</a:t>
            </a:r>
            <a:r>
              <a:rPr lang="en-US" dirty="0"/>
              <a:t>.</a:t>
            </a:r>
          </a:p>
          <a:p>
            <a:r>
              <a:rPr lang="en-US" dirty="0"/>
              <a:t>Izbor </a:t>
            </a:r>
            <a:r>
              <a:rPr lang="en-US" dirty="0" err="1"/>
              <a:t>između</a:t>
            </a:r>
            <a:r>
              <a:rPr lang="en-US" dirty="0"/>
              <a:t> </a:t>
            </a:r>
            <a:r>
              <a:rPr lang="en-US" dirty="0" err="1"/>
              <a:t>sinhrona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asinhrona</a:t>
            </a:r>
            <a:r>
              <a:rPr lang="en-US" dirty="0"/>
              <a:t> </a:t>
            </a:r>
            <a:r>
              <a:rPr lang="en-US" dirty="0" err="1"/>
              <a:t>režima</a:t>
            </a:r>
            <a:r>
              <a:rPr lang="en-US" dirty="0"/>
              <a:t> </a:t>
            </a:r>
            <a:r>
              <a:rPr lang="en-US" dirty="0" err="1"/>
              <a:t>uvek</a:t>
            </a:r>
            <a:r>
              <a:rPr lang="en-US" dirty="0"/>
              <a:t> se </a:t>
            </a:r>
            <a:r>
              <a:rPr lang="en-US" dirty="0" err="1"/>
              <a:t>svodi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poslovni</a:t>
            </a:r>
            <a:r>
              <a:rPr lang="en-US" dirty="0"/>
              <a:t> </a:t>
            </a:r>
            <a:r>
              <a:rPr lang="en-US" dirty="0" err="1"/>
              <a:t>zahtev</a:t>
            </a:r>
            <a:r>
              <a:rPr lang="en-US" dirty="0"/>
              <a:t> — Zero Data Loss za </a:t>
            </a:r>
            <a:r>
              <a:rPr lang="en-US" dirty="0" err="1"/>
              <a:t>finansije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zdravstvo</a:t>
            </a:r>
            <a:r>
              <a:rPr lang="en-US" dirty="0"/>
              <a:t>, </a:t>
            </a:r>
            <a:r>
              <a:rPr lang="en-US" dirty="0" err="1"/>
              <a:t>maksimalna</a:t>
            </a:r>
            <a:r>
              <a:rPr lang="en-US" dirty="0"/>
              <a:t> </a:t>
            </a:r>
            <a:r>
              <a:rPr lang="en-US" dirty="0" err="1"/>
              <a:t>brzina</a:t>
            </a:r>
            <a:r>
              <a:rPr lang="en-US" dirty="0"/>
              <a:t> za </a:t>
            </a:r>
            <a:r>
              <a:rPr lang="en-US" dirty="0" err="1"/>
              <a:t>geografski</a:t>
            </a:r>
            <a:r>
              <a:rPr lang="en-US" dirty="0"/>
              <a:t> </a:t>
            </a:r>
            <a:r>
              <a:rPr lang="en-US" dirty="0" err="1"/>
              <a:t>distribuirane</a:t>
            </a:r>
            <a:r>
              <a:rPr lang="en-US" dirty="0"/>
              <a:t> </a:t>
            </a:r>
            <a:r>
              <a:rPr lang="en-US" dirty="0" err="1"/>
              <a:t>sisteme</a:t>
            </a:r>
            <a:r>
              <a:rPr lang="en-US" dirty="0"/>
              <a:t> </a:t>
            </a:r>
            <a:r>
              <a:rPr lang="en-US" dirty="0" err="1"/>
              <a:t>sa</a:t>
            </a:r>
            <a:r>
              <a:rPr lang="en-US" dirty="0"/>
              <a:t> WAN </a:t>
            </a:r>
            <a:r>
              <a:rPr lang="en-US" dirty="0" err="1"/>
              <a:t>vezama</a:t>
            </a:r>
            <a:r>
              <a:rPr lang="en-US" dirty="0"/>
              <a:t>.</a:t>
            </a:r>
          </a:p>
          <a:p>
            <a:r>
              <a:rPr lang="en-US" dirty="0" err="1"/>
              <a:t>Eho</a:t>
            </a:r>
            <a:r>
              <a:rPr lang="en-US" dirty="0"/>
              <a:t> </a:t>
            </a:r>
            <a:r>
              <a:rPr lang="en-US" dirty="0" err="1"/>
              <a:t>efekat</a:t>
            </a:r>
            <a:r>
              <a:rPr lang="en-US" dirty="0"/>
              <a:t> je </a:t>
            </a:r>
            <a:r>
              <a:rPr lang="en-US" dirty="0" err="1"/>
              <a:t>jedan</a:t>
            </a:r>
            <a:r>
              <a:rPr lang="en-US" dirty="0"/>
              <a:t> od </a:t>
            </a:r>
            <a:r>
              <a:rPr lang="en-US" dirty="0" err="1"/>
              <a:t>najvećih</a:t>
            </a:r>
            <a:r>
              <a:rPr lang="en-US" dirty="0"/>
              <a:t> </a:t>
            </a:r>
            <a:r>
              <a:rPr lang="en-US" dirty="0" err="1"/>
              <a:t>izazova</a:t>
            </a:r>
            <a:r>
              <a:rPr lang="en-US" dirty="0"/>
              <a:t> u Multi-Master </a:t>
            </a:r>
            <a:r>
              <a:rPr lang="en-US" dirty="0" err="1"/>
              <a:t>topologijama</a:t>
            </a:r>
            <a:r>
              <a:rPr lang="en-US" dirty="0"/>
              <a:t> — RDB$GET_CONTEXT('SYSTEM','REPLICATING') je </a:t>
            </a:r>
            <a:r>
              <a:rPr lang="en-US" dirty="0" err="1"/>
              <a:t>ključni</a:t>
            </a:r>
            <a:r>
              <a:rPr lang="en-US" dirty="0"/>
              <a:t> </a:t>
            </a:r>
            <a:r>
              <a:rPr lang="en-US" dirty="0" err="1"/>
              <a:t>mehanizam</a:t>
            </a:r>
            <a:r>
              <a:rPr lang="en-US" dirty="0"/>
              <a:t> koji </a:t>
            </a:r>
            <a:r>
              <a:rPr lang="en-US" dirty="0" err="1"/>
              <a:t>sprečava</a:t>
            </a:r>
            <a:r>
              <a:rPr lang="en-US" dirty="0"/>
              <a:t> </a:t>
            </a:r>
            <a:r>
              <a:rPr lang="en-US" dirty="0" err="1"/>
              <a:t>beskonačne</a:t>
            </a:r>
            <a:r>
              <a:rPr lang="en-US" dirty="0"/>
              <a:t> </a:t>
            </a:r>
            <a:r>
              <a:rPr lang="en-US" dirty="0" err="1"/>
              <a:t>petlje</a:t>
            </a:r>
            <a:r>
              <a:rPr lang="en-US" dirty="0"/>
              <a:t> </a:t>
            </a:r>
            <a:r>
              <a:rPr lang="en-US" dirty="0" err="1"/>
              <a:t>tako</a:t>
            </a:r>
            <a:r>
              <a:rPr lang="en-US" dirty="0"/>
              <a:t> </a:t>
            </a:r>
            <a:r>
              <a:rPr lang="en-US" dirty="0" err="1"/>
              <a:t>što</a:t>
            </a:r>
            <a:r>
              <a:rPr lang="en-US" dirty="0"/>
              <a:t> </a:t>
            </a:r>
            <a:r>
              <a:rPr lang="en-US" dirty="0" err="1"/>
              <a:t>trigeri</a:t>
            </a:r>
            <a:r>
              <a:rPr lang="en-US" dirty="0"/>
              <a:t> ne </a:t>
            </a:r>
            <a:r>
              <a:rPr lang="en-US" dirty="0" err="1"/>
              <a:t>okidaju</a:t>
            </a:r>
            <a:r>
              <a:rPr lang="en-US" dirty="0"/>
              <a:t> </a:t>
            </a:r>
            <a:r>
              <a:rPr lang="en-US" dirty="0" err="1"/>
              <a:t>ponovo</a:t>
            </a:r>
            <a:r>
              <a:rPr lang="en-US" dirty="0"/>
              <a:t> </a:t>
            </a:r>
            <a:r>
              <a:rPr lang="en-US" dirty="0" err="1"/>
              <a:t>tokom</a:t>
            </a:r>
            <a:r>
              <a:rPr lang="en-US" dirty="0"/>
              <a:t> </a:t>
            </a:r>
            <a:r>
              <a:rPr lang="en-US" dirty="0" err="1"/>
              <a:t>procesa</a:t>
            </a:r>
            <a:r>
              <a:rPr lang="en-US" dirty="0"/>
              <a:t> </a:t>
            </a:r>
            <a:r>
              <a:rPr lang="en-US" dirty="0" err="1"/>
              <a:t>replikacije</a:t>
            </a:r>
            <a:r>
              <a:rPr lang="en-US" dirty="0"/>
              <a:t>.</a:t>
            </a:r>
          </a:p>
          <a:p>
            <a:r>
              <a:rPr lang="en-US" dirty="0"/>
              <a:t>Firebird 4.0/5.0 je </a:t>
            </a:r>
            <a:r>
              <a:rPr lang="en-US" dirty="0" err="1"/>
              <a:t>tek</a:t>
            </a:r>
            <a:r>
              <a:rPr lang="en-US" dirty="0"/>
              <a:t> </a:t>
            </a:r>
            <a:r>
              <a:rPr lang="en-US" dirty="0" err="1"/>
              <a:t>nedavno</a:t>
            </a:r>
            <a:r>
              <a:rPr lang="en-US" dirty="0"/>
              <a:t> </a:t>
            </a:r>
            <a:r>
              <a:rPr lang="en-US" dirty="0" err="1"/>
              <a:t>dostigao</a:t>
            </a:r>
            <a:r>
              <a:rPr lang="en-US" dirty="0"/>
              <a:t> enterprise </a:t>
            </a:r>
            <a:r>
              <a:rPr lang="en-US" dirty="0" err="1"/>
              <a:t>nivo</a:t>
            </a:r>
            <a:r>
              <a:rPr lang="en-US" dirty="0"/>
              <a:t> </a:t>
            </a:r>
            <a:r>
              <a:rPr lang="en-US" dirty="0" err="1"/>
              <a:t>replikacije</a:t>
            </a:r>
            <a:r>
              <a:rPr lang="en-US" dirty="0"/>
              <a:t> koji PostgreSQL </a:t>
            </a:r>
            <a:r>
              <a:rPr lang="en-US" dirty="0" err="1"/>
              <a:t>i</a:t>
            </a:r>
            <a:r>
              <a:rPr lang="en-US" dirty="0"/>
              <a:t> MSSQL </a:t>
            </a:r>
            <a:r>
              <a:rPr lang="en-US" dirty="0" err="1"/>
              <a:t>imaju</a:t>
            </a:r>
            <a:r>
              <a:rPr lang="en-US" dirty="0"/>
              <a:t> </a:t>
            </a:r>
            <a:r>
              <a:rPr lang="en-US" dirty="0" err="1"/>
              <a:t>već</a:t>
            </a:r>
            <a:r>
              <a:rPr lang="en-US" dirty="0"/>
              <a:t> </a:t>
            </a:r>
            <a:r>
              <a:rPr lang="en-US" dirty="0" err="1"/>
              <a:t>godinama</a:t>
            </a:r>
            <a:r>
              <a:rPr lang="en-US" dirty="0"/>
              <a:t> — </a:t>
            </a:r>
            <a:r>
              <a:rPr lang="en-US" dirty="0" err="1"/>
              <a:t>ali</a:t>
            </a:r>
            <a:r>
              <a:rPr lang="en-US" dirty="0"/>
              <a:t> </a:t>
            </a:r>
            <a:r>
              <a:rPr lang="en-US" dirty="0" err="1"/>
              <a:t>prednost</a:t>
            </a:r>
            <a:r>
              <a:rPr lang="en-US" dirty="0"/>
              <a:t> </a:t>
            </a:r>
            <a:r>
              <a:rPr lang="en-US" dirty="0" err="1"/>
              <a:t>Firebirda</a:t>
            </a:r>
            <a:r>
              <a:rPr lang="en-US" dirty="0"/>
              <a:t> </a:t>
            </a:r>
            <a:r>
              <a:rPr lang="en-US" dirty="0" err="1"/>
              <a:t>ostaje</a:t>
            </a:r>
            <a:r>
              <a:rPr lang="en-US" dirty="0"/>
              <a:t> </a:t>
            </a:r>
            <a:r>
              <a:rPr lang="en-US" dirty="0" err="1"/>
              <a:t>izuzetno</a:t>
            </a:r>
            <a:r>
              <a:rPr lang="en-US" dirty="0"/>
              <a:t> </a:t>
            </a:r>
            <a:r>
              <a:rPr lang="en-US" dirty="0" err="1"/>
              <a:t>niska</a:t>
            </a:r>
            <a:r>
              <a:rPr lang="en-US" dirty="0"/>
              <a:t> </a:t>
            </a:r>
            <a:r>
              <a:rPr lang="en-US" dirty="0" err="1"/>
              <a:t>potrošnja</a:t>
            </a:r>
            <a:r>
              <a:rPr lang="en-US" dirty="0"/>
              <a:t> </a:t>
            </a:r>
            <a:r>
              <a:rPr lang="en-US" dirty="0" err="1"/>
              <a:t>resursa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jednostavnost</a:t>
            </a:r>
            <a:r>
              <a:rPr lang="en-US" dirty="0"/>
              <a:t> </a:t>
            </a:r>
            <a:r>
              <a:rPr lang="en-US" dirty="0" err="1"/>
              <a:t>administracije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/>
        </p:spPr>
        <p:txBody>
          <a:bodyPr/>
          <a:lstStyle/>
          <a:p>
            <a:endParaRPr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3" name="Shape 1"/>
          <p:cNvSpPr/>
          <p:nvPr/>
        </p:nvSpPr>
        <p:spPr>
          <a:xfrm>
            <a:off x="201168" y="0"/>
            <a:ext cx="8942832" cy="5486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Replikacija podataka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457200" y="153619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(Replication and Mirroring)</a:t>
            </a:r>
            <a:endParaRPr lang="en-US" sz="4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6" name="Text 4"/>
          <p:cNvSpPr/>
          <p:nvPr/>
        </p:nvSpPr>
        <p:spPr>
          <a:xfrm>
            <a:off x="457200" y="21031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chemeClr val="accent6">
                    <a:lumMod val="20000"/>
                    <a:lumOff val="8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kod Firebird baze podataka</a:t>
            </a:r>
            <a:endParaRPr lang="en-US" sz="2000" b="1" dirty="0">
              <a:solidFill>
                <a:schemeClr val="accent6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9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1" name="Text 5">
            <a:extLst>
              <a:ext uri="{FF2B5EF4-FFF2-40B4-BE49-F238E27FC236}">
                <a16:creationId xmlns:a16="http://schemas.microsoft.com/office/drawing/2014/main" id="{B3F7093A-1B0E-EA2D-69D0-73E890752FCC}"/>
              </a:ext>
            </a:extLst>
          </p:cNvPr>
          <p:cNvSpPr/>
          <p:nvPr/>
        </p:nvSpPr>
        <p:spPr>
          <a:xfrm>
            <a:off x="660399" y="3863340"/>
            <a:ext cx="352697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Mentor: dr Aleksandar S. Stanimirović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12" name="Text 4">
            <a:extLst>
              <a:ext uri="{FF2B5EF4-FFF2-40B4-BE49-F238E27FC236}">
                <a16:creationId xmlns:a16="http://schemas.microsoft.com/office/drawing/2014/main" id="{35D96694-6F48-ADBB-997C-AC6A87633411}"/>
              </a:ext>
            </a:extLst>
          </p:cNvPr>
          <p:cNvSpPr/>
          <p:nvPr/>
        </p:nvSpPr>
        <p:spPr>
          <a:xfrm>
            <a:off x="660399" y="3510643"/>
            <a:ext cx="356325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sr-Latn-RS" sz="1400" i="1" dirty="0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Student:  </a:t>
            </a:r>
            <a:r>
              <a:rPr lang="en-US" sz="1400" i="1" dirty="0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Jefimija </a:t>
            </a:r>
            <a:r>
              <a:rPr lang="en-US" sz="1400" i="1" dirty="0" err="1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Stamenovi</a:t>
            </a:r>
            <a:r>
              <a:rPr lang="sr-Latn-RS" sz="1400" i="1" dirty="0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ć 1820/2024</a:t>
            </a:r>
            <a:endParaRPr lang="en-US" sz="1400" i="1" dirty="0">
              <a:solidFill>
                <a:schemeClr val="bg1"/>
              </a:solidFill>
            </a:endParaRPr>
          </a:p>
        </p:txBody>
      </p:sp>
      <p:sp>
        <p:nvSpPr>
          <p:cNvPr id="13" name="Text 7">
            <a:extLst>
              <a:ext uri="{FF2B5EF4-FFF2-40B4-BE49-F238E27FC236}">
                <a16:creationId xmlns:a16="http://schemas.microsoft.com/office/drawing/2014/main" id="{8E222DE8-FECA-E6C1-2899-17F8A6C2661A}"/>
              </a:ext>
            </a:extLst>
          </p:cNvPr>
          <p:cNvSpPr/>
          <p:nvPr/>
        </p:nvSpPr>
        <p:spPr>
          <a:xfrm>
            <a:off x="274320" y="4818888"/>
            <a:ext cx="8595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000" b="1" dirty="0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Elektronski fakultet u </a:t>
            </a:r>
            <a:r>
              <a:rPr lang="en-US" sz="1000" b="1" dirty="0" err="1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Nišu</a:t>
            </a:r>
            <a:r>
              <a:rPr lang="sr-Latn-RS" sz="1000" b="1" dirty="0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b="1" dirty="0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·</a:t>
            </a:r>
            <a:r>
              <a:rPr lang="sr-Latn-RS" sz="1000" b="1" dirty="0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b="1" dirty="0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Master </a:t>
            </a:r>
            <a:r>
              <a:rPr lang="en-US" sz="1000" b="1" dirty="0" err="1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akademske</a:t>
            </a:r>
            <a:r>
              <a:rPr lang="en-US" sz="1000" b="1" dirty="0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b="1" dirty="0" err="1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studije</a:t>
            </a:r>
            <a:r>
              <a:rPr lang="en-US" sz="1000" b="1" dirty="0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  ·  Sistemi za upravljanje </a:t>
            </a:r>
            <a:r>
              <a:rPr lang="en-US" sz="1000" b="1" dirty="0" err="1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bazama</a:t>
            </a:r>
            <a:r>
              <a:rPr lang="en-US" sz="1000" b="1" dirty="0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b="1" dirty="0" err="1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podataka</a:t>
            </a:r>
            <a:r>
              <a:rPr lang="sr-Latn-RS" sz="1000" b="1" dirty="0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b="1" dirty="0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·  Mart 2026. </a:t>
            </a:r>
            <a:endParaRPr lang="en-US" sz="1000" b="1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37160" y="0"/>
            <a:ext cx="9006840" cy="658368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274320" y="64008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Sadržaj prezentacije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228600" y="941832"/>
            <a:ext cx="429768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228600" y="941832"/>
            <a:ext cx="502920" cy="804672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246888" y="110642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400" dirty="0">
              <a:solidFill>
                <a:schemeClr val="bg1"/>
              </a:solidFill>
            </a:endParaRPr>
          </a:p>
        </p:txBody>
      </p:sp>
      <p:sp>
        <p:nvSpPr>
          <p:cNvPr id="8" name="Text 6"/>
          <p:cNvSpPr/>
          <p:nvPr/>
        </p:nvSpPr>
        <p:spPr>
          <a:xfrm>
            <a:off x="822960" y="1005840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Kontekst i CAP teorema</a:t>
            </a:r>
            <a:endParaRPr lang="en-US" sz="1600" b="1" dirty="0"/>
          </a:p>
        </p:txBody>
      </p:sp>
      <p:sp>
        <p:nvSpPr>
          <p:cNvPr id="9" name="Text 7"/>
          <p:cNvSpPr/>
          <p:nvPr/>
        </p:nvSpPr>
        <p:spPr>
          <a:xfrm>
            <a:off x="822960" y="1362456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Konzistentnost vs Dostupnost — fundamentalni kompromis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28600" y="1901952"/>
            <a:ext cx="429768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228600" y="1901952"/>
            <a:ext cx="502920" cy="804672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246888" y="20665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400" dirty="0">
              <a:solidFill>
                <a:schemeClr val="bg1"/>
              </a:solidFill>
            </a:endParaRPr>
          </a:p>
        </p:txBody>
      </p:sp>
      <p:sp>
        <p:nvSpPr>
          <p:cNvPr id="13" name="Text 11"/>
          <p:cNvSpPr/>
          <p:nvPr/>
        </p:nvSpPr>
        <p:spPr>
          <a:xfrm>
            <a:off x="822960" y="1965960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Preslikavanje (Mirroring)</a:t>
            </a:r>
            <a:endParaRPr lang="en-US" sz="1600" b="1" dirty="0"/>
          </a:p>
        </p:txBody>
      </p:sp>
      <p:sp>
        <p:nvSpPr>
          <p:cNvPr id="14" name="Text 12"/>
          <p:cNvSpPr/>
          <p:nvPr/>
        </p:nvSpPr>
        <p:spPr>
          <a:xfrm>
            <a:off x="822960" y="2322576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Arhitektura, MANUAL/AUTO re</a:t>
            </a:r>
            <a:r>
              <a:rPr lang="sr-Latn-R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ž</a:t>
            </a:r>
            <a:r>
              <a:rPr lang="en-US" sz="14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imi</a:t>
            </a: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scenario oporavka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228600" y="2862072"/>
            <a:ext cx="429768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228600" y="2862072"/>
            <a:ext cx="502920" cy="804672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246888" y="302666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400" dirty="0">
              <a:solidFill>
                <a:schemeClr val="bg1"/>
              </a:solidFill>
            </a:endParaRPr>
          </a:p>
        </p:txBody>
      </p:sp>
      <p:sp>
        <p:nvSpPr>
          <p:cNvPr id="18" name="Text 16"/>
          <p:cNvSpPr/>
          <p:nvPr/>
        </p:nvSpPr>
        <p:spPr>
          <a:xfrm>
            <a:off x="822960" y="2926080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Nativna binarna replikacija</a:t>
            </a:r>
            <a:endParaRPr lang="en-US" sz="1600" b="1" dirty="0"/>
          </a:p>
        </p:txBody>
      </p:sp>
      <p:sp>
        <p:nvSpPr>
          <p:cNvPr id="19" name="Text 17"/>
          <p:cNvSpPr/>
          <p:nvPr/>
        </p:nvSpPr>
        <p:spPr>
          <a:xfrm>
            <a:off x="822960" y="3282696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Firebird 4.0 — replikacioni dnevnici, sinhronizacija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228600" y="3822192"/>
            <a:ext cx="429768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1" name="Shape 19"/>
          <p:cNvSpPr/>
          <p:nvPr/>
        </p:nvSpPr>
        <p:spPr>
          <a:xfrm>
            <a:off x="228600" y="3822192"/>
            <a:ext cx="502920" cy="804672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2" name="Text 20"/>
          <p:cNvSpPr/>
          <p:nvPr/>
        </p:nvSpPr>
        <p:spPr>
          <a:xfrm>
            <a:off x="246888" y="398678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400" dirty="0">
              <a:solidFill>
                <a:schemeClr val="bg1"/>
              </a:solidFill>
            </a:endParaRPr>
          </a:p>
        </p:txBody>
      </p:sp>
      <p:sp>
        <p:nvSpPr>
          <p:cNvPr id="23" name="Text 21"/>
          <p:cNvSpPr/>
          <p:nvPr/>
        </p:nvSpPr>
        <p:spPr>
          <a:xfrm>
            <a:off x="822960" y="3886200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Sinhrona vs Asinhrona replikacija</a:t>
            </a:r>
            <a:endParaRPr lang="en-US" sz="1600" b="1" dirty="0"/>
          </a:p>
        </p:txBody>
      </p:sp>
      <p:sp>
        <p:nvSpPr>
          <p:cNvPr id="24" name="Text 22"/>
          <p:cNvSpPr/>
          <p:nvPr/>
        </p:nvSpPr>
        <p:spPr>
          <a:xfrm>
            <a:off x="822960" y="4242816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Data Loss vs Replication Lag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4754880" y="941832"/>
            <a:ext cx="429768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6" name="Shape 24"/>
          <p:cNvSpPr/>
          <p:nvPr/>
        </p:nvSpPr>
        <p:spPr>
          <a:xfrm>
            <a:off x="4754880" y="941832"/>
            <a:ext cx="502920" cy="804672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7" name="Text 25"/>
          <p:cNvSpPr/>
          <p:nvPr/>
        </p:nvSpPr>
        <p:spPr>
          <a:xfrm>
            <a:off x="4773168" y="110642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2400" dirty="0">
              <a:solidFill>
                <a:schemeClr val="bg1"/>
              </a:solidFill>
            </a:endParaRPr>
          </a:p>
        </p:txBody>
      </p:sp>
      <p:sp>
        <p:nvSpPr>
          <p:cNvPr id="28" name="Text 26"/>
          <p:cNvSpPr/>
          <p:nvPr/>
        </p:nvSpPr>
        <p:spPr>
          <a:xfrm>
            <a:off x="5349240" y="1005840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</a:t>
            </a:r>
            <a:r>
              <a:rPr lang="sr-Latn-R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 </a:t>
            </a:r>
            <a:r>
              <a:rPr lang="en-US" sz="1600" b="1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replikacija</a:t>
            </a:r>
            <a:endParaRPr lang="en-US" sz="1600" b="1" dirty="0"/>
          </a:p>
        </p:txBody>
      </p:sp>
      <p:sp>
        <p:nvSpPr>
          <p:cNvPr id="29" name="Text 27"/>
          <p:cNvSpPr/>
          <p:nvPr/>
        </p:nvSpPr>
        <p:spPr>
          <a:xfrm>
            <a:off x="5349240" y="1362456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Trigeri, REPLICATION_LOG tabela, re</a:t>
            </a:r>
            <a:r>
              <a:rPr lang="sr-Latn-R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š</a:t>
            </a:r>
            <a:r>
              <a:rPr lang="en-US" sz="14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avanje</a:t>
            </a: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konflikata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4754880" y="1901952"/>
            <a:ext cx="429768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1" name="Shape 29"/>
          <p:cNvSpPr/>
          <p:nvPr/>
        </p:nvSpPr>
        <p:spPr>
          <a:xfrm>
            <a:off x="4754880" y="1901952"/>
            <a:ext cx="502920" cy="804672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2" name="Text 30"/>
          <p:cNvSpPr/>
          <p:nvPr/>
        </p:nvSpPr>
        <p:spPr>
          <a:xfrm>
            <a:off x="4773168" y="20665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2400" dirty="0">
              <a:solidFill>
                <a:schemeClr val="bg1"/>
              </a:solidFill>
            </a:endParaRPr>
          </a:p>
        </p:txBody>
      </p:sp>
      <p:sp>
        <p:nvSpPr>
          <p:cNvPr id="33" name="Text 31"/>
          <p:cNvSpPr/>
          <p:nvPr/>
        </p:nvSpPr>
        <p:spPr>
          <a:xfrm>
            <a:off x="5349240" y="1965960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Multi-Master topologije</a:t>
            </a:r>
            <a:endParaRPr lang="en-US" sz="1600" b="1" dirty="0"/>
          </a:p>
        </p:txBody>
      </p:sp>
      <p:sp>
        <p:nvSpPr>
          <p:cNvPr id="34" name="Text 32"/>
          <p:cNvSpPr/>
          <p:nvPr/>
        </p:nvSpPr>
        <p:spPr>
          <a:xfrm>
            <a:off x="5349240" y="2322576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Star, Mesh, Ring — eho efekat </a:t>
            </a:r>
            <a:r>
              <a:rPr lang="en-US" sz="14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</a:t>
            </a:r>
            <a:r>
              <a:rPr lang="sr-Latn-R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ša</a:t>
            </a:r>
            <a:r>
              <a:rPr lang="en-US" sz="14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vanje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4754880" y="2862072"/>
            <a:ext cx="429768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6" name="Shape 34"/>
          <p:cNvSpPr/>
          <p:nvPr/>
        </p:nvSpPr>
        <p:spPr>
          <a:xfrm>
            <a:off x="4754880" y="2862072"/>
            <a:ext cx="502920" cy="804672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7" name="Text 35"/>
          <p:cNvSpPr/>
          <p:nvPr/>
        </p:nvSpPr>
        <p:spPr>
          <a:xfrm>
            <a:off x="4773168" y="302666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2400" dirty="0">
              <a:solidFill>
                <a:schemeClr val="bg1"/>
              </a:solidFill>
            </a:endParaRPr>
          </a:p>
        </p:txBody>
      </p:sp>
      <p:sp>
        <p:nvSpPr>
          <p:cNvPr id="38" name="Text 36"/>
          <p:cNvSpPr/>
          <p:nvPr/>
        </p:nvSpPr>
        <p:spPr>
          <a:xfrm>
            <a:off x="5349240" y="2926080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Prakti</a:t>
            </a:r>
            <a:r>
              <a:rPr lang="sr-Latn-R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600" b="1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</a:t>
            </a: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implementacija</a:t>
            </a:r>
            <a:endParaRPr lang="en-US" sz="1600" b="1" dirty="0"/>
          </a:p>
        </p:txBody>
      </p:sp>
      <p:sp>
        <p:nvSpPr>
          <p:cNvPr id="39" name="Text 37"/>
          <p:cNvSpPr/>
          <p:nvPr/>
        </p:nvSpPr>
        <p:spPr>
          <a:xfrm>
            <a:off x="5349240" y="3282696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koraka konfiguracije + 5 verifikacionih primera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37160" y="0"/>
            <a:ext cx="9006840" cy="658368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274320" y="64008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 teorema — temeljni kompromis svakog distribuiranog sistema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320040" y="822960"/>
            <a:ext cx="2743200" cy="3474720"/>
          </a:xfrm>
          <a:prstGeom prst="rect">
            <a:avLst/>
          </a:prstGeom>
          <a:solidFill>
            <a:srgbClr val="FFFFFF"/>
          </a:solidFill>
          <a:ln w="12700">
            <a:solidFill>
              <a:schemeClr val="bg1">
                <a:lumMod val="75000"/>
              </a:schemeClr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320040" y="822960"/>
            <a:ext cx="2743200" cy="960120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320040" y="850392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11480" y="152704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Consistency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11480" y="176479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Konzistentnost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11480" y="2173803"/>
            <a:ext cx="256032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i slave </a:t>
            </a:r>
            <a:r>
              <a:rPr lang="en-US" sz="14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</a:t>
            </a: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</a:t>
            </a:r>
            <a:r>
              <a:rPr lang="sr-Latn-R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4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</a:t>
            </a: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 svakom </a:t>
            </a:r>
            <a:r>
              <a:rPr lang="en-US" sz="14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trenutku</a:t>
            </a: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sr-Latn-RS" sz="1400" dirty="0">
              <a:solidFill>
                <a:srgbClr val="1B2A4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endParaRPr lang="en-US" sz="1400" dirty="0">
              <a:solidFill>
                <a:srgbClr val="1B2A4A"/>
              </a:solidFill>
            </a:endParaRPr>
          </a:p>
          <a:p>
            <a:pPr marL="0" indent="0">
              <a:buNone/>
            </a:pP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Zahteva sinhronizaciju pre odgovora </a:t>
            </a:r>
            <a:r>
              <a:rPr lang="en-US" sz="14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korisniku</a:t>
            </a: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sr-Latn-RS" sz="1400" dirty="0">
              <a:solidFill>
                <a:srgbClr val="1B2A4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endParaRPr lang="en-US" sz="1400" dirty="0">
              <a:solidFill>
                <a:srgbClr val="1B2A4A"/>
              </a:solidFill>
            </a:endParaRPr>
          </a:p>
          <a:p>
            <a:pPr marL="0" indent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Primer: </a:t>
            </a: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finansijske aplikacije, </a:t>
            </a:r>
            <a:r>
              <a:rPr lang="en-US" sz="14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knji</a:t>
            </a:r>
            <a:r>
              <a:rPr lang="sr-Latn-R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ž</a:t>
            </a:r>
            <a:r>
              <a:rPr lang="en-US" sz="14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enje</a:t>
            </a: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 </a:t>
            </a:r>
            <a:r>
              <a:rPr lang="en-US" sz="14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realnom</a:t>
            </a: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vremenu</a:t>
            </a:r>
            <a:endParaRPr lang="en-US" sz="1400" dirty="0">
              <a:solidFill>
                <a:srgbClr val="1B2A4A"/>
              </a:solidFill>
            </a:endParaRPr>
          </a:p>
        </p:txBody>
      </p:sp>
      <p:sp>
        <p:nvSpPr>
          <p:cNvPr id="11" name="Shape 9"/>
          <p:cNvSpPr/>
          <p:nvPr/>
        </p:nvSpPr>
        <p:spPr>
          <a:xfrm>
            <a:off x="3218688" y="822960"/>
            <a:ext cx="2743200" cy="3474720"/>
          </a:xfrm>
          <a:prstGeom prst="rect">
            <a:avLst/>
          </a:prstGeom>
          <a:solidFill>
            <a:srgbClr val="FFFFFF"/>
          </a:solidFill>
          <a:ln w="12700">
            <a:solidFill>
              <a:schemeClr val="bg1">
                <a:lumMod val="75000"/>
              </a:schemeClr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3218688" y="822960"/>
            <a:ext cx="2743200" cy="960120"/>
          </a:xfrm>
          <a:prstGeom prst="rect">
            <a:avLst/>
          </a:prstGeom>
          <a:solidFill>
            <a:schemeClr val="accent6">
              <a:lumMod val="50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3218688" y="850392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4600" dirty="0"/>
          </a:p>
        </p:txBody>
      </p:sp>
      <p:sp>
        <p:nvSpPr>
          <p:cNvPr id="14" name="Text 12"/>
          <p:cNvSpPr/>
          <p:nvPr/>
        </p:nvSpPr>
        <p:spPr>
          <a:xfrm>
            <a:off x="3310128" y="152704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Availability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310128" y="176479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Dostupnost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310128" y="2173803"/>
            <a:ext cx="256032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Fokus na brzini rada i kontinuitetu </a:t>
            </a:r>
            <a:r>
              <a:rPr lang="en-US" sz="14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servisa</a:t>
            </a: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sr-Latn-RS" sz="1400" dirty="0">
              <a:solidFill>
                <a:srgbClr val="1B2A4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endParaRPr lang="en-US" sz="1400" dirty="0">
              <a:solidFill>
                <a:srgbClr val="1B2A4A"/>
              </a:solidFill>
            </a:endParaRPr>
          </a:p>
          <a:p>
            <a:pPr marL="0" indent="0">
              <a:buNone/>
            </a:pP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Korisnik ne </a:t>
            </a:r>
            <a:r>
              <a:rPr lang="sr-Latn-R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eka potvrdu slave </a:t>
            </a:r>
            <a:r>
              <a:rPr lang="en-US" sz="14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servera</a:t>
            </a: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sr-Latn-RS" sz="1400" dirty="0">
              <a:solidFill>
                <a:srgbClr val="1B2A4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endParaRPr lang="en-US" sz="1400" dirty="0">
              <a:solidFill>
                <a:srgbClr val="1B2A4A"/>
              </a:solidFill>
            </a:endParaRPr>
          </a:p>
          <a:p>
            <a:pPr marL="0" indent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Primer: </a:t>
            </a: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prikupljanje podataka sa </a:t>
            </a:r>
            <a:r>
              <a:rPr lang="en-US" sz="14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mernih</a:t>
            </a: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ure</a:t>
            </a:r>
            <a:r>
              <a:rPr lang="sr-Latn-R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</a:t>
            </a:r>
            <a:r>
              <a:rPr lang="en-US" sz="14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aja</a:t>
            </a: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IoT </a:t>
            </a:r>
            <a:r>
              <a:rPr lang="en-US" sz="14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sistemi</a:t>
            </a:r>
            <a:endParaRPr lang="en-US" sz="1400" dirty="0">
              <a:solidFill>
                <a:srgbClr val="1B2A4A"/>
              </a:solidFill>
            </a:endParaRPr>
          </a:p>
        </p:txBody>
      </p:sp>
      <p:sp>
        <p:nvSpPr>
          <p:cNvPr id="17" name="Shape 15"/>
          <p:cNvSpPr/>
          <p:nvPr/>
        </p:nvSpPr>
        <p:spPr>
          <a:xfrm>
            <a:off x="6117336" y="822960"/>
            <a:ext cx="2743200" cy="3474720"/>
          </a:xfrm>
          <a:prstGeom prst="rect">
            <a:avLst/>
          </a:prstGeom>
          <a:solidFill>
            <a:srgbClr val="FFFFFF"/>
          </a:solidFill>
          <a:ln w="12700">
            <a:solidFill>
              <a:schemeClr val="bg1">
                <a:lumMod val="75000"/>
              </a:schemeClr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6117336" y="822960"/>
            <a:ext cx="2743200" cy="960120"/>
          </a:xfrm>
          <a:prstGeom prst="rect">
            <a:avLst/>
          </a:prstGeom>
          <a:solidFill>
            <a:schemeClr val="accent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6117336" y="850392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</a:t>
            </a:r>
            <a:endParaRPr lang="en-US" sz="4600" dirty="0"/>
          </a:p>
        </p:txBody>
      </p:sp>
      <p:sp>
        <p:nvSpPr>
          <p:cNvPr id="20" name="Text 18"/>
          <p:cNvSpPr/>
          <p:nvPr/>
        </p:nvSpPr>
        <p:spPr>
          <a:xfrm>
            <a:off x="6208776" y="152704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Part. Tolerance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208776" y="176479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Otpornost na particije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208776" y="2173803"/>
            <a:ext cx="256032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</a:t>
            </a: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funkcioni</a:t>
            </a:r>
            <a:r>
              <a:rPr lang="sr-Latn-R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š</a:t>
            </a: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i </a:t>
            </a:r>
            <a:r>
              <a:rPr lang="en-US" sz="14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kada</a:t>
            </a: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mre</a:t>
            </a:r>
            <a:r>
              <a:rPr lang="sr-Latn-R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ž</a:t>
            </a: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nije </a:t>
            </a:r>
            <a:r>
              <a:rPr lang="en-US" sz="14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pouzdana</a:t>
            </a: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sr-Latn-RS" sz="1400" dirty="0">
              <a:solidFill>
                <a:srgbClr val="1B2A4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endParaRPr lang="en-US" sz="1400" dirty="0">
              <a:solidFill>
                <a:srgbClr val="1B2A4A"/>
              </a:solidFill>
            </a:endParaRPr>
          </a:p>
          <a:p>
            <a:pPr marL="0" indent="0">
              <a:buNone/>
            </a:pP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Firebird bira: ili C+P (sinhrono) ili A+P (</a:t>
            </a:r>
            <a:r>
              <a:rPr lang="en-US" sz="14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asinhrono</a:t>
            </a: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).</a:t>
            </a:r>
            <a:endParaRPr lang="sr-Latn-RS" sz="1400" dirty="0">
              <a:solidFill>
                <a:srgbClr val="1B2A4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endParaRPr lang="en-US" sz="1400" dirty="0">
              <a:solidFill>
                <a:srgbClr val="1B2A4A"/>
              </a:solidFill>
            </a:endParaRPr>
          </a:p>
          <a:p>
            <a:pPr marL="0" indent="0">
              <a:buNone/>
            </a:pPr>
            <a:r>
              <a:rPr lang="sr-Latn-R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Nije moguće </a:t>
            </a:r>
            <a:r>
              <a:rPr lang="en-US" sz="14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imati</a:t>
            </a: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sva tri </a:t>
            </a:r>
            <a:r>
              <a:rPr lang="en-US" sz="14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istovremeno</a:t>
            </a:r>
            <a:endParaRPr lang="en-US" sz="1400" dirty="0">
              <a:solidFill>
                <a:srgbClr val="1B2A4A"/>
              </a:solidFill>
            </a:endParaRPr>
          </a:p>
        </p:txBody>
      </p:sp>
      <p:sp>
        <p:nvSpPr>
          <p:cNvPr id="23" name="Shape 21"/>
          <p:cNvSpPr/>
          <p:nvPr/>
        </p:nvSpPr>
        <p:spPr>
          <a:xfrm>
            <a:off x="320040" y="4453128"/>
            <a:ext cx="8540496" cy="548640"/>
          </a:xfrm>
          <a:prstGeom prst="rect">
            <a:avLst/>
          </a:prstGeom>
          <a:solidFill>
            <a:srgbClr val="1B2A4A"/>
          </a:solidFill>
          <a:ln/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4" name="Text 22"/>
          <p:cNvSpPr/>
          <p:nvPr/>
        </p:nvSpPr>
        <p:spPr>
          <a:xfrm>
            <a:off x="411480" y="4498848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Firebird 4.0 nudi OBA režima: sinhroni (C+P) za finansije i asinhroni (A+P) za visoku propusnost.</a:t>
            </a:r>
            <a:endParaRPr lang="en-US" sz="1400" b="1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37160" y="0"/>
            <a:ext cx="9006840" cy="658368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274320" y="64008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Preslikavanje (Mirroring) — arhitektura i režimi rada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228600" y="777240"/>
            <a:ext cx="2560320" cy="777240"/>
          </a:xfrm>
          <a:prstGeom prst="rect">
            <a:avLst/>
          </a:prstGeom>
          <a:solidFill>
            <a:srgbClr val="1B2A4A"/>
          </a:solidFill>
          <a:ln/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228600" y="777240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Korisni</a:t>
            </a:r>
            <a:r>
              <a:rPr lang="sr-Latn-R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2834640" y="100584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sr-Latn-RS" b="1" dirty="0"/>
              <a:t>→</a:t>
            </a:r>
            <a:endParaRPr lang="en-US" sz="2000" b="1" dirty="0"/>
          </a:p>
        </p:txBody>
      </p:sp>
      <p:sp>
        <p:nvSpPr>
          <p:cNvPr id="8" name="Shape 6"/>
          <p:cNvSpPr/>
          <p:nvPr/>
        </p:nvSpPr>
        <p:spPr>
          <a:xfrm>
            <a:off x="3337560" y="777240"/>
            <a:ext cx="2423160" cy="777240"/>
          </a:xfrm>
          <a:prstGeom prst="rect">
            <a:avLst/>
          </a:prstGeom>
          <a:solidFill>
            <a:schemeClr val="accent6">
              <a:lumMod val="50000"/>
            </a:schemeClr>
          </a:solidFill>
          <a:ln/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3337560" y="77724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Upis na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PRIMARNI disk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783580" y="100584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2000" dirty="0">
              <a:solidFill>
                <a:srgbClr val="1B2A4A"/>
              </a:solidFill>
            </a:endParaRPr>
          </a:p>
        </p:txBody>
      </p:sp>
      <p:sp>
        <p:nvSpPr>
          <p:cNvPr id="11" name="Shape 9"/>
          <p:cNvSpPr/>
          <p:nvPr/>
        </p:nvSpPr>
        <p:spPr>
          <a:xfrm>
            <a:off x="6263640" y="777240"/>
            <a:ext cx="2651760" cy="777240"/>
          </a:xfrm>
          <a:prstGeom prst="rect">
            <a:avLst/>
          </a:prstGeom>
          <a:solidFill>
            <a:schemeClr val="accent5">
              <a:lumMod val="75000"/>
            </a:schemeClr>
          </a:solidFill>
          <a:ln/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6263640" y="77724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Upis na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SHADOW disk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28600" y="164592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Upis je UVEK sinhroni — baza ceka potvrdu OBA diska. Operise na nivou stranica (4–16 KB), ne SQL naredbi.</a:t>
            </a:r>
            <a:endParaRPr lang="en-US" sz="1400" b="1" dirty="0">
              <a:solidFill>
                <a:srgbClr val="1B2A4A"/>
              </a:solidFill>
            </a:endParaRPr>
          </a:p>
        </p:txBody>
      </p:sp>
      <p:sp>
        <p:nvSpPr>
          <p:cNvPr id="14" name="Shape 12"/>
          <p:cNvSpPr/>
          <p:nvPr/>
        </p:nvSpPr>
        <p:spPr>
          <a:xfrm>
            <a:off x="228600" y="2011680"/>
            <a:ext cx="416052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228600" y="2011680"/>
            <a:ext cx="64008" cy="1371600"/>
          </a:xfrm>
          <a:prstGeom prst="rect">
            <a:avLst/>
          </a:prstGeom>
          <a:solidFill>
            <a:schemeClr val="accent6">
              <a:lumMod val="50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365760" y="2084832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režim (strogi)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365760" y="2468880"/>
            <a:ext cx="3977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Ispravnost kopije je prioritet </a:t>
            </a:r>
            <a:r>
              <a:rPr lang="en-US" sz="12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nad</a:t>
            </a: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dostupno</a:t>
            </a:r>
            <a:r>
              <a:rPr lang="sr-Latn-R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šć</a:t>
            </a: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</a:t>
            </a:r>
            <a:endParaRPr lang="en-US" sz="1200" dirty="0">
              <a:solidFill>
                <a:srgbClr val="1B2A4A"/>
              </a:solidFill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Ako shadow disk </a:t>
            </a:r>
            <a:r>
              <a:rPr lang="en-US" sz="12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zaka</a:t>
            </a:r>
            <a:r>
              <a:rPr lang="sr-Latn-R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ž</a:t>
            </a: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-&gt; </a:t>
            </a: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CELA BAZA SE ZATVARA</a:t>
            </a: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00" dirty="0">
              <a:solidFill>
                <a:srgbClr val="1B2A4A"/>
              </a:solidFill>
            </a:endParaRPr>
          </a:p>
          <a:p>
            <a:pPr marL="0" indent="0">
              <a:buNone/>
            </a:pPr>
            <a:r>
              <a:rPr lang="en-US" sz="12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Koristiti</a:t>
            </a: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kod</a:t>
            </a: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finansijski</a:t>
            </a:r>
            <a:r>
              <a:rPr lang="sr-Latn-R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 </a:t>
            </a:r>
            <a:r>
              <a:rPr lang="en-US" sz="12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</a:t>
            </a:r>
            <a:r>
              <a:rPr lang="sr-Latn-R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a,</a:t>
            </a: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kriti</a:t>
            </a:r>
            <a:r>
              <a:rPr lang="sr-Latn-R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čno za</a:t>
            </a: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ERP</a:t>
            </a:r>
            <a:r>
              <a:rPr lang="sr-Latn-R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sisteme</a:t>
            </a:r>
            <a:endParaRPr lang="en-US" sz="1200" dirty="0">
              <a:solidFill>
                <a:srgbClr val="1B2A4A"/>
              </a:solidFill>
            </a:endParaRPr>
          </a:p>
          <a:p>
            <a:r>
              <a:rPr lang="en-US" sz="1200" dirty="0">
                <a:solidFill>
                  <a:srgbClr val="1B2A4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CREATE SHADOW 1 MANUAL 'D:\</a:t>
            </a:r>
            <a:r>
              <a:rPr lang="sr-Latn-RS" sz="1200" dirty="0">
                <a:solidFill>
                  <a:srgbClr val="1B2A4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Mirror</a:t>
            </a:r>
            <a:r>
              <a:rPr lang="en-US" sz="1200" dirty="0">
                <a:solidFill>
                  <a:srgbClr val="1B2A4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\</a:t>
            </a:r>
            <a:r>
              <a:rPr lang="sr-Latn-RS" sz="1200" dirty="0">
                <a:solidFill>
                  <a:srgbClr val="1B2A4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naziv_baze</a:t>
            </a:r>
            <a:r>
              <a:rPr lang="en-US" sz="1200" dirty="0">
                <a:solidFill>
                  <a:srgbClr val="1B2A4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.shd';</a:t>
            </a:r>
            <a:endParaRPr lang="en-US" sz="1200" dirty="0">
              <a:solidFill>
                <a:srgbClr val="1B2A4A"/>
              </a:solidFill>
              <a:latin typeface="Consolas" panose="020B0609020204030204" pitchFamily="49" charset="0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4572000" y="2011680"/>
            <a:ext cx="434340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Shape 17"/>
          <p:cNvSpPr/>
          <p:nvPr/>
        </p:nvSpPr>
        <p:spPr>
          <a:xfrm>
            <a:off x="4572000" y="2011680"/>
            <a:ext cx="64008" cy="1371600"/>
          </a:xfrm>
          <a:prstGeom prst="rect">
            <a:avLst/>
          </a:prstGeom>
          <a:solidFill>
            <a:schemeClr val="accent5">
              <a:lumMod val="75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4709160" y="2084832"/>
            <a:ext cx="4160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 režim (tolerantni)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709160" y="2468880"/>
            <a:ext cx="41605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Neprekidni rad je prioritet nad redundansom.</a:t>
            </a:r>
            <a:endParaRPr lang="en-US" sz="1200" dirty="0">
              <a:solidFill>
                <a:srgbClr val="1B2A4A"/>
              </a:solidFill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Ako shadow disk </a:t>
            </a:r>
            <a:r>
              <a:rPr lang="en-US" sz="12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zaka</a:t>
            </a:r>
            <a:r>
              <a:rPr lang="sr-Latn-R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ž</a:t>
            </a: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-&gt; baza NASTAVLJA RAD bez </a:t>
            </a:r>
            <a:r>
              <a:rPr lang="en-US" sz="12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preslikavanja</a:t>
            </a:r>
            <a:endParaRPr lang="en-US" sz="1200" dirty="0">
              <a:solidFill>
                <a:srgbClr val="1B2A4A"/>
              </a:solidFill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Koristiti kod: dev/test okruzenja, </a:t>
            </a:r>
            <a:r>
              <a:rPr lang="en-US" sz="12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</a:t>
            </a:r>
            <a:r>
              <a:rPr lang="sr-Latn-R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sa backup generatorom.</a:t>
            </a:r>
            <a:endParaRPr lang="en-US" sz="1200" dirty="0">
              <a:solidFill>
                <a:srgbClr val="1B2A4A"/>
              </a:solidFill>
            </a:endParaRPr>
          </a:p>
          <a:p>
            <a:r>
              <a:rPr lang="en-US" sz="1200" dirty="0">
                <a:solidFill>
                  <a:srgbClr val="1B2A4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CREATE SHADOW 1 AUTO 'D:\</a:t>
            </a:r>
            <a:r>
              <a:rPr lang="sr-Latn-RS" sz="1200" dirty="0">
                <a:solidFill>
                  <a:srgbClr val="1B2A4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Mirror</a:t>
            </a:r>
            <a:r>
              <a:rPr lang="en-US" sz="1200" dirty="0">
                <a:solidFill>
                  <a:srgbClr val="1B2A4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\</a:t>
            </a:r>
            <a:r>
              <a:rPr lang="sr-Latn-RS" sz="1200" dirty="0">
                <a:solidFill>
                  <a:srgbClr val="1B2A4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naziv_baze</a:t>
            </a:r>
            <a:r>
              <a:rPr lang="en-US" sz="1200" dirty="0">
                <a:solidFill>
                  <a:srgbClr val="1B2A4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.</a:t>
            </a:r>
            <a:r>
              <a:rPr lang="en-US" sz="1200" dirty="0" err="1">
                <a:solidFill>
                  <a:srgbClr val="1B2A4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shd</a:t>
            </a:r>
            <a:r>
              <a:rPr lang="en-US" sz="1200" dirty="0">
                <a:solidFill>
                  <a:srgbClr val="1B2A4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';</a:t>
            </a:r>
            <a:endParaRPr lang="en-US" sz="1200" dirty="0">
              <a:solidFill>
                <a:srgbClr val="1B2A4A"/>
              </a:solidFill>
              <a:latin typeface="Consolas" panose="020B0609020204030204" pitchFamily="49" charset="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260604" y="3538728"/>
            <a:ext cx="8686800" cy="142515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Shape 21"/>
          <p:cNvSpPr/>
          <p:nvPr/>
        </p:nvSpPr>
        <p:spPr>
          <a:xfrm>
            <a:off x="228600" y="3538728"/>
            <a:ext cx="64008" cy="1425158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Text 22"/>
          <p:cNvSpPr/>
          <p:nvPr/>
        </p:nvSpPr>
        <p:spPr>
          <a:xfrm>
            <a:off x="365760" y="3566958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Ograničenja preslikavanja: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365760" y="3995928"/>
            <a:ext cx="83210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1450" indent="-171450">
              <a:buSzPct val="150000"/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I/O kazna (oba diska se </a:t>
            </a:r>
            <a:r>
              <a:rPr lang="sr-Latn-R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4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ekaju</a:t>
            </a: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 </a:t>
            </a:r>
            <a:endParaRPr lang="sr-Latn-RS" sz="1400" dirty="0">
              <a:solidFill>
                <a:srgbClr val="1B2A4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71450" indent="-171450">
              <a:buSzPct val="150000"/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Samo za LAN — nije za WAN  </a:t>
            </a:r>
            <a:endParaRPr lang="sr-Latn-RS" sz="1400" dirty="0">
              <a:solidFill>
                <a:srgbClr val="1B2A4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71450" indent="-171450">
              <a:buSzPct val="150000"/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Nema read offloading — shadow </a:t>
            </a:r>
            <a:r>
              <a:rPr lang="en-US" sz="14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nije</a:t>
            </a: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sr-Latn-R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4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itljiv</a:t>
            </a: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dok je </a:t>
            </a:r>
            <a:r>
              <a:rPr lang="en-US" sz="14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aktivan</a:t>
            </a: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endParaRPr lang="sr-Latn-RS" sz="1400" dirty="0">
              <a:solidFill>
                <a:srgbClr val="1B2A4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71450" indent="-171450">
              <a:buSzPct val="150000"/>
              <a:buFont typeface="Arial" panose="020B0604020202020204" pitchFamily="34" charset="0"/>
              <a:buChar char="•"/>
            </a:pPr>
            <a:r>
              <a:rPr lang="en-US" sz="14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</a:t>
            </a:r>
            <a:r>
              <a:rPr lang="sr-Latn-R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ODS (ista verzija Firebird)  </a:t>
            </a:r>
            <a:endParaRPr lang="sr-Latn-RS" sz="1400" dirty="0">
              <a:solidFill>
                <a:srgbClr val="1B2A4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71450" indent="-171450">
              <a:buSzPct val="150000"/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Nema </a:t>
            </a:r>
            <a:r>
              <a:rPr lang="en-US" sz="14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raspodele</a:t>
            </a: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optere</a:t>
            </a:r>
            <a:r>
              <a:rPr lang="sr-Latn-R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ć</a:t>
            </a:r>
            <a:r>
              <a:rPr lang="en-US" sz="14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enja</a:t>
            </a:r>
            <a:endParaRPr lang="en-US" sz="1400" dirty="0">
              <a:solidFill>
                <a:srgbClr val="1B2A4A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37160" y="0"/>
            <a:ext cx="9006840" cy="658368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274320" y="64008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Nativna binarna replikacija — Firebird 4.0 revolucija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228600" y="777240"/>
            <a:ext cx="8686800" cy="594360"/>
          </a:xfrm>
          <a:prstGeom prst="rect">
            <a:avLst/>
          </a:prstGeom>
          <a:solidFill>
            <a:srgbClr val="1B2A4A"/>
          </a:solidFill>
          <a:ln/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320040" y="82296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Firebird 4.0 uvodi PRVU nativnu binarnu replikaciju u </a:t>
            </a:r>
            <a:r>
              <a:rPr lang="en-US" sz="1600" b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standardnu</a:t>
            </a:r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b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distribuciju</a:t>
            </a:r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bez alata </a:t>
            </a:r>
            <a:r>
              <a:rPr lang="en-US" sz="1600" b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</a:t>
            </a:r>
            <a:r>
              <a:rPr lang="sr-Latn-R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ći</a:t>
            </a:r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 </a:t>
            </a:r>
            <a:r>
              <a:rPr lang="en-US" sz="1600" b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strana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7" name="Shape 5"/>
          <p:cNvSpPr/>
          <p:nvPr/>
        </p:nvSpPr>
        <p:spPr>
          <a:xfrm>
            <a:off x="228600" y="1527048"/>
            <a:ext cx="1542143" cy="804672"/>
          </a:xfrm>
          <a:prstGeom prst="rect">
            <a:avLst/>
          </a:prstGeom>
          <a:solidFill>
            <a:srgbClr val="1B2A4A"/>
          </a:solidFill>
          <a:ln/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228600" y="1527048"/>
            <a:ext cx="1542143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baza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770743" y="1783080"/>
            <a:ext cx="18607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sr-Latn-RS" sz="1200" b="1" dirty="0">
                <a:solidFill>
                  <a:schemeClr val="accent5">
                    <a:lumMod val="50000"/>
                  </a:schemeClr>
                </a:solidFill>
              </a:rPr>
              <a:t>→</a:t>
            </a:r>
            <a:endParaRPr lang="en-US" sz="1200" b="1" dirty="0">
              <a:solidFill>
                <a:schemeClr val="accent5">
                  <a:lumMod val="50000"/>
                </a:schemeClr>
              </a:solidFill>
            </a:endParaRPr>
          </a:p>
        </p:txBody>
      </p:sp>
      <p:sp>
        <p:nvSpPr>
          <p:cNvPr id="10" name="Shape 8"/>
          <p:cNvSpPr/>
          <p:nvPr/>
        </p:nvSpPr>
        <p:spPr>
          <a:xfrm>
            <a:off x="1965960" y="1527048"/>
            <a:ext cx="1600200" cy="804672"/>
          </a:xfrm>
          <a:prstGeom prst="rect">
            <a:avLst/>
          </a:prstGeom>
          <a:solidFill>
            <a:srgbClr val="243660"/>
          </a:solidFill>
          <a:ln/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 sz="1200"/>
          </a:p>
        </p:txBody>
      </p:sp>
      <p:sp>
        <p:nvSpPr>
          <p:cNvPr id="11" name="Text 9"/>
          <p:cNvSpPr/>
          <p:nvPr/>
        </p:nvSpPr>
        <p:spPr>
          <a:xfrm>
            <a:off x="1965960" y="1527048"/>
            <a:ext cx="16002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Journal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584448" y="1783080"/>
            <a:ext cx="1097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703320" y="1527048"/>
            <a:ext cx="1600200" cy="804672"/>
          </a:xfrm>
          <a:prstGeom prst="rect">
            <a:avLst/>
          </a:prstGeom>
          <a:solidFill>
            <a:schemeClr val="accent6">
              <a:lumMod val="50000"/>
            </a:schemeClr>
          </a:solidFill>
          <a:ln/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 sz="1200"/>
          </a:p>
        </p:txBody>
      </p:sp>
      <p:sp>
        <p:nvSpPr>
          <p:cNvPr id="14" name="Text 12"/>
          <p:cNvSpPr/>
          <p:nvPr/>
        </p:nvSpPr>
        <p:spPr>
          <a:xfrm>
            <a:off x="3703320" y="1527048"/>
            <a:ext cx="16002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Directory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321808" y="1783080"/>
            <a:ext cx="1097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40680" y="1527048"/>
            <a:ext cx="1600200" cy="804672"/>
          </a:xfrm>
          <a:prstGeom prst="rect">
            <a:avLst/>
          </a:prstGeom>
          <a:solidFill>
            <a:schemeClr val="accent6">
              <a:lumMod val="75000"/>
            </a:schemeClr>
          </a:solidFill>
          <a:ln/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5440680" y="1527048"/>
            <a:ext cx="16002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Replikacioni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7178040" y="1527048"/>
            <a:ext cx="1600200" cy="804672"/>
          </a:xfrm>
          <a:prstGeom prst="rect">
            <a:avLst/>
          </a:prstGeom>
          <a:solidFill>
            <a:schemeClr val="bg1">
              <a:lumMod val="50000"/>
            </a:schemeClr>
          </a:solidFill>
          <a:ln/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7178040" y="1527048"/>
            <a:ext cx="16002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Slave baza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replay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228600" y="2496312"/>
            <a:ext cx="2743200" cy="13533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2" name="Shape 20"/>
          <p:cNvSpPr/>
          <p:nvPr/>
        </p:nvSpPr>
        <p:spPr>
          <a:xfrm>
            <a:off x="228600" y="2496312"/>
            <a:ext cx="64008" cy="1353312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365760" y="2533179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Journal Segment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365760" y="2866136"/>
            <a:ext cx="2560320" cy="8813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Promene se akumuliraju u memorijskom baferu (BufferPoolSize).</a:t>
            </a:r>
            <a:endParaRPr lang="en-US" sz="1200" dirty="0">
              <a:solidFill>
                <a:srgbClr val="1B2A4A"/>
              </a:solidFill>
            </a:endParaRPr>
          </a:p>
          <a:p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Kad se </a:t>
            </a:r>
            <a:r>
              <a:rPr lang="en-US" sz="12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napuni</a:t>
            </a: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sr-Latn-RS" sz="1200" dirty="0">
                <a:solidFill>
                  <a:srgbClr val="1B2A4A"/>
                </a:solidFill>
              </a:rPr>
              <a:t>→</a:t>
            </a: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flush na disk kao binarni segment.</a:t>
            </a:r>
            <a:endParaRPr lang="en-US" sz="1200" dirty="0">
              <a:solidFill>
                <a:srgbClr val="1B2A4A"/>
              </a:solidFill>
            </a:endParaRPr>
          </a:p>
        </p:txBody>
      </p:sp>
      <p:sp>
        <p:nvSpPr>
          <p:cNvPr id="25" name="Shape 23"/>
          <p:cNvSpPr/>
          <p:nvPr/>
        </p:nvSpPr>
        <p:spPr>
          <a:xfrm>
            <a:off x="3154680" y="2496312"/>
            <a:ext cx="2743200" cy="13533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6" name="Shape 24"/>
          <p:cNvSpPr/>
          <p:nvPr/>
        </p:nvSpPr>
        <p:spPr>
          <a:xfrm>
            <a:off x="3154680" y="2496312"/>
            <a:ext cx="64008" cy="1353312"/>
          </a:xfrm>
          <a:prstGeom prst="rect">
            <a:avLst/>
          </a:prstGeom>
          <a:solidFill>
            <a:schemeClr val="accent6">
              <a:lumMod val="75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27" name="Text 25"/>
          <p:cNvSpPr/>
          <p:nvPr/>
        </p:nvSpPr>
        <p:spPr>
          <a:xfrm>
            <a:off x="3291840" y="2533179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Replikacioni Agent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291840" y="2866136"/>
            <a:ext cx="2560320" cy="8813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Namenski podsistem unutar engine-a.</a:t>
            </a:r>
            <a:endParaRPr lang="en-US" sz="1200" dirty="0">
              <a:solidFill>
                <a:srgbClr val="1B2A4A"/>
              </a:solidFill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Kontinuirano skenira archive directory.</a:t>
            </a:r>
            <a:endParaRPr lang="en-US" sz="1200" dirty="0">
              <a:solidFill>
                <a:srgbClr val="1B2A4A"/>
              </a:solidFill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Primenjuje segmente na slave bazu kroz SQL replay.</a:t>
            </a:r>
            <a:endParaRPr lang="en-US" sz="1200" dirty="0">
              <a:solidFill>
                <a:srgbClr val="1B2A4A"/>
              </a:solidFill>
            </a:endParaRPr>
          </a:p>
        </p:txBody>
      </p:sp>
      <p:sp>
        <p:nvSpPr>
          <p:cNvPr id="29" name="Shape 27"/>
          <p:cNvSpPr/>
          <p:nvPr/>
        </p:nvSpPr>
        <p:spPr>
          <a:xfrm>
            <a:off x="6080760" y="2496312"/>
            <a:ext cx="2834640" cy="13533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0" name="Shape 28"/>
          <p:cNvSpPr/>
          <p:nvPr/>
        </p:nvSpPr>
        <p:spPr>
          <a:xfrm>
            <a:off x="6080760" y="2496312"/>
            <a:ext cx="64008" cy="1353312"/>
          </a:xfrm>
          <a:prstGeom prst="rect">
            <a:avLst/>
          </a:prstGeom>
          <a:solidFill>
            <a:schemeClr val="accent6">
              <a:lumMod val="50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31" name="Text 29"/>
          <p:cNvSpPr/>
          <p:nvPr/>
        </p:nvSpPr>
        <p:spPr>
          <a:xfrm>
            <a:off x="6217920" y="2533179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GUID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6217920" y="2866136"/>
            <a:ext cx="2651760" cy="881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Slave baza prihvata SAMO logove od mastera </a:t>
            </a:r>
            <a:r>
              <a:rPr lang="en-US" sz="12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</a:t>
            </a: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ta</a:t>
            </a:r>
            <a:r>
              <a:rPr lang="sr-Latn-R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čn</a:t>
            </a: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tim GUID-om.</a:t>
            </a:r>
            <a:endParaRPr lang="en-US" sz="1200" dirty="0">
              <a:solidFill>
                <a:srgbClr val="1B2A4A"/>
              </a:solidFill>
            </a:endParaRPr>
          </a:p>
          <a:p>
            <a:pPr marL="0" indent="0">
              <a:buNone/>
            </a:pPr>
            <a:r>
              <a:rPr lang="en-US" sz="12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</a:t>
            </a:r>
            <a:r>
              <a:rPr lang="sr-Latn-R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 </a:t>
            </a:r>
            <a:r>
              <a:rPr lang="en-US" sz="12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nenamerno</a:t>
            </a: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me</a:t>
            </a:r>
            <a:r>
              <a:rPr lang="sr-Latn-R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ša</a:t>
            </a:r>
            <a:r>
              <a:rPr lang="en-US" sz="12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nje</a:t>
            </a: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podataka </a:t>
            </a:r>
            <a:r>
              <a:rPr lang="en-US" sz="12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</a:t>
            </a: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sr-Latn-R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</a:t>
            </a:r>
            <a:r>
              <a:rPr lang="en-US" sz="12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</a:t>
            </a:r>
            <a:r>
              <a:rPr lang="sr-Latn-R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š</a:t>
            </a:r>
            <a:r>
              <a:rPr lang="en-US" sz="12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nog</a:t>
            </a: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servera</a:t>
            </a: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00" dirty="0">
              <a:solidFill>
                <a:srgbClr val="1B2A4A"/>
              </a:solidFill>
            </a:endParaRPr>
          </a:p>
        </p:txBody>
      </p:sp>
      <p:sp>
        <p:nvSpPr>
          <p:cNvPr id="33" name="Shape 31"/>
          <p:cNvSpPr/>
          <p:nvPr/>
        </p:nvSpPr>
        <p:spPr>
          <a:xfrm>
            <a:off x="228600" y="3995928"/>
            <a:ext cx="8686800" cy="1083564"/>
          </a:xfrm>
          <a:prstGeom prst="rect">
            <a:avLst/>
          </a:prstGeom>
          <a:solidFill>
            <a:schemeClr val="bg1"/>
          </a:solidFill>
          <a:ln/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4" name="Shape 32"/>
          <p:cNvSpPr/>
          <p:nvPr/>
        </p:nvSpPr>
        <p:spPr>
          <a:xfrm>
            <a:off x="228600" y="3995928"/>
            <a:ext cx="8686800" cy="329184"/>
          </a:xfrm>
          <a:prstGeom prst="rect">
            <a:avLst/>
          </a:prstGeom>
          <a:solidFill>
            <a:schemeClr val="bg1">
              <a:lumMod val="50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35" name="Text 33"/>
          <p:cNvSpPr/>
          <p:nvPr/>
        </p:nvSpPr>
        <p:spPr>
          <a:xfrm>
            <a:off x="320040" y="4032504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Klju</a:t>
            </a:r>
            <a:r>
              <a:rPr lang="sr-Latn-R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400" b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</a:t>
            </a: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parametri replication.conf (master)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36" name="Text 34"/>
          <p:cNvSpPr/>
          <p:nvPr/>
        </p:nvSpPr>
        <p:spPr>
          <a:xfrm>
            <a:off x="320040" y="4379976"/>
            <a:ext cx="8503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journal_directory = C:\repl\journal          # privremeni segmenti</a:t>
            </a:r>
            <a:endParaRPr lang="en-US" sz="1000" dirty="0">
              <a:solidFill>
                <a:srgbClr val="1B2A4A"/>
              </a:solidFill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journal_archive_directory = C:\repl\archive    # trajni arhiv</a:t>
            </a:r>
            <a:endParaRPr lang="en-US" sz="1000" dirty="0">
              <a:solidFill>
                <a:srgbClr val="1B2A4A"/>
              </a:solidFill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journal_archive_timeout = 30                   # sekundi pre flush-a</a:t>
            </a:r>
            <a:endParaRPr lang="en-US" sz="1000" dirty="0">
              <a:solidFill>
                <a:srgbClr val="1B2A4A"/>
              </a:solidFill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sync_replica = localhost:D:\baze\slave.fdb      # sinhroni slave</a:t>
            </a:r>
            <a:endParaRPr lang="en-US" sz="1000" dirty="0">
              <a:solidFill>
                <a:srgbClr val="1B2A4A"/>
              </a:solidFill>
            </a:endParaRPr>
          </a:p>
        </p:txBody>
      </p:sp>
      <p:sp>
        <p:nvSpPr>
          <p:cNvPr id="37" name="Text 7">
            <a:extLst>
              <a:ext uri="{FF2B5EF4-FFF2-40B4-BE49-F238E27FC236}">
                <a16:creationId xmlns:a16="http://schemas.microsoft.com/office/drawing/2014/main" id="{98D39A59-BF7B-CCE8-54FF-78E6A6460A73}"/>
              </a:ext>
            </a:extLst>
          </p:cNvPr>
          <p:cNvSpPr/>
          <p:nvPr/>
        </p:nvSpPr>
        <p:spPr>
          <a:xfrm>
            <a:off x="3541704" y="1789176"/>
            <a:ext cx="18607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sr-Latn-RS" sz="1200" b="1" dirty="0">
                <a:solidFill>
                  <a:schemeClr val="accent5">
                    <a:lumMod val="50000"/>
                  </a:schemeClr>
                </a:solidFill>
              </a:rPr>
              <a:t>→</a:t>
            </a:r>
            <a:endParaRPr lang="en-US" sz="1200" b="1" dirty="0">
              <a:solidFill>
                <a:schemeClr val="accent5">
                  <a:lumMod val="50000"/>
                </a:schemeClr>
              </a:solidFill>
            </a:endParaRPr>
          </a:p>
        </p:txBody>
      </p:sp>
      <p:sp>
        <p:nvSpPr>
          <p:cNvPr id="38" name="Text 7">
            <a:extLst>
              <a:ext uri="{FF2B5EF4-FFF2-40B4-BE49-F238E27FC236}">
                <a16:creationId xmlns:a16="http://schemas.microsoft.com/office/drawing/2014/main" id="{2DF9C73A-38FB-9133-D16F-45D9DBF9A0BA}"/>
              </a:ext>
            </a:extLst>
          </p:cNvPr>
          <p:cNvSpPr/>
          <p:nvPr/>
        </p:nvSpPr>
        <p:spPr>
          <a:xfrm>
            <a:off x="5279064" y="1783080"/>
            <a:ext cx="18607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sr-Latn-RS" sz="1200" b="1" dirty="0">
                <a:solidFill>
                  <a:schemeClr val="accent5">
                    <a:lumMod val="50000"/>
                  </a:schemeClr>
                </a:solidFill>
              </a:rPr>
              <a:t>→</a:t>
            </a:r>
            <a:endParaRPr lang="en-US" sz="1200" b="1" dirty="0">
              <a:solidFill>
                <a:schemeClr val="accent5">
                  <a:lumMod val="50000"/>
                </a:schemeClr>
              </a:solidFill>
            </a:endParaRPr>
          </a:p>
        </p:txBody>
      </p:sp>
      <p:sp>
        <p:nvSpPr>
          <p:cNvPr id="39" name="Text 7">
            <a:extLst>
              <a:ext uri="{FF2B5EF4-FFF2-40B4-BE49-F238E27FC236}">
                <a16:creationId xmlns:a16="http://schemas.microsoft.com/office/drawing/2014/main" id="{3E1FB7B9-750F-1F77-7680-E3E8DC918BC2}"/>
              </a:ext>
            </a:extLst>
          </p:cNvPr>
          <p:cNvSpPr/>
          <p:nvPr/>
        </p:nvSpPr>
        <p:spPr>
          <a:xfrm>
            <a:off x="7016424" y="1789176"/>
            <a:ext cx="18607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sr-Latn-RS" sz="1200" b="1" dirty="0">
                <a:solidFill>
                  <a:schemeClr val="accent5">
                    <a:lumMod val="50000"/>
                  </a:schemeClr>
                </a:solidFill>
              </a:rPr>
              <a:t>→</a:t>
            </a:r>
            <a:endParaRPr lang="en-US" sz="1200" b="1" dirty="0">
              <a:solidFill>
                <a:schemeClr val="accent5">
                  <a:lumMod val="50000"/>
                </a:schemeClr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37160" y="0"/>
            <a:ext cx="9006840" cy="658368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274320" y="64008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Sinhrona vs Asinhrona replikacija — ključni kompromis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228600" y="777240"/>
            <a:ext cx="4160520" cy="3886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228600" y="777240"/>
            <a:ext cx="4160520" cy="411480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320040" y="795528"/>
            <a:ext cx="397764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SINHRONI režim (Synchronous)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47472" y="1359672"/>
            <a:ext cx="201168" cy="201168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594360" y="1314880"/>
            <a:ext cx="3703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</a:t>
            </a:r>
            <a:r>
              <a:rPr lang="sr-Latn-BA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eka potvrdu slave-a pre odgovora korisniku.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47472" y="1789440"/>
            <a:ext cx="201168" cy="201168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594360" y="1744648"/>
            <a:ext cx="3703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Data Loss (RPO = 0) — </a:t>
            </a:r>
            <a:r>
              <a:rPr lang="en-US" sz="14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apsolutna</a:t>
            </a: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identičnost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47472" y="2219208"/>
            <a:ext cx="201168" cy="201168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594360" y="2147912"/>
            <a:ext cx="3703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Latencija upisa = </a:t>
            </a:r>
            <a:r>
              <a:rPr lang="en-US" sz="14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latencija</a:t>
            </a: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mre</a:t>
            </a:r>
            <a:r>
              <a:rPr lang="sr-Latn-BA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ž</a:t>
            </a: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47472" y="2648976"/>
            <a:ext cx="201168" cy="201168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594360" y="2577680"/>
            <a:ext cx="3703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Preporuka: gigabit LAN ili </a:t>
            </a:r>
            <a:r>
              <a:rPr lang="en-US" sz="14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direktan</a:t>
            </a: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link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47472" y="3078744"/>
            <a:ext cx="201168" cy="201168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594360" y="3007448"/>
            <a:ext cx="3703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Koristiti za: finansije, bankarstvo, zdravstvo.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47472" y="3508512"/>
            <a:ext cx="201168" cy="201168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594360" y="3463720"/>
            <a:ext cx="3703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Konfiguracija: sync_replica = slave_connection_string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754880" y="777240"/>
            <a:ext cx="4160520" cy="3886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1" name="Shape 19"/>
          <p:cNvSpPr/>
          <p:nvPr/>
        </p:nvSpPr>
        <p:spPr>
          <a:xfrm>
            <a:off x="4754880" y="777240"/>
            <a:ext cx="4160520" cy="41148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2" name="Text 20"/>
          <p:cNvSpPr/>
          <p:nvPr/>
        </p:nvSpPr>
        <p:spPr>
          <a:xfrm>
            <a:off x="4846320" y="795528"/>
            <a:ext cx="397764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ASINHRONI režim (Asynchronous)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873752" y="1333168"/>
            <a:ext cx="201168" cy="201168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Text 22"/>
          <p:cNvSpPr/>
          <p:nvPr/>
        </p:nvSpPr>
        <p:spPr>
          <a:xfrm>
            <a:off x="5120640" y="1261872"/>
            <a:ext cx="3703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upisuje lokalno, log </a:t>
            </a:r>
            <a:r>
              <a:rPr lang="sr-Latn-BA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š</a:t>
            </a:r>
            <a:r>
              <a:rPr lang="en-US" sz="14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alje</a:t>
            </a: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 pozadini.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4873752" y="1762936"/>
            <a:ext cx="201168" cy="201168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6" name="Text 24"/>
          <p:cNvSpPr/>
          <p:nvPr/>
        </p:nvSpPr>
        <p:spPr>
          <a:xfrm>
            <a:off x="5120640" y="1691640"/>
            <a:ext cx="3703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Replication Lag — slave kasni za masterom.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4873752" y="2192704"/>
            <a:ext cx="201168" cy="201168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8" name="Text 26"/>
          <p:cNvSpPr/>
          <p:nvPr/>
        </p:nvSpPr>
        <p:spPr>
          <a:xfrm>
            <a:off x="5120640" y="2121408"/>
            <a:ext cx="3703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Maksimalna brzina za lokalne korisnike.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4873752" y="2622472"/>
            <a:ext cx="201168" cy="201168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0" name="Text 28"/>
          <p:cNvSpPr/>
          <p:nvPr/>
        </p:nvSpPr>
        <p:spPr>
          <a:xfrm>
            <a:off x="5120640" y="2551176"/>
            <a:ext cx="3703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Preporuka: WAN veze, </a:t>
            </a:r>
            <a:r>
              <a:rPr lang="en-US" sz="14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</a:t>
            </a:r>
            <a:r>
              <a:rPr lang="sr-Latn-BA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r>
              <a:rPr lang="en-US" sz="14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fski</a:t>
            </a: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udaljeni slave.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4873752" y="3052240"/>
            <a:ext cx="201168" cy="201168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2" name="Text 30"/>
          <p:cNvSpPr/>
          <p:nvPr/>
        </p:nvSpPr>
        <p:spPr>
          <a:xfrm>
            <a:off x="5120640" y="2980944"/>
            <a:ext cx="3703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RPO &gt; 0 — prihvatljiv gubitak podataka.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4873752" y="3482008"/>
            <a:ext cx="201168" cy="201168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4" name="Text 32"/>
          <p:cNvSpPr/>
          <p:nvPr/>
        </p:nvSpPr>
        <p:spPr>
          <a:xfrm>
            <a:off x="5120640" y="3410712"/>
            <a:ext cx="3703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Konfiguracija: async_replica = slave_connection_string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4338364" y="2436279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37160" y="0"/>
            <a:ext cx="9006840" cy="658368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274320" y="64008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Logička replikacija zasnovana na trigerima (CDC)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228600" y="777240"/>
            <a:ext cx="8686800" cy="85496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228600" y="777240"/>
            <a:ext cx="64008" cy="658368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365760" y="805236"/>
            <a:ext cx="8503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Šta je CDC (Change Data Capture)?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65760" y="1079556"/>
            <a:ext cx="8503920" cy="47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 razliku od binarne replikacije koja kopira stranice, 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</a:t>
            </a:r>
            <a:r>
              <a:rPr lang="sr-Latn-BA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 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replikacija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presre</a:t>
            </a:r>
            <a:r>
              <a:rPr lang="sr-Latn-BA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ć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svaki INSERT/UPDATE/DELETE kroz trigere 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bele</a:t>
            </a:r>
            <a:r>
              <a:rPr lang="sr-Latn-BA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ž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promene u namenske tabele (audit log). Prednost: selektivna 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replikacija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</a:t>
            </a:r>
            <a:r>
              <a:rPr lang="sr-Latn-BA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nih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tabela, cross-version, 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heterogena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okru</a:t>
            </a:r>
            <a:r>
              <a:rPr lang="sr-Latn-BA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ž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enja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28600" y="1705356"/>
            <a:ext cx="4160520" cy="1572768"/>
          </a:xfrm>
          <a:prstGeom prst="rect">
            <a:avLst/>
          </a:prstGeom>
          <a:solidFill>
            <a:srgbClr val="1E3A5F"/>
          </a:solidFill>
          <a:ln/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228600" y="1705356"/>
            <a:ext cx="4160520" cy="329184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320040" y="1741932"/>
            <a:ext cx="3977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Tabela REPLICATION_LOG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20040" y="2089404"/>
            <a:ext cx="397764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 TABLE REPLICATION_LOG (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LOG_ID      BIGINT GENERATED BY DEFAULT AS IDENTITY PRIMARY KEY,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TABLE_NAME  VARCHAR(64) NOT NULL,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OPERATION   CHAR(1) NOT NULL,  -- I/U/D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PK_VALUE    VARCHAR(50),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CHANGED_AT  TIMESTAMP DEFAULT CURRENT_TIMESTAMP,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PAYLOAD     BLOB SUB_TYPE TEXT  -- JSON/XML sadrzaj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572000" y="1705356"/>
            <a:ext cx="4343400" cy="1572768"/>
          </a:xfrm>
          <a:prstGeom prst="rect">
            <a:avLst/>
          </a:prstGeom>
          <a:solidFill>
            <a:srgbClr val="1E3A5F"/>
          </a:solidFill>
          <a:ln/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4572000" y="1705356"/>
            <a:ext cx="4343400" cy="329184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4663440" y="1741932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Triger za hvatanje promena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663440" y="2089404"/>
            <a:ext cx="416052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 TRIGGER TRG_EMP_REPL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AFTER INSERT OR UPDATE OR DELETE ON EMPLOYEE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BEGIN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(RDB$GET_CONTEXT('SYSTEM','REPLICATING') IS NULL) THEN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BEGIN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INSERT INTO REPLICATION_LOG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(TABLE_NAME, OPERATION, PK_VALUE, PAYLOAD)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VALUES ('EMPLOYEE',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CASE WHEN INSERTING THEN 'I'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WHEN UPDATING THEN 'U' ELSE 'D' END,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CAST(NEW.EMP_NO AS VARCHAR(50)),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/* JSON payload */ NULL);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END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END;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228600" y="3424428"/>
            <a:ext cx="274320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228600" y="3424428"/>
            <a:ext cx="64008" cy="160020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365760" y="349758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 Write Wins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365760" y="3771900"/>
            <a:ext cx="2560320" cy="2379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Naj</a:t>
            </a:r>
            <a:r>
              <a:rPr lang="sr-Latn-BA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češć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strategija.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Timestamp 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odlu</a:t>
            </a:r>
            <a:r>
              <a:rPr lang="sr-Latn-BA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uje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koji 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zapis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pobe</a:t>
            </a:r>
            <a:r>
              <a:rPr lang="sr-Latn-BA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uje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Rizik kod jednakih timestamp vrednosti.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127248" y="3424428"/>
            <a:ext cx="274320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2" name="Shape 20"/>
          <p:cNvSpPr/>
          <p:nvPr/>
        </p:nvSpPr>
        <p:spPr>
          <a:xfrm>
            <a:off x="3127248" y="3424428"/>
            <a:ext cx="64008" cy="1600200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3264408" y="349758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Priority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3264408" y="3771900"/>
            <a:ext cx="2560320" cy="2379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Unapred definisana hijerarhija servera.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uvek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pobe</a:t>
            </a:r>
            <a:r>
              <a:rPr lang="sr-Latn-BA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uje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nad slave </a:t>
            </a:r>
            <a:r>
              <a:rPr lang="sr-Latn-BA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vorom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Jednostavna implementacija.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025896" y="3424428"/>
            <a:ext cx="274320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6" name="Shape 24"/>
          <p:cNvSpPr/>
          <p:nvPr/>
        </p:nvSpPr>
        <p:spPr>
          <a:xfrm>
            <a:off x="6025896" y="3424428"/>
            <a:ext cx="64008" cy="1600200"/>
          </a:xfrm>
          <a:prstGeom prst="rect">
            <a:avLst/>
          </a:prstGeom>
          <a:solidFill>
            <a:srgbClr val="24366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7" name="Text 25"/>
          <p:cNvSpPr/>
          <p:nvPr/>
        </p:nvSpPr>
        <p:spPr>
          <a:xfrm>
            <a:off x="6163056" y="349758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Aplikativna logika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6163056" y="3771900"/>
            <a:ext cx="2560320" cy="2379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 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kriti</a:t>
            </a:r>
            <a:r>
              <a:rPr lang="sr-Latn-BA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 podatke (finansije, zalihe).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</a:t>
            </a:r>
            <a:r>
              <a:rPr lang="sr-Latn-BA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revizija ili domain-specific pravila.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Najsigurniji, 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najslo</a:t>
            </a:r>
            <a:r>
              <a:rPr lang="sr-Latn-BA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že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niji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pristup.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228600" y="5088636"/>
            <a:ext cx="86868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RDB$GET_CONTEXT('SYSTEM','REPLICATING') sprecava 'eho' efekat — triger ne pali sam sebe na replici!</a:t>
            </a:r>
            <a:endParaRPr lang="en-US" sz="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37160" y="0"/>
            <a:ext cx="9006840" cy="658368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274320" y="64008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Multi-Master topologije i eho efekat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228600" y="777240"/>
            <a:ext cx="274320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228600" y="777240"/>
            <a:ext cx="2743200" cy="411480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320040" y="795528"/>
            <a:ext cx="256032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 (Zvezda)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20040" y="126187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Svi </a:t>
            </a:r>
            <a:r>
              <a:rPr lang="en-US" sz="14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periferni</a:t>
            </a: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sr-Latn-BA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4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vorovi</a:t>
            </a: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se </a:t>
            </a:r>
            <a:r>
              <a:rPr lang="en-US" sz="14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povezuju</a:t>
            </a: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isklju</a:t>
            </a:r>
            <a:r>
              <a:rPr lang="sr-Latn-BA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4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ivo</a:t>
            </a: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sa centralnim serverom.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Centalni server je </a:t>
            </a:r>
            <a:r>
              <a:rPr lang="en-US" sz="14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jedina</a:t>
            </a: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ta</a:t>
            </a:r>
            <a:r>
              <a:rPr lang="sr-Latn-BA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 replikacije.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Prednost: jednostavna administracija, centralizovana kontrola.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Slabost: centralni server = </a:t>
            </a:r>
            <a:r>
              <a:rPr lang="en-US" sz="14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jedina</a:t>
            </a: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ta</a:t>
            </a:r>
            <a:r>
              <a:rPr lang="sr-Latn-BA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 kvara (SPOF).</a:t>
            </a:r>
            <a:endParaRPr lang="en-US" sz="1400" dirty="0"/>
          </a:p>
          <a:p>
            <a:pPr marL="0" indent="0">
              <a:buNone/>
            </a:pPr>
            <a:r>
              <a:rPr lang="en-US" sz="14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Idealno</a:t>
            </a: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z</a:t>
            </a:r>
            <a:r>
              <a:rPr lang="sr-Latn-BA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ERP </a:t>
            </a:r>
            <a:r>
              <a:rPr lang="en-US" sz="14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</a:t>
            </a:r>
            <a:r>
              <a:rPr lang="sr-Latn-BA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</a:t>
            </a:r>
            <a:r>
              <a:rPr lang="en-US" sz="14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</a:t>
            </a: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centralnom bazom i filijalama.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127248" y="777240"/>
            <a:ext cx="274320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3127248" y="777240"/>
            <a:ext cx="2743200" cy="41148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3218688" y="795528"/>
            <a:ext cx="256032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Mesh (Mreza)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218688" y="126187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Svaki</a:t>
            </a: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sr-Latn-BA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4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</a:t>
            </a: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direktno povezan sa svim ostalima.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Nema SPOF — izuzetno visoka tolerancija na kvarove.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Prednost: maksimalna redundansa i propusnost.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Slabost: kompleksna konfiguracija, eksponencijalni rast veza.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</a:t>
            </a:r>
            <a:r>
              <a:rPr lang="sr-Latn-BA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r>
              <a:rPr lang="en-US" sz="14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lno</a:t>
            </a: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za: mission-critical sistemi, </a:t>
            </a:r>
            <a:r>
              <a:rPr lang="en-US" sz="14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finansijske</a:t>
            </a: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</a:t>
            </a:r>
            <a:r>
              <a:rPr lang="sr-Latn-BA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erze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025896" y="777240"/>
            <a:ext cx="274320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6025896" y="777240"/>
            <a:ext cx="2743200" cy="411480"/>
          </a:xfrm>
          <a:prstGeom prst="rect">
            <a:avLst/>
          </a:prstGeom>
          <a:solidFill>
            <a:srgbClr val="14B8A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6117336" y="795528"/>
            <a:ext cx="256032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Ring (Prsten)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117336" y="126187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Podaci putuju sekvencijalno od </a:t>
            </a:r>
            <a:r>
              <a:rPr lang="sr-Latn-BA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4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vora</a:t>
            </a: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do </a:t>
            </a:r>
            <a:r>
              <a:rPr lang="sr-Latn-BA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4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vora</a:t>
            </a: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dok se krug ne zatvori.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Prednost: ravnomerna </a:t>
            </a:r>
            <a:r>
              <a:rPr lang="en-US" sz="14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raspodela</a:t>
            </a: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optere</a:t>
            </a:r>
            <a:r>
              <a:rPr lang="sr-Latn-BA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će</a:t>
            </a:r>
            <a:r>
              <a:rPr lang="en-US" sz="14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nja</a:t>
            </a: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Slabost: spor oporavak, jedan kvar prekida ceo prsten.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</a:t>
            </a:r>
            <a:r>
              <a:rPr lang="sr-Latn-BA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</a:t>
            </a: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za: sistemi sa jasnom geografskom distribucijom.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228600" y="3749040"/>
            <a:ext cx="8686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228600" y="3749040"/>
            <a:ext cx="64008" cy="1188720"/>
          </a:xfrm>
          <a:prstGeom prst="rect">
            <a:avLst/>
          </a:prstGeom>
          <a:solidFill>
            <a:srgbClr val="B8504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365760" y="379476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Eho efekat (Echo Effect) — beskonačna petlja replikacije: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365760" y="4096512"/>
            <a:ext cx="8321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Ako A replikuje promenu na B, a B replikuje sve promene nazad na A — </a:t>
            </a:r>
            <a:r>
              <a:rPr lang="en-US" sz="14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nastaje</a:t>
            </a: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beskona</a:t>
            </a:r>
            <a:r>
              <a:rPr lang="sr-Latn-BA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4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</a:t>
            </a: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petlja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</a:t>
            </a:r>
            <a:r>
              <a:rPr lang="sr-Latn-BA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š</a:t>
            </a:r>
            <a:r>
              <a:rPr lang="en-US" sz="14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enje</a:t>
            </a: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IF (RDB$GET_CONTEXT('SYSTEM','REPLICATING') IS NULL) THEN -- promena je nastala od korisnika, </a:t>
            </a:r>
            <a:r>
              <a:rPr lang="sr-Latn-BA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 </a:t>
            </a: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 replikacionog agenta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Firebird 4.0 automatski setuje REPLICATING = TRUE pri primeni logova, pa se triger 'prepoznaje' </a:t>
            </a:r>
            <a:r>
              <a:rPr lang="en-US" sz="14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preska</a:t>
            </a:r>
            <a:r>
              <a:rPr lang="sr-Latn-BA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če</a:t>
            </a: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37160" y="0"/>
            <a:ext cx="9006840" cy="658368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274320" y="64008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Praktična implementacija — 8 koraka konfiguracije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74904" y="841248"/>
            <a:ext cx="2029968" cy="190195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374904" y="841248"/>
            <a:ext cx="2029968" cy="411480"/>
          </a:xfrm>
          <a:prstGeom prst="rect">
            <a:avLst/>
          </a:prstGeom>
          <a:solidFill>
            <a:schemeClr val="accent6">
              <a:lumMod val="50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374904" y="841248"/>
            <a:ext cx="3474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68096" y="90525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databases.conf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" y="1344168"/>
            <a:ext cx="18288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+mj-lt"/>
                <a:ea typeface="Consolas" pitchFamily="34" charset="-122"/>
                <a:cs typeface="Times New Roman" panose="02020603050405020304" pitchFamily="18" charset="0"/>
              </a:rPr>
              <a:t>Kreirati aliase za master i slave bazu.</a:t>
            </a:r>
            <a:endParaRPr lang="en-US" sz="1200" dirty="0">
              <a:latin typeface="+mj-lt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2542032" y="841248"/>
            <a:ext cx="2029968" cy="190195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2542032" y="841248"/>
            <a:ext cx="2029968" cy="411480"/>
          </a:xfrm>
          <a:prstGeom prst="rect">
            <a:avLst/>
          </a:prstGeom>
          <a:solidFill>
            <a:schemeClr val="accent6">
              <a:lumMod val="50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2542032" y="841248"/>
            <a:ext cx="3474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935224" y="90525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+ Restore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2633472" y="1344168"/>
            <a:ext cx="18288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gbak -b master.fdb </a:t>
            </a:r>
            <a:r>
              <a:rPr lang="en-US" sz="1200" dirty="0" err="1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master.fbk</a:t>
            </a:r>
            <a:endParaRPr lang="sr-Latn-RS" sz="1200" dirty="0">
              <a:solidFill>
                <a:srgbClr val="475569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gbak -r master.fbk </a:t>
            </a:r>
            <a:r>
              <a:rPr lang="en-US" sz="1200" dirty="0" err="1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slave.fdb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709160" y="841248"/>
            <a:ext cx="2029968" cy="190195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4709160" y="841248"/>
            <a:ext cx="2029968" cy="411480"/>
          </a:xfrm>
          <a:prstGeom prst="rect">
            <a:avLst/>
          </a:prstGeom>
          <a:solidFill>
            <a:schemeClr val="accent6">
              <a:lumMod val="50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4709160" y="841248"/>
            <a:ext cx="3474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102352" y="90525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gstat -h (GUID)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800600" y="1344168"/>
            <a:ext cx="18288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+mj-lt"/>
                <a:ea typeface="Consolas" pitchFamily="34" charset="-122"/>
                <a:cs typeface="Times New Roman" panose="02020603050405020304" pitchFamily="18" charset="0"/>
              </a:rPr>
              <a:t>Preuzeti DATABASE GUID </a:t>
            </a:r>
            <a:r>
              <a:rPr lang="en-US" sz="1200" dirty="0" err="1">
                <a:solidFill>
                  <a:srgbClr val="475569"/>
                </a:solidFill>
                <a:latin typeface="+mj-lt"/>
                <a:ea typeface="Consolas" pitchFamily="34" charset="-122"/>
                <a:cs typeface="Times New Roman" panose="02020603050405020304" pitchFamily="18" charset="0"/>
              </a:rPr>
              <a:t>mastera</a:t>
            </a:r>
            <a:r>
              <a:rPr lang="en-US" sz="1200" dirty="0">
                <a:solidFill>
                  <a:srgbClr val="475569"/>
                </a:solidFill>
                <a:latin typeface="+mj-lt"/>
                <a:ea typeface="Consolas" pitchFamily="34" charset="-122"/>
                <a:cs typeface="Times New Roman" panose="02020603050405020304" pitchFamily="18" charset="0"/>
              </a:rPr>
              <a:t>.</a:t>
            </a:r>
            <a:endParaRPr lang="sr-Latn-RS" sz="1200" dirty="0">
              <a:solidFill>
                <a:srgbClr val="475569"/>
              </a:solidFill>
              <a:latin typeface="+mj-lt"/>
              <a:ea typeface="Consolas" pitchFamily="34" charset="-122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sz="1200" dirty="0">
              <a:latin typeface="+mj-lt"/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+mj-lt"/>
                <a:ea typeface="Consolas" pitchFamily="34" charset="-122"/>
                <a:cs typeface="Times New Roman" panose="02020603050405020304" pitchFamily="18" charset="0"/>
              </a:rPr>
              <a:t>Unet u </a:t>
            </a:r>
            <a:r>
              <a:rPr lang="en-US" sz="1200" dirty="0" err="1">
                <a:solidFill>
                  <a:srgbClr val="475569"/>
                </a:solidFill>
                <a:latin typeface="+mj-lt"/>
                <a:ea typeface="Consolas" pitchFamily="34" charset="-122"/>
                <a:cs typeface="Times New Roman" panose="02020603050405020304" pitchFamily="18" charset="0"/>
              </a:rPr>
              <a:t>source_gui</a:t>
            </a:r>
            <a:r>
              <a:rPr lang="sr-Latn-RS" sz="1200" dirty="0">
                <a:solidFill>
                  <a:srgbClr val="475569"/>
                </a:solidFill>
                <a:latin typeface="+mj-lt"/>
                <a:ea typeface="Consolas" pitchFamily="34" charset="-122"/>
                <a:cs typeface="Times New Roman" panose="02020603050405020304" pitchFamily="18" charset="0"/>
              </a:rPr>
              <a:t>d u konfiguraciji</a:t>
            </a:r>
            <a:r>
              <a:rPr lang="en-US" sz="1200" dirty="0">
                <a:solidFill>
                  <a:srgbClr val="475569"/>
                </a:solidFill>
                <a:latin typeface="+mj-lt"/>
                <a:ea typeface="Consolas" pitchFamily="34" charset="-122"/>
                <a:cs typeface="Times New Roman" panose="02020603050405020304" pitchFamily="18" charset="0"/>
              </a:rPr>
              <a:t>.</a:t>
            </a:r>
            <a:endParaRPr lang="en-US" sz="1200" dirty="0">
              <a:latin typeface="+mj-lt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6876288" y="841248"/>
            <a:ext cx="2029968" cy="190195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4" name="Shape 22"/>
          <p:cNvSpPr/>
          <p:nvPr/>
        </p:nvSpPr>
        <p:spPr>
          <a:xfrm>
            <a:off x="6876288" y="841248"/>
            <a:ext cx="2029968" cy="411480"/>
          </a:xfrm>
          <a:prstGeom prst="rect">
            <a:avLst/>
          </a:prstGeom>
          <a:solidFill>
            <a:schemeClr val="accent6">
              <a:lumMod val="50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26" name="Text 24"/>
          <p:cNvSpPr/>
          <p:nvPr/>
        </p:nvSpPr>
        <p:spPr>
          <a:xfrm>
            <a:off x="6876288" y="841248"/>
            <a:ext cx="3474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7269480" y="90525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Folder struktura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967728" y="1344168"/>
            <a:ext cx="18288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+mj-lt"/>
                <a:ea typeface="Consolas" pitchFamily="34" charset="-122"/>
                <a:cs typeface="Times New Roman" panose="02020603050405020304" pitchFamily="18" charset="0"/>
              </a:rPr>
              <a:t>Kreirati Journal i Archive </a:t>
            </a:r>
            <a:r>
              <a:rPr lang="en-US" sz="1200" dirty="0" err="1">
                <a:solidFill>
                  <a:srgbClr val="475569"/>
                </a:solidFill>
                <a:latin typeface="+mj-lt"/>
                <a:ea typeface="Consolas" pitchFamily="34" charset="-122"/>
                <a:cs typeface="Times New Roman" panose="02020603050405020304" pitchFamily="18" charset="0"/>
              </a:rPr>
              <a:t>direktorijume</a:t>
            </a:r>
            <a:r>
              <a:rPr lang="en-US" sz="1200" dirty="0">
                <a:solidFill>
                  <a:srgbClr val="475569"/>
                </a:solidFill>
                <a:latin typeface="+mj-lt"/>
                <a:ea typeface="Consolas" pitchFamily="34" charset="-122"/>
                <a:cs typeface="Times New Roman" panose="02020603050405020304" pitchFamily="18" charset="0"/>
              </a:rPr>
              <a:t>.</a:t>
            </a:r>
            <a:endParaRPr lang="sr-Latn-RS" sz="1200" dirty="0">
              <a:solidFill>
                <a:srgbClr val="475569"/>
              </a:solidFill>
              <a:latin typeface="+mj-lt"/>
              <a:ea typeface="Consolas" pitchFamily="34" charset="-122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sz="1200" dirty="0">
              <a:latin typeface="+mj-lt"/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+mj-lt"/>
                <a:ea typeface="Consolas" pitchFamily="34" charset="-122"/>
                <a:cs typeface="Times New Roman" panose="02020603050405020304" pitchFamily="18" charset="0"/>
              </a:rPr>
              <a:t>Odvajanje privremenih od trajnih segmenata.</a:t>
            </a:r>
            <a:endParaRPr lang="en-US" sz="1200" dirty="0">
              <a:latin typeface="+mj-lt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374904" y="2926080"/>
            <a:ext cx="2029968" cy="190195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 sz="1200"/>
          </a:p>
        </p:txBody>
      </p:sp>
      <p:sp>
        <p:nvSpPr>
          <p:cNvPr id="30" name="Shape 28"/>
          <p:cNvSpPr/>
          <p:nvPr/>
        </p:nvSpPr>
        <p:spPr>
          <a:xfrm>
            <a:off x="374904" y="2926080"/>
            <a:ext cx="2029968" cy="411480"/>
          </a:xfrm>
          <a:prstGeom prst="rect">
            <a:avLst/>
          </a:prstGeom>
          <a:solidFill>
            <a:schemeClr val="accent6">
              <a:lumMod val="50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32" name="Text 30"/>
          <p:cNvSpPr/>
          <p:nvPr/>
        </p:nvSpPr>
        <p:spPr>
          <a:xfrm>
            <a:off x="374904" y="2926080"/>
            <a:ext cx="3474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768096" y="299008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replication.conf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466344" y="3429000"/>
            <a:ext cx="18288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+mj-lt"/>
                <a:ea typeface="Consolas" pitchFamily="34" charset="-122"/>
                <a:cs typeface="Times New Roman" panose="02020603050405020304" pitchFamily="18" charset="0"/>
              </a:rPr>
              <a:t>Podesiti journal, archive, sync_replica, source_guid parametre za obe instance.</a:t>
            </a:r>
            <a:endParaRPr lang="en-US" sz="1200" dirty="0">
              <a:latin typeface="+mj-lt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2542032" y="2926080"/>
            <a:ext cx="2029968" cy="190195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6" name="Shape 34"/>
          <p:cNvSpPr/>
          <p:nvPr/>
        </p:nvSpPr>
        <p:spPr>
          <a:xfrm>
            <a:off x="2542032" y="2926080"/>
            <a:ext cx="2029968" cy="411480"/>
          </a:xfrm>
          <a:prstGeom prst="rect">
            <a:avLst/>
          </a:prstGeom>
          <a:solidFill>
            <a:schemeClr val="accent6">
              <a:lumMod val="50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38" name="Text 36"/>
          <p:cNvSpPr/>
          <p:nvPr/>
        </p:nvSpPr>
        <p:spPr>
          <a:xfrm>
            <a:off x="2542032" y="2926080"/>
            <a:ext cx="3474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2935224" y="299008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Restart servisa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2633472" y="3429000"/>
            <a:ext cx="18288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+mj-lt"/>
                <a:ea typeface="Consolas" pitchFamily="34" charset="-122"/>
                <a:cs typeface="Times New Roman" panose="02020603050405020304" pitchFamily="18" charset="0"/>
              </a:rPr>
              <a:t>Restartovati Firebird servis nakon izmene konfiguracionih fajlova.</a:t>
            </a:r>
            <a:endParaRPr lang="en-US" sz="1200" dirty="0">
              <a:latin typeface="+mj-lt"/>
            </a:endParaRPr>
          </a:p>
        </p:txBody>
      </p:sp>
      <p:sp>
        <p:nvSpPr>
          <p:cNvPr id="41" name="Shape 39"/>
          <p:cNvSpPr/>
          <p:nvPr/>
        </p:nvSpPr>
        <p:spPr>
          <a:xfrm>
            <a:off x="4709160" y="2926080"/>
            <a:ext cx="2029968" cy="190195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2" name="Shape 40"/>
          <p:cNvSpPr/>
          <p:nvPr/>
        </p:nvSpPr>
        <p:spPr>
          <a:xfrm>
            <a:off x="4709160" y="2926080"/>
            <a:ext cx="2029968" cy="411480"/>
          </a:xfrm>
          <a:prstGeom prst="rect">
            <a:avLst/>
          </a:prstGeom>
          <a:solidFill>
            <a:schemeClr val="accent6">
              <a:lumMod val="50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44" name="Text 42"/>
          <p:cNvSpPr/>
          <p:nvPr/>
        </p:nvSpPr>
        <p:spPr>
          <a:xfrm>
            <a:off x="4709160" y="2926080"/>
            <a:ext cx="3474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5102352" y="299008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 DATABASE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4800600" y="3429000"/>
            <a:ext cx="18288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ALTER DATABASE ENABLE PUBLICATION;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ea typeface="Consolas" pitchFamily="34" charset="-122"/>
                <a:cs typeface="Consolas" pitchFamily="34" charset="-120"/>
              </a:rPr>
              <a:t>(master: </a:t>
            </a:r>
            <a:r>
              <a:rPr lang="en-US" sz="1200" dirty="0" err="1">
                <a:solidFill>
                  <a:srgbClr val="475569"/>
                </a:solidFill>
                <a:ea typeface="Consolas" pitchFamily="34" charset="-122"/>
                <a:cs typeface="Consolas" pitchFamily="34" charset="-120"/>
              </a:rPr>
              <a:t>uklju</a:t>
            </a:r>
            <a:r>
              <a:rPr lang="sr-Latn-RS" sz="1200" dirty="0">
                <a:solidFill>
                  <a:srgbClr val="475569"/>
                </a:solidFill>
                <a:ea typeface="Consolas" pitchFamily="34" charset="-122"/>
                <a:cs typeface="Consolas" pitchFamily="34" charset="-120"/>
              </a:rPr>
              <a:t>č</a:t>
            </a:r>
            <a:r>
              <a:rPr lang="en-US" sz="1200" dirty="0" err="1">
                <a:solidFill>
                  <a:srgbClr val="475569"/>
                </a:solidFill>
                <a:ea typeface="Consolas" pitchFamily="34" charset="-122"/>
                <a:cs typeface="Consolas" pitchFamily="34" charset="-120"/>
              </a:rPr>
              <a:t>uje</a:t>
            </a:r>
            <a:r>
              <a:rPr lang="en-US" sz="1200" dirty="0">
                <a:solidFill>
                  <a:srgbClr val="475569"/>
                </a:solidFill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200" dirty="0" err="1">
                <a:solidFill>
                  <a:srgbClr val="475569"/>
                </a:solidFill>
                <a:ea typeface="Consolas" pitchFamily="34" charset="-122"/>
                <a:cs typeface="Consolas" pitchFamily="34" charset="-120"/>
              </a:rPr>
              <a:t>pra</a:t>
            </a:r>
            <a:r>
              <a:rPr lang="sr-Latn-RS" sz="1200" dirty="0">
                <a:solidFill>
                  <a:srgbClr val="475569"/>
                </a:solidFill>
                <a:ea typeface="Consolas" pitchFamily="34" charset="-122"/>
                <a:cs typeface="Consolas" pitchFamily="34" charset="-120"/>
              </a:rPr>
              <a:t>ć</a:t>
            </a:r>
            <a:r>
              <a:rPr lang="en-US" sz="1200" dirty="0" err="1">
                <a:solidFill>
                  <a:srgbClr val="475569"/>
                </a:solidFill>
                <a:ea typeface="Consolas" pitchFamily="34" charset="-122"/>
                <a:cs typeface="Consolas" pitchFamily="34" charset="-120"/>
              </a:rPr>
              <a:t>enje</a:t>
            </a:r>
            <a:r>
              <a:rPr lang="en-US" sz="1200" dirty="0">
                <a:solidFill>
                  <a:srgbClr val="475569"/>
                </a:solidFill>
                <a:ea typeface="Consolas" pitchFamily="34" charset="-122"/>
                <a:cs typeface="Consolas" pitchFamily="34" charset="-120"/>
              </a:rPr>
              <a:t> tabela)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gfix -replica READ_ONLY slave.fdb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6876288" y="2926080"/>
            <a:ext cx="2029968" cy="190195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8" name="Shape 46"/>
          <p:cNvSpPr/>
          <p:nvPr/>
        </p:nvSpPr>
        <p:spPr>
          <a:xfrm>
            <a:off x="6876288" y="2926080"/>
            <a:ext cx="2029968" cy="411480"/>
          </a:xfrm>
          <a:prstGeom prst="rect">
            <a:avLst/>
          </a:prstGeom>
          <a:solidFill>
            <a:schemeClr val="accent6">
              <a:lumMod val="50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0" name="Text 48"/>
          <p:cNvSpPr/>
          <p:nvPr/>
        </p:nvSpPr>
        <p:spPr>
          <a:xfrm>
            <a:off x="6876288" y="2926080"/>
            <a:ext cx="3474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7269480" y="299008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Mapping korisnika</a:t>
            </a:r>
            <a:endParaRPr lang="en-US" sz="1400" dirty="0"/>
          </a:p>
        </p:txBody>
      </p:sp>
      <p:sp>
        <p:nvSpPr>
          <p:cNvPr id="52" name="Text 50"/>
          <p:cNvSpPr/>
          <p:nvPr/>
        </p:nvSpPr>
        <p:spPr>
          <a:xfrm>
            <a:off x="6967728" y="3429000"/>
            <a:ext cx="202996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 MAPPING repl_agent USING PLUGIN SRP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USER replication_user TO USER SYSDBA;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100" dirty="0" err="1">
                <a:solidFill>
                  <a:srgbClr val="475569"/>
                </a:solidFill>
                <a:ea typeface="Consolas" pitchFamily="34" charset="-122"/>
                <a:cs typeface="Consolas" pitchFamily="34" charset="-120"/>
              </a:rPr>
              <a:t>repli</a:t>
            </a:r>
            <a:r>
              <a:rPr lang="sr-Latn-RS" sz="1100" dirty="0">
                <a:solidFill>
                  <a:srgbClr val="475569"/>
                </a:solidFill>
                <a:ea typeface="Consolas" pitchFamily="34" charset="-122"/>
                <a:cs typeface="Consolas" pitchFamily="34" charset="-120"/>
              </a:rPr>
              <a:t>k</a:t>
            </a:r>
            <a:r>
              <a:rPr lang="en-US" sz="1100" dirty="0">
                <a:solidFill>
                  <a:srgbClr val="475569"/>
                </a:solidFill>
                <a:ea typeface="Consolas" pitchFamily="34" charset="-122"/>
                <a:cs typeface="Consolas" pitchFamily="34" charset="-120"/>
              </a:rPr>
              <a:t>a prihvata agenta kao SYSDBA)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37160" y="0"/>
            <a:ext cx="9006840" cy="658368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274320" y="64008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Verifikacija — 5 primera potvrđivanja rada replikacije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228600" y="777240"/>
            <a:ext cx="274320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228600" y="777240"/>
            <a:ext cx="2743200" cy="411480"/>
          </a:xfrm>
          <a:prstGeom prst="rect">
            <a:avLst/>
          </a:prstGeom>
          <a:solidFill>
            <a:schemeClr val="accent6">
              <a:lumMod val="75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228600" y="777240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9224" y="832104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20040" y="128016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475569"/>
                </a:solidFill>
                <a:latin typeface="+mj-lt"/>
                <a:ea typeface="Consolas" pitchFamily="34" charset="-122"/>
                <a:cs typeface="Consolas" pitchFamily="34" charset="-120"/>
              </a:rPr>
              <a:t>Master: </a:t>
            </a:r>
            <a:endParaRPr lang="sr-Latn-RS" sz="1200" b="1" dirty="0">
              <a:solidFill>
                <a:srgbClr val="475569"/>
              </a:solidFill>
              <a:latin typeface="+mj-lt"/>
              <a:ea typeface="Consolas" pitchFamily="34" charset="-122"/>
              <a:cs typeface="Consolas" pitchFamily="34" charset="-120"/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+mj-lt"/>
                <a:ea typeface="Consolas" pitchFamily="34" charset="-122"/>
                <a:cs typeface="Consolas" pitchFamily="34" charset="-120"/>
              </a:rPr>
              <a:t>INSERT INTO EMPLOYEE ... EMP_NO=1000; COMMIT;</a:t>
            </a:r>
            <a:endParaRPr lang="en-US" sz="1200" dirty="0">
              <a:latin typeface="+mj-lt"/>
            </a:endParaRPr>
          </a:p>
          <a:p>
            <a:pPr marL="0" indent="0">
              <a:buNone/>
            </a:pPr>
            <a:r>
              <a:rPr lang="en-US" sz="1200" b="1" dirty="0">
                <a:solidFill>
                  <a:srgbClr val="475569"/>
                </a:solidFill>
                <a:latin typeface="+mj-lt"/>
                <a:ea typeface="Consolas" pitchFamily="34" charset="-122"/>
                <a:cs typeface="Consolas" pitchFamily="34" charset="-120"/>
              </a:rPr>
              <a:t>Slave: </a:t>
            </a:r>
            <a:endParaRPr lang="sr-Latn-RS" sz="1200" b="1" dirty="0">
              <a:solidFill>
                <a:srgbClr val="475569"/>
              </a:solidFill>
              <a:latin typeface="+mj-lt"/>
              <a:ea typeface="Consolas" pitchFamily="34" charset="-122"/>
              <a:cs typeface="Consolas" pitchFamily="34" charset="-120"/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+mj-lt"/>
                <a:ea typeface="Consolas" pitchFamily="34" charset="-122"/>
                <a:cs typeface="Consolas" pitchFamily="34" charset="-120"/>
              </a:rPr>
              <a:t>SELECT * FROM EMPLOYEE WHERE EMP_NO=1000;</a:t>
            </a:r>
            <a:endParaRPr lang="en-US" sz="1200" dirty="0">
              <a:latin typeface="+mj-lt"/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+mj-lt"/>
                <a:ea typeface="Consolas" pitchFamily="34" charset="-122"/>
                <a:cs typeface="Consolas" pitchFamily="34" charset="-120"/>
              </a:rPr>
              <a:t>O</a:t>
            </a:r>
            <a:r>
              <a:rPr lang="sr-Latn-RS" sz="1200" dirty="0">
                <a:solidFill>
                  <a:srgbClr val="475569"/>
                </a:solidFill>
                <a:latin typeface="+mj-lt"/>
                <a:ea typeface="Consolas" pitchFamily="34" charset="-122"/>
                <a:cs typeface="Consolas" pitchFamily="34" charset="-120"/>
              </a:rPr>
              <a:t>č</a:t>
            </a:r>
            <a:r>
              <a:rPr lang="en-US" sz="1200" dirty="0" err="1">
                <a:solidFill>
                  <a:srgbClr val="475569"/>
                </a:solidFill>
                <a:latin typeface="+mj-lt"/>
                <a:ea typeface="Consolas" pitchFamily="34" charset="-122"/>
                <a:cs typeface="Consolas" pitchFamily="34" charset="-120"/>
              </a:rPr>
              <a:t>ekivani</a:t>
            </a:r>
            <a:r>
              <a:rPr lang="en-US" sz="1200" dirty="0">
                <a:solidFill>
                  <a:srgbClr val="475569"/>
                </a:solidFill>
                <a:latin typeface="+mj-lt"/>
                <a:ea typeface="Consolas" pitchFamily="34" charset="-122"/>
                <a:cs typeface="Consolas" pitchFamily="34" charset="-120"/>
              </a:rPr>
              <a:t> rezultat: red postoji </a:t>
            </a:r>
            <a:r>
              <a:rPr lang="en-US" sz="1200" dirty="0" err="1">
                <a:solidFill>
                  <a:srgbClr val="475569"/>
                </a:solidFill>
                <a:latin typeface="+mj-lt"/>
                <a:ea typeface="Consolas" pitchFamily="34" charset="-122"/>
                <a:cs typeface="Consolas" pitchFamily="34" charset="-120"/>
              </a:rPr>
              <a:t>na</a:t>
            </a:r>
            <a:r>
              <a:rPr lang="en-US" sz="1200" dirty="0">
                <a:solidFill>
                  <a:srgbClr val="475569"/>
                </a:solidFill>
                <a:latin typeface="+mj-lt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200" dirty="0" err="1">
                <a:solidFill>
                  <a:srgbClr val="475569"/>
                </a:solidFill>
                <a:latin typeface="+mj-lt"/>
                <a:ea typeface="Consolas" pitchFamily="34" charset="-122"/>
                <a:cs typeface="Consolas" pitchFamily="34" charset="-120"/>
              </a:rPr>
              <a:t>replici</a:t>
            </a:r>
            <a:endParaRPr lang="en-US" sz="1200" dirty="0">
              <a:latin typeface="+mj-lt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3127248" y="777240"/>
            <a:ext cx="274320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3127248" y="777240"/>
            <a:ext cx="2743200" cy="411480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3127248" y="777240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47872" y="832104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218688" y="128016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475569"/>
                </a:solidFill>
                <a:latin typeface="+mj-lt"/>
                <a:ea typeface="Consolas" pitchFamily="34" charset="-122"/>
                <a:cs typeface="Consolas" pitchFamily="34" charset="-120"/>
              </a:rPr>
              <a:t>Master: </a:t>
            </a:r>
            <a:endParaRPr lang="sr-Latn-RS" sz="1200" b="1" dirty="0">
              <a:solidFill>
                <a:srgbClr val="475569"/>
              </a:solidFill>
              <a:latin typeface="+mj-lt"/>
              <a:ea typeface="Consolas" pitchFamily="34" charset="-122"/>
              <a:cs typeface="Consolas" pitchFamily="34" charset="-120"/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+mj-lt"/>
                <a:ea typeface="Consolas" pitchFamily="34" charset="-122"/>
                <a:cs typeface="Consolas" pitchFamily="34" charset="-120"/>
              </a:rPr>
              <a:t>UPDATE EMPLOYEE SET SALARY=60000 WHERE EMP_NO=1000; COMMIT;</a:t>
            </a:r>
            <a:endParaRPr lang="en-US" sz="1200" dirty="0">
              <a:latin typeface="+mj-lt"/>
            </a:endParaRPr>
          </a:p>
          <a:p>
            <a:pPr marL="0" indent="0">
              <a:buNone/>
            </a:pPr>
            <a:r>
              <a:rPr lang="en-US" sz="1200" b="1" dirty="0">
                <a:solidFill>
                  <a:srgbClr val="475569"/>
                </a:solidFill>
                <a:latin typeface="+mj-lt"/>
                <a:ea typeface="Consolas" pitchFamily="34" charset="-122"/>
                <a:cs typeface="Consolas" pitchFamily="34" charset="-120"/>
              </a:rPr>
              <a:t>Slave: </a:t>
            </a:r>
            <a:endParaRPr lang="sr-Latn-RS" sz="1200" b="1" dirty="0">
              <a:solidFill>
                <a:srgbClr val="475569"/>
              </a:solidFill>
              <a:latin typeface="+mj-lt"/>
              <a:ea typeface="Consolas" pitchFamily="34" charset="-122"/>
              <a:cs typeface="Consolas" pitchFamily="34" charset="-120"/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+mj-lt"/>
                <a:ea typeface="Consolas" pitchFamily="34" charset="-122"/>
                <a:cs typeface="Consolas" pitchFamily="34" charset="-120"/>
              </a:rPr>
              <a:t>SELECT SALARY FROM EMPLOYEE WHERE EMP_NO=1000;</a:t>
            </a:r>
            <a:endParaRPr lang="en-US" sz="1200" dirty="0">
              <a:latin typeface="+mj-lt"/>
            </a:endParaRPr>
          </a:p>
          <a:p>
            <a:r>
              <a:rPr lang="en-US" sz="1200" dirty="0">
                <a:solidFill>
                  <a:srgbClr val="475569"/>
                </a:solidFill>
                <a:latin typeface="+mj-lt"/>
                <a:ea typeface="Consolas" pitchFamily="34" charset="-122"/>
                <a:cs typeface="Consolas" pitchFamily="34" charset="-120"/>
              </a:rPr>
              <a:t>O</a:t>
            </a:r>
            <a:r>
              <a:rPr lang="sr-Latn-RS" sz="1200" dirty="0">
                <a:solidFill>
                  <a:srgbClr val="475569"/>
                </a:solidFill>
                <a:latin typeface="+mj-lt"/>
                <a:ea typeface="Consolas" pitchFamily="34" charset="-122"/>
                <a:cs typeface="Consolas" pitchFamily="34" charset="-120"/>
              </a:rPr>
              <a:t>č</a:t>
            </a:r>
            <a:r>
              <a:rPr lang="en-US" sz="1200" dirty="0" err="1">
                <a:solidFill>
                  <a:srgbClr val="475569"/>
                </a:solidFill>
                <a:latin typeface="+mj-lt"/>
                <a:ea typeface="Consolas" pitchFamily="34" charset="-122"/>
                <a:cs typeface="Consolas" pitchFamily="34" charset="-120"/>
              </a:rPr>
              <a:t>ekivani</a:t>
            </a:r>
            <a:r>
              <a:rPr lang="en-US" sz="1200" dirty="0">
                <a:solidFill>
                  <a:srgbClr val="475569"/>
                </a:solidFill>
                <a:latin typeface="+mj-lt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200" dirty="0" err="1">
                <a:solidFill>
                  <a:srgbClr val="475569"/>
                </a:solidFill>
                <a:latin typeface="+mj-lt"/>
                <a:ea typeface="Consolas" pitchFamily="34" charset="-122"/>
                <a:cs typeface="Consolas" pitchFamily="34" charset="-120"/>
              </a:rPr>
              <a:t>rezultat</a:t>
            </a:r>
            <a:r>
              <a:rPr lang="en-US" sz="1200" dirty="0">
                <a:solidFill>
                  <a:srgbClr val="475569"/>
                </a:solidFill>
                <a:latin typeface="+mj-lt"/>
                <a:ea typeface="Consolas" pitchFamily="34" charset="-122"/>
                <a:cs typeface="Consolas" pitchFamily="34" charset="-120"/>
              </a:rPr>
              <a:t>: SALARY=60000.</a:t>
            </a:r>
            <a:endParaRPr lang="en-US" sz="1200" dirty="0">
              <a:latin typeface="+mj-lt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6025896" y="777240"/>
            <a:ext cx="274320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6025896" y="777240"/>
            <a:ext cx="2743200" cy="411480"/>
          </a:xfrm>
          <a:prstGeom prst="rect">
            <a:avLst/>
          </a:prstGeom>
          <a:solidFill>
            <a:schemeClr val="bg1">
              <a:lumMod val="50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6025896" y="777240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46520" y="832104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117336" y="128016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475569"/>
                </a:solidFill>
                <a:latin typeface="+mj-lt"/>
                <a:ea typeface="Consolas" pitchFamily="34" charset="-122"/>
                <a:cs typeface="Consolas" pitchFamily="34" charset="-120"/>
              </a:rPr>
              <a:t>Master: </a:t>
            </a:r>
            <a:endParaRPr lang="sr-Latn-RS" sz="1200" b="1" dirty="0">
              <a:solidFill>
                <a:srgbClr val="475569"/>
              </a:solidFill>
              <a:latin typeface="+mj-lt"/>
              <a:ea typeface="Consolas" pitchFamily="34" charset="-122"/>
              <a:cs typeface="Consolas" pitchFamily="34" charset="-120"/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+mj-lt"/>
                <a:ea typeface="Consolas" pitchFamily="34" charset="-122"/>
                <a:cs typeface="Consolas" pitchFamily="34" charset="-120"/>
              </a:rPr>
              <a:t>DELETE iz SALARY_HISTORY pa iz EMPLOYEE; COMMIT;</a:t>
            </a:r>
            <a:endParaRPr lang="en-US" sz="1200" dirty="0">
              <a:latin typeface="+mj-lt"/>
            </a:endParaRPr>
          </a:p>
          <a:p>
            <a:pPr marL="0" indent="0">
              <a:buNone/>
            </a:pPr>
            <a:r>
              <a:rPr lang="en-US" sz="1200" b="1" dirty="0">
                <a:solidFill>
                  <a:srgbClr val="475569"/>
                </a:solidFill>
                <a:latin typeface="+mj-lt"/>
                <a:ea typeface="Consolas" pitchFamily="34" charset="-122"/>
                <a:cs typeface="Consolas" pitchFamily="34" charset="-120"/>
              </a:rPr>
              <a:t>Slave: </a:t>
            </a:r>
            <a:endParaRPr lang="sr-Latn-RS" sz="1200" b="1" dirty="0">
              <a:solidFill>
                <a:srgbClr val="475569"/>
              </a:solidFill>
              <a:latin typeface="+mj-lt"/>
              <a:ea typeface="Consolas" pitchFamily="34" charset="-122"/>
              <a:cs typeface="Consolas" pitchFamily="34" charset="-120"/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+mj-lt"/>
                <a:ea typeface="Consolas" pitchFamily="34" charset="-122"/>
                <a:cs typeface="Consolas" pitchFamily="34" charset="-120"/>
              </a:rPr>
              <a:t>SELECT COUNT(*)</a:t>
            </a:r>
            <a:endParaRPr lang="en-US" sz="1200" dirty="0">
              <a:latin typeface="+mj-lt"/>
            </a:endParaRPr>
          </a:p>
          <a:p>
            <a:pPr marL="0" indent="0">
              <a:buNone/>
            </a:pPr>
            <a:r>
              <a:rPr lang="en-US" sz="1200" dirty="0" err="1">
                <a:solidFill>
                  <a:srgbClr val="475569"/>
                </a:solidFill>
                <a:latin typeface="+mj-lt"/>
                <a:ea typeface="Consolas" pitchFamily="34" charset="-122"/>
                <a:cs typeface="Consolas" pitchFamily="34" charset="-120"/>
              </a:rPr>
              <a:t>Klju</a:t>
            </a:r>
            <a:r>
              <a:rPr lang="sr-Latn-RS" sz="1200" dirty="0">
                <a:solidFill>
                  <a:srgbClr val="475569"/>
                </a:solidFill>
                <a:latin typeface="+mj-lt"/>
                <a:ea typeface="Consolas" pitchFamily="34" charset="-122"/>
                <a:cs typeface="Consolas" pitchFamily="34" charset="-120"/>
              </a:rPr>
              <a:t>č</a:t>
            </a:r>
            <a:r>
              <a:rPr lang="en-US" sz="1200" dirty="0">
                <a:solidFill>
                  <a:srgbClr val="475569"/>
                </a:solidFill>
                <a:latin typeface="+mj-lt"/>
                <a:ea typeface="Consolas" pitchFamily="34" charset="-122"/>
                <a:cs typeface="Consolas" pitchFamily="34" charset="-120"/>
              </a:rPr>
              <a:t>no: referenc. </a:t>
            </a:r>
            <a:r>
              <a:rPr lang="en-US" sz="1200" dirty="0" err="1">
                <a:solidFill>
                  <a:srgbClr val="475569"/>
                </a:solidFill>
                <a:latin typeface="+mj-lt"/>
                <a:ea typeface="Consolas" pitchFamily="34" charset="-122"/>
                <a:cs typeface="Consolas" pitchFamily="34" charset="-120"/>
              </a:rPr>
              <a:t>integritet</a:t>
            </a:r>
            <a:r>
              <a:rPr lang="en-US" sz="1200" dirty="0">
                <a:solidFill>
                  <a:srgbClr val="475569"/>
                </a:solidFill>
                <a:latin typeface="+mj-lt"/>
                <a:ea typeface="Consolas" pitchFamily="34" charset="-122"/>
                <a:cs typeface="Consolas" pitchFamily="34" charset="-120"/>
              </a:rPr>
              <a:t> o</a:t>
            </a:r>
            <a:r>
              <a:rPr lang="sr-Latn-RS" sz="1200" dirty="0">
                <a:solidFill>
                  <a:srgbClr val="475569"/>
                </a:solidFill>
                <a:latin typeface="+mj-lt"/>
                <a:ea typeface="Consolas" pitchFamily="34" charset="-122"/>
                <a:cs typeface="Consolas" pitchFamily="34" charset="-120"/>
              </a:rPr>
              <a:t>č</a:t>
            </a:r>
            <a:r>
              <a:rPr lang="en-US" sz="1200" dirty="0" err="1">
                <a:solidFill>
                  <a:srgbClr val="475569"/>
                </a:solidFill>
                <a:latin typeface="+mj-lt"/>
                <a:ea typeface="Consolas" pitchFamily="34" charset="-122"/>
                <a:cs typeface="Consolas" pitchFamily="34" charset="-120"/>
              </a:rPr>
              <a:t>uvan</a:t>
            </a:r>
            <a:r>
              <a:rPr lang="en-US" sz="1200" dirty="0">
                <a:solidFill>
                  <a:srgbClr val="475569"/>
                </a:solidFill>
                <a:latin typeface="+mj-lt"/>
                <a:ea typeface="Consolas" pitchFamily="34" charset="-122"/>
                <a:cs typeface="Consolas" pitchFamily="34" charset="-120"/>
              </a:rPr>
              <a:t> na OBA </a:t>
            </a:r>
            <a:r>
              <a:rPr lang="sr-Latn-RS" sz="1200" dirty="0">
                <a:solidFill>
                  <a:srgbClr val="475569"/>
                </a:solidFill>
                <a:latin typeface="+mj-lt"/>
                <a:ea typeface="Consolas" pitchFamily="34" charset="-122"/>
                <a:cs typeface="Consolas" pitchFamily="34" charset="-120"/>
              </a:rPr>
              <a:t>č</a:t>
            </a:r>
            <a:r>
              <a:rPr lang="en-US" sz="1200" dirty="0" err="1">
                <a:solidFill>
                  <a:srgbClr val="475569"/>
                </a:solidFill>
                <a:latin typeface="+mj-lt"/>
                <a:ea typeface="Consolas" pitchFamily="34" charset="-122"/>
                <a:cs typeface="Consolas" pitchFamily="34" charset="-120"/>
              </a:rPr>
              <a:t>vora</a:t>
            </a:r>
            <a:r>
              <a:rPr lang="sr-Latn-BA" sz="1200" dirty="0">
                <a:solidFill>
                  <a:srgbClr val="475569"/>
                </a:solidFill>
                <a:latin typeface="+mj-lt"/>
                <a:ea typeface="Consolas" pitchFamily="34" charset="-122"/>
                <a:cs typeface="Consolas" pitchFamily="34" charset="-120"/>
              </a:rPr>
              <a:t>.</a:t>
            </a:r>
            <a:endParaRPr lang="en-US" sz="1200" dirty="0">
              <a:latin typeface="+mj-lt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228600" y="2953512"/>
            <a:ext cx="274320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 sz="1200">
              <a:latin typeface="+mj-lt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228600" y="2953512"/>
            <a:ext cx="2743200" cy="411480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2" name="Text 20"/>
          <p:cNvSpPr/>
          <p:nvPr/>
        </p:nvSpPr>
        <p:spPr>
          <a:xfrm>
            <a:off x="228600" y="2953512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49224" y="3008376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Health-check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320040" y="3456432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+mj-lt"/>
                <a:ea typeface="Consolas" pitchFamily="34" charset="-122"/>
                <a:cs typeface="Consolas" pitchFamily="34" charset="-120"/>
              </a:rPr>
              <a:t>SELECT MON$NEXT_TRANSACTION FROM MON$DATABASE;</a:t>
            </a:r>
            <a:endParaRPr lang="sr-Latn-RS" sz="1400" dirty="0">
              <a:solidFill>
                <a:srgbClr val="475569"/>
              </a:solidFill>
              <a:latin typeface="+mj-lt"/>
              <a:ea typeface="Consolas" pitchFamily="34" charset="-122"/>
              <a:cs typeface="Consolas" pitchFamily="34" charset="-120"/>
            </a:endParaRPr>
          </a:p>
          <a:p>
            <a:pPr marL="0" indent="0">
              <a:buNone/>
            </a:pPr>
            <a:endParaRPr lang="en-US" sz="1400" dirty="0">
              <a:latin typeface="+mj-lt"/>
            </a:endParaRPr>
          </a:p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+mj-lt"/>
                <a:ea typeface="Consolas" pitchFamily="34" charset="-122"/>
                <a:cs typeface="Consolas" pitchFamily="34" charset="-120"/>
              </a:rPr>
              <a:t>(pokrenuti na masteru i replici)</a:t>
            </a:r>
            <a:endParaRPr lang="en-US" sz="1400" dirty="0">
              <a:latin typeface="+mj-lt"/>
            </a:endParaRPr>
          </a:p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+mj-lt"/>
                <a:ea typeface="Consolas" pitchFamily="34" charset="-122"/>
                <a:cs typeface="Consolas" pitchFamily="34" charset="-120"/>
              </a:rPr>
              <a:t>Mala razlika = zdravo. </a:t>
            </a:r>
            <a:endParaRPr lang="sr-Latn-RS" sz="1400" dirty="0">
              <a:solidFill>
                <a:srgbClr val="475569"/>
              </a:solidFill>
              <a:latin typeface="+mj-lt"/>
              <a:ea typeface="Consolas" pitchFamily="34" charset="-122"/>
              <a:cs typeface="Consolas" pitchFamily="34" charset="-120"/>
            </a:endParaRPr>
          </a:p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+mj-lt"/>
                <a:ea typeface="Consolas" pitchFamily="34" charset="-122"/>
                <a:cs typeface="Consolas" pitchFamily="34" charset="-120"/>
              </a:rPr>
              <a:t>Velika razlika = lag problem</a:t>
            </a:r>
            <a:r>
              <a:rPr lang="sr-Latn-BA" sz="1400" dirty="0">
                <a:solidFill>
                  <a:srgbClr val="475569"/>
                </a:solidFill>
                <a:latin typeface="+mj-lt"/>
                <a:ea typeface="Consolas" pitchFamily="34" charset="-122"/>
                <a:cs typeface="Consolas" pitchFamily="34" charset="-120"/>
              </a:rPr>
              <a:t>.</a:t>
            </a:r>
            <a:endParaRPr lang="en-US" sz="1400" dirty="0">
              <a:latin typeface="+mj-lt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3127248" y="2953512"/>
            <a:ext cx="274320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6" name="Shape 24"/>
          <p:cNvSpPr/>
          <p:nvPr/>
        </p:nvSpPr>
        <p:spPr>
          <a:xfrm>
            <a:off x="3127248" y="2953512"/>
            <a:ext cx="2743200" cy="411480"/>
          </a:xfrm>
          <a:prstGeom prst="rect">
            <a:avLst/>
          </a:prstGeom>
          <a:solidFill>
            <a:schemeClr val="accent6">
              <a:lumMod val="50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27" name="Text 25"/>
          <p:cNvSpPr/>
          <p:nvPr/>
        </p:nvSpPr>
        <p:spPr>
          <a:xfrm>
            <a:off x="3127248" y="2953512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3547872" y="3008376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Isklju</a:t>
            </a:r>
            <a:r>
              <a:rPr lang="sr-Latn-R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4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r>
              <a:rPr lang="sr-Latn-R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vanje</a:t>
            </a: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tabel</a:t>
            </a:r>
            <a:r>
              <a:rPr lang="sr-Latn-R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3218688" y="3456432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+mj-lt"/>
                <a:ea typeface="Consolas" pitchFamily="34" charset="-122"/>
                <a:cs typeface="Consolas" pitchFamily="34" charset="-120"/>
              </a:rPr>
              <a:t>ALTER PUBLICATION SET TABLE EMPLOYEE INACTIVE;</a:t>
            </a:r>
            <a:endParaRPr lang="sr-Latn-RS" sz="1200" dirty="0">
              <a:solidFill>
                <a:srgbClr val="475569"/>
              </a:solidFill>
              <a:latin typeface="+mj-lt"/>
              <a:ea typeface="Consolas" pitchFamily="34" charset="-122"/>
              <a:cs typeface="Consolas" pitchFamily="34" charset="-120"/>
            </a:endParaRPr>
          </a:p>
          <a:p>
            <a:pPr marL="0" indent="0">
              <a:buNone/>
            </a:pPr>
            <a:endParaRPr lang="en-US" sz="1200" dirty="0">
              <a:latin typeface="+mj-lt"/>
            </a:endParaRPr>
          </a:p>
          <a:p>
            <a:pPr marL="0" indent="0">
              <a:buNone/>
            </a:pPr>
            <a:r>
              <a:rPr lang="sr-Latn-RS" sz="1200" dirty="0">
                <a:solidFill>
                  <a:srgbClr val="475569"/>
                </a:solidFill>
                <a:latin typeface="+mj-lt"/>
                <a:ea typeface="Consolas" pitchFamily="34" charset="-122"/>
                <a:cs typeface="Consolas" pitchFamily="34" charset="-120"/>
              </a:rPr>
              <a:t>T</a:t>
            </a:r>
            <a:r>
              <a:rPr lang="en-US" sz="1200" dirty="0" err="1">
                <a:solidFill>
                  <a:srgbClr val="475569"/>
                </a:solidFill>
                <a:latin typeface="+mj-lt"/>
                <a:ea typeface="Consolas" pitchFamily="34" charset="-122"/>
                <a:cs typeface="Consolas" pitchFamily="34" charset="-120"/>
              </a:rPr>
              <a:t>abela</a:t>
            </a:r>
            <a:r>
              <a:rPr lang="en-US" sz="1200" dirty="0">
                <a:solidFill>
                  <a:srgbClr val="475569"/>
                </a:solidFill>
                <a:latin typeface="+mj-lt"/>
                <a:ea typeface="Consolas" pitchFamily="34" charset="-122"/>
                <a:cs typeface="Consolas" pitchFamily="34" charset="-120"/>
              </a:rPr>
              <a:t> se </a:t>
            </a:r>
            <a:r>
              <a:rPr lang="en-US" sz="1200" dirty="0" err="1">
                <a:solidFill>
                  <a:srgbClr val="475569"/>
                </a:solidFill>
                <a:latin typeface="+mj-lt"/>
                <a:ea typeface="Consolas" pitchFamily="34" charset="-122"/>
                <a:cs typeface="Consolas" pitchFamily="34" charset="-120"/>
              </a:rPr>
              <a:t>isklju</a:t>
            </a:r>
            <a:r>
              <a:rPr lang="sr-Latn-RS" sz="1200" dirty="0">
                <a:solidFill>
                  <a:srgbClr val="475569"/>
                </a:solidFill>
                <a:latin typeface="+mj-lt"/>
                <a:ea typeface="Consolas" pitchFamily="34" charset="-122"/>
                <a:cs typeface="Consolas" pitchFamily="34" charset="-120"/>
              </a:rPr>
              <a:t>č</a:t>
            </a:r>
            <a:r>
              <a:rPr lang="en-US" sz="1200" dirty="0" err="1">
                <a:solidFill>
                  <a:srgbClr val="475569"/>
                </a:solidFill>
                <a:latin typeface="+mj-lt"/>
                <a:ea typeface="Consolas" pitchFamily="34" charset="-122"/>
                <a:cs typeface="Consolas" pitchFamily="34" charset="-120"/>
              </a:rPr>
              <a:t>uje</a:t>
            </a:r>
            <a:r>
              <a:rPr lang="en-US" sz="1200" dirty="0">
                <a:solidFill>
                  <a:srgbClr val="475569"/>
                </a:solidFill>
                <a:latin typeface="+mj-lt"/>
                <a:ea typeface="Consolas" pitchFamily="34" charset="-122"/>
                <a:cs typeface="Consolas" pitchFamily="34" charset="-120"/>
              </a:rPr>
              <a:t> iz replikacije bez </a:t>
            </a:r>
            <a:r>
              <a:rPr lang="en-US" sz="1200" dirty="0" err="1">
                <a:solidFill>
                  <a:srgbClr val="475569"/>
                </a:solidFill>
                <a:latin typeface="+mj-lt"/>
                <a:ea typeface="Consolas" pitchFamily="34" charset="-122"/>
                <a:cs typeface="Consolas" pitchFamily="34" charset="-120"/>
              </a:rPr>
              <a:t>gubljenja</a:t>
            </a:r>
            <a:r>
              <a:rPr lang="en-US" sz="1200" dirty="0">
                <a:solidFill>
                  <a:srgbClr val="475569"/>
                </a:solidFill>
                <a:latin typeface="+mj-lt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200" dirty="0" err="1">
                <a:solidFill>
                  <a:srgbClr val="475569"/>
                </a:solidFill>
                <a:latin typeface="+mj-lt"/>
                <a:ea typeface="Consolas" pitchFamily="34" charset="-122"/>
                <a:cs typeface="Consolas" pitchFamily="34" charset="-120"/>
              </a:rPr>
              <a:t>ostalih</a:t>
            </a:r>
            <a:endParaRPr lang="sr-Latn-RS" sz="1200" dirty="0">
              <a:solidFill>
                <a:srgbClr val="475569"/>
              </a:solidFill>
              <a:latin typeface="+mj-lt"/>
              <a:ea typeface="Consolas" pitchFamily="34" charset="-122"/>
              <a:cs typeface="Consolas" pitchFamily="34" charset="-120"/>
            </a:endParaRPr>
          </a:p>
          <a:p>
            <a:pPr marL="0" indent="0">
              <a:buNone/>
            </a:pPr>
            <a:endParaRPr lang="en-US" sz="1200" dirty="0">
              <a:latin typeface="+mj-lt"/>
            </a:endParaRPr>
          </a:p>
          <a:p>
            <a:pPr marL="0" indent="0">
              <a:buNone/>
            </a:pPr>
            <a:r>
              <a:rPr lang="en-US" sz="1200" dirty="0" err="1">
                <a:solidFill>
                  <a:srgbClr val="475569"/>
                </a:solidFill>
                <a:latin typeface="+mj-lt"/>
                <a:ea typeface="Consolas" pitchFamily="34" charset="-122"/>
                <a:cs typeface="Consolas" pitchFamily="34" charset="-120"/>
              </a:rPr>
              <a:t>Fleksibilnost</a:t>
            </a:r>
            <a:r>
              <a:rPr lang="en-US" sz="1200" dirty="0">
                <a:solidFill>
                  <a:srgbClr val="475569"/>
                </a:solidFill>
                <a:latin typeface="+mj-lt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200" dirty="0" err="1">
                <a:solidFill>
                  <a:srgbClr val="475569"/>
                </a:solidFill>
                <a:latin typeface="+mj-lt"/>
                <a:ea typeface="Consolas" pitchFamily="34" charset="-122"/>
                <a:cs typeface="Consolas" pitchFamily="34" charset="-120"/>
              </a:rPr>
              <a:t>logi</a:t>
            </a:r>
            <a:r>
              <a:rPr lang="sr-Latn-RS" sz="1200" dirty="0">
                <a:solidFill>
                  <a:srgbClr val="475569"/>
                </a:solidFill>
                <a:latin typeface="+mj-lt"/>
                <a:ea typeface="Consolas" pitchFamily="34" charset="-122"/>
                <a:cs typeface="Consolas" pitchFamily="34" charset="-120"/>
              </a:rPr>
              <a:t>č</a:t>
            </a:r>
            <a:r>
              <a:rPr lang="en-US" sz="1200" dirty="0" err="1">
                <a:solidFill>
                  <a:srgbClr val="475569"/>
                </a:solidFill>
                <a:latin typeface="+mj-lt"/>
                <a:ea typeface="Consolas" pitchFamily="34" charset="-122"/>
                <a:cs typeface="Consolas" pitchFamily="34" charset="-120"/>
              </a:rPr>
              <a:t>ke</a:t>
            </a:r>
            <a:r>
              <a:rPr lang="en-US" sz="1200" dirty="0">
                <a:solidFill>
                  <a:srgbClr val="475569"/>
                </a:solidFill>
                <a:latin typeface="+mj-lt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200" dirty="0" err="1">
                <a:solidFill>
                  <a:srgbClr val="475569"/>
                </a:solidFill>
                <a:latin typeface="+mj-lt"/>
                <a:ea typeface="Consolas" pitchFamily="34" charset="-122"/>
                <a:cs typeface="Consolas" pitchFamily="34" charset="-120"/>
              </a:rPr>
              <a:t>replikacije</a:t>
            </a:r>
            <a:r>
              <a:rPr lang="sr-Latn-BA" sz="1200" dirty="0">
                <a:solidFill>
                  <a:srgbClr val="475569"/>
                </a:solidFill>
                <a:latin typeface="+mj-lt"/>
                <a:ea typeface="Consolas" pitchFamily="34" charset="-122"/>
                <a:cs typeface="Consolas" pitchFamily="34" charset="-120"/>
              </a:rPr>
              <a:t>.</a:t>
            </a:r>
            <a:endParaRPr lang="en-US" sz="1200" dirty="0">
              <a:latin typeface="+mj-lt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402336" y="267652"/>
            <a:ext cx="8412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Ključni zaključci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989007"/>
            <a:ext cx="8412480" cy="640080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chemeClr val="bg1"/>
            </a:solidFill>
            <a:prstDash val="solid"/>
          </a:ln>
        </p:spPr>
        <p:txBody>
          <a:bodyPr/>
          <a:lstStyle/>
          <a:p>
            <a:endParaRPr sz="1200">
              <a:solidFill>
                <a:schemeClr val="bg1"/>
              </a:solidFill>
            </a:endParaRPr>
          </a:p>
        </p:txBody>
      </p:sp>
      <p:sp>
        <p:nvSpPr>
          <p:cNvPr id="6" name="Shape 4"/>
          <p:cNvSpPr/>
          <p:nvPr/>
        </p:nvSpPr>
        <p:spPr>
          <a:xfrm>
            <a:off x="365760" y="989007"/>
            <a:ext cx="73152" cy="64008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530352" y="1098735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Mirroring vs Replikacija: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8" name="Text 6"/>
          <p:cNvSpPr/>
          <p:nvPr/>
        </p:nvSpPr>
        <p:spPr>
          <a:xfrm>
            <a:off x="3017520" y="1098735"/>
            <a:ext cx="5669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Preslikavanje = hardverska redundansa (LAN)</a:t>
            </a:r>
            <a:endParaRPr lang="sr-Latn-RS" sz="1200" dirty="0">
              <a:solidFill>
                <a:srgbClr val="FFFFFF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Replikacija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</a:t>
            </a:r>
            <a:r>
              <a:rPr lang="en-US" sz="1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</a:t>
            </a:r>
            <a:r>
              <a:rPr lang="sr-Latn-R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 sinhronizacija (WAN + selekcija).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65760" y="1747959"/>
            <a:ext cx="8412480" cy="640080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chemeClr val="bg1"/>
            </a:solidFill>
            <a:prstDash val="solid"/>
          </a:ln>
        </p:spPr>
        <p:txBody>
          <a:bodyPr/>
          <a:lstStyle/>
          <a:p>
            <a:endParaRPr sz="1200">
              <a:solidFill>
                <a:schemeClr val="bg1"/>
              </a:solidFill>
            </a:endParaRPr>
          </a:p>
        </p:txBody>
      </p:sp>
      <p:sp>
        <p:nvSpPr>
          <p:cNvPr id="10" name="Shape 8"/>
          <p:cNvSpPr/>
          <p:nvPr/>
        </p:nvSpPr>
        <p:spPr>
          <a:xfrm>
            <a:off x="365760" y="1747959"/>
            <a:ext cx="73152" cy="64008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530352" y="1857687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Nativna replikacija FB 4.0: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12" name="Text 10"/>
          <p:cNvSpPr/>
          <p:nvPr/>
        </p:nvSpPr>
        <p:spPr>
          <a:xfrm>
            <a:off x="3017520" y="1857687"/>
            <a:ext cx="5669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Revolucionarna promena — </a:t>
            </a:r>
            <a:r>
              <a:rPr lang="en-US" sz="1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ugra</a:t>
            </a:r>
            <a:r>
              <a:rPr lang="sr-Latn-R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</a:t>
            </a:r>
            <a:r>
              <a:rPr lang="en-US" sz="1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eni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mehanizam bez alata </a:t>
            </a:r>
            <a:r>
              <a:rPr lang="en-US" sz="1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</a:t>
            </a:r>
            <a:r>
              <a:rPr lang="sr-Latn-R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ć</a:t>
            </a:r>
            <a:r>
              <a:rPr lang="en-US" sz="1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ih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strana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65760" y="2506911"/>
            <a:ext cx="8412480" cy="640080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chemeClr val="bg1"/>
            </a:solidFill>
            <a:prstDash val="solid"/>
          </a:ln>
        </p:spPr>
        <p:txBody>
          <a:bodyPr/>
          <a:lstStyle/>
          <a:p>
            <a:endParaRPr sz="1200">
              <a:solidFill>
                <a:schemeClr val="bg1"/>
              </a:solidFill>
            </a:endParaRPr>
          </a:p>
        </p:txBody>
      </p:sp>
      <p:sp>
        <p:nvSpPr>
          <p:cNvPr id="14" name="Shape 12"/>
          <p:cNvSpPr/>
          <p:nvPr/>
        </p:nvSpPr>
        <p:spPr>
          <a:xfrm>
            <a:off x="365760" y="2506911"/>
            <a:ext cx="73152" cy="64008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530352" y="2616639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Sinhrono vs Asinhrono: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16" name="Text 14"/>
          <p:cNvSpPr/>
          <p:nvPr/>
        </p:nvSpPr>
        <p:spPr>
          <a:xfrm>
            <a:off x="3017520" y="2616639"/>
            <a:ext cx="5669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Data Loss (sinhrono) ili maksimalna brzina (asinhrono) — biramo prema </a:t>
            </a:r>
            <a:r>
              <a:rPr lang="en-US" sz="1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poslovnom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zahtevu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65760" y="3265863"/>
            <a:ext cx="8412480" cy="640080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chemeClr val="bg1"/>
            </a:solidFill>
            <a:prstDash val="solid"/>
          </a:ln>
        </p:spPr>
        <p:txBody>
          <a:bodyPr/>
          <a:lstStyle/>
          <a:p>
            <a:endParaRPr sz="1200">
              <a:solidFill>
                <a:schemeClr val="bg1"/>
              </a:solidFill>
            </a:endParaRPr>
          </a:p>
        </p:txBody>
      </p:sp>
      <p:sp>
        <p:nvSpPr>
          <p:cNvPr id="18" name="Shape 16"/>
          <p:cNvSpPr/>
          <p:nvPr/>
        </p:nvSpPr>
        <p:spPr>
          <a:xfrm>
            <a:off x="365760" y="3265863"/>
            <a:ext cx="73152" cy="64008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530352" y="3375591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Eho efekat: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20" name="Text 18"/>
          <p:cNvSpPr/>
          <p:nvPr/>
        </p:nvSpPr>
        <p:spPr>
          <a:xfrm>
            <a:off x="3017520" y="3375591"/>
            <a:ext cx="5669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RDB$GET_CONTEXT('SYSTEM','REPLICATING') 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</a:t>
            </a:r>
            <a:r>
              <a:rPr lang="en-US" sz="1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klju</a:t>
            </a:r>
            <a:r>
              <a:rPr lang="sr-Latn-R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</a:t>
            </a:r>
            <a:r>
              <a:rPr lang="sr-Latn-R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avanja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beskona</a:t>
            </a:r>
            <a:r>
              <a:rPr lang="sr-Latn-R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nih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petlji u Multi-Master</a:t>
            </a:r>
            <a:r>
              <a:rPr lang="sr-Latn-R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-u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65760" y="4024815"/>
            <a:ext cx="8412480" cy="640080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chemeClr val="bg1"/>
            </a:solidFill>
            <a:prstDash val="solid"/>
          </a:ln>
        </p:spPr>
        <p:txBody>
          <a:bodyPr/>
          <a:lstStyle/>
          <a:p>
            <a:endParaRPr sz="1200">
              <a:solidFill>
                <a:schemeClr val="bg1"/>
              </a:solidFill>
            </a:endParaRPr>
          </a:p>
        </p:txBody>
      </p:sp>
      <p:sp>
        <p:nvSpPr>
          <p:cNvPr id="22" name="Shape 20"/>
          <p:cNvSpPr/>
          <p:nvPr/>
        </p:nvSpPr>
        <p:spPr>
          <a:xfrm>
            <a:off x="365760" y="4024815"/>
            <a:ext cx="73152" cy="64008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530352" y="4134543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Firebird vs konkurencija: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24" name="Text 22"/>
          <p:cNvSpPr/>
          <p:nvPr/>
        </p:nvSpPr>
        <p:spPr>
          <a:xfrm>
            <a:off x="3017520" y="4134543"/>
            <a:ext cx="5669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i MSSQL imaju </a:t>
            </a:r>
            <a:r>
              <a:rPr lang="en-US" sz="1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zrelija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</a:t>
            </a:r>
            <a:r>
              <a:rPr lang="sr-Latn-R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š</a:t>
            </a:r>
            <a:r>
              <a:rPr lang="en-US" sz="1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enja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Firebird 4.0/5.0 tek dostigao enterprise </a:t>
            </a:r>
            <a:r>
              <a:rPr lang="en-US" sz="1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nivo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replikacije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24366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7" name="Shape 1">
            <a:extLst>
              <a:ext uri="{FF2B5EF4-FFF2-40B4-BE49-F238E27FC236}">
                <a16:creationId xmlns:a16="http://schemas.microsoft.com/office/drawing/2014/main" id="{191CE844-74B2-1141-0575-D5F64587F5D3}"/>
              </a:ext>
            </a:extLst>
          </p:cNvPr>
          <p:cNvSpPr/>
          <p:nvPr/>
        </p:nvSpPr>
        <p:spPr>
          <a:xfrm>
            <a:off x="201168" y="0"/>
            <a:ext cx="8942832" cy="5486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/>
        </p:spPr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Green Yellow">
      <a:dk1>
        <a:sysClr val="windowText" lastClr="000000"/>
      </a:dk1>
      <a:lt1>
        <a:sysClr val="window" lastClr="FFFFFF"/>
      </a:lt1>
      <a:dk2>
        <a:srgbClr val="455F51"/>
      </a:dk2>
      <a:lt2>
        <a:srgbClr val="E2DFCC"/>
      </a:lt2>
      <a:accent1>
        <a:srgbClr val="99CB38"/>
      </a:accent1>
      <a:accent2>
        <a:srgbClr val="63A537"/>
      </a:accent2>
      <a:accent3>
        <a:srgbClr val="37A76F"/>
      </a:accent3>
      <a:accent4>
        <a:srgbClr val="44C1A3"/>
      </a:accent4>
      <a:accent5>
        <a:srgbClr val="4EB3CF"/>
      </a:accent5>
      <a:accent6>
        <a:srgbClr val="51C3F9"/>
      </a:accent6>
      <a:hlink>
        <a:srgbClr val="EE7B08"/>
      </a:hlink>
      <a:folHlink>
        <a:srgbClr val="977B2D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113</TotalTime>
  <Words>3685</Words>
  <Application>Microsoft Office PowerPoint</Application>
  <PresentationFormat>On-screen Show (16:9)</PresentationFormat>
  <Paragraphs>334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Jefimija Stamenovic</cp:lastModifiedBy>
  <cp:revision>86</cp:revision>
  <dcterms:created xsi:type="dcterms:W3CDTF">2026-03-11T06:47:54Z</dcterms:created>
  <dcterms:modified xsi:type="dcterms:W3CDTF">2026-03-16T01:14:48Z</dcterms:modified>
</cp:coreProperties>
</file>