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B2A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73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91811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548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Replikacija podataka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153619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(Replication and Mirroring)</a:t>
            </a:r>
            <a:endParaRPr lang="en-US" sz="4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 Firebird baze podataka</a:t>
            </a:r>
            <a:endParaRPr lang="en-US" sz="2000" b="1" dirty="0">
              <a:solidFill>
                <a:schemeClr val="accent6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B3F7093A-1B0E-EA2D-69D0-73E890752FCC}"/>
              </a:ext>
            </a:extLst>
          </p:cNvPr>
          <p:cNvSpPr/>
          <p:nvPr/>
        </p:nvSpPr>
        <p:spPr>
          <a:xfrm>
            <a:off x="660399" y="3863340"/>
            <a:ext cx="35269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Mentor: dr Aleksandar S. Stanimirović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35D96694-6F48-ADBB-997C-AC6A87633411}"/>
              </a:ext>
            </a:extLst>
          </p:cNvPr>
          <p:cNvSpPr/>
          <p:nvPr/>
        </p:nvSpPr>
        <p:spPr>
          <a:xfrm>
            <a:off x="660399" y="3510643"/>
            <a:ext cx="356325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400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Student:  </a:t>
            </a:r>
            <a:r>
              <a:rPr lang="en-US" sz="1400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Jefimija </a:t>
            </a:r>
            <a:r>
              <a:rPr lang="en-US" sz="1400" i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Stamenovi</a:t>
            </a:r>
            <a:r>
              <a:rPr lang="sr-Latn-RS" sz="1400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ć 1820/2024</a:t>
            </a:r>
            <a:endParaRPr lang="en-US" sz="1400" i="1" dirty="0">
              <a:solidFill>
                <a:schemeClr val="bg1"/>
              </a:solidFill>
            </a:endParaRP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8E222DE8-FECA-E6C1-2899-17F8A6C2661A}"/>
              </a:ext>
            </a:extLst>
          </p:cNvPr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Elektronski fakultet u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Nišu</a:t>
            </a:r>
            <a:r>
              <a:rPr lang="sr-Latn-R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·</a:t>
            </a:r>
            <a:r>
              <a:rPr lang="sr-Latn-R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Master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akademske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studije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 ·  Sistemi za upravljanje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bazama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podataka</a:t>
            </a:r>
            <a:r>
              <a:rPr lang="sr-Latn-R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·  Mart 2026. </a:t>
            </a:r>
            <a:endParaRPr lang="en-US" sz="10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Sadržaj prezentacije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941832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941832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246888" y="11064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822960" y="100584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Kontekst i CAP teorema</a:t>
            </a:r>
            <a:endParaRPr lang="en-US" sz="1400" b="1" dirty="0"/>
          </a:p>
        </p:txBody>
      </p:sp>
      <p:sp>
        <p:nvSpPr>
          <p:cNvPr id="9" name="Text 7"/>
          <p:cNvSpPr/>
          <p:nvPr/>
        </p:nvSpPr>
        <p:spPr>
          <a:xfrm>
            <a:off x="822960" y="136245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Konzistentnost vs Dostupnost — fundamentalni kompromis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8600" y="1901952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28600" y="1901952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46888" y="20665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822960" y="196596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Preslikavanje (Mirroring)</a:t>
            </a:r>
            <a:endParaRPr lang="en-US" sz="1400" b="1" dirty="0"/>
          </a:p>
        </p:txBody>
      </p:sp>
      <p:sp>
        <p:nvSpPr>
          <p:cNvPr id="14" name="Text 12"/>
          <p:cNvSpPr/>
          <p:nvPr/>
        </p:nvSpPr>
        <p:spPr>
          <a:xfrm>
            <a:off x="822960" y="232257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Arhitektura, MANUAL/AUTO re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scenario oporavka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8600" y="2862072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28600" y="2862072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246888" y="30266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822960" y="29260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Nativna binarna replikacija</a:t>
            </a:r>
            <a:endParaRPr lang="en-US" sz="1400" b="1" dirty="0"/>
          </a:p>
        </p:txBody>
      </p:sp>
      <p:sp>
        <p:nvSpPr>
          <p:cNvPr id="19" name="Text 17"/>
          <p:cNvSpPr/>
          <p:nvPr/>
        </p:nvSpPr>
        <p:spPr>
          <a:xfrm>
            <a:off x="822960" y="328269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4.0 — replikacioni dnevnici, sinhronizacija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28600" y="3822192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28600" y="3822192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246888" y="39867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822960" y="388620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Sinhrona vs Asinhrona replikacija</a:t>
            </a:r>
            <a:endParaRPr lang="en-US" sz="1400" b="1" dirty="0"/>
          </a:p>
        </p:txBody>
      </p:sp>
      <p:sp>
        <p:nvSpPr>
          <p:cNvPr id="24" name="Text 22"/>
          <p:cNvSpPr/>
          <p:nvPr/>
        </p:nvSpPr>
        <p:spPr>
          <a:xfrm>
            <a:off x="822960" y="424281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Data Loss vs Replication Lag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54880" y="941832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754880" y="941832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4773168" y="11064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5349240" y="100584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</a:t>
            </a:r>
            <a:r>
              <a:rPr lang="sr-Latn-R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 </a:t>
            </a:r>
            <a:r>
              <a:rPr lang="en-US" sz="14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replikacija</a:t>
            </a:r>
            <a:endParaRPr lang="en-US" sz="1400" b="1" dirty="0"/>
          </a:p>
        </p:txBody>
      </p:sp>
      <p:sp>
        <p:nvSpPr>
          <p:cNvPr id="29" name="Text 27"/>
          <p:cNvSpPr/>
          <p:nvPr/>
        </p:nvSpPr>
        <p:spPr>
          <a:xfrm>
            <a:off x="5349240" y="136245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Trigeri, REPLICATION_LOG tabela, re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avanje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konflikata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754880" y="1901952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4754880" y="1901952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4773168" y="20665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33" name="Text 31"/>
          <p:cNvSpPr/>
          <p:nvPr/>
        </p:nvSpPr>
        <p:spPr>
          <a:xfrm>
            <a:off x="5349240" y="196596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Multi-Master topologije</a:t>
            </a:r>
            <a:endParaRPr lang="en-US" sz="1400" b="1" dirty="0"/>
          </a:p>
        </p:txBody>
      </p:sp>
      <p:sp>
        <p:nvSpPr>
          <p:cNvPr id="34" name="Text 32"/>
          <p:cNvSpPr/>
          <p:nvPr/>
        </p:nvSpPr>
        <p:spPr>
          <a:xfrm>
            <a:off x="5349240" y="232257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Star, Mesh, Ring — eho efekat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ša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vanje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754880" y="2862072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4754880" y="2862072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4773168" y="30266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38" name="Text 36"/>
          <p:cNvSpPr/>
          <p:nvPr/>
        </p:nvSpPr>
        <p:spPr>
          <a:xfrm>
            <a:off x="5349240" y="29260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</a:t>
            </a:r>
            <a:r>
              <a:rPr lang="sr-Latn-R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implementacija</a:t>
            </a:r>
            <a:endParaRPr lang="en-US" sz="1400" b="1" dirty="0"/>
          </a:p>
        </p:txBody>
      </p:sp>
      <p:sp>
        <p:nvSpPr>
          <p:cNvPr id="39" name="Text 37"/>
          <p:cNvSpPr/>
          <p:nvPr/>
        </p:nvSpPr>
        <p:spPr>
          <a:xfrm>
            <a:off x="5349240" y="328269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koraka konfiguracije + 5 verifikacionih primera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teorema — temeljni kompromis svakog distribuiranog sistema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2743200" cy="34747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>
                <a:lumMod val="75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20040" y="822960"/>
            <a:ext cx="2743200" cy="96012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20040" y="85039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11480" y="15270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7647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Konzistentnost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" y="2173803"/>
            <a:ext cx="25603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 slave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 svakom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trenutku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2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Zahteva sinhronizaciju pre odgovora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korisniku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2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Primer: 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finansijske aplikacije,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knji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enje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realnom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vremenu</a:t>
            </a:r>
            <a:endParaRPr lang="en-US" sz="1200" dirty="0">
              <a:solidFill>
                <a:srgbClr val="1B2A4A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3218688" y="822960"/>
            <a:ext cx="2743200" cy="34747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>
                <a:lumMod val="75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3218688" y="822960"/>
            <a:ext cx="2743200" cy="96012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3218688" y="85039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3310128" y="15270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10128" y="17647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Dostupnost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310128" y="2173803"/>
            <a:ext cx="25603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Fokus na brzini rada i kontinuitetu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servisa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2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Korisnik ne 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potvrdu slave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servera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2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Primer: 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prikupljanje podataka sa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mernih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IoT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</a:t>
            </a:r>
            <a:endParaRPr lang="en-US" sz="1200" dirty="0">
              <a:solidFill>
                <a:srgbClr val="1B2A4A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117336" y="822960"/>
            <a:ext cx="2743200" cy="34747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>
                <a:lumMod val="75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117336" y="822960"/>
            <a:ext cx="2743200" cy="960120"/>
          </a:xfrm>
          <a:prstGeom prst="rect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117336" y="85039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6208776" y="15270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Part. Tolerance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08776" y="17647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Otpornost na particije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08776" y="2173803"/>
            <a:ext cx="25603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funkcioni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i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kada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mre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nije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pouzdana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2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bira: ili C+P (sinhrono) ili A+P (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asinhrono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sr-Latn-RS" sz="12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 moguće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imati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sva tri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istovremeno</a:t>
            </a:r>
            <a:endParaRPr lang="en-US" sz="1200" dirty="0">
              <a:solidFill>
                <a:srgbClr val="1B2A4A"/>
              </a:solidFill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20040" y="4453128"/>
            <a:ext cx="8540496" cy="54864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411480" y="449884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4.0 nudi OBA režima: sinhroni (C+P) za finansije i asinhroni (A+P) za visoku propusnost.</a:t>
            </a:r>
            <a:endParaRPr lang="en-US" sz="14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Preslikavanje (Mirroring) — arhitektura i režimi rada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2560320" cy="77724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228600" y="77724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Korisni</a:t>
            </a:r>
            <a:r>
              <a:rPr lang="sr-Latn-R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834640" y="10058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sr-Latn-RS" b="1" dirty="0"/>
              <a:t>→</a:t>
            </a:r>
            <a:endParaRPr lang="en-US" sz="2000" b="1" dirty="0"/>
          </a:p>
        </p:txBody>
      </p:sp>
      <p:sp>
        <p:nvSpPr>
          <p:cNvPr id="8" name="Shape 6"/>
          <p:cNvSpPr/>
          <p:nvPr/>
        </p:nvSpPr>
        <p:spPr>
          <a:xfrm>
            <a:off x="3337560" y="777240"/>
            <a:ext cx="2423160" cy="77724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3337560" y="7772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Upis na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PRIMARNI disk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783580" y="10058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000" dirty="0">
              <a:solidFill>
                <a:srgbClr val="1B2A4A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6263640" y="777240"/>
            <a:ext cx="2651760" cy="777240"/>
          </a:xfrm>
          <a:prstGeom prst="rect">
            <a:avLst/>
          </a:prstGeom>
          <a:solidFill>
            <a:schemeClr val="accent5">
              <a:lumMod val="75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263640" y="7772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Upis na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disk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28600" y="16459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Upis je UVEK sinhroni — baza ceka potvrdu OBA diska. Operise na nivou stranica (4–16 KB), ne SQL naredbi.</a:t>
            </a:r>
            <a:endParaRPr lang="en-US" sz="1400" b="1" dirty="0">
              <a:solidFill>
                <a:srgbClr val="1B2A4A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28600" y="2011680"/>
            <a:ext cx="41605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28600" y="2011680"/>
            <a:ext cx="64008" cy="137160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365760" y="20848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režim (strogi)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5760" y="2468880"/>
            <a:ext cx="3977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Ispravnost kopije je prioritet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dostupno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šć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Ako shadow disk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zaka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-&gt; 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CELA BAZA SE ZATVARA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Koristiti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finansijski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a,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čno za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ERP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sisteme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CREATE SHADOW 1 MANUAL 'D:\backup\firma.shd';</a:t>
            </a:r>
            <a:endParaRPr lang="en-US" sz="1200" dirty="0">
              <a:solidFill>
                <a:srgbClr val="1B2A4A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0" y="2011680"/>
            <a:ext cx="43434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64008" cy="1371600"/>
          </a:xfrm>
          <a:prstGeom prst="rect">
            <a:avLst/>
          </a:prstGeom>
          <a:solidFill>
            <a:schemeClr val="accent5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4709160" y="208483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režim (tolerantni)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709160" y="2468880"/>
            <a:ext cx="4160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Neprekidni rad je prioritet nad redundansom.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Ako shadow disk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zaka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-&gt; baza NASTAVLJA RAD bez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preslikavanja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Koristiti kod: dev/test okruzenja,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 backup generatorom.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CREATE SHADOW 1 AUTO 'D:\backup\firma.shd';</a:t>
            </a:r>
            <a:endParaRPr lang="en-US" sz="1200" dirty="0">
              <a:solidFill>
                <a:srgbClr val="1B2A4A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60604" y="3538728"/>
            <a:ext cx="8686800" cy="14251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228600" y="3538728"/>
            <a:ext cx="64008" cy="142515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365760" y="356695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Ograničenja preslikavanja: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65760" y="3995928"/>
            <a:ext cx="8321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I/O kazna (oba diska se 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ekaju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 </a:t>
            </a:r>
            <a:endParaRPr lang="sr-Latn-RS" sz="12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Samo za LAN — nije za WAN  </a:t>
            </a:r>
            <a:endParaRPr lang="sr-Latn-RS" sz="12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 read offloading — shadow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itljiv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dok je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aktivan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sr-Latn-RS" sz="12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ODS (ista verzija Firebird)  </a:t>
            </a:r>
            <a:endParaRPr lang="sr-Latn-RS" sz="12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raspodele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optere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enja</a:t>
            </a:r>
            <a:endParaRPr lang="en-US" sz="1200" dirty="0">
              <a:solidFill>
                <a:srgbClr val="1B2A4A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Nativna binarna replikacija — Firebird 4.0 revolucija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8686800" cy="59436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320040" y="82296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4.0 uvodi PRVU nativnu binarnu replikaciju u standardnu distribuciju — bez alata </a:t>
            </a:r>
            <a:r>
              <a:rPr lang="en-U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</a:t>
            </a:r>
            <a:r>
              <a:rPr lang="sr-Latn-R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ći</a:t>
            </a: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strana!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228600" y="1527048"/>
            <a:ext cx="1542143" cy="804672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228600" y="1527048"/>
            <a:ext cx="154214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baza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770743" y="1783080"/>
            <a:ext cx="1860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sr-Latn-RS" sz="1200" b="1" dirty="0">
                <a:solidFill>
                  <a:schemeClr val="accent5">
                    <a:lumMod val="50000"/>
                  </a:schemeClr>
                </a:solidFill>
              </a:rPr>
              <a:t>→</a:t>
            </a:r>
            <a:endParaRPr lang="en-US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1965960" y="1527048"/>
            <a:ext cx="1600200" cy="804672"/>
          </a:xfrm>
          <a:prstGeom prst="rect">
            <a:avLst/>
          </a:prstGeom>
          <a:solidFill>
            <a:srgbClr val="243660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 sz="1200"/>
          </a:p>
        </p:txBody>
      </p:sp>
      <p:sp>
        <p:nvSpPr>
          <p:cNvPr id="11" name="Text 9"/>
          <p:cNvSpPr/>
          <p:nvPr/>
        </p:nvSpPr>
        <p:spPr>
          <a:xfrm>
            <a:off x="1965960" y="1527048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84448" y="1783080"/>
            <a:ext cx="109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03320" y="1527048"/>
            <a:ext cx="1600200" cy="804672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 sz="1200"/>
          </a:p>
        </p:txBody>
      </p:sp>
      <p:sp>
        <p:nvSpPr>
          <p:cNvPr id="14" name="Text 12"/>
          <p:cNvSpPr/>
          <p:nvPr/>
        </p:nvSpPr>
        <p:spPr>
          <a:xfrm>
            <a:off x="3703320" y="1527048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21808" y="1783080"/>
            <a:ext cx="109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40680" y="1527048"/>
            <a:ext cx="1600200" cy="804672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5440680" y="1527048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Replikacioni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178040" y="1527048"/>
            <a:ext cx="1600200" cy="804672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178040" y="1527048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Slave baza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28600" y="2496312"/>
            <a:ext cx="2743200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228600" y="2496312"/>
            <a:ext cx="64008" cy="135331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65760" y="2533179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Segment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65760" y="2866136"/>
            <a:ext cx="2560320" cy="8813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Promene se akumuliraju u memorijskom baferu (BufferPoolSize).</a:t>
            </a:r>
            <a:endParaRPr lang="en-US" sz="1200" dirty="0">
              <a:solidFill>
                <a:srgbClr val="1B2A4A"/>
              </a:solidFill>
            </a:endParaRPr>
          </a:p>
          <a:p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 se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napuni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1B2A4A"/>
                </a:solidFill>
              </a:rPr>
              <a:t>→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flush na disk kao binarni segment.</a:t>
            </a:r>
            <a:endParaRPr lang="en-US" sz="1200" dirty="0">
              <a:solidFill>
                <a:srgbClr val="1B2A4A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154680" y="2496312"/>
            <a:ext cx="2743200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3154680" y="2496312"/>
            <a:ext cx="64008" cy="1353312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3291840" y="2533179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Replikacioni Agent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91840" y="2866136"/>
            <a:ext cx="2560320" cy="8813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Namenski podsistem unutar engine-a.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Kontinuirano skenira archive directory.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Primenjuje segmente na slave bazu kroz SQL replay.</a:t>
            </a:r>
            <a:endParaRPr lang="en-US" sz="1200" dirty="0">
              <a:solidFill>
                <a:srgbClr val="1B2A4A"/>
              </a:solidFill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080760" y="2496312"/>
            <a:ext cx="2834640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6080760" y="2496312"/>
            <a:ext cx="64008" cy="1353312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6217920" y="2533179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GUID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217920" y="2866136"/>
            <a:ext cx="2651760" cy="881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Slave baza prihvata SAMO logove od mastera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čn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tim GUID-om.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nenamerno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ša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nje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podataka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servera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>
              <a:solidFill>
                <a:srgbClr val="1B2A4A"/>
              </a:solidFill>
            </a:endParaRPr>
          </a:p>
        </p:txBody>
      </p:sp>
      <p:sp>
        <p:nvSpPr>
          <p:cNvPr id="33" name="Shape 31"/>
          <p:cNvSpPr/>
          <p:nvPr/>
        </p:nvSpPr>
        <p:spPr>
          <a:xfrm>
            <a:off x="228600" y="3995928"/>
            <a:ext cx="8686800" cy="1083564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228600" y="3995928"/>
            <a:ext cx="8686800" cy="329184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320040" y="4032504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</a:t>
            </a:r>
            <a:r>
              <a:rPr lang="sr-Latn-R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</a:t>
            </a: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parametri replication.conf (master)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36" name="Text 34"/>
          <p:cNvSpPr/>
          <p:nvPr/>
        </p:nvSpPr>
        <p:spPr>
          <a:xfrm>
            <a:off x="320040" y="4379976"/>
            <a:ext cx="8503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journal_directory = C:\repl\journal          # privremeni segmenti</a:t>
            </a:r>
            <a:endParaRPr lang="en-US" sz="10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journal_archive_directory = C:\repl\archive    # trajni arhiv</a:t>
            </a:r>
            <a:endParaRPr lang="en-US" sz="10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journal_archive_timeout = 30                   # sekundi pre flush-a</a:t>
            </a:r>
            <a:endParaRPr lang="en-US" sz="10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sync_replica = localhost:D:\baze\slave.fdb      # sinhroni slave</a:t>
            </a:r>
            <a:endParaRPr lang="en-US" sz="1000" dirty="0">
              <a:solidFill>
                <a:srgbClr val="1B2A4A"/>
              </a:solidFill>
            </a:endParaRPr>
          </a:p>
        </p:txBody>
      </p:sp>
      <p:sp>
        <p:nvSpPr>
          <p:cNvPr id="37" name="Text 7">
            <a:extLst>
              <a:ext uri="{FF2B5EF4-FFF2-40B4-BE49-F238E27FC236}">
                <a16:creationId xmlns:a16="http://schemas.microsoft.com/office/drawing/2014/main" id="{98D39A59-BF7B-CCE8-54FF-78E6A6460A73}"/>
              </a:ext>
            </a:extLst>
          </p:cNvPr>
          <p:cNvSpPr/>
          <p:nvPr/>
        </p:nvSpPr>
        <p:spPr>
          <a:xfrm>
            <a:off x="3541704" y="1789176"/>
            <a:ext cx="1860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sr-Latn-RS" sz="1200" b="1" dirty="0">
                <a:solidFill>
                  <a:schemeClr val="accent5">
                    <a:lumMod val="50000"/>
                  </a:schemeClr>
                </a:solidFill>
              </a:rPr>
              <a:t>→</a:t>
            </a:r>
            <a:endParaRPr lang="en-US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38" name="Text 7">
            <a:extLst>
              <a:ext uri="{FF2B5EF4-FFF2-40B4-BE49-F238E27FC236}">
                <a16:creationId xmlns:a16="http://schemas.microsoft.com/office/drawing/2014/main" id="{2DF9C73A-38FB-9133-D16F-45D9DBF9A0BA}"/>
              </a:ext>
            </a:extLst>
          </p:cNvPr>
          <p:cNvSpPr/>
          <p:nvPr/>
        </p:nvSpPr>
        <p:spPr>
          <a:xfrm>
            <a:off x="5279064" y="1783080"/>
            <a:ext cx="1860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sr-Latn-RS" sz="1200" b="1" dirty="0">
                <a:solidFill>
                  <a:schemeClr val="accent5">
                    <a:lumMod val="50000"/>
                  </a:schemeClr>
                </a:solidFill>
              </a:rPr>
              <a:t>→</a:t>
            </a:r>
            <a:endParaRPr lang="en-US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39" name="Text 7">
            <a:extLst>
              <a:ext uri="{FF2B5EF4-FFF2-40B4-BE49-F238E27FC236}">
                <a16:creationId xmlns:a16="http://schemas.microsoft.com/office/drawing/2014/main" id="{3E1FB7B9-750F-1F77-7680-E3E8DC918BC2}"/>
              </a:ext>
            </a:extLst>
          </p:cNvPr>
          <p:cNvSpPr/>
          <p:nvPr/>
        </p:nvSpPr>
        <p:spPr>
          <a:xfrm>
            <a:off x="7016424" y="1789176"/>
            <a:ext cx="1860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sr-Latn-RS" sz="1200" b="1" dirty="0">
                <a:solidFill>
                  <a:schemeClr val="accent5">
                    <a:lumMod val="50000"/>
                  </a:schemeClr>
                </a:solidFill>
              </a:rPr>
              <a:t>→</a:t>
            </a:r>
            <a:endParaRPr lang="en-US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Sinhrona vs Asinhrona replikacija — ključni kompromis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416052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4160520" cy="4114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20040" y="795528"/>
            <a:ext cx="39776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SINHRONI režim (Synchronous)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7472" y="1280160"/>
            <a:ext cx="201168" cy="2011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94360" y="126187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ceka potvrdu slave-a pre odgovora korisniku.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472" y="1709928"/>
            <a:ext cx="201168" cy="2011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94360" y="1691640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Data Loss (RPO = 0) — apsolutna identičnost.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7472" y="2139696"/>
            <a:ext cx="201168" cy="2011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94360" y="2121408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Latencija upisa = latencija mreze.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7472" y="2569464"/>
            <a:ext cx="201168" cy="2011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94360" y="2551176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Preporuka: gigabit LAN ili direktan link.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47472" y="2999232"/>
            <a:ext cx="201168" cy="2011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594360" y="2980944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Koristiti za: finansije, bankarstvo, zdravstvo.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47472" y="3429000"/>
            <a:ext cx="201168" cy="2011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94360" y="341071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Konfiguracija: sync_replica = slave_connection_string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54880" y="777240"/>
            <a:ext cx="416052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754880" y="777240"/>
            <a:ext cx="4160520" cy="411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846320" y="795528"/>
            <a:ext cx="39776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ASINHRONI režim (Asynchronous)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73752" y="1280160"/>
            <a:ext cx="201168" cy="2011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5120640" y="126187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upisuje lokalno, log salje u pozadini.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3752" y="1709928"/>
            <a:ext cx="201168" cy="2011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5120640" y="1691640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Lag — slave kasni za masterom.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73752" y="2139696"/>
            <a:ext cx="201168" cy="2011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5120640" y="2121408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Maksimalna brzina za lokalne korisnike.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73752" y="2569464"/>
            <a:ext cx="201168" cy="2011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5120640" y="2551176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Preporuka: WAN veze, geogrfski udaljeni slave.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873752" y="2999232"/>
            <a:ext cx="201168" cy="2011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5120640" y="2980944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RPO &gt; 0 — prihvatljiv gubitak podataka.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73752" y="3429000"/>
            <a:ext cx="201168" cy="2011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5120640" y="341071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Konfiguracija: async_replica = slave_connection_string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233672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Logička replikacija zasnovana na trigerima (CDC)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8686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64008" cy="6583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65760" y="850392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Šta je CDC (Change Data Capture)?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65760" y="1124712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2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 razliku od binarne replikacije koja kopira stranice, logicka replikacija presrece svaki INSERT/UPDATE/DELETE kroz trigere i belezi promene u namenske tabele (audit log). Prednost: selektivna replikacija specificnih tabela, cross-version, heterogena okruzenja.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228600" y="1591056"/>
            <a:ext cx="4160520" cy="1572768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28600" y="1591056"/>
            <a:ext cx="4160520" cy="32918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20040" y="162763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REPLICATION_LOG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1975104"/>
            <a:ext cx="39776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REPLICATION_LOG (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LOG_ID      BIGINT GENERATED BY DEFAULT AS IDENTITY PRIMARY KEY,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TABLE_NAME  VARCHAR(64) NOT NULL,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OPERATION   CHAR(1) NOT NULL,  -- I/U/D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PK_VALUE    VARCHAR(50),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CHANGED_AT  TIMESTAMP DEFAULT CURRENT_TIMESTAMP,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PAYLOAD     BLOB SUB_TYPE TEXT  -- JSON/XML sadrzaj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0" y="1591056"/>
            <a:ext cx="4343400" cy="1572768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572000" y="1591056"/>
            <a:ext cx="4343400" cy="32918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4663440" y="1627632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Triger za hvatanje promena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63440" y="1975104"/>
            <a:ext cx="41605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TRIGGER TRG_EMP_REPL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AFTER INSERT OR UPDATE OR DELETE ON EMPLOYEE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(RDB$GET_CONTEXT('SYSTEM','REPLICATING') IS NULL) THEN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BEGIN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 INTO REPLICATION_LOG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(TABLE_NAME, OPERATION, PK_VALUE, PAYLOAD)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VALUES ('EMPLOYEE',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CASE WHEN INSERTING THEN 'I'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WHEN UPDATING THEN 'U' ELSE 'D' END,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CAST(NEW.EMP_NO AS VARCHAR(50)),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/* JSON payload */ NULL);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END;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28600" y="3310128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28600" y="3310128"/>
            <a:ext cx="64008" cy="16002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65760" y="33832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Write Wins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65760" y="3657600"/>
            <a:ext cx="256032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2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Najcesca strategija.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odlucuje koji zapis pobedjuje.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Rizik kod jednakih timestamp vrednosti.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3127248" y="3310128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127248" y="3310128"/>
            <a:ext cx="64008" cy="16002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264408" y="33832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Priority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264408" y="3657600"/>
            <a:ext cx="256032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2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Unapred definisana hijerarhija servera.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uvek pobedjuje nad slave cvorom.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Jednostavna implementacija.</a:t>
            </a:r>
            <a:endParaRPr lang="en-US" sz="1020" dirty="0"/>
          </a:p>
        </p:txBody>
      </p:sp>
      <p:sp>
        <p:nvSpPr>
          <p:cNvPr id="25" name="Shape 23"/>
          <p:cNvSpPr/>
          <p:nvPr/>
        </p:nvSpPr>
        <p:spPr>
          <a:xfrm>
            <a:off x="6025896" y="3310128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6025896" y="3310128"/>
            <a:ext cx="64008" cy="1600200"/>
          </a:xfrm>
          <a:prstGeom prst="rect">
            <a:avLst/>
          </a:prstGeom>
          <a:solidFill>
            <a:srgbClr val="2436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163056" y="33832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Aplikativna logika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163056" y="3657600"/>
            <a:ext cx="256032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2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 kriticne podatke (finansije, zalihe).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Rucna revizija ili domain-specific pravila.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Najsigurniji, ali najslozaniji pristup.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228600" y="4974336"/>
            <a:ext cx="86868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RDB$GET_CONTEXT('SYSTEM','REPLICATING') sprecava 'eho' efekat — triger ne pali sam sebe na replici!</a:t>
            </a:r>
            <a:endParaRPr lang="en-US" sz="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Multi-Master topologije i eho efekat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27432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2743200" cy="4114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20040" y="795528"/>
            <a:ext cx="25603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(Zvezda)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0040" y="126187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 periferni cvorovi se povezuju iskljucivo sa centralnim serverom.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Centalni server je jedina tacka replikacije.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Prednost: jednostavna administracija, centralizovana kontrola.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Slabost: centralni server = jedina tacka kvara (SPOF).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Idejalno za: ERP sistemi sa centralnom bazom i filijalama.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3127248" y="777240"/>
            <a:ext cx="27432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3127248" y="777240"/>
            <a:ext cx="2743200" cy="411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218688" y="795528"/>
            <a:ext cx="25603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 (Mreza)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18688" y="126187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Svaki cvor direktno povezan sa svim ostalima.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 SPOF — izuzetno visoka tolerancija na kvarove.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Prednost: maksimalna redundansa i propusnost.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Slabost: kompleksna konfiguracija, eksponencijalni rast veza.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Idejalno za: mission-critical sistemi, finansijske burze.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6025896" y="777240"/>
            <a:ext cx="27432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6025896" y="777240"/>
            <a:ext cx="2743200" cy="41148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117336" y="795528"/>
            <a:ext cx="25603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 (Prsten)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17336" y="126187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Podaci putuju sekvencijalno od cvora do cvora dok se krug ne zatvori.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Prednost: ravnomerna raspodela opterecenja.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Slabost: spor oporavak, jedan kvar prekida ceo prsten.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Idejalno za: sistemi sa jasnom geografskom distribucijom.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228600" y="3749040"/>
            <a:ext cx="8686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28600" y="3749040"/>
            <a:ext cx="64008" cy="1188720"/>
          </a:xfrm>
          <a:prstGeom prst="rect">
            <a:avLst/>
          </a:prstGeom>
          <a:solidFill>
            <a:srgbClr val="B8504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65760" y="37947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Eho efekat (Echo Effect) — beskonačna petlja replikacije: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65760" y="4096512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Ako A replikuje promenu na B, a B replikuje sve promene nazad na A — nastaje beskonacna petlja!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Resenje: IF (RDB$GET_CONTEXT('SYSTEM','REPLICATING') IS NULL) THEN -- promena je nastala od korisnika, NE od replikacionog agenta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4.0 automatski setuje REPLICATING = TRUE pri primeni logova, pa se triger 'prepoznaje' i preskace.</a:t>
            </a:r>
            <a:endParaRPr lang="en-US" sz="9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Praktična implementacija — 8 koraka konfiguracije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74904" y="841248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74904" y="841248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374904" y="841248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68096" y="9052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databases.conf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" y="1344168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Kreirati aliase za master i slave bazu.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42032" y="841248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2542032" y="841248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542032" y="841248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35224" y="9052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+ Restore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633472" y="1344168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gbak -b master.fdb </a:t>
            </a:r>
            <a:r>
              <a:rPr lang="en-US" sz="1000" dirty="0" err="1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master.fbk</a:t>
            </a:r>
            <a:endParaRPr lang="sr-Latn-RS" sz="1000" dirty="0">
              <a:solidFill>
                <a:srgbClr val="475569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gbak -r master.fbk </a:t>
            </a:r>
            <a:r>
              <a:rPr lang="en-US" sz="1000" dirty="0" err="1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slave.fdb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09160" y="841248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709160" y="841248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4709160" y="841248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102352" y="9052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gstat -h (GUID)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00600" y="1344168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Preuzeti DATABASE GUID </a:t>
            </a:r>
            <a:r>
              <a:rPr lang="en-US" sz="12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mastera</a:t>
            </a:r>
            <a:r>
              <a:rPr lang="en-US" sz="12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.</a:t>
            </a:r>
            <a:endParaRPr lang="sr-Latn-RS" sz="1200" dirty="0">
              <a:solidFill>
                <a:srgbClr val="475569"/>
              </a:solidFill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Unet u </a:t>
            </a:r>
            <a:r>
              <a:rPr lang="en-US" sz="12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source_gui</a:t>
            </a:r>
            <a:r>
              <a:rPr lang="sr-Latn-RS" sz="12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d u konfiguraciji</a:t>
            </a:r>
            <a:r>
              <a:rPr lang="en-US" sz="12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76288" y="841248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6876288" y="841248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876288" y="841248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269480" y="9052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Folder struktura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967728" y="1344168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Kreirati Journal i Archive </a:t>
            </a:r>
            <a:r>
              <a:rPr lang="en-US" sz="12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direktorijume</a:t>
            </a:r>
            <a:r>
              <a:rPr lang="en-US" sz="12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.</a:t>
            </a:r>
            <a:endParaRPr lang="sr-Latn-RS" sz="1200" dirty="0">
              <a:solidFill>
                <a:srgbClr val="475569"/>
              </a:solidFill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Odvajanje privremenih od trajnih segmenata.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4904" y="2926080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374904" y="2926080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374904" y="292608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68096" y="29900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replication.conf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66344" y="34290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Podesiti journal, archive, sync_replica, source_guid parametre za obe instance.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542032" y="2926080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2542032" y="2926080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2542032" y="292608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935224" y="29900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servisa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633472" y="34290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Restartovati Firebird servis nakon izmene konfiguracionih fajlova.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709160" y="2926080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4709160" y="2926080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4709160" y="292608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102352" y="29900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 DATABASE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4800600" y="34290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ALTER DATABASE ENABLE PUBLICATION;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(master: ukljucuje pracenje tabela)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gfix -replica READ_ONLY slave.fdb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876288" y="2926080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6876288" y="2926080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6876288" y="292608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269480" y="29900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korisnika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6967728" y="34290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MAPPING repl_agent USING PLUGIN SRP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USER replication_user TO USER SYSDBA;</a:t>
            </a:r>
            <a:endParaRPr lang="en-US" sz="10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repli</a:t>
            </a:r>
            <a:r>
              <a:rPr lang="sr-Latn-RS" sz="12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k</a:t>
            </a:r>
            <a:r>
              <a:rPr lang="en-US" sz="12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a prihvata agenta kao SYSDBA)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Verifikacija — 5 primera potvrđivanja rada replikacije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2743200" cy="411480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228600" y="7772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9224" y="832104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0040" y="128016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Master: </a:t>
            </a:r>
            <a:endParaRPr lang="sr-Latn-RS" sz="1000" dirty="0">
              <a:solidFill>
                <a:srgbClr val="475569"/>
              </a:solidFill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INSERT INTO EMPLOYEE ... EMP_NO=1000; COMMIT;</a:t>
            </a:r>
            <a:endParaRPr lang="sr-Latn-RS" sz="1000" dirty="0">
              <a:solidFill>
                <a:srgbClr val="475569"/>
              </a:solidFill>
              <a:latin typeface="Consolas" panose="020B0609020204030204" pitchFamily="49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Slave: </a:t>
            </a:r>
            <a:endParaRPr lang="sr-Latn-RS" sz="1000" dirty="0">
              <a:solidFill>
                <a:srgbClr val="475569"/>
              </a:solidFill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SELECT * FROM EMPLOYEE WHERE EMP_NO=1000;</a:t>
            </a:r>
            <a:endParaRPr lang="sr-Latn-RS" sz="1000" dirty="0">
              <a:solidFill>
                <a:srgbClr val="475569"/>
              </a:solidFill>
              <a:latin typeface="Consolas" panose="020B0609020204030204" pitchFamily="49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O</a:t>
            </a:r>
            <a:r>
              <a:rPr lang="sr-Latn-R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0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ekivani</a:t>
            </a:r>
            <a:r>
              <a:rPr lang="en-U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 rezultat: red postoji </a:t>
            </a:r>
            <a:r>
              <a:rPr lang="en-US" sz="10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na</a:t>
            </a:r>
            <a:r>
              <a:rPr lang="en-U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replici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27248" y="77724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3127248" y="777240"/>
            <a:ext cx="2743200" cy="4114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127248" y="7772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832104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18688" y="128016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Master: </a:t>
            </a:r>
            <a:endParaRPr lang="sr-Latn-RS" sz="1000" dirty="0">
              <a:solidFill>
                <a:srgbClr val="475569"/>
              </a:solidFill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UPDATE EMPLOYEE SET SALARY=60000 WHERE EMP_NO=1000; COMMIT;</a:t>
            </a:r>
            <a:endParaRPr lang="sr-Latn-RS" sz="1000" dirty="0">
              <a:solidFill>
                <a:srgbClr val="475569"/>
              </a:solidFill>
              <a:latin typeface="Consolas" panose="020B0609020204030204" pitchFamily="49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Slave: </a:t>
            </a:r>
            <a:endParaRPr lang="sr-Latn-RS" sz="1000" dirty="0">
              <a:solidFill>
                <a:srgbClr val="475569"/>
              </a:solidFill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SELECT SALARY FROM EMPLOYEE WHERE EMP_NO=1000;</a:t>
            </a:r>
            <a:endParaRPr lang="sr-Latn-RS" sz="1000" dirty="0">
              <a:solidFill>
                <a:srgbClr val="475569"/>
              </a:solidFill>
              <a:latin typeface="Consolas" panose="020B0609020204030204" pitchFamily="49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000" dirty="0"/>
          </a:p>
          <a:p>
            <a:r>
              <a:rPr lang="en-U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O</a:t>
            </a:r>
            <a:r>
              <a:rPr lang="sr-Latn-R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0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ekivani</a:t>
            </a:r>
            <a:r>
              <a:rPr lang="en-U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rezultat</a:t>
            </a:r>
            <a:r>
              <a:rPr lang="en-U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: SALARY=60000.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25896" y="77724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025896" y="777240"/>
            <a:ext cx="2743200" cy="411480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025896" y="7772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46520" y="832104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117336" y="128016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Master: </a:t>
            </a:r>
            <a:endParaRPr lang="sr-Latn-RS" sz="1000" dirty="0">
              <a:solidFill>
                <a:srgbClr val="475569"/>
              </a:solidFill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DELETE iz SALARY_HISTORY pa iz EMPLOYEE; COMMIT;</a:t>
            </a:r>
            <a:endParaRPr lang="sr-Latn-RS" sz="1000" dirty="0">
              <a:solidFill>
                <a:srgbClr val="475569"/>
              </a:solidFill>
              <a:latin typeface="Consolas" panose="020B0609020204030204" pitchFamily="49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Slave: </a:t>
            </a:r>
            <a:endParaRPr lang="sr-Latn-RS" sz="1000" dirty="0">
              <a:solidFill>
                <a:srgbClr val="475569"/>
              </a:solidFill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SELECT COUNT(*)</a:t>
            </a:r>
            <a:endParaRPr lang="sr-Latn-RS" sz="1000" dirty="0">
              <a:solidFill>
                <a:srgbClr val="475569"/>
              </a:solidFill>
              <a:latin typeface="Consolas" panose="020B0609020204030204" pitchFamily="49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Klju</a:t>
            </a:r>
            <a:r>
              <a:rPr lang="sr-Latn-R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no: referenc. </a:t>
            </a:r>
            <a:r>
              <a:rPr lang="en-US" sz="10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integritet</a:t>
            </a:r>
            <a:r>
              <a:rPr lang="en-U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 o</a:t>
            </a:r>
            <a:r>
              <a:rPr lang="sr-Latn-R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0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uvan</a:t>
            </a:r>
            <a:r>
              <a:rPr lang="en-U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 na OBA </a:t>
            </a:r>
            <a:r>
              <a:rPr lang="sr-Latn-R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0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vora</a:t>
            </a:r>
            <a:r>
              <a:rPr lang="en-U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!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28600" y="2953512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28600" y="2953512"/>
            <a:ext cx="2743200" cy="4114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228600" y="295351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9224" y="3008376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Health-check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20040" y="3456432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SELECT MON$NEXT_TRANSACTION FROM MON$DATABASE;</a:t>
            </a:r>
            <a:endParaRPr lang="sr-Latn-RS" sz="1000" dirty="0">
              <a:solidFill>
                <a:srgbClr val="475569"/>
              </a:solidFill>
              <a:latin typeface="Consolas" panose="020B0609020204030204" pitchFamily="49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(pokrenuti na masteru i replici)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Mala razlika = zdravo. </a:t>
            </a:r>
            <a:endParaRPr lang="sr-Latn-RS" sz="1000" dirty="0">
              <a:solidFill>
                <a:srgbClr val="475569"/>
              </a:solidFill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Velika razlika = lag problem!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27248" y="2953512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3127248" y="2953512"/>
            <a:ext cx="2743200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3127248" y="295351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547872" y="3008376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Isklju</a:t>
            </a:r>
            <a:r>
              <a:rPr lang="sr-Latn-R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sr-Latn-R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vanje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</a:t>
            </a:r>
            <a:r>
              <a:rPr lang="sr-Latn-R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218688" y="3456432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ALTER PUBLICATION SET TABLE EMPLOYEE INACTIVE;</a:t>
            </a:r>
            <a:endParaRPr lang="sr-Latn-RS" sz="1000" dirty="0">
              <a:solidFill>
                <a:srgbClr val="475569"/>
              </a:solidFill>
              <a:latin typeface="Consolas" panose="020B0609020204030204" pitchFamily="49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sr-Latn-R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T</a:t>
            </a:r>
            <a:r>
              <a:rPr lang="en-US" sz="10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abela</a:t>
            </a:r>
            <a:r>
              <a:rPr lang="en-U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 se </a:t>
            </a:r>
            <a:r>
              <a:rPr lang="en-US" sz="10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isklju</a:t>
            </a:r>
            <a:r>
              <a:rPr lang="sr-Latn-R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0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uje</a:t>
            </a:r>
            <a:r>
              <a:rPr lang="en-U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 iz replikacije bez </a:t>
            </a:r>
            <a:r>
              <a:rPr lang="en-US" sz="10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gubljenja</a:t>
            </a:r>
            <a:r>
              <a:rPr lang="en-U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ostalih</a:t>
            </a:r>
            <a:endParaRPr lang="sr-Latn-RS" sz="1000" dirty="0">
              <a:solidFill>
                <a:srgbClr val="475569"/>
              </a:solidFill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Fleksibilnost</a:t>
            </a:r>
            <a:r>
              <a:rPr lang="en-U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logi</a:t>
            </a:r>
            <a:r>
              <a:rPr lang="sr-Latn-R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0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ke</a:t>
            </a:r>
            <a:r>
              <a:rPr lang="en-US" sz="10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 replikacije!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402336" y="26765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Ključni zaključci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989007"/>
            <a:ext cx="8412480" cy="6400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sz="1200">
              <a:solidFill>
                <a:schemeClr val="bg1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365760" y="989007"/>
            <a:ext cx="73152" cy="6400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30352" y="1098735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Mirroring vs Replikacija: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3017520" y="1098735"/>
            <a:ext cx="5669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Preslikavanje = hardverska redundansa (LAN)</a:t>
            </a:r>
            <a:endParaRPr lang="sr-Latn-RS" sz="11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Replikacija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</a:t>
            </a: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 sinhronizacija (WAN + selekcija).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747959"/>
            <a:ext cx="8412480" cy="6400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sz="1200">
              <a:solidFill>
                <a:schemeClr val="bg1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365760" y="1747959"/>
            <a:ext cx="73152" cy="6400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30352" y="1857687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Nativna replikacija FB 4.0: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3017520" y="1857687"/>
            <a:ext cx="5669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Revolucionarna promena —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ugra</a:t>
            </a: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eni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mehanizam bez alata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</a:t>
            </a: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506911"/>
            <a:ext cx="8412480" cy="6400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sz="1200">
              <a:solidFill>
                <a:schemeClr val="bg1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65760" y="2506911"/>
            <a:ext cx="73152" cy="6400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30352" y="2616639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Sinhrono vs Asinhrono: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3017520" y="2616639"/>
            <a:ext cx="5669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Data Loss (sinhrono) ili maksimalna brzina (asinhrono) — biramo prema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poslovnom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zahtevu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265863"/>
            <a:ext cx="8412480" cy="6400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sz="1200">
              <a:solidFill>
                <a:schemeClr val="bg1"/>
              </a:solidFill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65760" y="3265863"/>
            <a:ext cx="73152" cy="6400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30352" y="3375591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Eho efekat: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3017520" y="3375591"/>
            <a:ext cx="5669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RDB$GET_CONTEXT('SYSTEM','REPLICATING')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</a:t>
            </a: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</a:t>
            </a: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avanja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beskona</a:t>
            </a: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nih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petlji u Multi-Master</a:t>
            </a: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4024815"/>
            <a:ext cx="8412480" cy="6400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sz="1200">
              <a:solidFill>
                <a:schemeClr val="bg1"/>
              </a:solidFill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65760" y="4024815"/>
            <a:ext cx="73152" cy="6400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30352" y="4134543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vs konkurencija: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3017520" y="4134543"/>
            <a:ext cx="5669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i MSSQL imaju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zrelija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</a:t>
            </a: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enja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Firebird 4.0/5.0 tek dostigao enterprise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nivo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replikacije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436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Shape 1">
            <a:extLst>
              <a:ext uri="{FF2B5EF4-FFF2-40B4-BE49-F238E27FC236}">
                <a16:creationId xmlns:a16="http://schemas.microsoft.com/office/drawing/2014/main" id="{191CE844-74B2-1141-0575-D5F64587F5D3}"/>
              </a:ext>
            </a:extLst>
          </p:cNvPr>
          <p:cNvSpPr/>
          <p:nvPr/>
        </p:nvSpPr>
        <p:spPr>
          <a:xfrm>
            <a:off x="201168" y="0"/>
            <a:ext cx="8942832" cy="548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/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een Yellow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1779</Words>
  <Application>Microsoft Office PowerPoint</Application>
  <PresentationFormat>On-screen Show (16:9)</PresentationFormat>
  <Paragraphs>290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Jefimija Stamenovic</cp:lastModifiedBy>
  <cp:revision>11</cp:revision>
  <dcterms:created xsi:type="dcterms:W3CDTF">2026-03-11T06:47:54Z</dcterms:created>
  <dcterms:modified xsi:type="dcterms:W3CDTF">2026-03-11T18:59:21Z</dcterms:modified>
</cp:coreProperties>
</file>