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366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64220" autoAdjust="0"/>
  </p:normalViewPr>
  <p:slideViewPr>
    <p:cSldViewPr snapToGrid="0" snapToObjects="1">
      <p:cViewPr varScale="1">
        <p:scale>
          <a:sx n="65" d="100"/>
          <a:sy n="65" d="100"/>
        </p:scale>
        <p:origin x="188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5409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Drugi seminarski rad je rađen na temu obrada transakcija, planovi izvršavanja transakcija, izolacija i zaključavanje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Krećemo</a:t>
            </a:r>
            <a:r>
              <a:rPr lang="en-US" dirty="0"/>
              <a:t> od </a:t>
            </a:r>
            <a:r>
              <a:rPr lang="en-US" b="1" dirty="0"/>
              <a:t>ACID </a:t>
            </a:r>
            <a:r>
              <a:rPr lang="en-US" b="1" dirty="0" err="1"/>
              <a:t>principa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osnove</a:t>
            </a:r>
            <a:r>
              <a:rPr lang="en-US" dirty="0"/>
              <a:t> </a:t>
            </a:r>
            <a:r>
              <a:rPr lang="en-US" dirty="0" err="1"/>
              <a:t>svake</a:t>
            </a:r>
            <a:r>
              <a:rPr lang="en-US" dirty="0"/>
              <a:t> </a:t>
            </a:r>
            <a:r>
              <a:rPr lang="en-US" dirty="0" err="1"/>
              <a:t>transakcione</a:t>
            </a:r>
            <a:r>
              <a:rPr lang="en-US" dirty="0"/>
              <a:t> </a:t>
            </a:r>
            <a:r>
              <a:rPr lang="en-US" dirty="0" err="1"/>
              <a:t>baze</a:t>
            </a:r>
            <a:r>
              <a:rPr lang="en-US" dirty="0"/>
              <a:t>, </a:t>
            </a:r>
            <a:r>
              <a:rPr lang="en-US" dirty="0" err="1"/>
              <a:t>nakon</a:t>
            </a:r>
            <a:r>
              <a:rPr lang="en-US" dirty="0"/>
              <a:t> </a:t>
            </a:r>
            <a:r>
              <a:rPr lang="en-US" dirty="0" err="1"/>
              <a:t>čega</a:t>
            </a:r>
            <a:r>
              <a:rPr lang="en-US" dirty="0"/>
              <a:t> </a:t>
            </a:r>
            <a:r>
              <a:rPr lang="en-US" dirty="0" err="1"/>
              <a:t>analiziramo</a:t>
            </a:r>
            <a:r>
              <a:rPr lang="en-US" dirty="0"/>
              <a:t> </a:t>
            </a:r>
            <a:r>
              <a:rPr lang="en-US" b="1" dirty="0" err="1"/>
              <a:t>transakcione</a:t>
            </a:r>
            <a:r>
              <a:rPr lang="en-US" b="1" dirty="0"/>
              <a:t> </a:t>
            </a:r>
            <a:r>
              <a:rPr lang="en-US" b="1" dirty="0" err="1"/>
              <a:t>anomalije</a:t>
            </a:r>
            <a:r>
              <a:rPr lang="en-US" dirty="0"/>
              <a:t> </a:t>
            </a:r>
            <a:r>
              <a:rPr lang="en-US" dirty="0" err="1"/>
              <a:t>poput</a:t>
            </a:r>
            <a:r>
              <a:rPr lang="en-US" dirty="0"/>
              <a:t> Dirty Read, Non-repeatable </a:t>
            </a:r>
            <a:r>
              <a:rPr lang="en-US" dirty="0" err="1"/>
              <a:t>i</a:t>
            </a:r>
            <a:r>
              <a:rPr lang="en-US" dirty="0"/>
              <a:t> Phantom Read </a:t>
            </a:r>
            <a:r>
              <a:rPr lang="en-US" dirty="0" err="1"/>
              <a:t>koje</a:t>
            </a:r>
            <a:r>
              <a:rPr lang="en-US" dirty="0"/>
              <a:t> se </a:t>
            </a:r>
            <a:r>
              <a:rPr lang="en-US" dirty="0" err="1"/>
              <a:t>javljaju</a:t>
            </a:r>
            <a:r>
              <a:rPr lang="en-US" dirty="0"/>
              <a:t> </a:t>
            </a:r>
            <a:r>
              <a:rPr lang="en-US" dirty="0" err="1"/>
              <a:t>kada</a:t>
            </a:r>
            <a:r>
              <a:rPr lang="en-US" dirty="0"/>
              <a:t> </a:t>
            </a:r>
            <a:r>
              <a:rPr lang="en-US" dirty="0" err="1"/>
              <a:t>transakcije</a:t>
            </a:r>
            <a:r>
              <a:rPr lang="en-US" dirty="0"/>
              <a:t> </a:t>
            </a:r>
            <a:r>
              <a:rPr lang="en-US" dirty="0" err="1"/>
              <a:t>nisu</a:t>
            </a:r>
            <a:r>
              <a:rPr lang="en-US" dirty="0"/>
              <a:t> </a:t>
            </a:r>
            <a:r>
              <a:rPr lang="en-US" dirty="0" err="1"/>
              <a:t>pravilno</a:t>
            </a:r>
            <a:r>
              <a:rPr lang="en-US" dirty="0"/>
              <a:t> </a:t>
            </a:r>
            <a:r>
              <a:rPr lang="en-US" dirty="0" err="1"/>
              <a:t>izolovane</a:t>
            </a:r>
            <a:r>
              <a:rPr lang="en-US" dirty="0"/>
              <a:t>.</a:t>
            </a:r>
            <a:r>
              <a:rPr lang="sr-Latn-RS" dirty="0"/>
              <a:t> </a:t>
            </a:r>
            <a:r>
              <a:rPr lang="en-US" dirty="0" err="1"/>
              <a:t>Centralni</a:t>
            </a:r>
            <a:r>
              <a:rPr lang="en-US" dirty="0"/>
              <a:t> deo </a:t>
            </a:r>
            <a:r>
              <a:rPr lang="en-US" dirty="0" err="1"/>
              <a:t>prezentacije</a:t>
            </a:r>
            <a:r>
              <a:rPr lang="en-US" dirty="0"/>
              <a:t> </a:t>
            </a:r>
            <a:r>
              <a:rPr lang="en-US" dirty="0" err="1"/>
              <a:t>posvećen</a:t>
            </a:r>
            <a:r>
              <a:rPr lang="en-US" dirty="0"/>
              <a:t> je </a:t>
            </a:r>
            <a:r>
              <a:rPr lang="en-US" b="1" dirty="0"/>
              <a:t>MGA </a:t>
            </a:r>
            <a:r>
              <a:rPr lang="en-US" b="1" dirty="0" err="1"/>
              <a:t>i</a:t>
            </a:r>
            <a:r>
              <a:rPr lang="en-US" b="1" dirty="0"/>
              <a:t> MVCC </a:t>
            </a:r>
            <a:r>
              <a:rPr lang="en-US" b="1" dirty="0" err="1"/>
              <a:t>arhitekturi</a:t>
            </a:r>
            <a:r>
              <a:rPr lang="sr-Latn-RS" b="0" dirty="0"/>
              <a:t>, ali ovaj put u kontekstu transakcija</a:t>
            </a:r>
            <a:r>
              <a:rPr lang="en-US" dirty="0"/>
              <a:t> — </a:t>
            </a:r>
            <a:r>
              <a:rPr lang="en-US" dirty="0" err="1"/>
              <a:t>verzijama</a:t>
            </a:r>
            <a:r>
              <a:rPr lang="en-US" dirty="0"/>
              <a:t> </a:t>
            </a:r>
            <a:r>
              <a:rPr lang="en-US" dirty="0" err="1"/>
              <a:t>zapisa</a:t>
            </a:r>
            <a:r>
              <a:rPr lang="en-US" dirty="0"/>
              <a:t>, TIP </a:t>
            </a:r>
            <a:r>
              <a:rPr lang="en-US" dirty="0" err="1"/>
              <a:t>stranicama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Record Header </a:t>
            </a:r>
            <a:r>
              <a:rPr lang="en-US" dirty="0" err="1"/>
              <a:t>strukturi</a:t>
            </a:r>
            <a:r>
              <a:rPr lang="en-US" dirty="0"/>
              <a:t> —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b="1" dirty="0" err="1"/>
              <a:t>nivoima</a:t>
            </a:r>
            <a:r>
              <a:rPr lang="en-US" b="1" dirty="0"/>
              <a:t> </a:t>
            </a:r>
            <a:r>
              <a:rPr lang="en-US" b="1" dirty="0" err="1"/>
              <a:t>izolacije</a:t>
            </a:r>
            <a:r>
              <a:rPr lang="en-US" dirty="0"/>
              <a:t> koji </a:t>
            </a:r>
            <a:r>
              <a:rPr lang="en-US" dirty="0" err="1"/>
              <a:t>definišu</a:t>
            </a:r>
            <a:r>
              <a:rPr lang="en-US" dirty="0"/>
              <a:t> </a:t>
            </a:r>
            <a:r>
              <a:rPr lang="en-US" dirty="0" err="1"/>
              <a:t>šta</a:t>
            </a:r>
            <a:r>
              <a:rPr lang="en-US" dirty="0"/>
              <a:t> </a:t>
            </a:r>
            <a:r>
              <a:rPr lang="en-US" dirty="0" err="1"/>
              <a:t>svaka</a:t>
            </a:r>
            <a:r>
              <a:rPr lang="en-US" dirty="0"/>
              <a:t> </a:t>
            </a:r>
            <a:r>
              <a:rPr lang="en-US" dirty="0" err="1"/>
              <a:t>transakcija</a:t>
            </a:r>
            <a:r>
              <a:rPr lang="en-US" dirty="0"/>
              <a:t> </a:t>
            </a:r>
            <a:r>
              <a:rPr lang="en-US" dirty="0" err="1"/>
              <a:t>sme</a:t>
            </a:r>
            <a:r>
              <a:rPr lang="en-US" dirty="0"/>
              <a:t> da </a:t>
            </a:r>
            <a:r>
              <a:rPr lang="en-US" dirty="0" err="1"/>
              <a:t>vidi</a:t>
            </a:r>
            <a:r>
              <a:rPr lang="en-US" dirty="0"/>
              <a:t>.</a:t>
            </a:r>
            <a:r>
              <a:rPr lang="sr-Latn-RS" dirty="0"/>
              <a:t> </a:t>
            </a:r>
            <a:r>
              <a:rPr lang="en-US" dirty="0" err="1"/>
              <a:t>Praktični</a:t>
            </a:r>
            <a:r>
              <a:rPr lang="en-US" dirty="0"/>
              <a:t> </a:t>
            </a:r>
            <a:r>
              <a:rPr lang="en-US" dirty="0" err="1"/>
              <a:t>aspekti</a:t>
            </a:r>
            <a:r>
              <a:rPr lang="en-US" dirty="0"/>
              <a:t> </a:t>
            </a:r>
            <a:r>
              <a:rPr lang="en-US" dirty="0" err="1"/>
              <a:t>obuhvataju</a:t>
            </a:r>
            <a:r>
              <a:rPr lang="en-US" dirty="0"/>
              <a:t> </a:t>
            </a:r>
            <a:r>
              <a:rPr lang="en-US" b="1" dirty="0" err="1"/>
              <a:t>mehanizme</a:t>
            </a:r>
            <a:r>
              <a:rPr lang="en-US" b="1" dirty="0"/>
              <a:t> </a:t>
            </a:r>
            <a:r>
              <a:rPr lang="en-US" b="1" dirty="0" err="1"/>
              <a:t>zaključavanja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WITH LOCK, deadlock </a:t>
            </a:r>
            <a:r>
              <a:rPr lang="en-US" dirty="0" err="1"/>
              <a:t>situacijama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WAIT/NO WAIT </a:t>
            </a:r>
            <a:r>
              <a:rPr lang="en-US" dirty="0" err="1"/>
              <a:t>opcijama</a:t>
            </a:r>
            <a:r>
              <a:rPr lang="en-US" dirty="0"/>
              <a:t>,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b="1" dirty="0"/>
              <a:t>Garbage Collection</a:t>
            </a:r>
            <a:r>
              <a:rPr lang="en-US" dirty="0"/>
              <a:t> koji se </a:t>
            </a:r>
            <a:r>
              <a:rPr lang="en-US" dirty="0" err="1"/>
              <a:t>bavi</a:t>
            </a:r>
            <a:r>
              <a:rPr lang="en-US" dirty="0"/>
              <a:t> </a:t>
            </a:r>
            <a:r>
              <a:rPr lang="en-US" dirty="0" err="1"/>
              <a:t>čišćenjem</a:t>
            </a:r>
            <a:r>
              <a:rPr lang="en-US" dirty="0"/>
              <a:t> </a:t>
            </a:r>
            <a:r>
              <a:rPr lang="en-US" dirty="0" err="1"/>
              <a:t>zastarelih</a:t>
            </a:r>
            <a:r>
              <a:rPr lang="en-US" dirty="0"/>
              <a:t> </a:t>
            </a:r>
            <a:r>
              <a:rPr lang="en-US" dirty="0" err="1"/>
              <a:t>verzija</a:t>
            </a:r>
            <a:r>
              <a:rPr lang="en-US" dirty="0"/>
              <a:t>, Database Bloat-om </a:t>
            </a:r>
            <a:r>
              <a:rPr lang="en-US" dirty="0" err="1"/>
              <a:t>i</a:t>
            </a:r>
            <a:r>
              <a:rPr lang="en-US" dirty="0"/>
              <a:t> Sweep </a:t>
            </a:r>
            <a:r>
              <a:rPr lang="en-US" dirty="0" err="1"/>
              <a:t>procesom</a:t>
            </a:r>
            <a:r>
              <a:rPr lang="en-US" dirty="0"/>
              <a:t>.</a:t>
            </a:r>
            <a:r>
              <a:rPr lang="sr-Latn-RS" dirty="0"/>
              <a:t> </a:t>
            </a:r>
            <a:r>
              <a:rPr lang="en-US" dirty="0"/>
              <a:t>Prezentacija se </a:t>
            </a:r>
            <a:r>
              <a:rPr lang="en-US" dirty="0" err="1"/>
              <a:t>zaključuje</a:t>
            </a:r>
            <a:r>
              <a:rPr lang="en-US" dirty="0"/>
              <a:t> </a:t>
            </a:r>
            <a:r>
              <a:rPr lang="en-US" dirty="0" err="1"/>
              <a:t>temom</a:t>
            </a:r>
            <a:r>
              <a:rPr lang="en-US" dirty="0"/>
              <a:t> </a:t>
            </a:r>
            <a:r>
              <a:rPr lang="en-US" b="1" dirty="0" err="1"/>
              <a:t>planova</a:t>
            </a:r>
            <a:r>
              <a:rPr lang="en-US" b="1" dirty="0"/>
              <a:t> </a:t>
            </a:r>
            <a:r>
              <a:rPr lang="en-US" b="1" dirty="0" err="1"/>
              <a:t>izvršavanja</a:t>
            </a:r>
            <a:r>
              <a:rPr lang="en-US" dirty="0"/>
              <a:t> — TPB </a:t>
            </a:r>
            <a:r>
              <a:rPr lang="en-US" dirty="0" err="1"/>
              <a:t>parametrima</a:t>
            </a:r>
            <a:r>
              <a:rPr lang="en-US" dirty="0"/>
              <a:t>, MON$ </a:t>
            </a:r>
            <a:r>
              <a:rPr lang="en-US" dirty="0" err="1"/>
              <a:t>monitoringom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dijagnostikom</a:t>
            </a:r>
            <a:r>
              <a:rPr lang="en-US" dirty="0"/>
              <a:t> u </a:t>
            </a:r>
            <a:r>
              <a:rPr lang="en-US" dirty="0" err="1"/>
              <a:t>realnom</a:t>
            </a:r>
            <a:r>
              <a:rPr lang="en-US" dirty="0"/>
              <a:t> </a:t>
            </a:r>
            <a:r>
              <a:rPr lang="en-US" dirty="0" err="1"/>
              <a:t>vremenu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ACID </a:t>
            </a:r>
            <a:r>
              <a:rPr lang="en-US" dirty="0" err="1"/>
              <a:t>principi</a:t>
            </a:r>
            <a:r>
              <a:rPr lang="en-US" dirty="0"/>
              <a:t> </a:t>
            </a:r>
            <a:r>
              <a:rPr lang="en-US" dirty="0" err="1"/>
              <a:t>predstavljaju</a:t>
            </a:r>
            <a:r>
              <a:rPr lang="en-US" dirty="0"/>
              <a:t> </a:t>
            </a:r>
            <a:r>
              <a:rPr lang="en-US" dirty="0" err="1"/>
              <a:t>temelj</a:t>
            </a:r>
            <a:r>
              <a:rPr lang="en-US" dirty="0"/>
              <a:t> </a:t>
            </a:r>
            <a:r>
              <a:rPr lang="en-US" dirty="0" err="1"/>
              <a:t>svake</a:t>
            </a:r>
            <a:r>
              <a:rPr lang="en-US" dirty="0"/>
              <a:t> </a:t>
            </a:r>
            <a:r>
              <a:rPr lang="en-US" dirty="0" err="1"/>
              <a:t>pouzdane</a:t>
            </a:r>
            <a:r>
              <a:rPr lang="en-US" dirty="0"/>
              <a:t> </a:t>
            </a:r>
            <a:r>
              <a:rPr lang="en-US" dirty="0" err="1"/>
              <a:t>transakcione</a:t>
            </a:r>
            <a:r>
              <a:rPr lang="en-US" dirty="0"/>
              <a:t> </a:t>
            </a:r>
            <a:r>
              <a:rPr lang="en-US" dirty="0" err="1"/>
              <a:t>baze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, a Firebird </a:t>
            </a:r>
            <a:r>
              <a:rPr lang="en-US" dirty="0" err="1"/>
              <a:t>ih</a:t>
            </a:r>
            <a:r>
              <a:rPr lang="en-US" dirty="0"/>
              <a:t> </a:t>
            </a:r>
            <a:r>
              <a:rPr lang="en-US" dirty="0" err="1"/>
              <a:t>garantuje</a:t>
            </a:r>
            <a:r>
              <a:rPr lang="en-US" dirty="0"/>
              <a:t> </a:t>
            </a:r>
            <a:r>
              <a:rPr lang="en-US" dirty="0" err="1"/>
              <a:t>kroz</a:t>
            </a:r>
            <a:r>
              <a:rPr lang="en-US" dirty="0"/>
              <a:t> MGA </a:t>
            </a:r>
            <a:r>
              <a:rPr lang="en-US" dirty="0" err="1"/>
              <a:t>arhitekturu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Write-Ahead </a:t>
            </a:r>
            <a:r>
              <a:rPr lang="en-US" dirty="0" err="1"/>
              <a:t>mehanizam</a:t>
            </a:r>
            <a:r>
              <a:rPr lang="en-US" dirty="0"/>
              <a:t>.</a:t>
            </a:r>
          </a:p>
          <a:p>
            <a:r>
              <a:rPr lang="en-US" b="1" dirty="0" err="1"/>
              <a:t>Atomičnost</a:t>
            </a:r>
            <a:r>
              <a:rPr lang="en-US" dirty="0"/>
              <a:t> </a:t>
            </a:r>
            <a:r>
              <a:rPr lang="en-US" dirty="0" err="1"/>
              <a:t>znači</a:t>
            </a:r>
            <a:r>
              <a:rPr lang="en-US" dirty="0"/>
              <a:t> </a:t>
            </a:r>
            <a:r>
              <a:rPr lang="en-US" dirty="0" err="1"/>
              <a:t>sve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ništa</a:t>
            </a:r>
            <a:r>
              <a:rPr lang="en-US" dirty="0"/>
              <a:t> — </a:t>
            </a:r>
            <a:r>
              <a:rPr lang="en-US" dirty="0" err="1"/>
              <a:t>ako</a:t>
            </a:r>
            <a:r>
              <a:rPr lang="en-US" dirty="0"/>
              <a:t> </a:t>
            </a:r>
            <a:r>
              <a:rPr lang="en-US" dirty="0" err="1"/>
              <a:t>bilo</a:t>
            </a:r>
            <a:r>
              <a:rPr lang="en-US" dirty="0"/>
              <a:t> </a:t>
            </a:r>
            <a:r>
              <a:rPr lang="en-US" dirty="0" err="1"/>
              <a:t>koja</a:t>
            </a:r>
            <a:r>
              <a:rPr lang="en-US" dirty="0"/>
              <a:t> </a:t>
            </a:r>
            <a:r>
              <a:rPr lang="en-US" dirty="0" err="1"/>
              <a:t>operacija</a:t>
            </a:r>
            <a:r>
              <a:rPr lang="en-US" dirty="0"/>
              <a:t> </a:t>
            </a:r>
            <a:r>
              <a:rPr lang="en-US" dirty="0" err="1"/>
              <a:t>unutar</a:t>
            </a:r>
            <a:r>
              <a:rPr lang="en-US" dirty="0"/>
              <a:t> </a:t>
            </a:r>
            <a:r>
              <a:rPr lang="en-US" dirty="0" err="1"/>
              <a:t>transakcije</a:t>
            </a:r>
            <a:r>
              <a:rPr lang="en-US" dirty="0"/>
              <a:t> ne </a:t>
            </a:r>
            <a:r>
              <a:rPr lang="en-US" dirty="0" err="1"/>
              <a:t>uspe</a:t>
            </a:r>
            <a:r>
              <a:rPr lang="en-US" dirty="0"/>
              <a:t>, ROLLBACK </a:t>
            </a:r>
            <a:r>
              <a:rPr lang="en-US" dirty="0" err="1"/>
              <a:t>vraća</a:t>
            </a:r>
            <a:r>
              <a:rPr lang="en-US" dirty="0"/>
              <a:t> </a:t>
            </a:r>
            <a:r>
              <a:rPr lang="en-US" dirty="0" err="1"/>
              <a:t>sve</a:t>
            </a:r>
            <a:r>
              <a:rPr lang="en-US" dirty="0"/>
              <a:t> </a:t>
            </a:r>
            <a:r>
              <a:rPr lang="en-US" dirty="0" err="1"/>
              <a:t>promene</a:t>
            </a:r>
            <a:r>
              <a:rPr lang="en-US" dirty="0"/>
              <a:t> u </a:t>
            </a:r>
            <a:r>
              <a:rPr lang="en-US" dirty="0" err="1"/>
              <a:t>početno</a:t>
            </a:r>
            <a:r>
              <a:rPr lang="en-US" dirty="0"/>
              <a:t> </a:t>
            </a:r>
            <a:r>
              <a:rPr lang="en-US" dirty="0" err="1"/>
              <a:t>stanje</a:t>
            </a:r>
            <a:r>
              <a:rPr lang="en-US" dirty="0"/>
              <a:t>, </a:t>
            </a:r>
            <a:r>
              <a:rPr lang="en-US" dirty="0" err="1"/>
              <a:t>kao</a:t>
            </a:r>
            <a:r>
              <a:rPr lang="en-US" dirty="0"/>
              <a:t> da se </a:t>
            </a:r>
            <a:r>
              <a:rPr lang="en-US" dirty="0" err="1"/>
              <a:t>transakcija</a:t>
            </a:r>
            <a:r>
              <a:rPr lang="en-US" dirty="0"/>
              <a:t> </a:t>
            </a:r>
            <a:r>
              <a:rPr lang="en-US" dirty="0" err="1"/>
              <a:t>nikada</a:t>
            </a:r>
            <a:r>
              <a:rPr lang="en-US" dirty="0"/>
              <a:t> </a:t>
            </a:r>
            <a:r>
              <a:rPr lang="en-US" dirty="0" err="1"/>
              <a:t>nije</a:t>
            </a:r>
            <a:r>
              <a:rPr lang="en-US" dirty="0"/>
              <a:t> </a:t>
            </a:r>
            <a:r>
              <a:rPr lang="en-US" dirty="0" err="1"/>
              <a:t>ni</a:t>
            </a:r>
            <a:r>
              <a:rPr lang="en-US" dirty="0"/>
              <a:t> </a:t>
            </a:r>
            <a:r>
              <a:rPr lang="en-US" dirty="0" err="1"/>
              <a:t>desila</a:t>
            </a:r>
            <a:r>
              <a:rPr lang="en-US" dirty="0"/>
              <a:t>.</a:t>
            </a:r>
          </a:p>
          <a:p>
            <a:r>
              <a:rPr lang="en-US" b="1" dirty="0" err="1"/>
              <a:t>Konzistentnost</a:t>
            </a:r>
            <a:r>
              <a:rPr lang="en-US" dirty="0"/>
              <a:t> </a:t>
            </a:r>
            <a:r>
              <a:rPr lang="en-US" dirty="0" err="1"/>
              <a:t>garantuje</a:t>
            </a:r>
            <a:r>
              <a:rPr lang="en-US" dirty="0"/>
              <a:t> da </a:t>
            </a:r>
            <a:r>
              <a:rPr lang="en-US" dirty="0" err="1"/>
              <a:t>transakcija</a:t>
            </a:r>
            <a:r>
              <a:rPr lang="en-US" dirty="0"/>
              <a:t> </a:t>
            </a:r>
            <a:r>
              <a:rPr lang="en-US" dirty="0" err="1"/>
              <a:t>uvek</a:t>
            </a:r>
            <a:r>
              <a:rPr lang="en-US" dirty="0"/>
              <a:t> </a:t>
            </a:r>
            <a:r>
              <a:rPr lang="en-US" dirty="0" err="1"/>
              <a:t>vodi</a:t>
            </a:r>
            <a:r>
              <a:rPr lang="en-US" dirty="0"/>
              <a:t> </a:t>
            </a:r>
            <a:r>
              <a:rPr lang="en-US" dirty="0" err="1"/>
              <a:t>bazu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jednog</a:t>
            </a:r>
            <a:r>
              <a:rPr lang="en-US" dirty="0"/>
              <a:t> </a:t>
            </a:r>
            <a:r>
              <a:rPr lang="en-US" dirty="0" err="1"/>
              <a:t>validnog</a:t>
            </a:r>
            <a:r>
              <a:rPr lang="en-US" dirty="0"/>
              <a:t> </a:t>
            </a:r>
            <a:r>
              <a:rPr lang="en-US" dirty="0" err="1"/>
              <a:t>stanja</a:t>
            </a:r>
            <a:r>
              <a:rPr lang="en-US" dirty="0"/>
              <a:t> u </a:t>
            </a:r>
            <a:r>
              <a:rPr lang="en-US" dirty="0" err="1"/>
              <a:t>drugo</a:t>
            </a:r>
            <a:r>
              <a:rPr lang="en-US" dirty="0"/>
              <a:t> — Foreign Key </a:t>
            </a:r>
            <a:r>
              <a:rPr lang="en-US" dirty="0" err="1"/>
              <a:t>ograničenja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check constraint-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automatski</a:t>
            </a:r>
            <a:r>
              <a:rPr lang="en-US" dirty="0"/>
              <a:t> </a:t>
            </a:r>
            <a:r>
              <a:rPr lang="en-US" dirty="0" err="1"/>
              <a:t>proveravaju</a:t>
            </a:r>
            <a:r>
              <a:rPr lang="en-US" dirty="0"/>
              <a:t> </a:t>
            </a:r>
            <a:r>
              <a:rPr lang="en-US" dirty="0" err="1"/>
              <a:t>integritet</a:t>
            </a:r>
            <a:r>
              <a:rPr lang="en-US" dirty="0"/>
              <a:t> </a:t>
            </a:r>
            <a:r>
              <a:rPr lang="en-US" dirty="0" err="1"/>
              <a:t>pri</a:t>
            </a:r>
            <a:r>
              <a:rPr lang="en-US" dirty="0"/>
              <a:t> </a:t>
            </a:r>
            <a:r>
              <a:rPr lang="en-US" dirty="0" err="1"/>
              <a:t>svakoj</a:t>
            </a:r>
            <a:r>
              <a:rPr lang="en-US" dirty="0"/>
              <a:t> </a:t>
            </a:r>
            <a:r>
              <a:rPr lang="en-US" dirty="0" err="1"/>
              <a:t>promeni</a:t>
            </a:r>
            <a:r>
              <a:rPr lang="en-US" dirty="0"/>
              <a:t>.</a:t>
            </a:r>
          </a:p>
          <a:p>
            <a:r>
              <a:rPr lang="en-US" b="1" dirty="0" err="1"/>
              <a:t>Izolacija</a:t>
            </a:r>
            <a:r>
              <a:rPr lang="en-US" dirty="0"/>
              <a:t> </a:t>
            </a:r>
            <a:r>
              <a:rPr lang="en-US" dirty="0" err="1"/>
              <a:t>znači</a:t>
            </a:r>
            <a:r>
              <a:rPr lang="en-US" dirty="0"/>
              <a:t> da se </a:t>
            </a:r>
            <a:r>
              <a:rPr lang="en-US" dirty="0" err="1"/>
              <a:t>svaka</a:t>
            </a:r>
            <a:r>
              <a:rPr lang="en-US" dirty="0"/>
              <a:t> </a:t>
            </a:r>
            <a:r>
              <a:rPr lang="en-US" dirty="0" err="1"/>
              <a:t>transakcija</a:t>
            </a:r>
            <a:r>
              <a:rPr lang="en-US" dirty="0"/>
              <a:t> </a:t>
            </a:r>
            <a:r>
              <a:rPr lang="en-US" dirty="0" err="1"/>
              <a:t>oseća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jedina</a:t>
            </a:r>
            <a:r>
              <a:rPr lang="en-US" dirty="0"/>
              <a:t> u </a:t>
            </a:r>
            <a:r>
              <a:rPr lang="en-US" dirty="0" err="1"/>
              <a:t>sistemu</a:t>
            </a:r>
            <a:r>
              <a:rPr lang="en-US" dirty="0"/>
              <a:t> — </a:t>
            </a:r>
            <a:r>
              <a:rPr lang="en-US" dirty="0" err="1"/>
              <a:t>stepen</a:t>
            </a:r>
            <a:r>
              <a:rPr lang="en-US" dirty="0"/>
              <a:t> </a:t>
            </a:r>
            <a:r>
              <a:rPr lang="en-US" dirty="0" err="1"/>
              <a:t>izolacije</a:t>
            </a:r>
            <a:r>
              <a:rPr lang="en-US" dirty="0"/>
              <a:t> </a:t>
            </a:r>
            <a:r>
              <a:rPr lang="en-US" dirty="0" err="1"/>
              <a:t>određuje</a:t>
            </a:r>
            <a:r>
              <a:rPr lang="en-US" dirty="0"/>
              <a:t> </a:t>
            </a:r>
            <a:r>
              <a:rPr lang="en-US" dirty="0" err="1"/>
              <a:t>koliko</a:t>
            </a:r>
            <a:r>
              <a:rPr lang="en-US" dirty="0"/>
              <a:t> </a:t>
            </a:r>
            <a:r>
              <a:rPr lang="en-US" dirty="0" err="1"/>
              <a:t>jedna</a:t>
            </a:r>
            <a:r>
              <a:rPr lang="en-US" dirty="0"/>
              <a:t> </a:t>
            </a:r>
            <a:r>
              <a:rPr lang="en-US" dirty="0" err="1"/>
              <a:t>transakcija</a:t>
            </a:r>
            <a:r>
              <a:rPr lang="en-US" dirty="0"/>
              <a:t> </a:t>
            </a:r>
            <a:r>
              <a:rPr lang="en-US" dirty="0" err="1"/>
              <a:t>može</a:t>
            </a:r>
            <a:r>
              <a:rPr lang="en-US" dirty="0"/>
              <a:t> da </a:t>
            </a:r>
            <a:r>
              <a:rPr lang="en-US" dirty="0" err="1"/>
              <a:t>vidi</a:t>
            </a:r>
            <a:r>
              <a:rPr lang="en-US" dirty="0"/>
              <a:t> </a:t>
            </a:r>
            <a:r>
              <a:rPr lang="en-US" dirty="0" err="1"/>
              <a:t>promene</a:t>
            </a:r>
            <a:r>
              <a:rPr lang="en-US" dirty="0"/>
              <a:t> </a:t>
            </a:r>
            <a:r>
              <a:rPr lang="en-US" dirty="0" err="1"/>
              <a:t>koje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napravile</a:t>
            </a:r>
            <a:r>
              <a:rPr lang="en-US" dirty="0"/>
              <a:t> </a:t>
            </a:r>
            <a:r>
              <a:rPr lang="en-US" dirty="0" err="1"/>
              <a:t>druge</a:t>
            </a:r>
            <a:r>
              <a:rPr lang="en-US" dirty="0"/>
              <a:t>, </a:t>
            </a:r>
            <a:r>
              <a:rPr lang="en-US" dirty="0" err="1"/>
              <a:t>još</a:t>
            </a:r>
            <a:r>
              <a:rPr lang="en-US" dirty="0"/>
              <a:t> </a:t>
            </a:r>
            <a:r>
              <a:rPr lang="en-US" dirty="0" err="1"/>
              <a:t>uvek</a:t>
            </a:r>
            <a:r>
              <a:rPr lang="en-US" dirty="0"/>
              <a:t> </a:t>
            </a:r>
            <a:r>
              <a:rPr lang="en-US" dirty="0" err="1"/>
              <a:t>aktivne</a:t>
            </a:r>
            <a:r>
              <a:rPr lang="en-US" dirty="0"/>
              <a:t> </a:t>
            </a:r>
            <a:r>
              <a:rPr lang="en-US" dirty="0" err="1"/>
              <a:t>transakcije</a:t>
            </a:r>
            <a:r>
              <a:rPr lang="en-US" dirty="0"/>
              <a:t>.</a:t>
            </a:r>
          </a:p>
          <a:p>
            <a:r>
              <a:rPr lang="en-US" b="1" dirty="0" err="1"/>
              <a:t>Trajnost</a:t>
            </a:r>
            <a:r>
              <a:rPr lang="en-US" dirty="0"/>
              <a:t> </a:t>
            </a:r>
            <a:r>
              <a:rPr lang="en-US" dirty="0" err="1"/>
              <a:t>garantuje</a:t>
            </a:r>
            <a:r>
              <a:rPr lang="en-US" dirty="0"/>
              <a:t> da </a:t>
            </a:r>
            <a:r>
              <a:rPr lang="en-US" dirty="0" err="1"/>
              <a:t>jednom</a:t>
            </a:r>
            <a:r>
              <a:rPr lang="en-US" dirty="0"/>
              <a:t> </a:t>
            </a:r>
            <a:r>
              <a:rPr lang="en-US" dirty="0" err="1"/>
              <a:t>potvrđene</a:t>
            </a:r>
            <a:r>
              <a:rPr lang="en-US" dirty="0"/>
              <a:t> </a:t>
            </a:r>
            <a:r>
              <a:rPr lang="en-US" dirty="0" err="1"/>
              <a:t>promene</a:t>
            </a:r>
            <a:r>
              <a:rPr lang="en-US" dirty="0"/>
              <a:t> </a:t>
            </a:r>
            <a:r>
              <a:rPr lang="en-US" dirty="0" err="1"/>
              <a:t>ostaju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disku</a:t>
            </a:r>
            <a:r>
              <a:rPr lang="en-US" dirty="0"/>
              <a:t> </a:t>
            </a:r>
            <a:r>
              <a:rPr lang="en-US" dirty="0" err="1"/>
              <a:t>zauvek</a:t>
            </a:r>
            <a:r>
              <a:rPr lang="en-US" dirty="0"/>
              <a:t> — </a:t>
            </a:r>
            <a:r>
              <a:rPr lang="en-US" dirty="0" err="1"/>
              <a:t>čak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pad </a:t>
            </a:r>
            <a:r>
              <a:rPr lang="en-US" dirty="0" err="1"/>
              <a:t>servera</a:t>
            </a:r>
            <a:r>
              <a:rPr lang="en-US" dirty="0"/>
              <a:t> ne </a:t>
            </a:r>
            <a:r>
              <a:rPr lang="en-US" dirty="0" err="1"/>
              <a:t>briše</a:t>
            </a:r>
            <a:r>
              <a:rPr lang="en-US" dirty="0"/>
              <a:t> </a:t>
            </a:r>
            <a:r>
              <a:rPr lang="en-US" dirty="0" err="1"/>
              <a:t>potvrđene</a:t>
            </a:r>
            <a:r>
              <a:rPr lang="en-US" dirty="0"/>
              <a:t> </a:t>
            </a:r>
            <a:r>
              <a:rPr lang="en-US" dirty="0" err="1"/>
              <a:t>promene</a:t>
            </a:r>
            <a:r>
              <a:rPr lang="en-US" dirty="0"/>
              <a:t> </a:t>
            </a:r>
            <a:r>
              <a:rPr lang="en-US" dirty="0" err="1"/>
              <a:t>zahvaljujući</a:t>
            </a:r>
            <a:r>
              <a:rPr lang="en-US" dirty="0"/>
              <a:t> Write-Ahead Log </a:t>
            </a:r>
            <a:r>
              <a:rPr lang="en-US" dirty="0" err="1"/>
              <a:t>mehanizmu</a:t>
            </a:r>
            <a:r>
              <a:rPr lang="en-US" dirty="0"/>
              <a:t> koji </a:t>
            </a:r>
            <a:r>
              <a:rPr lang="en-US" dirty="0" err="1"/>
              <a:t>promene</a:t>
            </a:r>
            <a:r>
              <a:rPr lang="en-US" dirty="0"/>
              <a:t> </a:t>
            </a:r>
            <a:r>
              <a:rPr lang="en-US" dirty="0" err="1"/>
              <a:t>beleži</a:t>
            </a:r>
            <a:r>
              <a:rPr lang="en-US" dirty="0"/>
              <a:t> pre </a:t>
            </a:r>
            <a:r>
              <a:rPr lang="en-US" dirty="0" err="1"/>
              <a:t>nego</a:t>
            </a:r>
            <a:r>
              <a:rPr lang="en-US" dirty="0"/>
              <a:t> </a:t>
            </a:r>
            <a:r>
              <a:rPr lang="en-US" dirty="0" err="1"/>
              <a:t>što</a:t>
            </a:r>
            <a:r>
              <a:rPr lang="en-US" dirty="0"/>
              <a:t> se </a:t>
            </a:r>
            <a:r>
              <a:rPr lang="en-US" dirty="0" err="1"/>
              <a:t>upišu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disk.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Transakcione</a:t>
            </a:r>
            <a:r>
              <a:rPr lang="en-US" dirty="0"/>
              <a:t> </a:t>
            </a:r>
            <a:r>
              <a:rPr lang="en-US" dirty="0" err="1"/>
              <a:t>anomalije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problemi</a:t>
            </a:r>
            <a:r>
              <a:rPr lang="en-US" dirty="0"/>
              <a:t> koji </a:t>
            </a:r>
            <a:r>
              <a:rPr lang="en-US" dirty="0" err="1"/>
              <a:t>nastaju</a:t>
            </a:r>
            <a:r>
              <a:rPr lang="en-US" dirty="0"/>
              <a:t> </a:t>
            </a:r>
            <a:r>
              <a:rPr lang="en-US" dirty="0" err="1"/>
              <a:t>kada</a:t>
            </a:r>
            <a:r>
              <a:rPr lang="en-US" dirty="0"/>
              <a:t> </a:t>
            </a:r>
            <a:r>
              <a:rPr lang="en-US" dirty="0" err="1"/>
              <a:t>više</a:t>
            </a:r>
            <a:r>
              <a:rPr lang="en-US" dirty="0"/>
              <a:t> </a:t>
            </a:r>
            <a:r>
              <a:rPr lang="en-US" dirty="0" err="1"/>
              <a:t>transakcija</a:t>
            </a:r>
            <a:r>
              <a:rPr lang="en-US" dirty="0"/>
              <a:t> </a:t>
            </a:r>
            <a:r>
              <a:rPr lang="en-US" dirty="0" err="1"/>
              <a:t>istovremeno</a:t>
            </a:r>
            <a:r>
              <a:rPr lang="en-US" dirty="0"/>
              <a:t> </a:t>
            </a:r>
            <a:r>
              <a:rPr lang="en-US" dirty="0" err="1"/>
              <a:t>pristupa</a:t>
            </a:r>
            <a:r>
              <a:rPr lang="en-US" dirty="0"/>
              <a:t> </a:t>
            </a:r>
            <a:r>
              <a:rPr lang="en-US" dirty="0" err="1"/>
              <a:t>istim</a:t>
            </a:r>
            <a:r>
              <a:rPr lang="en-US" dirty="0"/>
              <a:t> </a:t>
            </a:r>
            <a:r>
              <a:rPr lang="en-US" dirty="0" err="1"/>
              <a:t>podacima</a:t>
            </a:r>
            <a:r>
              <a:rPr lang="en-US" dirty="0"/>
              <a:t> bez </a:t>
            </a:r>
            <a:r>
              <a:rPr lang="en-US" dirty="0" err="1"/>
              <a:t>odgovarajuće</a:t>
            </a:r>
            <a:r>
              <a:rPr lang="en-US" dirty="0"/>
              <a:t> </a:t>
            </a:r>
            <a:r>
              <a:rPr lang="en-US" dirty="0" err="1"/>
              <a:t>izolacije</a:t>
            </a:r>
            <a:r>
              <a:rPr lang="en-US" dirty="0"/>
              <a:t>.</a:t>
            </a:r>
          </a:p>
          <a:p>
            <a:r>
              <a:rPr lang="en-US" b="1" dirty="0"/>
              <a:t>Dirty Read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prljavo</a:t>
            </a:r>
            <a:r>
              <a:rPr lang="en-US" dirty="0"/>
              <a:t> </a:t>
            </a:r>
            <a:r>
              <a:rPr lang="en-US" dirty="0" err="1"/>
              <a:t>čitanje</a:t>
            </a:r>
            <a:r>
              <a:rPr lang="en-US" dirty="0"/>
              <a:t> </a:t>
            </a:r>
            <a:r>
              <a:rPr lang="en-US" dirty="0" err="1"/>
              <a:t>dešava</a:t>
            </a:r>
            <a:r>
              <a:rPr lang="en-US" dirty="0"/>
              <a:t> se </a:t>
            </a:r>
            <a:r>
              <a:rPr lang="en-US" dirty="0" err="1"/>
              <a:t>kada</a:t>
            </a:r>
            <a:r>
              <a:rPr lang="en-US" dirty="0"/>
              <a:t> </a:t>
            </a:r>
            <a:r>
              <a:rPr lang="en-US" dirty="0" err="1"/>
              <a:t>jedna</a:t>
            </a:r>
            <a:r>
              <a:rPr lang="en-US" dirty="0"/>
              <a:t> </a:t>
            </a:r>
            <a:r>
              <a:rPr lang="en-US" dirty="0" err="1"/>
              <a:t>transakcija</a:t>
            </a:r>
            <a:r>
              <a:rPr lang="en-US" dirty="0"/>
              <a:t> </a:t>
            </a:r>
            <a:r>
              <a:rPr lang="en-US" dirty="0" err="1"/>
              <a:t>čita</a:t>
            </a:r>
            <a:r>
              <a:rPr lang="en-US" dirty="0"/>
              <a:t> </a:t>
            </a:r>
            <a:r>
              <a:rPr lang="en-US" dirty="0" err="1"/>
              <a:t>podatke</a:t>
            </a:r>
            <a:r>
              <a:rPr lang="en-US" dirty="0"/>
              <a:t> </a:t>
            </a:r>
            <a:r>
              <a:rPr lang="en-US" dirty="0" err="1"/>
              <a:t>koje</a:t>
            </a:r>
            <a:r>
              <a:rPr lang="en-US" dirty="0"/>
              <a:t> je </a:t>
            </a:r>
            <a:r>
              <a:rPr lang="en-US" dirty="0" err="1"/>
              <a:t>druga</a:t>
            </a:r>
            <a:r>
              <a:rPr lang="en-US" dirty="0"/>
              <a:t> </a:t>
            </a:r>
            <a:r>
              <a:rPr lang="en-US" dirty="0" err="1"/>
              <a:t>transakcija</a:t>
            </a:r>
            <a:r>
              <a:rPr lang="en-US" dirty="0"/>
              <a:t> </a:t>
            </a:r>
            <a:r>
              <a:rPr lang="en-US" dirty="0" err="1"/>
              <a:t>promenila</a:t>
            </a:r>
            <a:r>
              <a:rPr lang="en-US" dirty="0"/>
              <a:t>, </a:t>
            </a:r>
            <a:r>
              <a:rPr lang="en-US" dirty="0" err="1"/>
              <a:t>ali</a:t>
            </a:r>
            <a:r>
              <a:rPr lang="en-US" dirty="0"/>
              <a:t> </a:t>
            </a:r>
            <a:r>
              <a:rPr lang="en-US" dirty="0" err="1"/>
              <a:t>još</a:t>
            </a:r>
            <a:r>
              <a:rPr lang="en-US" dirty="0"/>
              <a:t> </a:t>
            </a:r>
            <a:r>
              <a:rPr lang="en-US" dirty="0" err="1"/>
              <a:t>uvek</a:t>
            </a:r>
            <a:r>
              <a:rPr lang="en-US" dirty="0"/>
              <a:t> </a:t>
            </a:r>
            <a:r>
              <a:rPr lang="en-US" dirty="0" err="1"/>
              <a:t>nije</a:t>
            </a:r>
            <a:r>
              <a:rPr lang="en-US" dirty="0"/>
              <a:t> </a:t>
            </a:r>
            <a:r>
              <a:rPr lang="en-US" dirty="0" err="1"/>
              <a:t>potvrdila</a:t>
            </a:r>
            <a:r>
              <a:rPr lang="en-US" dirty="0"/>
              <a:t> — Firebird </a:t>
            </a:r>
            <a:r>
              <a:rPr lang="en-US" dirty="0" err="1"/>
              <a:t>ovo</a:t>
            </a:r>
            <a:r>
              <a:rPr lang="en-US" dirty="0"/>
              <a:t> </a:t>
            </a:r>
            <a:r>
              <a:rPr lang="en-US" dirty="0" err="1"/>
              <a:t>sprečava</a:t>
            </a:r>
            <a:r>
              <a:rPr lang="en-US" dirty="0"/>
              <a:t> po </a:t>
            </a:r>
            <a:r>
              <a:rPr lang="en-US" dirty="0" err="1"/>
              <a:t>dizajnu</a:t>
            </a:r>
            <a:r>
              <a:rPr lang="en-US" dirty="0"/>
              <a:t>, </a:t>
            </a:r>
            <a:r>
              <a:rPr lang="en-US" dirty="0" err="1"/>
              <a:t>nikada</a:t>
            </a:r>
            <a:r>
              <a:rPr lang="en-US" dirty="0"/>
              <a:t> ne </a:t>
            </a:r>
            <a:r>
              <a:rPr lang="en-US" dirty="0" err="1"/>
              <a:t>čita</a:t>
            </a:r>
            <a:r>
              <a:rPr lang="en-US" dirty="0"/>
              <a:t> </a:t>
            </a:r>
            <a:r>
              <a:rPr lang="en-US" dirty="0" err="1"/>
              <a:t>nepotvrđene</a:t>
            </a:r>
            <a:r>
              <a:rPr lang="en-US" dirty="0"/>
              <a:t> </a:t>
            </a:r>
            <a:r>
              <a:rPr lang="en-US" dirty="0" err="1"/>
              <a:t>podatke</a:t>
            </a:r>
            <a:r>
              <a:rPr lang="en-US" dirty="0"/>
              <a:t> bez </a:t>
            </a:r>
            <a:r>
              <a:rPr lang="en-US" dirty="0" err="1"/>
              <a:t>obzira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nivo</a:t>
            </a:r>
            <a:r>
              <a:rPr lang="en-US" dirty="0"/>
              <a:t> </a:t>
            </a:r>
            <a:r>
              <a:rPr lang="en-US" dirty="0" err="1"/>
              <a:t>izolacije</a:t>
            </a:r>
            <a:r>
              <a:rPr lang="en-US" dirty="0"/>
              <a:t>.</a:t>
            </a:r>
          </a:p>
          <a:p>
            <a:r>
              <a:rPr lang="en-US" b="1" dirty="0"/>
              <a:t>Non-repeatable Read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neponovljivo</a:t>
            </a:r>
            <a:r>
              <a:rPr lang="en-US" dirty="0"/>
              <a:t> </a:t>
            </a:r>
            <a:r>
              <a:rPr lang="en-US" dirty="0" err="1"/>
              <a:t>čitanje</a:t>
            </a:r>
            <a:r>
              <a:rPr lang="en-US" dirty="0"/>
              <a:t> </a:t>
            </a:r>
            <a:r>
              <a:rPr lang="en-US" dirty="0" err="1"/>
              <a:t>dešava</a:t>
            </a:r>
            <a:r>
              <a:rPr lang="en-US" dirty="0"/>
              <a:t> se </a:t>
            </a:r>
            <a:r>
              <a:rPr lang="en-US" dirty="0" err="1"/>
              <a:t>kada</a:t>
            </a:r>
            <a:r>
              <a:rPr lang="en-US" dirty="0"/>
              <a:t> </a:t>
            </a:r>
            <a:r>
              <a:rPr lang="en-US" dirty="0" err="1"/>
              <a:t>isti</a:t>
            </a:r>
            <a:r>
              <a:rPr lang="en-US" dirty="0"/>
              <a:t> SELECT </a:t>
            </a:r>
            <a:r>
              <a:rPr lang="en-US" dirty="0" err="1"/>
              <a:t>unutar</a:t>
            </a:r>
            <a:r>
              <a:rPr lang="en-US" dirty="0"/>
              <a:t> </a:t>
            </a:r>
            <a:r>
              <a:rPr lang="en-US" dirty="0" err="1"/>
              <a:t>jedne</a:t>
            </a:r>
            <a:r>
              <a:rPr lang="en-US" dirty="0"/>
              <a:t> </a:t>
            </a:r>
            <a:r>
              <a:rPr lang="en-US" dirty="0" err="1"/>
              <a:t>transakcije</a:t>
            </a:r>
            <a:r>
              <a:rPr lang="en-US" dirty="0"/>
              <a:t> </a:t>
            </a:r>
            <a:r>
              <a:rPr lang="en-US" dirty="0" err="1"/>
              <a:t>dva</a:t>
            </a:r>
            <a:r>
              <a:rPr lang="en-US" dirty="0"/>
              <a:t> puta </a:t>
            </a:r>
            <a:r>
              <a:rPr lang="en-US" dirty="0" err="1"/>
              <a:t>vrati</a:t>
            </a:r>
            <a:r>
              <a:rPr lang="en-US" dirty="0"/>
              <a:t> </a:t>
            </a:r>
            <a:r>
              <a:rPr lang="en-US" dirty="0" err="1"/>
              <a:t>različite</a:t>
            </a:r>
            <a:r>
              <a:rPr lang="en-US" dirty="0"/>
              <a:t> </a:t>
            </a:r>
            <a:r>
              <a:rPr lang="en-US" dirty="0" err="1"/>
              <a:t>rezultate</a:t>
            </a:r>
            <a:r>
              <a:rPr lang="en-US" dirty="0"/>
              <a:t> </a:t>
            </a:r>
            <a:r>
              <a:rPr lang="en-US" dirty="0" err="1"/>
              <a:t>jer</a:t>
            </a:r>
            <a:r>
              <a:rPr lang="en-US" dirty="0"/>
              <a:t> je </a:t>
            </a:r>
            <a:r>
              <a:rPr lang="en-US" dirty="0" err="1"/>
              <a:t>druga</a:t>
            </a:r>
            <a:r>
              <a:rPr lang="en-US" dirty="0"/>
              <a:t> </a:t>
            </a:r>
            <a:r>
              <a:rPr lang="en-US" dirty="0" err="1"/>
              <a:t>transakcija</a:t>
            </a:r>
            <a:r>
              <a:rPr lang="en-US" dirty="0"/>
              <a:t> u </a:t>
            </a:r>
            <a:r>
              <a:rPr lang="en-US" dirty="0" err="1"/>
              <a:t>međuvremenu</a:t>
            </a:r>
            <a:r>
              <a:rPr lang="en-US" dirty="0"/>
              <a:t> </a:t>
            </a:r>
            <a:r>
              <a:rPr lang="en-US" dirty="0" err="1"/>
              <a:t>promenila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potvrdila</a:t>
            </a:r>
            <a:r>
              <a:rPr lang="en-US" dirty="0"/>
              <a:t> </a:t>
            </a:r>
            <a:r>
              <a:rPr lang="en-US" dirty="0" err="1"/>
              <a:t>podatke</a:t>
            </a:r>
            <a:r>
              <a:rPr lang="en-US" dirty="0"/>
              <a:t> — u Firebird-u je </a:t>
            </a:r>
            <a:r>
              <a:rPr lang="en-US" dirty="0" err="1"/>
              <a:t>ovo</a:t>
            </a:r>
            <a:r>
              <a:rPr lang="en-US" dirty="0"/>
              <a:t> </a:t>
            </a:r>
            <a:r>
              <a:rPr lang="en-US" dirty="0" err="1"/>
              <a:t>sprečeno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SNAPSHOT </a:t>
            </a:r>
            <a:r>
              <a:rPr lang="en-US" dirty="0" err="1"/>
              <a:t>nivou</a:t>
            </a:r>
            <a:r>
              <a:rPr lang="en-US" dirty="0"/>
              <a:t>, </a:t>
            </a:r>
            <a:r>
              <a:rPr lang="en-US" dirty="0" err="1"/>
              <a:t>dok</a:t>
            </a:r>
            <a:r>
              <a:rPr lang="en-US" dirty="0"/>
              <a:t> je </a:t>
            </a:r>
            <a:r>
              <a:rPr lang="en-US" dirty="0" err="1"/>
              <a:t>na</a:t>
            </a:r>
            <a:r>
              <a:rPr lang="en-US" dirty="0"/>
              <a:t> Read Committed </a:t>
            </a:r>
            <a:r>
              <a:rPr lang="en-US" dirty="0" err="1"/>
              <a:t>nivou</a:t>
            </a:r>
            <a:r>
              <a:rPr lang="en-US" dirty="0"/>
              <a:t> </a:t>
            </a:r>
            <a:r>
              <a:rPr lang="en-US" dirty="0" err="1"/>
              <a:t>dozvoljeno</a:t>
            </a:r>
            <a:r>
              <a:rPr lang="en-US" dirty="0"/>
              <a:t> </a:t>
            </a:r>
            <a:r>
              <a:rPr lang="en-US" dirty="0" err="1"/>
              <a:t>jer</a:t>
            </a:r>
            <a:r>
              <a:rPr lang="en-US" dirty="0"/>
              <a:t> </a:t>
            </a:r>
            <a:r>
              <a:rPr lang="en-US" dirty="0" err="1"/>
              <a:t>svaki</a:t>
            </a:r>
            <a:r>
              <a:rPr lang="en-US" dirty="0"/>
              <a:t> SELECT </a:t>
            </a:r>
            <a:r>
              <a:rPr lang="en-US" dirty="0" err="1"/>
              <a:t>vraća</a:t>
            </a:r>
            <a:r>
              <a:rPr lang="en-US" dirty="0"/>
              <a:t> </a:t>
            </a:r>
            <a:r>
              <a:rPr lang="en-US" dirty="0" err="1"/>
              <a:t>najnoviju</a:t>
            </a:r>
            <a:r>
              <a:rPr lang="en-US" dirty="0"/>
              <a:t> </a:t>
            </a:r>
            <a:r>
              <a:rPr lang="en-US" dirty="0" err="1"/>
              <a:t>potvrđenu</a:t>
            </a:r>
            <a:r>
              <a:rPr lang="en-US" dirty="0"/>
              <a:t> </a:t>
            </a:r>
            <a:r>
              <a:rPr lang="en-US" dirty="0" err="1"/>
              <a:t>vrednost</a:t>
            </a:r>
            <a:r>
              <a:rPr lang="en-US" dirty="0"/>
              <a:t>.</a:t>
            </a:r>
          </a:p>
          <a:p>
            <a:r>
              <a:rPr lang="en-US" b="1" dirty="0"/>
              <a:t>Phantom Read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fantomsko</a:t>
            </a:r>
            <a:r>
              <a:rPr lang="en-US" dirty="0"/>
              <a:t> </a:t>
            </a:r>
            <a:r>
              <a:rPr lang="en-US" dirty="0" err="1"/>
              <a:t>čitanje</a:t>
            </a:r>
            <a:r>
              <a:rPr lang="en-US" dirty="0"/>
              <a:t> </a:t>
            </a:r>
            <a:r>
              <a:rPr lang="en-US" dirty="0" err="1"/>
              <a:t>dešava</a:t>
            </a:r>
            <a:r>
              <a:rPr lang="en-US" dirty="0"/>
              <a:t> se </a:t>
            </a:r>
            <a:r>
              <a:rPr lang="en-US" dirty="0" err="1"/>
              <a:t>kada</a:t>
            </a:r>
            <a:r>
              <a:rPr lang="en-US" dirty="0"/>
              <a:t> </a:t>
            </a:r>
            <a:r>
              <a:rPr lang="en-US" dirty="0" err="1"/>
              <a:t>ponovljeni</a:t>
            </a:r>
            <a:r>
              <a:rPr lang="en-US" dirty="0"/>
              <a:t> SELECT </a:t>
            </a:r>
            <a:r>
              <a:rPr lang="en-US" dirty="0" err="1"/>
              <a:t>vrati</a:t>
            </a:r>
            <a:r>
              <a:rPr lang="en-US" dirty="0"/>
              <a:t> </a:t>
            </a:r>
            <a:r>
              <a:rPr lang="en-US" dirty="0" err="1"/>
              <a:t>više</a:t>
            </a:r>
            <a:r>
              <a:rPr lang="en-US" dirty="0"/>
              <a:t> </a:t>
            </a:r>
            <a:r>
              <a:rPr lang="en-US" dirty="0" err="1"/>
              <a:t>redova</a:t>
            </a:r>
            <a:r>
              <a:rPr lang="en-US" dirty="0"/>
              <a:t> </a:t>
            </a:r>
            <a:r>
              <a:rPr lang="en-US" dirty="0" err="1"/>
              <a:t>nego</a:t>
            </a:r>
            <a:r>
              <a:rPr lang="en-US" dirty="0"/>
              <a:t> </a:t>
            </a:r>
            <a:r>
              <a:rPr lang="en-US" dirty="0" err="1"/>
              <a:t>prvi</a:t>
            </a:r>
            <a:r>
              <a:rPr lang="en-US" dirty="0"/>
              <a:t> put </a:t>
            </a:r>
            <a:r>
              <a:rPr lang="en-US" dirty="0" err="1"/>
              <a:t>jer</a:t>
            </a:r>
            <a:r>
              <a:rPr lang="en-US" dirty="0"/>
              <a:t> je </a:t>
            </a:r>
            <a:r>
              <a:rPr lang="en-US" dirty="0" err="1"/>
              <a:t>druga</a:t>
            </a:r>
            <a:r>
              <a:rPr lang="en-US" dirty="0"/>
              <a:t> </a:t>
            </a:r>
            <a:r>
              <a:rPr lang="en-US" dirty="0" err="1"/>
              <a:t>transakcija</a:t>
            </a:r>
            <a:r>
              <a:rPr lang="en-US" dirty="0"/>
              <a:t> </a:t>
            </a:r>
            <a:r>
              <a:rPr lang="en-US" dirty="0" err="1"/>
              <a:t>dodala</a:t>
            </a:r>
            <a:r>
              <a:rPr lang="en-US" dirty="0"/>
              <a:t> </a:t>
            </a:r>
            <a:r>
              <a:rPr lang="en-US" dirty="0" err="1"/>
              <a:t>nove</a:t>
            </a:r>
            <a:r>
              <a:rPr lang="en-US" dirty="0"/>
              <a:t> </a:t>
            </a:r>
            <a:r>
              <a:rPr lang="en-US" dirty="0" err="1"/>
              <a:t>zapise</a:t>
            </a:r>
            <a:r>
              <a:rPr lang="en-US" dirty="0"/>
              <a:t> — Firebird </a:t>
            </a:r>
            <a:r>
              <a:rPr lang="en-US" dirty="0" err="1"/>
              <a:t>ovo</a:t>
            </a:r>
            <a:r>
              <a:rPr lang="en-US" dirty="0"/>
              <a:t> </a:t>
            </a:r>
            <a:r>
              <a:rPr lang="en-US" dirty="0" err="1"/>
              <a:t>sprečava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SNAPSHOT </a:t>
            </a:r>
            <a:r>
              <a:rPr lang="en-US" dirty="0" err="1"/>
              <a:t>nivou</a:t>
            </a:r>
            <a:r>
              <a:rPr lang="en-US" dirty="0"/>
              <a:t> </a:t>
            </a:r>
            <a:r>
              <a:rPr lang="en-US" dirty="0" err="1"/>
              <a:t>tako</a:t>
            </a:r>
            <a:r>
              <a:rPr lang="en-US" dirty="0"/>
              <a:t>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transakcija</a:t>
            </a:r>
            <a:r>
              <a:rPr lang="en-US" dirty="0"/>
              <a:t> </a:t>
            </a:r>
            <a:r>
              <a:rPr lang="en-US" dirty="0" err="1"/>
              <a:t>vidi</a:t>
            </a:r>
            <a:r>
              <a:rPr lang="en-US" dirty="0"/>
              <a:t> </a:t>
            </a:r>
            <a:r>
              <a:rPr lang="en-US" dirty="0" err="1"/>
              <a:t>samo</a:t>
            </a:r>
            <a:r>
              <a:rPr lang="en-US" dirty="0"/>
              <a:t> </a:t>
            </a:r>
            <a:r>
              <a:rPr lang="en-US" dirty="0" err="1"/>
              <a:t>redove</a:t>
            </a:r>
            <a:r>
              <a:rPr lang="en-US" dirty="0"/>
              <a:t> koji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postojali</a:t>
            </a:r>
            <a:r>
              <a:rPr lang="en-US" dirty="0"/>
              <a:t> u </a:t>
            </a:r>
            <a:r>
              <a:rPr lang="en-US" dirty="0" err="1"/>
              <a:t>trenutku</a:t>
            </a:r>
            <a:r>
              <a:rPr lang="en-US" dirty="0"/>
              <a:t> </a:t>
            </a:r>
            <a:r>
              <a:rPr lang="en-US" dirty="0" err="1"/>
              <a:t>njenog</a:t>
            </a:r>
            <a:r>
              <a:rPr lang="en-US" dirty="0"/>
              <a:t> </a:t>
            </a:r>
            <a:r>
              <a:rPr lang="en-US" dirty="0" err="1"/>
              <a:t>kreiranja</a:t>
            </a:r>
            <a:r>
              <a:rPr lang="en-US" dirty="0"/>
              <a:t>, bez </a:t>
            </a:r>
            <a:r>
              <a:rPr lang="en-US" dirty="0" err="1"/>
              <a:t>obzira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naknadne</a:t>
            </a:r>
            <a:r>
              <a:rPr lang="en-US" dirty="0"/>
              <a:t> </a:t>
            </a:r>
            <a:r>
              <a:rPr lang="en-US" dirty="0" err="1"/>
              <a:t>izmene</a:t>
            </a:r>
            <a:r>
              <a:rPr lang="en-US" dirty="0"/>
              <a:t>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MGA </a:t>
            </a:r>
            <a:r>
              <a:rPr lang="en-US" dirty="0" err="1"/>
              <a:t>arhitektura</a:t>
            </a:r>
            <a:r>
              <a:rPr lang="en-US" dirty="0"/>
              <a:t> je Firebird-ova </a:t>
            </a:r>
            <a:r>
              <a:rPr lang="en-US" dirty="0" err="1"/>
              <a:t>implementacija</a:t>
            </a:r>
            <a:r>
              <a:rPr lang="en-US" dirty="0"/>
              <a:t> MVCC </a:t>
            </a:r>
            <a:r>
              <a:rPr lang="en-US" dirty="0" err="1"/>
              <a:t>koncepta</a:t>
            </a:r>
            <a:r>
              <a:rPr lang="en-US" dirty="0"/>
              <a:t> — </a:t>
            </a:r>
            <a:r>
              <a:rPr lang="en-US" dirty="0" err="1"/>
              <a:t>svaki</a:t>
            </a:r>
            <a:r>
              <a:rPr lang="en-US" dirty="0"/>
              <a:t> UPDATE ne </a:t>
            </a:r>
            <a:r>
              <a:rPr lang="en-US" dirty="0" err="1"/>
              <a:t>prepisuje</a:t>
            </a:r>
            <a:r>
              <a:rPr lang="en-US" dirty="0"/>
              <a:t> </a:t>
            </a:r>
            <a:r>
              <a:rPr lang="en-US" dirty="0" err="1"/>
              <a:t>originalni</a:t>
            </a:r>
            <a:r>
              <a:rPr lang="en-US" dirty="0"/>
              <a:t> </a:t>
            </a:r>
            <a:r>
              <a:rPr lang="en-US" dirty="0" err="1"/>
              <a:t>podatak</a:t>
            </a:r>
            <a:r>
              <a:rPr lang="en-US" dirty="0"/>
              <a:t> </a:t>
            </a:r>
            <a:r>
              <a:rPr lang="en-US" dirty="0" err="1"/>
              <a:t>već</a:t>
            </a:r>
            <a:r>
              <a:rPr lang="en-US" dirty="0"/>
              <a:t> </a:t>
            </a:r>
            <a:r>
              <a:rPr lang="en-US" dirty="0" err="1"/>
              <a:t>kreira</a:t>
            </a:r>
            <a:r>
              <a:rPr lang="en-US" dirty="0"/>
              <a:t> </a:t>
            </a:r>
            <a:r>
              <a:rPr lang="en-US" dirty="0" err="1"/>
              <a:t>novu</a:t>
            </a:r>
            <a:r>
              <a:rPr lang="en-US" dirty="0"/>
              <a:t> </a:t>
            </a:r>
            <a:r>
              <a:rPr lang="en-US" dirty="0" err="1"/>
              <a:t>kopiju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slobodnom</a:t>
            </a:r>
            <a:r>
              <a:rPr lang="en-US" dirty="0"/>
              <a:t> </a:t>
            </a:r>
            <a:r>
              <a:rPr lang="en-US" dirty="0" err="1"/>
              <a:t>mestu</a:t>
            </a:r>
            <a:r>
              <a:rPr lang="en-US" dirty="0"/>
              <a:t>, </a:t>
            </a:r>
            <a:r>
              <a:rPr lang="en-US" dirty="0" err="1"/>
              <a:t>dok</a:t>
            </a:r>
            <a:r>
              <a:rPr lang="en-US" dirty="0"/>
              <a:t> </a:t>
            </a:r>
            <a:r>
              <a:rPr lang="en-US" dirty="0" err="1"/>
              <a:t>stara</a:t>
            </a:r>
            <a:r>
              <a:rPr lang="en-US" dirty="0"/>
              <a:t> </a:t>
            </a:r>
            <a:r>
              <a:rPr lang="en-US" dirty="0" err="1"/>
              <a:t>verzija</a:t>
            </a:r>
            <a:r>
              <a:rPr lang="en-US" dirty="0"/>
              <a:t> </a:t>
            </a:r>
            <a:r>
              <a:rPr lang="en-US" dirty="0" err="1"/>
              <a:t>ostaje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fizičkoj</a:t>
            </a:r>
            <a:r>
              <a:rPr lang="en-US" dirty="0"/>
              <a:t> </a:t>
            </a:r>
            <a:r>
              <a:rPr lang="en-US" dirty="0" err="1"/>
              <a:t>lokaciji</a:t>
            </a:r>
            <a:r>
              <a:rPr lang="en-US" dirty="0"/>
              <a:t>,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omogućava</a:t>
            </a:r>
            <a:r>
              <a:rPr lang="en-US" dirty="0"/>
              <a:t> </a:t>
            </a:r>
            <a:r>
              <a:rPr lang="en-US" dirty="0" err="1"/>
              <a:t>instantni</a:t>
            </a:r>
            <a:r>
              <a:rPr lang="en-US" dirty="0"/>
              <a:t> Rollback bez </a:t>
            </a:r>
            <a:r>
              <a:rPr lang="en-US" dirty="0" err="1"/>
              <a:t>fizičkog</a:t>
            </a:r>
            <a:r>
              <a:rPr lang="en-US" dirty="0"/>
              <a:t> </a:t>
            </a:r>
            <a:r>
              <a:rPr lang="en-US" dirty="0" err="1"/>
              <a:t>brisanja</a:t>
            </a:r>
            <a:r>
              <a:rPr lang="en-US" dirty="0"/>
              <a:t>.</a:t>
            </a:r>
          </a:p>
          <a:p>
            <a:r>
              <a:rPr lang="en-US" dirty="0" err="1"/>
              <a:t>Svaka</a:t>
            </a:r>
            <a:r>
              <a:rPr lang="en-US" dirty="0"/>
              <a:t> </a:t>
            </a:r>
            <a:r>
              <a:rPr lang="en-US" dirty="0" err="1"/>
              <a:t>verzija</a:t>
            </a:r>
            <a:r>
              <a:rPr lang="en-US" dirty="0"/>
              <a:t> </a:t>
            </a:r>
            <a:r>
              <a:rPr lang="en-US" dirty="0" err="1"/>
              <a:t>zapisa</a:t>
            </a:r>
            <a:r>
              <a:rPr lang="en-US" dirty="0"/>
              <a:t> </a:t>
            </a:r>
            <a:r>
              <a:rPr lang="en-US" dirty="0" err="1"/>
              <a:t>nosi</a:t>
            </a:r>
            <a:r>
              <a:rPr lang="en-US" dirty="0"/>
              <a:t> </a:t>
            </a:r>
            <a:r>
              <a:rPr lang="en-US" b="1" dirty="0"/>
              <a:t>Transaction ID (TID)</a:t>
            </a:r>
            <a:r>
              <a:rPr lang="en-US" dirty="0"/>
              <a:t> u </a:t>
            </a:r>
            <a:r>
              <a:rPr lang="en-US" dirty="0" err="1"/>
              <a:t>svom</a:t>
            </a:r>
            <a:r>
              <a:rPr lang="en-US" dirty="0"/>
              <a:t> Record Header-u, </a:t>
            </a:r>
            <a:r>
              <a:rPr lang="en-US" dirty="0" err="1"/>
              <a:t>zajedno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b="1" dirty="0"/>
              <a:t>Back Interest Pointer-om</a:t>
            </a:r>
            <a:r>
              <a:rPr lang="en-US" dirty="0"/>
              <a:t> koji </a:t>
            </a:r>
            <a:r>
              <a:rPr lang="en-US" dirty="0" err="1"/>
              <a:t>pokazuje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prethodnu</a:t>
            </a:r>
            <a:r>
              <a:rPr lang="en-US" dirty="0"/>
              <a:t> </a:t>
            </a:r>
            <a:r>
              <a:rPr lang="en-US" dirty="0" err="1"/>
              <a:t>verziju</a:t>
            </a:r>
            <a:r>
              <a:rPr lang="en-US" dirty="0"/>
              <a:t> — </a:t>
            </a:r>
            <a:r>
              <a:rPr lang="en-US" dirty="0" err="1"/>
              <a:t>na</a:t>
            </a:r>
            <a:r>
              <a:rPr lang="en-US" dirty="0"/>
              <a:t> taj </a:t>
            </a:r>
            <a:r>
              <a:rPr lang="en-US" dirty="0" err="1"/>
              <a:t>način</a:t>
            </a:r>
            <a:r>
              <a:rPr lang="en-US" dirty="0"/>
              <a:t> se </a:t>
            </a:r>
            <a:r>
              <a:rPr lang="en-US" dirty="0" err="1"/>
              <a:t>formira</a:t>
            </a:r>
            <a:r>
              <a:rPr lang="en-US" dirty="0"/>
              <a:t> </a:t>
            </a:r>
            <a:r>
              <a:rPr lang="en-US" dirty="0" err="1"/>
              <a:t>lanac</a:t>
            </a:r>
            <a:r>
              <a:rPr lang="en-US" dirty="0"/>
              <a:t> </a:t>
            </a:r>
            <a:r>
              <a:rPr lang="en-US" dirty="0" err="1"/>
              <a:t>kroz</a:t>
            </a:r>
            <a:r>
              <a:rPr lang="en-US" dirty="0"/>
              <a:t> koji engine </a:t>
            </a:r>
            <a:r>
              <a:rPr lang="en-US" dirty="0" err="1"/>
              <a:t>navigira</a:t>
            </a:r>
            <a:r>
              <a:rPr lang="en-US" dirty="0"/>
              <a:t> </a:t>
            </a:r>
            <a:r>
              <a:rPr lang="en-US" dirty="0" err="1"/>
              <a:t>unazad</a:t>
            </a:r>
            <a:r>
              <a:rPr lang="en-US" dirty="0"/>
              <a:t> </a:t>
            </a:r>
            <a:r>
              <a:rPr lang="en-US" dirty="0" err="1"/>
              <a:t>kroz</a:t>
            </a:r>
            <a:r>
              <a:rPr lang="en-US" dirty="0"/>
              <a:t> </a:t>
            </a:r>
            <a:r>
              <a:rPr lang="en-US" dirty="0" err="1"/>
              <a:t>istoriju</a:t>
            </a:r>
            <a:r>
              <a:rPr lang="en-US" dirty="0"/>
              <a:t> </a:t>
            </a:r>
            <a:r>
              <a:rPr lang="en-US" dirty="0" err="1"/>
              <a:t>zapisa</a:t>
            </a:r>
            <a:r>
              <a:rPr lang="en-US" dirty="0"/>
              <a:t>.</a:t>
            </a:r>
          </a:p>
          <a:p>
            <a:r>
              <a:rPr lang="en-US" dirty="0"/>
              <a:t>Da bi </a:t>
            </a:r>
            <a:r>
              <a:rPr lang="en-US" dirty="0" err="1"/>
              <a:t>znao</a:t>
            </a:r>
            <a:r>
              <a:rPr lang="en-US" dirty="0"/>
              <a:t> </a:t>
            </a:r>
            <a:r>
              <a:rPr lang="en-US" dirty="0" err="1"/>
              <a:t>koja</a:t>
            </a:r>
            <a:r>
              <a:rPr lang="en-US" dirty="0"/>
              <a:t> </a:t>
            </a:r>
            <a:r>
              <a:rPr lang="en-US" dirty="0" err="1"/>
              <a:t>verzija</a:t>
            </a:r>
            <a:r>
              <a:rPr lang="en-US" dirty="0"/>
              <a:t> je </a:t>
            </a:r>
            <a:r>
              <a:rPr lang="en-US" dirty="0" err="1"/>
              <a:t>vidljiva</a:t>
            </a:r>
            <a:r>
              <a:rPr lang="en-US" dirty="0"/>
              <a:t> </a:t>
            </a:r>
            <a:r>
              <a:rPr lang="en-US" dirty="0" err="1"/>
              <a:t>kojoj</a:t>
            </a:r>
            <a:r>
              <a:rPr lang="en-US" dirty="0"/>
              <a:t> </a:t>
            </a:r>
            <a:r>
              <a:rPr lang="en-US" dirty="0" err="1"/>
              <a:t>transakciji</a:t>
            </a:r>
            <a:r>
              <a:rPr lang="en-US" dirty="0"/>
              <a:t>, engine </a:t>
            </a:r>
            <a:r>
              <a:rPr lang="en-US" dirty="0" err="1"/>
              <a:t>koristi</a:t>
            </a:r>
            <a:r>
              <a:rPr lang="en-US" dirty="0"/>
              <a:t> </a:t>
            </a:r>
            <a:r>
              <a:rPr lang="en-US" b="1" dirty="0"/>
              <a:t>Transaction Inventory Page (TIP)</a:t>
            </a:r>
            <a:r>
              <a:rPr lang="en-US" dirty="0"/>
              <a:t> — </a:t>
            </a:r>
            <a:r>
              <a:rPr lang="en-US" dirty="0" err="1"/>
              <a:t>posebnu</a:t>
            </a:r>
            <a:r>
              <a:rPr lang="en-US" dirty="0"/>
              <a:t> </a:t>
            </a:r>
            <a:r>
              <a:rPr lang="en-US" dirty="0" err="1"/>
              <a:t>stranicu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kojoj</a:t>
            </a:r>
            <a:r>
              <a:rPr lang="en-US" dirty="0"/>
              <a:t> </a:t>
            </a:r>
            <a:r>
              <a:rPr lang="en-US" dirty="0" err="1"/>
              <a:t>svaka</a:t>
            </a:r>
            <a:r>
              <a:rPr lang="en-US" dirty="0"/>
              <a:t> </a:t>
            </a:r>
            <a:r>
              <a:rPr lang="en-US" dirty="0" err="1"/>
              <a:t>transakcija</a:t>
            </a:r>
            <a:r>
              <a:rPr lang="en-US" dirty="0"/>
              <a:t> </a:t>
            </a:r>
            <a:r>
              <a:rPr lang="en-US" dirty="0" err="1"/>
              <a:t>ima</a:t>
            </a:r>
            <a:r>
              <a:rPr lang="en-US" dirty="0"/>
              <a:t> 2-bitni status: Active, Committed, Rolled Back </a:t>
            </a:r>
            <a:r>
              <a:rPr lang="en-US" dirty="0" err="1"/>
              <a:t>ili</a:t>
            </a:r>
            <a:r>
              <a:rPr lang="en-US" dirty="0"/>
              <a:t> Limbo.</a:t>
            </a:r>
          </a:p>
          <a:p>
            <a:r>
              <a:rPr lang="en-US" dirty="0"/>
              <a:t>Kada </a:t>
            </a:r>
            <a:r>
              <a:rPr lang="en-US" dirty="0" err="1"/>
              <a:t>transakcija</a:t>
            </a:r>
            <a:r>
              <a:rPr lang="en-US" dirty="0"/>
              <a:t> T=550 </a:t>
            </a:r>
            <a:r>
              <a:rPr lang="en-US" dirty="0" err="1"/>
              <a:t>traži</a:t>
            </a:r>
            <a:r>
              <a:rPr lang="en-US" dirty="0"/>
              <a:t> </a:t>
            </a:r>
            <a:r>
              <a:rPr lang="en-US" dirty="0" err="1"/>
              <a:t>podatak</a:t>
            </a:r>
            <a:r>
              <a:rPr lang="en-US" dirty="0"/>
              <a:t>, engine </a:t>
            </a:r>
            <a:r>
              <a:rPr lang="en-US" dirty="0" err="1"/>
              <a:t>pronađe</a:t>
            </a:r>
            <a:r>
              <a:rPr lang="en-US" dirty="0"/>
              <a:t> </a:t>
            </a:r>
            <a:r>
              <a:rPr lang="en-US" dirty="0" err="1"/>
              <a:t>najnoviju</a:t>
            </a:r>
            <a:r>
              <a:rPr lang="en-US" dirty="0"/>
              <a:t> </a:t>
            </a:r>
            <a:r>
              <a:rPr lang="en-US" dirty="0" err="1"/>
              <a:t>verziju</a:t>
            </a:r>
            <a:r>
              <a:rPr lang="en-US" dirty="0"/>
              <a:t>, </a:t>
            </a:r>
            <a:r>
              <a:rPr lang="en-US" dirty="0" err="1"/>
              <a:t>proveri</a:t>
            </a:r>
            <a:r>
              <a:rPr lang="en-US" dirty="0"/>
              <a:t> </a:t>
            </a:r>
            <a:r>
              <a:rPr lang="en-US" dirty="0" err="1"/>
              <a:t>njen</a:t>
            </a:r>
            <a:r>
              <a:rPr lang="en-US" dirty="0"/>
              <a:t> TID </a:t>
            </a:r>
            <a:r>
              <a:rPr lang="en-US" dirty="0" err="1"/>
              <a:t>na</a:t>
            </a:r>
            <a:r>
              <a:rPr lang="en-US" dirty="0"/>
              <a:t> TIP </a:t>
            </a:r>
            <a:r>
              <a:rPr lang="en-US" dirty="0" err="1"/>
              <a:t>stranici</a:t>
            </a:r>
            <a:r>
              <a:rPr lang="en-US" dirty="0"/>
              <a:t>,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ako</a:t>
            </a:r>
            <a:r>
              <a:rPr lang="en-US" dirty="0"/>
              <a:t> ta </a:t>
            </a:r>
            <a:r>
              <a:rPr lang="en-US" dirty="0" err="1"/>
              <a:t>verzija</a:t>
            </a:r>
            <a:r>
              <a:rPr lang="en-US" dirty="0"/>
              <a:t> </a:t>
            </a:r>
            <a:r>
              <a:rPr lang="en-US" dirty="0" err="1"/>
              <a:t>nije</a:t>
            </a:r>
            <a:r>
              <a:rPr lang="en-US" dirty="0"/>
              <a:t> </a:t>
            </a:r>
            <a:r>
              <a:rPr lang="en-US" dirty="0" err="1"/>
              <a:t>vidljiva</a:t>
            </a:r>
            <a:r>
              <a:rPr lang="en-US" dirty="0"/>
              <a:t>, </a:t>
            </a:r>
            <a:r>
              <a:rPr lang="en-US" dirty="0" err="1"/>
              <a:t>prati</a:t>
            </a:r>
            <a:r>
              <a:rPr lang="en-US" dirty="0"/>
              <a:t> Back Interest Pointer </a:t>
            </a:r>
            <a:r>
              <a:rPr lang="en-US" dirty="0" err="1"/>
              <a:t>unazad</a:t>
            </a:r>
            <a:r>
              <a:rPr lang="en-US" dirty="0"/>
              <a:t> </a:t>
            </a:r>
            <a:r>
              <a:rPr lang="en-US" dirty="0" err="1"/>
              <a:t>dok</a:t>
            </a:r>
            <a:r>
              <a:rPr lang="en-US" dirty="0"/>
              <a:t> ne </a:t>
            </a:r>
            <a:r>
              <a:rPr lang="en-US" dirty="0" err="1"/>
              <a:t>pronađe</a:t>
            </a:r>
            <a:r>
              <a:rPr lang="en-US" dirty="0"/>
              <a:t> </a:t>
            </a:r>
            <a:r>
              <a:rPr lang="en-US" dirty="0" err="1"/>
              <a:t>verziju</a:t>
            </a:r>
            <a:r>
              <a:rPr lang="en-US" dirty="0"/>
              <a:t> </a:t>
            </a:r>
            <a:r>
              <a:rPr lang="en-US" dirty="0" err="1"/>
              <a:t>koju</a:t>
            </a:r>
            <a:r>
              <a:rPr lang="en-US" dirty="0"/>
              <a:t> ta </a:t>
            </a:r>
            <a:r>
              <a:rPr lang="en-US" dirty="0" err="1"/>
              <a:t>transakcija</a:t>
            </a:r>
            <a:r>
              <a:rPr lang="en-US" dirty="0"/>
              <a:t> </a:t>
            </a:r>
            <a:r>
              <a:rPr lang="en-US" dirty="0" err="1"/>
              <a:t>sme</a:t>
            </a:r>
            <a:r>
              <a:rPr lang="en-US" dirty="0"/>
              <a:t> da </a:t>
            </a:r>
            <a:r>
              <a:rPr lang="en-US" dirty="0" err="1"/>
              <a:t>vidi</a:t>
            </a:r>
            <a:r>
              <a:rPr lang="en-US" dirty="0"/>
              <a:t>.</a:t>
            </a:r>
          </a:p>
          <a:p>
            <a:r>
              <a:rPr lang="en-US" dirty="0" err="1"/>
              <a:t>Ključna</a:t>
            </a:r>
            <a:r>
              <a:rPr lang="en-US" dirty="0"/>
              <a:t> </a:t>
            </a:r>
            <a:r>
              <a:rPr lang="en-US" dirty="0" err="1"/>
              <a:t>prednost</a:t>
            </a:r>
            <a:r>
              <a:rPr lang="en-US" dirty="0"/>
              <a:t> </a:t>
            </a:r>
            <a:r>
              <a:rPr lang="en-US" dirty="0" err="1"/>
              <a:t>ovog</a:t>
            </a:r>
            <a:r>
              <a:rPr lang="en-US" dirty="0"/>
              <a:t> </a:t>
            </a:r>
            <a:r>
              <a:rPr lang="en-US" dirty="0" err="1"/>
              <a:t>modela</a:t>
            </a:r>
            <a:r>
              <a:rPr lang="en-US" dirty="0"/>
              <a:t> je da </a:t>
            </a:r>
            <a:r>
              <a:rPr lang="en-US" dirty="0" err="1"/>
              <a:t>čitaoci</a:t>
            </a:r>
            <a:r>
              <a:rPr lang="en-US" dirty="0"/>
              <a:t> </a:t>
            </a:r>
            <a:r>
              <a:rPr lang="en-US" dirty="0" err="1"/>
              <a:t>nikada</a:t>
            </a:r>
            <a:r>
              <a:rPr lang="en-US" dirty="0"/>
              <a:t> ne </a:t>
            </a:r>
            <a:r>
              <a:rPr lang="en-US" dirty="0" err="1"/>
              <a:t>blokiraju</a:t>
            </a:r>
            <a:r>
              <a:rPr lang="en-US" dirty="0"/>
              <a:t> </a:t>
            </a:r>
            <a:r>
              <a:rPr lang="en-US" dirty="0" err="1"/>
              <a:t>pisce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obrnuto</a:t>
            </a:r>
            <a:r>
              <a:rPr lang="en-US" dirty="0"/>
              <a:t> — </a:t>
            </a:r>
            <a:r>
              <a:rPr lang="en-US" dirty="0" err="1"/>
              <a:t>svaka</a:t>
            </a:r>
            <a:r>
              <a:rPr lang="en-US" dirty="0"/>
              <a:t> </a:t>
            </a:r>
            <a:r>
              <a:rPr lang="en-US" dirty="0" err="1"/>
              <a:t>transakcija</a:t>
            </a:r>
            <a:r>
              <a:rPr lang="en-US" dirty="0"/>
              <a:t> </a:t>
            </a:r>
            <a:r>
              <a:rPr lang="en-US" dirty="0" err="1"/>
              <a:t>vidi</a:t>
            </a:r>
            <a:r>
              <a:rPr lang="en-US" dirty="0"/>
              <a:t> </a:t>
            </a:r>
            <a:r>
              <a:rPr lang="en-US" dirty="0" err="1"/>
              <a:t>konzistentnu</a:t>
            </a:r>
            <a:r>
              <a:rPr lang="en-US" dirty="0"/>
              <a:t> </a:t>
            </a:r>
            <a:r>
              <a:rPr lang="en-US" dirty="0" err="1"/>
              <a:t>sliku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bez </a:t>
            </a:r>
            <a:r>
              <a:rPr lang="en-US" dirty="0" err="1"/>
              <a:t>ikakvih</a:t>
            </a:r>
            <a:r>
              <a:rPr lang="en-US" dirty="0"/>
              <a:t> </a:t>
            </a:r>
            <a:r>
              <a:rPr lang="en-US" dirty="0" err="1"/>
              <a:t>mehanizama</a:t>
            </a:r>
            <a:r>
              <a:rPr lang="en-US" dirty="0"/>
              <a:t> </a:t>
            </a:r>
            <a:r>
              <a:rPr lang="en-US" dirty="0" err="1"/>
              <a:t>zaključavanja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nivou</a:t>
            </a:r>
            <a:r>
              <a:rPr lang="en-US" dirty="0"/>
              <a:t> </a:t>
            </a:r>
            <a:r>
              <a:rPr lang="en-US" dirty="0" err="1"/>
              <a:t>redova</a:t>
            </a:r>
            <a:r>
              <a:rPr lang="en-US" dirty="0"/>
              <a:t>, </a:t>
            </a:r>
            <a:r>
              <a:rPr lang="en-US" dirty="0" err="1"/>
              <a:t>što</a:t>
            </a:r>
            <a:r>
              <a:rPr lang="en-US" dirty="0"/>
              <a:t> je </a:t>
            </a:r>
            <a:r>
              <a:rPr lang="en-US" dirty="0" err="1"/>
              <a:t>temeljni</a:t>
            </a:r>
            <a:r>
              <a:rPr lang="en-US" dirty="0"/>
              <a:t> </a:t>
            </a:r>
            <a:r>
              <a:rPr lang="en-US" dirty="0" err="1"/>
              <a:t>princip</a:t>
            </a:r>
            <a:r>
              <a:rPr lang="en-US" dirty="0"/>
              <a:t> po </a:t>
            </a:r>
            <a:r>
              <a:rPr lang="en-US" dirty="0" err="1"/>
              <a:t>kom</a:t>
            </a:r>
            <a:r>
              <a:rPr lang="en-US" dirty="0"/>
              <a:t> se Firebird </a:t>
            </a:r>
            <a:r>
              <a:rPr lang="en-US" dirty="0" err="1"/>
              <a:t>razlikuje</a:t>
            </a:r>
            <a:r>
              <a:rPr lang="en-US" dirty="0"/>
              <a:t> od </a:t>
            </a:r>
            <a:r>
              <a:rPr lang="en-US" dirty="0" err="1"/>
              <a:t>drugih</a:t>
            </a:r>
            <a:r>
              <a:rPr lang="en-US" dirty="0"/>
              <a:t> </a:t>
            </a:r>
            <a:r>
              <a:rPr lang="en-US" dirty="0" err="1"/>
              <a:t>sistema</a:t>
            </a:r>
            <a:r>
              <a:rPr lang="en-US" dirty="0"/>
              <a:t>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Firebird </a:t>
            </a:r>
            <a:r>
              <a:rPr lang="en-US" dirty="0" err="1"/>
              <a:t>nudi</a:t>
            </a:r>
            <a:r>
              <a:rPr lang="en-US" dirty="0"/>
              <a:t> </a:t>
            </a:r>
            <a:r>
              <a:rPr lang="en-US" dirty="0" err="1"/>
              <a:t>četiri</a:t>
            </a:r>
            <a:r>
              <a:rPr lang="en-US" dirty="0"/>
              <a:t> </a:t>
            </a:r>
            <a:r>
              <a:rPr lang="en-US" dirty="0" err="1"/>
              <a:t>nivoa</a:t>
            </a:r>
            <a:r>
              <a:rPr lang="en-US" dirty="0"/>
              <a:t> </a:t>
            </a:r>
            <a:r>
              <a:rPr lang="en-US" dirty="0" err="1"/>
              <a:t>izolacije</a:t>
            </a:r>
            <a:r>
              <a:rPr lang="en-US" dirty="0"/>
              <a:t> </a:t>
            </a:r>
            <a:r>
              <a:rPr lang="en-US" dirty="0" err="1"/>
              <a:t>transakcija</a:t>
            </a:r>
            <a:r>
              <a:rPr lang="en-US" dirty="0"/>
              <a:t>, od </a:t>
            </a:r>
            <a:r>
              <a:rPr lang="en-US" dirty="0" err="1"/>
              <a:t>kojih</a:t>
            </a:r>
            <a:r>
              <a:rPr lang="en-US" dirty="0"/>
              <a:t> </a:t>
            </a:r>
            <a:r>
              <a:rPr lang="en-US" dirty="0" err="1"/>
              <a:t>svaki</a:t>
            </a:r>
            <a:r>
              <a:rPr lang="en-US" dirty="0"/>
              <a:t> </a:t>
            </a:r>
            <a:r>
              <a:rPr lang="en-US" dirty="0" err="1"/>
              <a:t>pruža</a:t>
            </a:r>
            <a:r>
              <a:rPr lang="en-US" dirty="0"/>
              <a:t> </a:t>
            </a:r>
            <a:r>
              <a:rPr lang="en-US" dirty="0" err="1"/>
              <a:t>drugačiji</a:t>
            </a:r>
            <a:r>
              <a:rPr lang="en-US" dirty="0"/>
              <a:t> </a:t>
            </a:r>
            <a:r>
              <a:rPr lang="en-US" dirty="0" err="1"/>
              <a:t>balans</a:t>
            </a:r>
            <a:r>
              <a:rPr lang="en-US" dirty="0"/>
              <a:t> </a:t>
            </a:r>
            <a:r>
              <a:rPr lang="en-US" dirty="0" err="1"/>
              <a:t>između</a:t>
            </a:r>
            <a:r>
              <a:rPr lang="en-US" dirty="0"/>
              <a:t> </a:t>
            </a:r>
            <a:r>
              <a:rPr lang="en-US" dirty="0" err="1"/>
              <a:t>konzistentnosti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konkurentnosti</a:t>
            </a:r>
            <a:r>
              <a:rPr lang="en-US" dirty="0"/>
              <a:t>.</a:t>
            </a:r>
          </a:p>
          <a:p>
            <a:r>
              <a:rPr lang="en-US" b="1" dirty="0"/>
              <a:t>Snapshot</a:t>
            </a:r>
            <a:r>
              <a:rPr lang="en-US" dirty="0"/>
              <a:t> </a:t>
            </a:r>
            <a:r>
              <a:rPr lang="en-US" dirty="0" err="1"/>
              <a:t>zamrzava</a:t>
            </a:r>
            <a:r>
              <a:rPr lang="en-US" dirty="0"/>
              <a:t> </a:t>
            </a:r>
            <a:r>
              <a:rPr lang="en-US" dirty="0" err="1"/>
              <a:t>sliku</a:t>
            </a:r>
            <a:r>
              <a:rPr lang="en-US" dirty="0"/>
              <a:t> </a:t>
            </a:r>
            <a:r>
              <a:rPr lang="en-US" dirty="0" err="1"/>
              <a:t>baze</a:t>
            </a:r>
            <a:r>
              <a:rPr lang="en-US" dirty="0"/>
              <a:t> od </a:t>
            </a:r>
            <a:r>
              <a:rPr lang="en-US" dirty="0" err="1"/>
              <a:t>trenutka</a:t>
            </a:r>
            <a:r>
              <a:rPr lang="en-US" dirty="0"/>
              <a:t> </a:t>
            </a:r>
            <a:r>
              <a:rPr lang="en-US" dirty="0" err="1"/>
              <a:t>starta</a:t>
            </a:r>
            <a:r>
              <a:rPr lang="en-US" dirty="0"/>
              <a:t> </a:t>
            </a:r>
            <a:r>
              <a:rPr lang="en-US" dirty="0" err="1"/>
              <a:t>transakcije</a:t>
            </a:r>
            <a:r>
              <a:rPr lang="en-US" dirty="0"/>
              <a:t> — </a:t>
            </a:r>
            <a:r>
              <a:rPr lang="en-US" dirty="0" err="1"/>
              <a:t>transakcija</a:t>
            </a:r>
            <a:r>
              <a:rPr lang="en-US" dirty="0"/>
              <a:t> </a:t>
            </a:r>
            <a:r>
              <a:rPr lang="en-US" dirty="0" err="1"/>
              <a:t>ignoriše</a:t>
            </a:r>
            <a:r>
              <a:rPr lang="en-US" dirty="0"/>
              <a:t> </a:t>
            </a:r>
            <a:r>
              <a:rPr lang="en-US" dirty="0" err="1"/>
              <a:t>sve</a:t>
            </a:r>
            <a:r>
              <a:rPr lang="en-US" dirty="0"/>
              <a:t> </a:t>
            </a:r>
            <a:r>
              <a:rPr lang="en-US" dirty="0" err="1"/>
              <a:t>promene</a:t>
            </a:r>
            <a:r>
              <a:rPr lang="en-US" dirty="0"/>
              <a:t> </a:t>
            </a:r>
            <a:r>
              <a:rPr lang="en-US" dirty="0" err="1"/>
              <a:t>koje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nastale</a:t>
            </a:r>
            <a:r>
              <a:rPr lang="en-US" dirty="0"/>
              <a:t> </a:t>
            </a:r>
            <a:r>
              <a:rPr lang="en-US" dirty="0" err="1"/>
              <a:t>tokom</a:t>
            </a:r>
            <a:r>
              <a:rPr lang="en-US" dirty="0"/>
              <a:t> </a:t>
            </a:r>
            <a:r>
              <a:rPr lang="en-US" dirty="0" err="1"/>
              <a:t>njenog</a:t>
            </a:r>
            <a:r>
              <a:rPr lang="en-US" dirty="0"/>
              <a:t> </a:t>
            </a:r>
            <a:r>
              <a:rPr lang="en-US" dirty="0" err="1"/>
              <a:t>trajanja</a:t>
            </a:r>
            <a:r>
              <a:rPr lang="en-US" dirty="0"/>
              <a:t>, bez </a:t>
            </a:r>
            <a:r>
              <a:rPr lang="en-US" dirty="0" err="1"/>
              <a:t>obzira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commit, </a:t>
            </a:r>
            <a:r>
              <a:rPr lang="en-US" dirty="0" err="1"/>
              <a:t>što</a:t>
            </a:r>
            <a:r>
              <a:rPr lang="en-US" dirty="0"/>
              <a:t> ga </a:t>
            </a:r>
            <a:r>
              <a:rPr lang="en-US" dirty="0" err="1"/>
              <a:t>čini</a:t>
            </a:r>
            <a:r>
              <a:rPr lang="en-US" dirty="0"/>
              <a:t> </a:t>
            </a:r>
            <a:r>
              <a:rPr lang="en-US" dirty="0" err="1"/>
              <a:t>idealnim</a:t>
            </a:r>
            <a:r>
              <a:rPr lang="en-US" dirty="0"/>
              <a:t> za </a:t>
            </a:r>
            <a:r>
              <a:rPr lang="en-US" dirty="0" err="1"/>
              <a:t>kompleksne</a:t>
            </a:r>
            <a:r>
              <a:rPr lang="en-US" dirty="0"/>
              <a:t> </a:t>
            </a:r>
            <a:r>
              <a:rPr lang="en-US" dirty="0" err="1"/>
              <a:t>izveštaje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finansijske</a:t>
            </a:r>
            <a:r>
              <a:rPr lang="en-US" dirty="0"/>
              <a:t> </a:t>
            </a:r>
            <a:r>
              <a:rPr lang="en-US" dirty="0" err="1"/>
              <a:t>obračune</a:t>
            </a:r>
            <a:r>
              <a:rPr lang="en-US" dirty="0"/>
              <a:t>.</a:t>
            </a:r>
          </a:p>
          <a:p>
            <a:r>
              <a:rPr lang="en-US" b="1" dirty="0"/>
              <a:t>Read Committed — Record Version</a:t>
            </a:r>
            <a:r>
              <a:rPr lang="en-US" dirty="0"/>
              <a:t> </a:t>
            </a:r>
            <a:r>
              <a:rPr lang="en-US" dirty="0" err="1"/>
              <a:t>uvek</a:t>
            </a:r>
            <a:r>
              <a:rPr lang="en-US" dirty="0"/>
              <a:t> </a:t>
            </a:r>
            <a:r>
              <a:rPr lang="en-US" dirty="0" err="1"/>
              <a:t>čita</a:t>
            </a:r>
            <a:r>
              <a:rPr lang="en-US" dirty="0"/>
              <a:t> </a:t>
            </a:r>
            <a:r>
              <a:rPr lang="en-US" dirty="0" err="1"/>
              <a:t>poslednju</a:t>
            </a:r>
            <a:r>
              <a:rPr lang="en-US" dirty="0"/>
              <a:t> </a:t>
            </a:r>
            <a:r>
              <a:rPr lang="en-US" dirty="0" err="1"/>
              <a:t>potvrđenu</a:t>
            </a:r>
            <a:r>
              <a:rPr lang="en-US" dirty="0"/>
              <a:t> </a:t>
            </a:r>
            <a:r>
              <a:rPr lang="en-US" dirty="0" err="1"/>
              <a:t>verziju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nikada</a:t>
            </a:r>
            <a:r>
              <a:rPr lang="en-US" dirty="0"/>
              <a:t> ne </a:t>
            </a:r>
            <a:r>
              <a:rPr lang="en-US" dirty="0" err="1"/>
              <a:t>čeka</a:t>
            </a:r>
            <a:r>
              <a:rPr lang="en-US" dirty="0"/>
              <a:t> </a:t>
            </a:r>
            <a:r>
              <a:rPr lang="en-US" dirty="0" err="1"/>
              <a:t>zaključan</a:t>
            </a:r>
            <a:r>
              <a:rPr lang="en-US" dirty="0"/>
              <a:t> red — </a:t>
            </a:r>
            <a:r>
              <a:rPr lang="en-US" dirty="0" err="1"/>
              <a:t>odmah</a:t>
            </a:r>
            <a:r>
              <a:rPr lang="en-US" dirty="0"/>
              <a:t> </a:t>
            </a:r>
            <a:r>
              <a:rPr lang="en-US" dirty="0" err="1"/>
              <a:t>vraća</a:t>
            </a:r>
            <a:r>
              <a:rPr lang="en-US" dirty="0"/>
              <a:t> </a:t>
            </a:r>
            <a:r>
              <a:rPr lang="en-US" dirty="0" err="1"/>
              <a:t>stariju</a:t>
            </a:r>
            <a:r>
              <a:rPr lang="en-US" dirty="0"/>
              <a:t> </a:t>
            </a:r>
            <a:r>
              <a:rPr lang="en-US" dirty="0" err="1"/>
              <a:t>verziju</a:t>
            </a:r>
            <a:r>
              <a:rPr lang="en-US" dirty="0"/>
              <a:t> </a:t>
            </a:r>
            <a:r>
              <a:rPr lang="en-US" dirty="0" err="1"/>
              <a:t>ako</a:t>
            </a:r>
            <a:r>
              <a:rPr lang="en-US" dirty="0"/>
              <a:t> je red </a:t>
            </a:r>
            <a:r>
              <a:rPr lang="en-US" dirty="0" err="1"/>
              <a:t>zaključan</a:t>
            </a:r>
            <a:r>
              <a:rPr lang="en-US" dirty="0"/>
              <a:t>, </a:t>
            </a:r>
            <a:r>
              <a:rPr lang="en-US" dirty="0" err="1"/>
              <a:t>što</a:t>
            </a:r>
            <a:r>
              <a:rPr lang="en-US" dirty="0"/>
              <a:t> ga </a:t>
            </a:r>
            <a:r>
              <a:rPr lang="en-US" dirty="0" err="1"/>
              <a:t>čini</a:t>
            </a:r>
            <a:r>
              <a:rPr lang="en-US" dirty="0"/>
              <a:t> </a:t>
            </a:r>
            <a:r>
              <a:rPr lang="en-US" dirty="0" err="1"/>
              <a:t>idealnim</a:t>
            </a:r>
            <a:r>
              <a:rPr lang="en-US" dirty="0"/>
              <a:t> za OLTP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svakodnevne</a:t>
            </a:r>
            <a:r>
              <a:rPr lang="en-US" dirty="0"/>
              <a:t> </a:t>
            </a:r>
            <a:r>
              <a:rPr lang="en-US" dirty="0" err="1"/>
              <a:t>operacije</a:t>
            </a:r>
            <a:r>
              <a:rPr lang="en-US" dirty="0"/>
              <a:t>.</a:t>
            </a:r>
          </a:p>
          <a:p>
            <a:r>
              <a:rPr lang="en-US" b="1" dirty="0"/>
              <a:t>Read Committed — No Record Version</a:t>
            </a:r>
            <a:r>
              <a:rPr lang="en-US" dirty="0"/>
              <a:t> </a:t>
            </a:r>
            <a:r>
              <a:rPr lang="en-US" dirty="0" err="1"/>
              <a:t>čeka</a:t>
            </a:r>
            <a:r>
              <a:rPr lang="en-US" dirty="0"/>
              <a:t> </a:t>
            </a:r>
            <a:r>
              <a:rPr lang="en-US" dirty="0" err="1"/>
              <a:t>dok</a:t>
            </a:r>
            <a:r>
              <a:rPr lang="en-US" dirty="0"/>
              <a:t> se </a:t>
            </a:r>
            <a:r>
              <a:rPr lang="en-US" dirty="0" err="1"/>
              <a:t>zaključani</a:t>
            </a:r>
            <a:r>
              <a:rPr lang="en-US" dirty="0"/>
              <a:t> red ne </a:t>
            </a:r>
            <a:r>
              <a:rPr lang="en-US" dirty="0" err="1"/>
              <a:t>otključa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apsolutno</a:t>
            </a:r>
            <a:r>
              <a:rPr lang="en-US" dirty="0"/>
              <a:t> </a:t>
            </a:r>
            <a:r>
              <a:rPr lang="en-US" dirty="0" err="1"/>
              <a:t>garantuje</a:t>
            </a:r>
            <a:r>
              <a:rPr lang="en-US" dirty="0"/>
              <a:t> </a:t>
            </a:r>
            <a:r>
              <a:rPr lang="en-US" dirty="0" err="1"/>
              <a:t>poslednju</a:t>
            </a:r>
            <a:r>
              <a:rPr lang="en-US" dirty="0"/>
              <a:t> </a:t>
            </a:r>
            <a:r>
              <a:rPr lang="en-US" dirty="0" err="1"/>
              <a:t>vrednost</a:t>
            </a:r>
            <a:r>
              <a:rPr lang="en-US" dirty="0"/>
              <a:t> u </a:t>
            </a:r>
            <a:r>
              <a:rPr lang="en-US" dirty="0" err="1"/>
              <a:t>bazi</a:t>
            </a:r>
            <a:r>
              <a:rPr lang="en-US" dirty="0"/>
              <a:t> — </a:t>
            </a:r>
            <a:r>
              <a:rPr lang="en-US" dirty="0" err="1"/>
              <a:t>idealan</a:t>
            </a:r>
            <a:r>
              <a:rPr lang="en-US" dirty="0"/>
              <a:t> za </a:t>
            </a:r>
            <a:r>
              <a:rPr lang="en-US" dirty="0" err="1"/>
              <a:t>kritične</a:t>
            </a:r>
            <a:r>
              <a:rPr lang="en-US" dirty="0"/>
              <a:t> </a:t>
            </a:r>
            <a:r>
              <a:rPr lang="en-US" dirty="0" err="1"/>
              <a:t>finansijske</a:t>
            </a:r>
            <a:r>
              <a:rPr lang="en-US" dirty="0"/>
              <a:t> </a:t>
            </a:r>
            <a:r>
              <a:rPr lang="en-US" dirty="0" err="1"/>
              <a:t>transakcije</a:t>
            </a:r>
            <a:r>
              <a:rPr lang="en-US" dirty="0"/>
              <a:t> </a:t>
            </a:r>
            <a:r>
              <a:rPr lang="en-US" dirty="0" err="1"/>
              <a:t>gde</a:t>
            </a:r>
            <a:r>
              <a:rPr lang="en-US" dirty="0"/>
              <a:t> </a:t>
            </a:r>
            <a:r>
              <a:rPr lang="en-US" dirty="0" err="1"/>
              <a:t>konzistentnost</a:t>
            </a:r>
            <a:r>
              <a:rPr lang="en-US" dirty="0"/>
              <a:t> </a:t>
            </a:r>
            <a:r>
              <a:rPr lang="en-US" dirty="0" err="1"/>
              <a:t>ima</a:t>
            </a:r>
            <a:r>
              <a:rPr lang="en-US" dirty="0"/>
              <a:t> </a:t>
            </a:r>
            <a:r>
              <a:rPr lang="en-US" dirty="0" err="1"/>
              <a:t>apsolutni</a:t>
            </a:r>
            <a:r>
              <a:rPr lang="en-US" dirty="0"/>
              <a:t> </a:t>
            </a:r>
            <a:r>
              <a:rPr lang="en-US" dirty="0" err="1"/>
              <a:t>prioritet</a:t>
            </a:r>
            <a:r>
              <a:rPr lang="en-US" dirty="0"/>
              <a:t> </a:t>
            </a:r>
            <a:r>
              <a:rPr lang="en-US" dirty="0" err="1"/>
              <a:t>nad</a:t>
            </a:r>
            <a:r>
              <a:rPr lang="en-US" dirty="0"/>
              <a:t> </a:t>
            </a:r>
            <a:r>
              <a:rPr lang="en-US" dirty="0" err="1"/>
              <a:t>brzinom</a:t>
            </a:r>
            <a:r>
              <a:rPr lang="en-US" dirty="0"/>
              <a:t>.</a:t>
            </a:r>
          </a:p>
          <a:p>
            <a:r>
              <a:rPr lang="en-US" b="1" dirty="0"/>
              <a:t>Read Committed Read Consistency</a:t>
            </a:r>
            <a:r>
              <a:rPr lang="en-US" dirty="0"/>
              <a:t>, </a:t>
            </a:r>
            <a:r>
              <a:rPr lang="en-US" dirty="0" err="1"/>
              <a:t>uveden</a:t>
            </a:r>
            <a:r>
              <a:rPr lang="en-US" dirty="0"/>
              <a:t> u Firebird 4.0, </a:t>
            </a:r>
            <a:r>
              <a:rPr lang="en-US" dirty="0" err="1"/>
              <a:t>kombinuje</a:t>
            </a:r>
            <a:r>
              <a:rPr lang="en-US" dirty="0"/>
              <a:t> </a:t>
            </a:r>
            <a:r>
              <a:rPr lang="en-US" dirty="0" err="1"/>
              <a:t>prednosti</a:t>
            </a:r>
            <a:r>
              <a:rPr lang="en-US" dirty="0"/>
              <a:t> </a:t>
            </a:r>
            <a:r>
              <a:rPr lang="en-US" dirty="0" err="1"/>
              <a:t>prethodnih</a:t>
            </a:r>
            <a:r>
              <a:rPr lang="en-US" dirty="0"/>
              <a:t> </a:t>
            </a:r>
            <a:r>
              <a:rPr lang="en-US" dirty="0" err="1"/>
              <a:t>nivoa</a:t>
            </a:r>
            <a:r>
              <a:rPr lang="en-US" dirty="0"/>
              <a:t> — </a:t>
            </a:r>
            <a:r>
              <a:rPr lang="en-US" dirty="0" err="1"/>
              <a:t>svaka</a:t>
            </a:r>
            <a:r>
              <a:rPr lang="en-US" dirty="0"/>
              <a:t> SQL </a:t>
            </a:r>
            <a:r>
              <a:rPr lang="en-US" dirty="0" err="1"/>
              <a:t>naredba</a:t>
            </a:r>
            <a:r>
              <a:rPr lang="en-US" dirty="0"/>
              <a:t> </a:t>
            </a:r>
            <a:r>
              <a:rPr lang="en-US" dirty="0" err="1"/>
              <a:t>dobija</a:t>
            </a:r>
            <a:r>
              <a:rPr lang="en-US" dirty="0"/>
              <a:t> </a:t>
            </a:r>
            <a:r>
              <a:rPr lang="en-US" dirty="0" err="1"/>
              <a:t>sopstveni</a:t>
            </a:r>
            <a:r>
              <a:rPr lang="en-US" dirty="0"/>
              <a:t> mini-snapshot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automatski</a:t>
            </a:r>
            <a:r>
              <a:rPr lang="en-US" dirty="0"/>
              <a:t> </a:t>
            </a:r>
            <a:r>
              <a:rPr lang="en-US" dirty="0" err="1"/>
              <a:t>ponavlja</a:t>
            </a:r>
            <a:r>
              <a:rPr lang="en-US" dirty="0"/>
              <a:t> </a:t>
            </a:r>
            <a:r>
              <a:rPr lang="en-US" dirty="0" err="1"/>
              <a:t>konfliktni</a:t>
            </a:r>
            <a:r>
              <a:rPr lang="en-US" dirty="0"/>
              <a:t> deo </a:t>
            </a:r>
            <a:r>
              <a:rPr lang="en-US" dirty="0" err="1"/>
              <a:t>upita</a:t>
            </a:r>
            <a:r>
              <a:rPr lang="en-US" dirty="0"/>
              <a:t>, </a:t>
            </a:r>
            <a:r>
              <a:rPr lang="en-US" dirty="0" err="1"/>
              <a:t>čime</a:t>
            </a:r>
            <a:r>
              <a:rPr lang="en-US" dirty="0"/>
              <a:t> se </a:t>
            </a:r>
            <a:r>
              <a:rPr lang="en-US" dirty="0" err="1"/>
              <a:t>eliminiše</a:t>
            </a:r>
            <a:r>
              <a:rPr lang="en-US" dirty="0"/>
              <a:t> </a:t>
            </a:r>
            <a:r>
              <a:rPr lang="en-US" dirty="0" err="1"/>
              <a:t>potreba</a:t>
            </a:r>
            <a:r>
              <a:rPr lang="en-US" dirty="0"/>
              <a:t> za retry </a:t>
            </a:r>
            <a:r>
              <a:rPr lang="en-US" dirty="0" err="1"/>
              <a:t>logikom</a:t>
            </a:r>
            <a:r>
              <a:rPr lang="en-US" dirty="0"/>
              <a:t> u </a:t>
            </a:r>
            <a:r>
              <a:rPr lang="en-US" dirty="0" err="1"/>
              <a:t>aplikaciji</a:t>
            </a:r>
            <a:r>
              <a:rPr lang="en-US" dirty="0"/>
              <a:t>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Firebird </a:t>
            </a:r>
            <a:r>
              <a:rPr lang="en-US" dirty="0" err="1"/>
              <a:t>podržava</a:t>
            </a:r>
            <a:r>
              <a:rPr lang="en-US" dirty="0"/>
              <a:t> </a:t>
            </a:r>
            <a:r>
              <a:rPr lang="en-US" dirty="0" err="1"/>
              <a:t>dva</a:t>
            </a:r>
            <a:r>
              <a:rPr lang="en-US" dirty="0"/>
              <a:t> </a:t>
            </a:r>
            <a:r>
              <a:rPr lang="en-US" dirty="0" err="1"/>
              <a:t>pristupa</a:t>
            </a:r>
            <a:r>
              <a:rPr lang="en-US" dirty="0"/>
              <a:t> </a:t>
            </a:r>
            <a:r>
              <a:rPr lang="en-US" dirty="0" err="1"/>
              <a:t>zaključavanju</a:t>
            </a:r>
            <a:r>
              <a:rPr lang="en-US" dirty="0"/>
              <a:t> — </a:t>
            </a:r>
            <a:r>
              <a:rPr lang="en-US" dirty="0" err="1"/>
              <a:t>pesimistički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optimistički</a:t>
            </a:r>
            <a:r>
              <a:rPr lang="en-US" dirty="0"/>
              <a:t>, a </a:t>
            </a:r>
            <a:r>
              <a:rPr lang="en-US" dirty="0" err="1"/>
              <a:t>izbor</a:t>
            </a:r>
            <a:r>
              <a:rPr lang="en-US" dirty="0"/>
              <a:t> </a:t>
            </a:r>
            <a:r>
              <a:rPr lang="en-US" dirty="0" err="1"/>
              <a:t>između</a:t>
            </a:r>
            <a:r>
              <a:rPr lang="en-US" dirty="0"/>
              <a:t> </a:t>
            </a:r>
            <a:r>
              <a:rPr lang="en-US" dirty="0" err="1"/>
              <a:t>njih</a:t>
            </a:r>
            <a:r>
              <a:rPr lang="en-US" dirty="0"/>
              <a:t> </a:t>
            </a:r>
            <a:r>
              <a:rPr lang="en-US" dirty="0" err="1"/>
              <a:t>direktno</a:t>
            </a:r>
            <a:r>
              <a:rPr lang="en-US" dirty="0"/>
              <a:t> </a:t>
            </a:r>
            <a:r>
              <a:rPr lang="en-US" dirty="0" err="1"/>
              <a:t>utiče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konkurentnost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performanse</a:t>
            </a:r>
            <a:r>
              <a:rPr lang="en-US" dirty="0"/>
              <a:t> </a:t>
            </a:r>
            <a:r>
              <a:rPr lang="en-US" dirty="0" err="1"/>
              <a:t>sistema</a:t>
            </a:r>
            <a:r>
              <a:rPr lang="en-US" dirty="0"/>
              <a:t>.</a:t>
            </a:r>
          </a:p>
          <a:p>
            <a:r>
              <a:rPr lang="en-US" b="1" dirty="0" err="1"/>
              <a:t>Pesimistički</a:t>
            </a:r>
            <a:r>
              <a:rPr lang="en-US" b="1" dirty="0"/>
              <a:t> lock</a:t>
            </a:r>
            <a:r>
              <a:rPr lang="en-US" dirty="0"/>
              <a:t> </a:t>
            </a:r>
            <a:r>
              <a:rPr lang="en-US" dirty="0" err="1"/>
              <a:t>putem</a:t>
            </a:r>
            <a:r>
              <a:rPr lang="en-US" dirty="0"/>
              <a:t> SELECT ... WITH LOCK </a:t>
            </a:r>
            <a:r>
              <a:rPr lang="en-US" dirty="0" err="1"/>
              <a:t>rezerviše</a:t>
            </a:r>
            <a:r>
              <a:rPr lang="en-US" dirty="0"/>
              <a:t> red </a:t>
            </a:r>
            <a:r>
              <a:rPr lang="en-US" dirty="0" err="1"/>
              <a:t>odmah</a:t>
            </a:r>
            <a:r>
              <a:rPr lang="en-US" dirty="0"/>
              <a:t> </a:t>
            </a:r>
            <a:r>
              <a:rPr lang="en-US" dirty="0" err="1"/>
              <a:t>pri</a:t>
            </a:r>
            <a:r>
              <a:rPr lang="en-US" dirty="0"/>
              <a:t> </a:t>
            </a:r>
            <a:r>
              <a:rPr lang="en-US" dirty="0" err="1"/>
              <a:t>čitanju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ekskluzivnim</a:t>
            </a:r>
            <a:r>
              <a:rPr lang="en-US" dirty="0"/>
              <a:t> </a:t>
            </a:r>
            <a:r>
              <a:rPr lang="en-US" dirty="0" err="1"/>
              <a:t>katancem</a:t>
            </a:r>
            <a:r>
              <a:rPr lang="en-US" dirty="0"/>
              <a:t> koji </a:t>
            </a:r>
            <a:r>
              <a:rPr lang="en-US" dirty="0" err="1"/>
              <a:t>traje</a:t>
            </a:r>
            <a:r>
              <a:rPr lang="en-US" dirty="0"/>
              <a:t> do COMMIT-a </a:t>
            </a:r>
            <a:r>
              <a:rPr lang="en-US" dirty="0" err="1"/>
              <a:t>ili</a:t>
            </a:r>
            <a:r>
              <a:rPr lang="en-US" dirty="0"/>
              <a:t> ROLLBACK-a — </a:t>
            </a:r>
            <a:r>
              <a:rPr lang="en-US" dirty="0" err="1"/>
              <a:t>idealan</a:t>
            </a:r>
            <a:r>
              <a:rPr lang="en-US" dirty="0"/>
              <a:t> za </a:t>
            </a:r>
            <a:r>
              <a:rPr lang="en-US" dirty="0" err="1"/>
              <a:t>scenarije</a:t>
            </a:r>
            <a:r>
              <a:rPr lang="en-US" dirty="0"/>
              <a:t> </a:t>
            </a:r>
            <a:r>
              <a:rPr lang="en-US" dirty="0" err="1"/>
              <a:t>poput</a:t>
            </a:r>
            <a:r>
              <a:rPr lang="en-US" dirty="0"/>
              <a:t> </a:t>
            </a:r>
            <a:r>
              <a:rPr lang="en-US" dirty="0" err="1"/>
              <a:t>prodaje</a:t>
            </a:r>
            <a:r>
              <a:rPr lang="en-US" dirty="0"/>
              <a:t> </a:t>
            </a:r>
            <a:r>
              <a:rPr lang="en-US" dirty="0" err="1"/>
              <a:t>avio-karata</a:t>
            </a:r>
            <a:r>
              <a:rPr lang="en-US" dirty="0"/>
              <a:t> </a:t>
            </a:r>
            <a:r>
              <a:rPr lang="en-US" dirty="0" err="1"/>
              <a:t>gde</a:t>
            </a:r>
            <a:r>
              <a:rPr lang="en-US" dirty="0"/>
              <a:t> se </a:t>
            </a:r>
            <a:r>
              <a:rPr lang="en-US" dirty="0" err="1"/>
              <a:t>slobodan</a:t>
            </a:r>
            <a:r>
              <a:rPr lang="en-US" dirty="0"/>
              <a:t> </a:t>
            </a:r>
            <a:r>
              <a:rPr lang="en-US" dirty="0" err="1"/>
              <a:t>sedež</a:t>
            </a:r>
            <a:r>
              <a:rPr lang="en-US" dirty="0"/>
              <a:t> mora </a:t>
            </a:r>
            <a:r>
              <a:rPr lang="en-US" dirty="0" err="1"/>
              <a:t>odmah</a:t>
            </a:r>
            <a:r>
              <a:rPr lang="en-US" dirty="0"/>
              <a:t> </a:t>
            </a:r>
            <a:r>
              <a:rPr lang="en-US" dirty="0" err="1"/>
              <a:t>zaključati</a:t>
            </a:r>
            <a:r>
              <a:rPr lang="en-US" dirty="0"/>
              <a:t> </a:t>
            </a:r>
            <a:r>
              <a:rPr lang="en-US" dirty="0" err="1"/>
              <a:t>čim</a:t>
            </a:r>
            <a:r>
              <a:rPr lang="en-US" dirty="0"/>
              <a:t> ga </a:t>
            </a:r>
            <a:r>
              <a:rPr lang="en-US" dirty="0" err="1"/>
              <a:t>korisnik</a:t>
            </a:r>
            <a:r>
              <a:rPr lang="en-US" dirty="0"/>
              <a:t> </a:t>
            </a:r>
            <a:r>
              <a:rPr lang="en-US" dirty="0" err="1"/>
              <a:t>odabere</a:t>
            </a:r>
            <a:r>
              <a:rPr lang="en-US" dirty="0"/>
              <a:t>.</a:t>
            </a:r>
          </a:p>
          <a:p>
            <a:r>
              <a:rPr lang="en-US" b="1" dirty="0" err="1"/>
              <a:t>Optimistički</a:t>
            </a:r>
            <a:r>
              <a:rPr lang="en-US" b="1" dirty="0"/>
              <a:t> </a:t>
            </a:r>
            <a:r>
              <a:rPr lang="en-US" b="1" dirty="0" err="1"/>
              <a:t>pristup</a:t>
            </a:r>
            <a:r>
              <a:rPr lang="en-US" dirty="0"/>
              <a:t> je </a:t>
            </a:r>
            <a:r>
              <a:rPr lang="en-US" dirty="0" err="1"/>
              <a:t>podrazumevani</a:t>
            </a:r>
            <a:r>
              <a:rPr lang="en-US" dirty="0"/>
              <a:t> u </a:t>
            </a:r>
            <a:r>
              <a:rPr lang="en-US" dirty="0" err="1"/>
              <a:t>Firebirdu</a:t>
            </a:r>
            <a:r>
              <a:rPr lang="en-US" dirty="0"/>
              <a:t> — </a:t>
            </a:r>
            <a:r>
              <a:rPr lang="en-US" dirty="0" err="1"/>
              <a:t>nema</a:t>
            </a:r>
            <a:r>
              <a:rPr lang="en-US" dirty="0"/>
              <a:t> </a:t>
            </a:r>
            <a:r>
              <a:rPr lang="en-US" dirty="0" err="1"/>
              <a:t>katanaca</a:t>
            </a:r>
            <a:r>
              <a:rPr lang="en-US" dirty="0"/>
              <a:t> </a:t>
            </a:r>
            <a:r>
              <a:rPr lang="en-US" dirty="0" err="1"/>
              <a:t>pri</a:t>
            </a:r>
            <a:r>
              <a:rPr lang="en-US" dirty="0"/>
              <a:t> </a:t>
            </a:r>
            <a:r>
              <a:rPr lang="en-US" dirty="0" err="1"/>
              <a:t>čitanju</a:t>
            </a:r>
            <a:r>
              <a:rPr lang="en-US" dirty="0"/>
              <a:t>, </a:t>
            </a:r>
            <a:r>
              <a:rPr lang="en-US" dirty="0" err="1"/>
              <a:t>provera</a:t>
            </a:r>
            <a:r>
              <a:rPr lang="en-US" dirty="0"/>
              <a:t> se </a:t>
            </a:r>
            <a:r>
              <a:rPr lang="en-US" dirty="0" err="1"/>
              <a:t>vrši</a:t>
            </a:r>
            <a:r>
              <a:rPr lang="en-US" dirty="0"/>
              <a:t> </a:t>
            </a:r>
            <a:r>
              <a:rPr lang="en-US" dirty="0" err="1"/>
              <a:t>tek</a:t>
            </a:r>
            <a:r>
              <a:rPr lang="en-US" dirty="0"/>
              <a:t> </a:t>
            </a:r>
            <a:r>
              <a:rPr lang="en-US" dirty="0" err="1"/>
              <a:t>pri</a:t>
            </a:r>
            <a:r>
              <a:rPr lang="en-US" dirty="0"/>
              <a:t> UPDATE-u, a </a:t>
            </a:r>
            <a:r>
              <a:rPr lang="en-US" dirty="0" err="1"/>
              <a:t>ako</a:t>
            </a:r>
            <a:r>
              <a:rPr lang="en-US" dirty="0"/>
              <a:t> je red </a:t>
            </a:r>
            <a:r>
              <a:rPr lang="en-US" dirty="0" err="1"/>
              <a:t>promenjen</a:t>
            </a:r>
            <a:r>
              <a:rPr lang="en-US" dirty="0"/>
              <a:t> u </a:t>
            </a:r>
            <a:r>
              <a:rPr lang="en-US" dirty="0" err="1"/>
              <a:t>međuvremenu</a:t>
            </a:r>
            <a:r>
              <a:rPr lang="en-US" dirty="0"/>
              <a:t> </a:t>
            </a:r>
            <a:r>
              <a:rPr lang="en-US" dirty="0" err="1"/>
              <a:t>dolazi</a:t>
            </a:r>
            <a:r>
              <a:rPr lang="en-US" dirty="0"/>
              <a:t> do Update Conflict koji </a:t>
            </a:r>
            <a:r>
              <a:rPr lang="en-US" dirty="0" err="1"/>
              <a:t>aplikacija</a:t>
            </a:r>
            <a:r>
              <a:rPr lang="en-US" dirty="0"/>
              <a:t> mora da </a:t>
            </a:r>
            <a:r>
              <a:rPr lang="en-US" dirty="0" err="1"/>
              <a:t>reši</a:t>
            </a:r>
            <a:r>
              <a:rPr lang="en-US" dirty="0"/>
              <a:t> retry </a:t>
            </a:r>
            <a:r>
              <a:rPr lang="en-US" dirty="0" err="1"/>
              <a:t>logikom</a:t>
            </a:r>
            <a:r>
              <a:rPr lang="en-US" dirty="0"/>
              <a:t>.</a:t>
            </a:r>
          </a:p>
          <a:p>
            <a:r>
              <a:rPr lang="en-US" b="1" dirty="0"/>
              <a:t>Deadlock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kružno</a:t>
            </a:r>
            <a:r>
              <a:rPr lang="en-US" dirty="0"/>
              <a:t> </a:t>
            </a:r>
            <a:r>
              <a:rPr lang="en-US" dirty="0" err="1"/>
              <a:t>čekanje</a:t>
            </a:r>
            <a:r>
              <a:rPr lang="en-US" dirty="0"/>
              <a:t> </a:t>
            </a:r>
            <a:r>
              <a:rPr lang="en-US" dirty="0" err="1"/>
              <a:t>nastaje</a:t>
            </a:r>
            <a:r>
              <a:rPr lang="en-US" dirty="0"/>
              <a:t> </a:t>
            </a:r>
            <a:r>
              <a:rPr lang="en-US" dirty="0" err="1"/>
              <a:t>kada</a:t>
            </a:r>
            <a:r>
              <a:rPr lang="en-US" dirty="0"/>
              <a:t> </a:t>
            </a:r>
            <a:r>
              <a:rPr lang="en-US" dirty="0" err="1"/>
              <a:t>Sesija</a:t>
            </a:r>
            <a:r>
              <a:rPr lang="en-US" dirty="0"/>
              <a:t> A </a:t>
            </a:r>
            <a:r>
              <a:rPr lang="en-US" dirty="0" err="1"/>
              <a:t>drži</a:t>
            </a:r>
            <a:r>
              <a:rPr lang="en-US" dirty="0"/>
              <a:t> </a:t>
            </a:r>
            <a:r>
              <a:rPr lang="en-US" dirty="0" err="1"/>
              <a:t>katanac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tabeli</a:t>
            </a:r>
            <a:r>
              <a:rPr lang="en-US" dirty="0"/>
              <a:t> DEPARTMENT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čeka</a:t>
            </a:r>
            <a:r>
              <a:rPr lang="en-US" dirty="0"/>
              <a:t> EMPLOYEE, </a:t>
            </a:r>
            <a:r>
              <a:rPr lang="en-US" dirty="0" err="1"/>
              <a:t>dok</a:t>
            </a:r>
            <a:r>
              <a:rPr lang="en-US" dirty="0"/>
              <a:t> </a:t>
            </a:r>
            <a:r>
              <a:rPr lang="en-US" dirty="0" err="1"/>
              <a:t>Sesija</a:t>
            </a:r>
            <a:r>
              <a:rPr lang="en-US" dirty="0"/>
              <a:t> B </a:t>
            </a:r>
            <a:r>
              <a:rPr lang="en-US" dirty="0" err="1"/>
              <a:t>drži</a:t>
            </a:r>
            <a:r>
              <a:rPr lang="en-US" dirty="0"/>
              <a:t> </a:t>
            </a:r>
            <a:r>
              <a:rPr lang="en-US" dirty="0" err="1"/>
              <a:t>katanac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EMPLOYEE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čeka</a:t>
            </a:r>
            <a:r>
              <a:rPr lang="en-US" dirty="0"/>
              <a:t> DEPARTMENT — Firebird Lock Manager </a:t>
            </a:r>
            <a:r>
              <a:rPr lang="en-US" dirty="0" err="1"/>
              <a:t>periodično</a:t>
            </a:r>
            <a:r>
              <a:rPr lang="en-US" dirty="0"/>
              <a:t> </a:t>
            </a:r>
            <a:r>
              <a:rPr lang="en-US" dirty="0" err="1"/>
              <a:t>analizira</a:t>
            </a:r>
            <a:r>
              <a:rPr lang="en-US" dirty="0"/>
              <a:t> </a:t>
            </a:r>
            <a:r>
              <a:rPr lang="en-US" dirty="0" err="1"/>
              <a:t>graf</a:t>
            </a:r>
            <a:r>
              <a:rPr lang="en-US" dirty="0"/>
              <a:t> </a:t>
            </a:r>
            <a:r>
              <a:rPr lang="en-US" dirty="0" err="1"/>
              <a:t>čekanja</a:t>
            </a:r>
            <a:r>
              <a:rPr lang="en-US" dirty="0"/>
              <a:t>, </a:t>
            </a:r>
            <a:r>
              <a:rPr lang="en-US" dirty="0" err="1"/>
              <a:t>detektuje</a:t>
            </a:r>
            <a:r>
              <a:rPr lang="en-US" dirty="0"/>
              <a:t> </a:t>
            </a:r>
            <a:r>
              <a:rPr lang="en-US" dirty="0" err="1"/>
              <a:t>petlju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prekida</a:t>
            </a:r>
            <a:r>
              <a:rPr lang="en-US" dirty="0"/>
              <a:t> </a:t>
            </a:r>
            <a:r>
              <a:rPr lang="en-US" dirty="0" err="1"/>
              <a:t>mlađu</a:t>
            </a:r>
            <a:r>
              <a:rPr lang="en-US" dirty="0"/>
              <a:t> </a:t>
            </a:r>
            <a:r>
              <a:rPr lang="en-US" dirty="0" err="1"/>
              <a:t>sesiju</a:t>
            </a:r>
            <a:r>
              <a:rPr lang="en-US" dirty="0"/>
              <a:t> </a:t>
            </a:r>
            <a:r>
              <a:rPr lang="en-US" dirty="0" err="1"/>
              <a:t>uz</a:t>
            </a:r>
            <a:r>
              <a:rPr lang="en-US" dirty="0"/>
              <a:t> </a:t>
            </a:r>
            <a:r>
              <a:rPr lang="en-US" dirty="0" err="1"/>
              <a:t>grešku</a:t>
            </a:r>
            <a:r>
              <a:rPr lang="en-US" dirty="0"/>
              <a:t>.</a:t>
            </a:r>
          </a:p>
          <a:p>
            <a:r>
              <a:rPr lang="en-US" dirty="0" err="1"/>
              <a:t>Strategija</a:t>
            </a:r>
            <a:r>
              <a:rPr lang="en-US" dirty="0"/>
              <a:t> </a:t>
            </a:r>
            <a:r>
              <a:rPr lang="en-US" dirty="0" err="1"/>
              <a:t>prevencije</a:t>
            </a:r>
            <a:r>
              <a:rPr lang="en-US" dirty="0"/>
              <a:t> deadlock-a je </a:t>
            </a:r>
            <a:r>
              <a:rPr lang="en-US" dirty="0" err="1"/>
              <a:t>jednostavna</a:t>
            </a:r>
            <a:r>
              <a:rPr lang="en-US" dirty="0"/>
              <a:t> — </a:t>
            </a:r>
            <a:r>
              <a:rPr lang="en-US" dirty="0" err="1"/>
              <a:t>uvek</a:t>
            </a:r>
            <a:r>
              <a:rPr lang="en-US" dirty="0"/>
              <a:t> </a:t>
            </a:r>
            <a:r>
              <a:rPr lang="en-US" dirty="0" err="1"/>
              <a:t>ažurirati</a:t>
            </a:r>
            <a:r>
              <a:rPr lang="en-US" dirty="0"/>
              <a:t> </a:t>
            </a:r>
            <a:r>
              <a:rPr lang="en-US" dirty="0" err="1"/>
              <a:t>tabele</a:t>
            </a:r>
            <a:r>
              <a:rPr lang="en-US" dirty="0"/>
              <a:t> </a:t>
            </a:r>
            <a:r>
              <a:rPr lang="en-US" dirty="0" err="1"/>
              <a:t>istim</a:t>
            </a:r>
            <a:r>
              <a:rPr lang="en-US" dirty="0"/>
              <a:t> </a:t>
            </a:r>
            <a:r>
              <a:rPr lang="en-US" dirty="0" err="1"/>
              <a:t>redosledom</a:t>
            </a:r>
            <a:r>
              <a:rPr lang="en-US" dirty="0"/>
              <a:t> u </a:t>
            </a:r>
            <a:r>
              <a:rPr lang="en-US" dirty="0" err="1"/>
              <a:t>celoj</a:t>
            </a:r>
            <a:r>
              <a:rPr lang="en-US" dirty="0"/>
              <a:t> </a:t>
            </a:r>
            <a:r>
              <a:rPr lang="en-US" dirty="0" err="1"/>
              <a:t>aplikaciji</a:t>
            </a:r>
            <a:r>
              <a:rPr lang="en-US" dirty="0"/>
              <a:t>.</a:t>
            </a:r>
          </a:p>
          <a:p>
            <a:r>
              <a:rPr lang="en-US" dirty="0"/>
              <a:t>Za </a:t>
            </a:r>
            <a:r>
              <a:rPr lang="en-US" dirty="0" err="1"/>
              <a:t>upravljanje</a:t>
            </a:r>
            <a:r>
              <a:rPr lang="en-US" dirty="0"/>
              <a:t> </a:t>
            </a:r>
            <a:r>
              <a:rPr lang="en-US" dirty="0" err="1"/>
              <a:t>čekanjem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zaključane</a:t>
            </a:r>
            <a:r>
              <a:rPr lang="en-US" dirty="0"/>
              <a:t> </a:t>
            </a:r>
            <a:r>
              <a:rPr lang="en-US" dirty="0" err="1"/>
              <a:t>resurse</a:t>
            </a:r>
            <a:r>
              <a:rPr lang="en-US" dirty="0"/>
              <a:t> Firebird </a:t>
            </a:r>
            <a:r>
              <a:rPr lang="en-US" dirty="0" err="1"/>
              <a:t>nudi</a:t>
            </a:r>
            <a:r>
              <a:rPr lang="en-US" dirty="0"/>
              <a:t> tri </a:t>
            </a:r>
            <a:r>
              <a:rPr lang="en-US" dirty="0" err="1"/>
              <a:t>opcije</a:t>
            </a:r>
            <a:r>
              <a:rPr lang="en-US" dirty="0"/>
              <a:t>: </a:t>
            </a:r>
            <a:r>
              <a:rPr lang="en-US" b="1" dirty="0"/>
              <a:t>NO WAIT</a:t>
            </a:r>
            <a:r>
              <a:rPr lang="en-US" dirty="0"/>
              <a:t> koji </a:t>
            </a:r>
            <a:r>
              <a:rPr lang="en-US" dirty="0" err="1"/>
              <a:t>odmah</a:t>
            </a:r>
            <a:r>
              <a:rPr lang="en-US" dirty="0"/>
              <a:t> </a:t>
            </a:r>
            <a:r>
              <a:rPr lang="en-US" dirty="0" err="1"/>
              <a:t>vraća</a:t>
            </a:r>
            <a:r>
              <a:rPr lang="en-US" dirty="0"/>
              <a:t> </a:t>
            </a:r>
            <a:r>
              <a:rPr lang="en-US" dirty="0" err="1"/>
              <a:t>grešku</a:t>
            </a:r>
            <a:r>
              <a:rPr lang="en-US" dirty="0"/>
              <a:t>, </a:t>
            </a:r>
            <a:r>
              <a:rPr lang="en-US" b="1" dirty="0"/>
              <a:t>WAIT</a:t>
            </a:r>
            <a:r>
              <a:rPr lang="en-US" dirty="0"/>
              <a:t> koji </a:t>
            </a:r>
            <a:r>
              <a:rPr lang="en-US" dirty="0" err="1"/>
              <a:t>čeka</a:t>
            </a:r>
            <a:r>
              <a:rPr lang="en-US" dirty="0"/>
              <a:t> </a:t>
            </a:r>
            <a:r>
              <a:rPr lang="en-US" dirty="0" err="1"/>
              <a:t>neograničeno</a:t>
            </a:r>
            <a:r>
              <a:rPr lang="en-US" dirty="0"/>
              <a:t>,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b="1" dirty="0"/>
              <a:t>LOCK TIMEOUT</a:t>
            </a:r>
            <a:r>
              <a:rPr lang="en-US" dirty="0"/>
              <a:t> koji </a:t>
            </a:r>
            <a:r>
              <a:rPr lang="en-US" dirty="0" err="1"/>
              <a:t>čeka</a:t>
            </a:r>
            <a:r>
              <a:rPr lang="en-US" dirty="0"/>
              <a:t> N </a:t>
            </a:r>
            <a:r>
              <a:rPr lang="en-US" dirty="0" err="1"/>
              <a:t>sekundi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predstavlja</a:t>
            </a:r>
            <a:r>
              <a:rPr lang="en-US" dirty="0"/>
              <a:t> </a:t>
            </a:r>
            <a:r>
              <a:rPr lang="en-US" dirty="0" err="1"/>
              <a:t>najbolji</a:t>
            </a:r>
            <a:r>
              <a:rPr lang="en-US" dirty="0"/>
              <a:t> </a:t>
            </a:r>
            <a:r>
              <a:rPr lang="en-US" dirty="0" err="1"/>
              <a:t>kompromis</a:t>
            </a:r>
            <a:r>
              <a:rPr lang="en-US" dirty="0"/>
              <a:t> za </a:t>
            </a:r>
            <a:r>
              <a:rPr lang="en-US" dirty="0" err="1"/>
              <a:t>produkcijska</a:t>
            </a:r>
            <a:r>
              <a:rPr lang="en-US" dirty="0"/>
              <a:t> </a:t>
            </a:r>
            <a:r>
              <a:rPr lang="en-US" dirty="0" err="1"/>
              <a:t>okruženja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Garbage Collection je </a:t>
            </a:r>
            <a:r>
              <a:rPr lang="en-US" dirty="0" err="1"/>
              <a:t>mehanizam</a:t>
            </a:r>
            <a:r>
              <a:rPr lang="en-US" dirty="0"/>
              <a:t> </a:t>
            </a:r>
            <a:r>
              <a:rPr lang="en-US" dirty="0" err="1"/>
              <a:t>kojim</a:t>
            </a:r>
            <a:r>
              <a:rPr lang="en-US" dirty="0"/>
              <a:t> Firebird </a:t>
            </a:r>
            <a:r>
              <a:rPr lang="en-US" dirty="0" err="1"/>
              <a:t>čisti</a:t>
            </a:r>
            <a:r>
              <a:rPr lang="en-US" dirty="0"/>
              <a:t> </a:t>
            </a:r>
            <a:r>
              <a:rPr lang="en-US" dirty="0" err="1"/>
              <a:t>zastarele</a:t>
            </a:r>
            <a:r>
              <a:rPr lang="en-US" dirty="0"/>
              <a:t> </a:t>
            </a:r>
            <a:r>
              <a:rPr lang="en-US" dirty="0" err="1"/>
              <a:t>verzije</a:t>
            </a:r>
            <a:r>
              <a:rPr lang="en-US" dirty="0"/>
              <a:t> </a:t>
            </a:r>
            <a:r>
              <a:rPr lang="en-US" dirty="0" err="1"/>
              <a:t>zapisa</a:t>
            </a:r>
            <a:r>
              <a:rPr lang="en-US" dirty="0"/>
              <a:t> </a:t>
            </a:r>
            <a:r>
              <a:rPr lang="en-US" dirty="0" err="1"/>
              <a:t>nastale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posledica</a:t>
            </a:r>
            <a:r>
              <a:rPr lang="en-US" dirty="0"/>
              <a:t> MGA </a:t>
            </a:r>
            <a:r>
              <a:rPr lang="en-US" dirty="0" err="1"/>
              <a:t>arhitekture</a:t>
            </a:r>
            <a:r>
              <a:rPr lang="en-US" dirty="0"/>
              <a:t>, a </a:t>
            </a:r>
            <a:r>
              <a:rPr lang="en-US" dirty="0" err="1"/>
              <a:t>njegovo</a:t>
            </a:r>
            <a:r>
              <a:rPr lang="en-US" dirty="0"/>
              <a:t> </a:t>
            </a:r>
            <a:r>
              <a:rPr lang="en-US" dirty="0" err="1"/>
              <a:t>funkcionisanje</a:t>
            </a:r>
            <a:r>
              <a:rPr lang="en-US" dirty="0"/>
              <a:t> </a:t>
            </a:r>
            <a:r>
              <a:rPr lang="en-US" dirty="0" err="1"/>
              <a:t>direktno</a:t>
            </a:r>
            <a:r>
              <a:rPr lang="en-US" dirty="0"/>
              <a:t> </a:t>
            </a:r>
            <a:r>
              <a:rPr lang="en-US" dirty="0" err="1"/>
              <a:t>određuje</a:t>
            </a:r>
            <a:r>
              <a:rPr lang="en-US" dirty="0"/>
              <a:t> </a:t>
            </a:r>
            <a:r>
              <a:rPr lang="en-US" dirty="0" err="1"/>
              <a:t>zdravlje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performanse</a:t>
            </a:r>
            <a:r>
              <a:rPr lang="en-US" dirty="0"/>
              <a:t> </a:t>
            </a:r>
            <a:r>
              <a:rPr lang="en-US" dirty="0" err="1"/>
              <a:t>baze</a:t>
            </a:r>
            <a:r>
              <a:rPr lang="en-US" dirty="0"/>
              <a:t>.</a:t>
            </a:r>
          </a:p>
          <a:p>
            <a:r>
              <a:rPr lang="en-US" dirty="0" err="1"/>
              <a:t>Četiri</a:t>
            </a:r>
            <a:r>
              <a:rPr lang="en-US" dirty="0"/>
              <a:t> </a:t>
            </a:r>
            <a:r>
              <a:rPr lang="en-US" dirty="0" err="1"/>
              <a:t>ključna</a:t>
            </a:r>
            <a:r>
              <a:rPr lang="en-US" dirty="0"/>
              <a:t> </a:t>
            </a:r>
            <a:r>
              <a:rPr lang="en-US" dirty="0" err="1"/>
              <a:t>transakciona</a:t>
            </a:r>
            <a:r>
              <a:rPr lang="en-US" dirty="0"/>
              <a:t> </a:t>
            </a:r>
            <a:r>
              <a:rPr lang="en-US" dirty="0" err="1"/>
              <a:t>markera</a:t>
            </a:r>
            <a:r>
              <a:rPr lang="en-US" dirty="0"/>
              <a:t> </a:t>
            </a:r>
            <a:r>
              <a:rPr lang="en-US" dirty="0" err="1"/>
              <a:t>definišu</a:t>
            </a:r>
            <a:r>
              <a:rPr lang="en-US" dirty="0"/>
              <a:t> </a:t>
            </a:r>
            <a:r>
              <a:rPr lang="en-US" dirty="0" err="1"/>
              <a:t>šta</a:t>
            </a:r>
            <a:r>
              <a:rPr lang="en-US" dirty="0"/>
              <a:t> GC </a:t>
            </a:r>
            <a:r>
              <a:rPr lang="en-US" dirty="0" err="1"/>
              <a:t>sme</a:t>
            </a:r>
            <a:r>
              <a:rPr lang="en-US" dirty="0"/>
              <a:t> da </a:t>
            </a:r>
            <a:r>
              <a:rPr lang="en-US" dirty="0" err="1"/>
              <a:t>obriše</a:t>
            </a:r>
            <a:r>
              <a:rPr lang="en-US" dirty="0"/>
              <a:t> — </a:t>
            </a:r>
            <a:r>
              <a:rPr lang="en-US" b="1" dirty="0"/>
              <a:t>Next TID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gornja</a:t>
            </a:r>
            <a:r>
              <a:rPr lang="en-US" dirty="0"/>
              <a:t> </a:t>
            </a:r>
            <a:r>
              <a:rPr lang="en-US" dirty="0" err="1"/>
              <a:t>granica</a:t>
            </a:r>
            <a:r>
              <a:rPr lang="en-US" dirty="0"/>
              <a:t>, </a:t>
            </a:r>
            <a:r>
              <a:rPr lang="en-US" b="1" dirty="0"/>
              <a:t>OAT</a:t>
            </a:r>
            <a:r>
              <a:rPr lang="en-US" dirty="0"/>
              <a:t> (Oldest Active Transaction) </a:t>
            </a:r>
            <a:r>
              <a:rPr lang="en-US" dirty="0" err="1"/>
              <a:t>koja</a:t>
            </a:r>
            <a:r>
              <a:rPr lang="en-US" dirty="0"/>
              <a:t> </a:t>
            </a:r>
            <a:r>
              <a:rPr lang="en-US" dirty="0" err="1"/>
              <a:t>blokira</a:t>
            </a:r>
            <a:r>
              <a:rPr lang="en-US" dirty="0"/>
              <a:t> GC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predstavlja</a:t>
            </a:r>
            <a:r>
              <a:rPr lang="en-US" dirty="0"/>
              <a:t> </a:t>
            </a:r>
            <a:r>
              <a:rPr lang="en-US" dirty="0" err="1"/>
              <a:t>najvažniji</a:t>
            </a:r>
            <a:r>
              <a:rPr lang="en-US" dirty="0"/>
              <a:t> marker, </a:t>
            </a:r>
            <a:r>
              <a:rPr lang="en-US" b="1" dirty="0"/>
              <a:t>OIT</a:t>
            </a:r>
            <a:r>
              <a:rPr lang="en-US" dirty="0"/>
              <a:t> (Oldest Interesting Transaction)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donja</a:t>
            </a:r>
            <a:r>
              <a:rPr lang="en-US" dirty="0"/>
              <a:t> </a:t>
            </a:r>
            <a:r>
              <a:rPr lang="en-US" dirty="0" err="1"/>
              <a:t>granica</a:t>
            </a:r>
            <a:r>
              <a:rPr lang="en-US" dirty="0"/>
              <a:t> </a:t>
            </a:r>
            <a:r>
              <a:rPr lang="en-US" dirty="0" err="1"/>
              <a:t>čišćenja</a:t>
            </a:r>
            <a:r>
              <a:rPr lang="en-US" dirty="0"/>
              <a:t>,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b="1" dirty="0"/>
              <a:t>OST</a:t>
            </a:r>
            <a:r>
              <a:rPr lang="en-US" dirty="0"/>
              <a:t> (Oldest Snapshot Transaction) </a:t>
            </a:r>
            <a:r>
              <a:rPr lang="en-US" dirty="0" err="1"/>
              <a:t>koja</a:t>
            </a:r>
            <a:r>
              <a:rPr lang="en-US" dirty="0"/>
              <a:t> </a:t>
            </a:r>
            <a:r>
              <a:rPr lang="en-US" dirty="0" err="1"/>
              <a:t>zamrzava</a:t>
            </a:r>
            <a:r>
              <a:rPr lang="en-US" dirty="0"/>
              <a:t> </a:t>
            </a:r>
            <a:r>
              <a:rPr lang="en-US" dirty="0" err="1"/>
              <a:t>stanje</a:t>
            </a:r>
            <a:r>
              <a:rPr lang="en-US" dirty="0"/>
              <a:t> za Snapshot </a:t>
            </a:r>
            <a:r>
              <a:rPr lang="en-US" dirty="0" err="1"/>
              <a:t>transakcije</a:t>
            </a:r>
            <a:r>
              <a:rPr lang="en-US" dirty="0"/>
              <a:t>.</a:t>
            </a:r>
          </a:p>
          <a:p>
            <a:r>
              <a:rPr lang="en-US" b="1" dirty="0"/>
              <a:t>TRANSACTION_GAP</a:t>
            </a:r>
            <a:r>
              <a:rPr lang="en-US" dirty="0"/>
              <a:t> je </a:t>
            </a:r>
            <a:r>
              <a:rPr lang="en-US" dirty="0" err="1"/>
              <a:t>razlika</a:t>
            </a:r>
            <a:r>
              <a:rPr lang="en-US" dirty="0"/>
              <a:t> </a:t>
            </a:r>
            <a:r>
              <a:rPr lang="en-US" dirty="0" err="1"/>
              <a:t>između</a:t>
            </a:r>
            <a:r>
              <a:rPr lang="en-US" dirty="0"/>
              <a:t> Next TID </a:t>
            </a:r>
            <a:r>
              <a:rPr lang="en-US" dirty="0" err="1"/>
              <a:t>i</a:t>
            </a:r>
            <a:r>
              <a:rPr lang="en-US" dirty="0"/>
              <a:t> OAT — </a:t>
            </a:r>
            <a:r>
              <a:rPr lang="en-US" dirty="0" err="1"/>
              <a:t>mali</a:t>
            </a:r>
            <a:r>
              <a:rPr lang="en-US" dirty="0"/>
              <a:t> gap </a:t>
            </a:r>
            <a:r>
              <a:rPr lang="en-US" dirty="0" err="1"/>
              <a:t>znači</a:t>
            </a:r>
            <a:r>
              <a:rPr lang="en-US" dirty="0"/>
              <a:t> </a:t>
            </a:r>
            <a:r>
              <a:rPr lang="en-US" dirty="0" err="1"/>
              <a:t>zdravu</a:t>
            </a:r>
            <a:r>
              <a:rPr lang="en-US" dirty="0"/>
              <a:t> </a:t>
            </a:r>
            <a:r>
              <a:rPr lang="en-US" dirty="0" err="1"/>
              <a:t>bazu</a:t>
            </a:r>
            <a:r>
              <a:rPr lang="en-US" dirty="0"/>
              <a:t>, a </a:t>
            </a:r>
            <a:r>
              <a:rPr lang="en-US" dirty="0" err="1"/>
              <a:t>veliki</a:t>
            </a:r>
            <a:r>
              <a:rPr lang="en-US" dirty="0"/>
              <a:t> gap </a:t>
            </a:r>
            <a:r>
              <a:rPr lang="en-US" dirty="0" err="1"/>
              <a:t>znači</a:t>
            </a:r>
            <a:r>
              <a:rPr lang="en-US" dirty="0"/>
              <a:t> da je GC </a:t>
            </a:r>
            <a:r>
              <a:rPr lang="en-US" dirty="0" err="1"/>
              <a:t>blokiran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da </a:t>
            </a:r>
            <a:r>
              <a:rPr lang="en-US" dirty="0" err="1"/>
              <a:t>performanse</a:t>
            </a:r>
            <a:r>
              <a:rPr lang="en-US" dirty="0"/>
              <a:t> </a:t>
            </a:r>
            <a:r>
              <a:rPr lang="en-US" dirty="0" err="1"/>
              <a:t>opadaju</a:t>
            </a:r>
            <a:r>
              <a:rPr lang="en-US" dirty="0"/>
              <a:t> </a:t>
            </a:r>
            <a:r>
              <a:rPr lang="en-US" dirty="0" err="1"/>
              <a:t>jer</a:t>
            </a:r>
            <a:r>
              <a:rPr lang="en-US" dirty="0"/>
              <a:t> se stare </a:t>
            </a:r>
            <a:r>
              <a:rPr lang="en-US" dirty="0" err="1"/>
              <a:t>verzije</a:t>
            </a:r>
            <a:r>
              <a:rPr lang="en-US" dirty="0"/>
              <a:t> </a:t>
            </a:r>
            <a:r>
              <a:rPr lang="en-US" dirty="0" err="1"/>
              <a:t>gomilaju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disku</a:t>
            </a:r>
            <a:r>
              <a:rPr lang="en-US" dirty="0"/>
              <a:t>.</a:t>
            </a:r>
          </a:p>
          <a:p>
            <a:r>
              <a:rPr lang="en-US" dirty="0"/>
              <a:t>Firebird </a:t>
            </a:r>
            <a:r>
              <a:rPr lang="en-US" dirty="0" err="1"/>
              <a:t>ima</a:t>
            </a:r>
            <a:r>
              <a:rPr lang="en-US" dirty="0"/>
              <a:t> tri </a:t>
            </a:r>
            <a:r>
              <a:rPr lang="en-US" dirty="0" err="1"/>
              <a:t>načina</a:t>
            </a:r>
            <a:r>
              <a:rPr lang="en-US" dirty="0"/>
              <a:t> </a:t>
            </a:r>
            <a:r>
              <a:rPr lang="en-US" dirty="0" err="1"/>
              <a:t>čišćenja</a:t>
            </a:r>
            <a:r>
              <a:rPr lang="en-US" dirty="0"/>
              <a:t> — </a:t>
            </a:r>
            <a:r>
              <a:rPr lang="en-US" b="1" dirty="0"/>
              <a:t>Cooperative GC</a:t>
            </a:r>
            <a:r>
              <a:rPr lang="en-US" dirty="0"/>
              <a:t> koji se </a:t>
            </a:r>
            <a:r>
              <a:rPr lang="en-US" dirty="0" err="1"/>
              <a:t>odvija</a:t>
            </a:r>
            <a:r>
              <a:rPr lang="en-US" dirty="0"/>
              <a:t> </a:t>
            </a:r>
            <a:r>
              <a:rPr lang="en-US" dirty="0" err="1"/>
              <a:t>automatski</a:t>
            </a:r>
            <a:r>
              <a:rPr lang="en-US" dirty="0"/>
              <a:t> </a:t>
            </a:r>
            <a:r>
              <a:rPr lang="en-US" dirty="0" err="1"/>
              <a:t>tokom</a:t>
            </a:r>
            <a:r>
              <a:rPr lang="en-US" dirty="0"/>
              <a:t> SELECT </a:t>
            </a:r>
            <a:r>
              <a:rPr lang="en-US" dirty="0" err="1"/>
              <a:t>upita</a:t>
            </a:r>
            <a:r>
              <a:rPr lang="en-US" dirty="0"/>
              <a:t> </a:t>
            </a:r>
            <a:r>
              <a:rPr lang="en-US" dirty="0" err="1"/>
              <a:t>dok</a:t>
            </a:r>
            <a:r>
              <a:rPr lang="en-US" dirty="0"/>
              <a:t> </a:t>
            </a:r>
            <a:r>
              <a:rPr lang="en-US" dirty="0" err="1"/>
              <a:t>svaki</a:t>
            </a:r>
            <a:r>
              <a:rPr lang="en-US" dirty="0"/>
              <a:t> </a:t>
            </a:r>
            <a:r>
              <a:rPr lang="en-US" dirty="0" err="1"/>
              <a:t>čitalac</a:t>
            </a:r>
            <a:r>
              <a:rPr lang="en-US" dirty="0"/>
              <a:t> </a:t>
            </a:r>
            <a:r>
              <a:rPr lang="en-US" dirty="0" err="1"/>
              <a:t>čisti</a:t>
            </a:r>
            <a:r>
              <a:rPr lang="en-US" dirty="0"/>
              <a:t> stare </a:t>
            </a:r>
            <a:r>
              <a:rPr lang="en-US" dirty="0" err="1"/>
              <a:t>verzije</a:t>
            </a:r>
            <a:r>
              <a:rPr lang="en-US" dirty="0"/>
              <a:t> </a:t>
            </a:r>
            <a:r>
              <a:rPr lang="en-US" dirty="0" err="1"/>
              <a:t>usput</a:t>
            </a:r>
            <a:r>
              <a:rPr lang="en-US" dirty="0"/>
              <a:t>, </a:t>
            </a:r>
            <a:r>
              <a:rPr lang="en-US" b="1" dirty="0"/>
              <a:t>Background GC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posebna</a:t>
            </a:r>
            <a:r>
              <a:rPr lang="en-US" dirty="0"/>
              <a:t> nit u </a:t>
            </a:r>
            <a:r>
              <a:rPr lang="en-US" dirty="0" err="1"/>
              <a:t>SuperServer</a:t>
            </a:r>
            <a:r>
              <a:rPr lang="en-US" dirty="0"/>
              <a:t> </a:t>
            </a:r>
            <a:r>
              <a:rPr lang="en-US" dirty="0" err="1"/>
              <a:t>modelu</a:t>
            </a:r>
            <a:r>
              <a:rPr lang="en-US" dirty="0"/>
              <a:t> </a:t>
            </a:r>
            <a:r>
              <a:rPr lang="en-US" dirty="0" err="1"/>
              <a:t>koja</a:t>
            </a:r>
            <a:r>
              <a:rPr lang="en-US" dirty="0"/>
              <a:t> </a:t>
            </a:r>
            <a:r>
              <a:rPr lang="en-US" dirty="0" err="1"/>
              <a:t>radi</a:t>
            </a:r>
            <a:r>
              <a:rPr lang="en-US" dirty="0"/>
              <a:t> </a:t>
            </a:r>
            <a:r>
              <a:rPr lang="en-US" dirty="0" err="1"/>
              <a:t>nezavisno</a:t>
            </a:r>
            <a:r>
              <a:rPr lang="en-US" dirty="0"/>
              <a:t> od </a:t>
            </a:r>
            <a:r>
              <a:rPr lang="en-US" dirty="0" err="1"/>
              <a:t>korisničkih</a:t>
            </a:r>
            <a:r>
              <a:rPr lang="en-US" dirty="0"/>
              <a:t> </a:t>
            </a:r>
            <a:r>
              <a:rPr lang="en-US" dirty="0" err="1"/>
              <a:t>zahteva</a:t>
            </a:r>
            <a:r>
              <a:rPr lang="en-US" dirty="0"/>
              <a:t>,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b="1" dirty="0"/>
              <a:t>Sweeping</a:t>
            </a:r>
            <a:r>
              <a:rPr lang="en-US" dirty="0"/>
              <a:t> koji </a:t>
            </a:r>
            <a:r>
              <a:rPr lang="en-US" dirty="0" err="1"/>
              <a:t>sistematski</a:t>
            </a:r>
            <a:r>
              <a:rPr lang="en-US" dirty="0"/>
              <a:t> </a:t>
            </a:r>
            <a:r>
              <a:rPr lang="en-US" dirty="0" err="1"/>
              <a:t>skenira</a:t>
            </a:r>
            <a:r>
              <a:rPr lang="en-US" dirty="0"/>
              <a:t> </a:t>
            </a:r>
            <a:r>
              <a:rPr lang="en-US" dirty="0" err="1"/>
              <a:t>celu</a:t>
            </a:r>
            <a:r>
              <a:rPr lang="en-US" dirty="0"/>
              <a:t> </a:t>
            </a:r>
            <a:r>
              <a:rPr lang="en-US" dirty="0" err="1"/>
              <a:t>bazu</a:t>
            </a:r>
            <a:r>
              <a:rPr lang="en-US" dirty="0"/>
              <a:t> </a:t>
            </a:r>
            <a:r>
              <a:rPr lang="en-US" dirty="0" err="1"/>
              <a:t>komandom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gfix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-sweep</a:t>
            </a:r>
            <a:r>
              <a:rPr lang="en-US" dirty="0"/>
              <a:t>.</a:t>
            </a:r>
          </a:p>
          <a:p>
            <a:r>
              <a:rPr lang="en-US" dirty="0"/>
              <a:t>Kada </a:t>
            </a:r>
            <a:r>
              <a:rPr lang="en-US" dirty="0" err="1"/>
              <a:t>performanse</a:t>
            </a:r>
            <a:r>
              <a:rPr lang="en-US" dirty="0"/>
              <a:t> </a:t>
            </a:r>
            <a:r>
              <a:rPr lang="en-US" dirty="0" err="1"/>
              <a:t>opadnu</a:t>
            </a:r>
            <a:r>
              <a:rPr lang="en-US" dirty="0"/>
              <a:t>, </a:t>
            </a:r>
            <a:r>
              <a:rPr lang="en-US" dirty="0" err="1"/>
              <a:t>uzrok</a:t>
            </a:r>
            <a:r>
              <a:rPr lang="en-US" dirty="0"/>
              <a:t> je </a:t>
            </a:r>
            <a:r>
              <a:rPr lang="en-US" dirty="0" err="1"/>
              <a:t>najčešće</a:t>
            </a:r>
            <a:r>
              <a:rPr lang="en-US" dirty="0"/>
              <a:t> </a:t>
            </a:r>
            <a:r>
              <a:rPr lang="en-US" dirty="0" err="1"/>
              <a:t>jedna</a:t>
            </a:r>
            <a:r>
              <a:rPr lang="en-US" dirty="0"/>
              <a:t> </a:t>
            </a:r>
            <a:r>
              <a:rPr lang="en-US" dirty="0" err="1"/>
              <a:t>blokirana</a:t>
            </a:r>
            <a:r>
              <a:rPr lang="en-US" dirty="0"/>
              <a:t> </a:t>
            </a:r>
            <a:r>
              <a:rPr lang="en-US" dirty="0" err="1"/>
              <a:t>sesija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starom</a:t>
            </a:r>
            <a:r>
              <a:rPr lang="en-US" dirty="0"/>
              <a:t> </a:t>
            </a:r>
            <a:r>
              <a:rPr lang="en-US" dirty="0" err="1"/>
              <a:t>otvorenom</a:t>
            </a:r>
            <a:r>
              <a:rPr lang="en-US" dirty="0"/>
              <a:t> </a:t>
            </a:r>
            <a:r>
              <a:rPr lang="en-US" dirty="0" err="1"/>
              <a:t>transakcijom</a:t>
            </a:r>
            <a:r>
              <a:rPr lang="en-US" dirty="0"/>
              <a:t> — SQL monitoring </a:t>
            </a:r>
            <a:r>
              <a:rPr lang="en-US" dirty="0" err="1"/>
              <a:t>putem</a:t>
            </a:r>
            <a:r>
              <a:rPr lang="en-US" dirty="0"/>
              <a:t> MON$ </a:t>
            </a:r>
            <a:r>
              <a:rPr lang="en-US" dirty="0" err="1"/>
              <a:t>tabela</a:t>
            </a:r>
            <a:r>
              <a:rPr lang="en-US" dirty="0"/>
              <a:t> </a:t>
            </a:r>
            <a:r>
              <a:rPr lang="en-US" dirty="0" err="1"/>
              <a:t>omogućava</a:t>
            </a:r>
            <a:r>
              <a:rPr lang="en-US" dirty="0"/>
              <a:t> </a:t>
            </a:r>
            <a:r>
              <a:rPr lang="en-US" dirty="0" err="1"/>
              <a:t>trenutnu</a:t>
            </a:r>
            <a:r>
              <a:rPr lang="en-US" dirty="0"/>
              <a:t> </a:t>
            </a:r>
            <a:r>
              <a:rPr lang="en-US" dirty="0" err="1"/>
              <a:t>identifikaciju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sesije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njenog</a:t>
            </a:r>
            <a:r>
              <a:rPr lang="en-US" dirty="0"/>
              <a:t> </a:t>
            </a:r>
            <a:r>
              <a:rPr lang="en-US" dirty="0" err="1"/>
              <a:t>nivoa</a:t>
            </a:r>
            <a:r>
              <a:rPr lang="en-US" dirty="0"/>
              <a:t> </a:t>
            </a:r>
            <a:r>
              <a:rPr lang="en-US" dirty="0" err="1"/>
              <a:t>izolacije</a:t>
            </a:r>
            <a:r>
              <a:rPr lang="en-US" dirty="0"/>
              <a:t>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 err="1">
                    <a:effectLst/>
                  </a:rPr>
                  <a:t>Svaka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transakcija</a:t>
                </a:r>
                <a:r>
                  <a:rPr lang="en-US" dirty="0">
                    <a:effectLst/>
                  </a:rPr>
                  <a:t> u </a:t>
                </a:r>
                <a:r>
                  <a:rPr lang="en-US" dirty="0" err="1">
                    <a:effectLst/>
                  </a:rPr>
                  <a:t>Firebirdu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startuje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sa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Transaction Parameter Block (TPB)</a:t>
                </a:r>
                <a:r>
                  <a:rPr lang="en-US" dirty="0">
                    <a:effectLst/>
                  </a:rPr>
                  <a:t> koji </a:t>
                </a:r>
                <a:r>
                  <a:rPr lang="en-US" dirty="0" err="1">
                    <a:effectLst/>
                  </a:rPr>
                  <a:t>definiše</a:t>
                </a:r>
                <a:r>
                  <a:rPr lang="en-US" dirty="0">
                    <a:effectLst/>
                  </a:rPr>
                  <a:t> Access Mode, </a:t>
                </a:r>
                <a:r>
                  <a:rPr lang="en-US" dirty="0" err="1">
                    <a:effectLst/>
                  </a:rPr>
                  <a:t>nivo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izolacije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i</a:t>
                </a:r>
                <a:r>
                  <a:rPr lang="en-US" dirty="0">
                    <a:effectLst/>
                  </a:rPr>
                  <a:t> Wait/No Wait </a:t>
                </a:r>
                <a:r>
                  <a:rPr lang="en-US" dirty="0" err="1">
                    <a:effectLst/>
                  </a:rPr>
                  <a:t>opciju</a:t>
                </a:r>
                <a:r>
                  <a:rPr lang="en-US" dirty="0">
                    <a:effectLst/>
                  </a:rPr>
                  <a:t> — optimizer </a:t>
                </a:r>
                <a:r>
                  <a:rPr lang="en-US" dirty="0" err="1">
                    <a:effectLst/>
                  </a:rPr>
                  <a:t>koristi</a:t>
                </a:r>
                <a:r>
                  <a:rPr lang="en-US" dirty="0">
                    <a:effectLst/>
                  </a:rPr>
                  <a:t> TPB </a:t>
                </a:r>
                <a:r>
                  <a:rPr lang="en-US" dirty="0" err="1">
                    <a:effectLst/>
                  </a:rPr>
                  <a:t>informacije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pri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generisanju</a:t>
                </a:r>
                <a:r>
                  <a:rPr lang="en-US" dirty="0">
                    <a:effectLst/>
                  </a:rPr>
                  <a:t> plana, pa Read Only </a:t>
                </a:r>
                <a:r>
                  <a:rPr lang="en-US" dirty="0" err="1">
                    <a:effectLst/>
                  </a:rPr>
                  <a:t>transakcija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dobija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agresivniji</a:t>
                </a:r>
                <a:r>
                  <a:rPr lang="en-US" dirty="0">
                    <a:effectLst/>
                  </a:rPr>
                  <a:t> plan </a:t>
                </a:r>
                <a:r>
                  <a:rPr lang="en-US" dirty="0" err="1">
                    <a:effectLst/>
                  </a:rPr>
                  <a:t>jer</a:t>
                </a:r>
                <a:r>
                  <a:rPr lang="en-US" dirty="0">
                    <a:effectLst/>
                  </a:rPr>
                  <a:t> engine </a:t>
                </a:r>
                <a:r>
                  <a:rPr lang="en-US" dirty="0" err="1">
                    <a:effectLst/>
                  </a:rPr>
                  <a:t>zna</a:t>
                </a:r>
                <a:r>
                  <a:rPr lang="en-US" dirty="0">
                    <a:effectLst/>
                  </a:rPr>
                  <a:t> da se </a:t>
                </a:r>
                <a:r>
                  <a:rPr lang="en-US" dirty="0" err="1">
                    <a:effectLst/>
                  </a:rPr>
                  <a:t>podaci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neće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menjati</a:t>
                </a:r>
                <a:r>
                  <a:rPr lang="en-US" dirty="0">
                    <a:effectLst/>
                  </a:rPr>
                  <a:t>.</a:t>
                </a:r>
              </a:p>
              <a:p>
                <a:r>
                  <a:rPr lang="en-US" b="1" dirty="0">
                    <a:effectLst/>
                  </a:rPr>
                  <a:t>Snapshot </a:t>
                </a:r>
                <a:r>
                  <a:rPr lang="en-US" dirty="0" err="1">
                    <a:effectLst/>
                  </a:rPr>
                  <a:t>kombinacija</a:t>
                </a:r>
                <a:r>
                  <a:rPr lang="en-US" dirty="0">
                    <a:effectLst/>
                  </a:rPr>
                  <a:t> je </a:t>
                </a:r>
                <a:r>
                  <a:rPr lang="en-US" dirty="0" err="1">
                    <a:effectLst/>
                  </a:rPr>
                  <a:t>idealna</a:t>
                </a:r>
                <a:r>
                  <a:rPr lang="en-US" dirty="0">
                    <a:effectLst/>
                  </a:rPr>
                  <a:t> za </a:t>
                </a:r>
                <a:r>
                  <a:rPr lang="en-US" dirty="0" err="1">
                    <a:effectLst/>
                  </a:rPr>
                  <a:t>izveštaje</a:t>
                </a:r>
                <a:r>
                  <a:rPr lang="en-US" dirty="0">
                    <a:effectLst/>
                  </a:rPr>
                  <a:t> — </a:t>
                </a:r>
                <a:r>
                  <a:rPr lang="en-US" dirty="0" err="1">
                    <a:effectLst/>
                  </a:rPr>
                  <a:t>transakcija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dobija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zamrznutu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sliku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baze</a:t>
                </a:r>
                <a:r>
                  <a:rPr lang="en-US" dirty="0">
                    <a:effectLst/>
                  </a:rPr>
                  <a:t> u </a:t>
                </a:r>
                <a:r>
                  <a:rPr lang="en-US" dirty="0" err="1">
                    <a:effectLst/>
                  </a:rPr>
                  <a:t>trenutku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starta</a:t>
                </a:r>
                <a:r>
                  <a:rPr lang="en-US" dirty="0">
                    <a:effectLst/>
                  </a:rPr>
                  <a:t>, </a:t>
                </a:r>
                <a:r>
                  <a:rPr lang="en-US" dirty="0" err="1">
                    <a:effectLst/>
                  </a:rPr>
                  <a:t>čita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podatke</a:t>
                </a:r>
                <a:r>
                  <a:rPr lang="en-US" dirty="0">
                    <a:effectLst/>
                  </a:rPr>
                  <a:t> bez </a:t>
                </a:r>
                <a:r>
                  <a:rPr lang="en-US" dirty="0" err="1">
                    <a:effectLst/>
                  </a:rPr>
                  <a:t>ikavih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katanaca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i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garantuje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konzistentne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rezultate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čak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i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ako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drugi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korisnici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menjaju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podatke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tokom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izvršavanja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upita</a:t>
                </a:r>
                <a:r>
                  <a:rPr lang="en-US" dirty="0">
                    <a:effectLst/>
                  </a:rPr>
                  <a:t>.</a:t>
                </a:r>
              </a:p>
              <a:p>
                <a:r>
                  <a:rPr lang="en-US" dirty="0" err="1">
                    <a:effectLst/>
                  </a:rPr>
                  <a:t>Pojava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reči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NATURAL</a:t>
                </a:r>
                <a:r>
                  <a:rPr lang="en-US" dirty="0">
                    <a:effectLst/>
                  </a:rPr>
                  <a:t> u </a:t>
                </a:r>
                <a:r>
                  <a:rPr lang="en-US" dirty="0" err="1">
                    <a:effectLst/>
                  </a:rPr>
                  <a:t>planu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izvršavanja</a:t>
                </a:r>
                <a:r>
                  <a:rPr lang="en-US" dirty="0">
                    <a:effectLst/>
                  </a:rPr>
                  <a:t> za </a:t>
                </a:r>
                <a:r>
                  <a:rPr lang="en-US" dirty="0" err="1">
                    <a:effectLst/>
                  </a:rPr>
                  <a:t>veliku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tabelu</a:t>
                </a:r>
                <a:r>
                  <a:rPr lang="en-US" dirty="0">
                    <a:effectLst/>
                  </a:rPr>
                  <a:t> je </a:t>
                </a:r>
                <a:r>
                  <a:rPr lang="en-US" dirty="0" err="1">
                    <a:effectLst/>
                  </a:rPr>
                  <a:t>direktan</a:t>
                </a:r>
                <a:r>
                  <a:rPr lang="en-US" dirty="0">
                    <a:effectLst/>
                  </a:rPr>
                  <a:t> signal da </a:t>
                </a:r>
                <a:r>
                  <a:rPr lang="en-US" dirty="0" err="1">
                    <a:effectLst/>
                  </a:rPr>
                  <a:t>nešto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nije</a:t>
                </a:r>
                <a:r>
                  <a:rPr lang="en-US" dirty="0">
                    <a:effectLst/>
                  </a:rPr>
                  <a:t> u </a:t>
                </a:r>
                <a:r>
                  <a:rPr lang="en-US" dirty="0" err="1">
                    <a:effectLst/>
                  </a:rPr>
                  <a:t>redu</a:t>
                </a:r>
                <a:r>
                  <a:rPr lang="en-US" dirty="0">
                    <a:effectLst/>
                  </a:rPr>
                  <a:t> — </a:t>
                </a:r>
                <a:r>
                  <a:rPr lang="en-US" dirty="0" err="1">
                    <a:effectLst/>
                  </a:rPr>
                  <a:t>uzrok</a:t>
                </a:r>
                <a:r>
                  <a:rPr lang="en-US" dirty="0">
                    <a:effectLst/>
                  </a:rPr>
                  <a:t> je </a:t>
                </a:r>
                <a:r>
                  <a:rPr lang="en-US" dirty="0" err="1">
                    <a:effectLst/>
                  </a:rPr>
                  <a:t>najčešće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zastarela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statistika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indeksa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ili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visok</a:t>
                </a:r>
                <a:r>
                  <a:rPr lang="en-US" dirty="0">
                    <a:effectLst/>
                  </a:rPr>
                  <a:t> Index Bloat, a </a:t>
                </a:r>
                <a:r>
                  <a:rPr lang="en-US" dirty="0" err="1">
                    <a:effectLst/>
                  </a:rPr>
                  <a:t>rešenje</a:t>
                </a:r>
                <a:r>
                  <a:rPr lang="en-US" dirty="0">
                    <a:effectLst/>
                  </a:rPr>
                  <a:t> je </a:t>
                </a:r>
                <a:r>
                  <a:rPr lang="en-US" dirty="0" err="1">
                    <a:effectLst/>
                  </a:rPr>
                  <a:t>pokretanje</a:t>
                </a:r>
                <a:r>
                  <a:rPr lang="en-US" dirty="0">
                    <a:effectLst/>
                  </a:rPr>
                  <a:t> SET STATISTICS INDEX </a:t>
                </a:r>
                <a:r>
                  <a:rPr lang="en-US" dirty="0" err="1">
                    <a:effectLst/>
                  </a:rPr>
                  <a:t>ili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rekreacija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indeksa</a:t>
                </a:r>
                <a:r>
                  <a:rPr lang="en-US" dirty="0">
                    <a:effectLst/>
                  </a:rPr>
                  <a:t>.</a:t>
                </a:r>
              </a:p>
              <a:p>
                <a:r>
                  <a:rPr lang="en-US" b="1" dirty="0">
                    <a:effectLst/>
                  </a:rPr>
                  <a:t>Snapshot </a:t>
                </a:r>
                <a:r>
                  <a:rPr lang="en-US" b="1" dirty="0" err="1">
                    <a:effectLst/>
                  </a:rPr>
                  <a:t>kazna</a:t>
                </a:r>
                <a:r>
                  <a:rPr lang="en-US" dirty="0">
                    <a:effectLst/>
                  </a:rPr>
                  <a:t> je </a:t>
                </a:r>
                <a:r>
                  <a:rPr lang="en-US" dirty="0" err="1">
                    <a:effectLst/>
                  </a:rPr>
                  <a:t>važno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upozorenje</a:t>
                </a:r>
                <a:r>
                  <a:rPr lang="en-US" dirty="0">
                    <a:effectLst/>
                  </a:rPr>
                  <a:t> — Snapshot </a:t>
                </a:r>
                <a:r>
                  <a:rPr lang="en-US" dirty="0" err="1">
                    <a:effectLst/>
                  </a:rPr>
                  <a:t>transakcija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nad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tabelom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sa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mnogo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verzija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može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biti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sporija</a:t>
                </a:r>
                <a:r>
                  <a:rPr lang="en-US" dirty="0">
                    <a:effectLst/>
                  </a:rPr>
                  <a:t> od Read Committed </a:t>
                </a:r>
                <a:r>
                  <a:rPr lang="en-US" dirty="0" err="1">
                    <a:effectLst/>
                  </a:rPr>
                  <a:t>jer</a:t>
                </a:r>
                <a:r>
                  <a:rPr lang="en-US" dirty="0">
                    <a:effectLst/>
                  </a:rPr>
                  <a:t> engine mora </a:t>
                </a:r>
                <a:r>
                  <a:rPr lang="en-US" dirty="0" err="1">
                    <a:effectLst/>
                  </a:rPr>
                  <a:t>pratiti</a:t>
                </a:r>
                <a:r>
                  <a:rPr lang="en-US" dirty="0">
                    <a:effectLst/>
                  </a:rPr>
                  <a:t> Back Interest Pointer </a:t>
                </a:r>
                <a:r>
                  <a:rPr lang="en-US" dirty="0" err="1">
                    <a:effectLst/>
                  </a:rPr>
                  <a:t>unazad</a:t>
                </a:r>
                <a:r>
                  <a:rPr lang="en-US" dirty="0">
                    <a:effectLst/>
                  </a:rPr>
                  <a:t> za </a:t>
                </a:r>
                <a:r>
                  <a:rPr lang="en-US" dirty="0" err="1">
                    <a:effectLst/>
                  </a:rPr>
                  <a:t>svaki</a:t>
                </a:r>
                <a:r>
                  <a:rPr lang="en-US" dirty="0">
                    <a:effectLst/>
                  </a:rPr>
                  <a:t> red </a:t>
                </a:r>
                <a:r>
                  <a:rPr lang="en-US" dirty="0" err="1">
                    <a:effectLst/>
                  </a:rPr>
                  <a:t>dok</a:t>
                </a:r>
                <a:r>
                  <a:rPr lang="en-US" dirty="0">
                    <a:effectLst/>
                  </a:rPr>
                  <a:t> ne </a:t>
                </a:r>
                <a:r>
                  <a:rPr lang="en-US" dirty="0" err="1">
                    <a:effectLst/>
                  </a:rPr>
                  <a:t>pronađe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verziju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vidljivu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toj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transakciji</a:t>
                </a:r>
                <a:r>
                  <a:rPr lang="en-US" dirty="0">
                    <a:effectLst/>
                  </a:rPr>
                  <a:t>.</a:t>
                </a:r>
              </a:p>
              <a:p>
                <a:r>
                  <a:rPr lang="en-US" b="1" dirty="0">
                    <a:effectLst/>
                  </a:rPr>
                  <a:t>MON$ monitoring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omogućava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dijagnostiku</a:t>
                </a:r>
                <a:r>
                  <a:rPr lang="en-US" dirty="0">
                    <a:effectLst/>
                  </a:rPr>
                  <a:t> u </a:t>
                </a:r>
                <a:r>
                  <a:rPr lang="en-US" dirty="0" err="1">
                    <a:effectLst/>
                  </a:rPr>
                  <a:t>realnom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vremenu</a:t>
                </a:r>
                <a:r>
                  <a:rPr lang="en-US" dirty="0">
                    <a:effectLst/>
                  </a:rPr>
                  <a:t> — </a:t>
                </a:r>
                <a:r>
                  <a:rPr lang="en-US" dirty="0" err="1">
                    <a:effectLst/>
                  </a:rPr>
                  <a:t>upitom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nad</a:t>
                </a:r>
                <a:r>
                  <a:rPr lang="en-US" dirty="0">
                    <a:effectLst/>
                  </a:rPr>
                  <a:t> MON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𝑆𝑇𝐴𝑇𝐸𝑀𝐸𝑁𝑇𝑆𝑖𝑀𝑂𝑁</m:t>
                    </m:r>
                  </m:oMath>
                </a14:m>
                <a:r>
                  <a:rPr lang="en-US" dirty="0">
                    <a:effectLst/>
                  </a:rPr>
                  <a:t>TRANSACTIONS </a:t>
                </a:r>
                <a:r>
                  <a:rPr lang="en-US" dirty="0" err="1">
                    <a:effectLst/>
                  </a:rPr>
                  <a:t>možemo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trenutno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identifikovati</a:t>
                </a:r>
                <a:r>
                  <a:rPr lang="en-US" dirty="0">
                    <a:effectLst/>
                  </a:rPr>
                  <a:t> spore </a:t>
                </a:r>
                <a:r>
                  <a:rPr lang="en-US" dirty="0" err="1">
                    <a:effectLst/>
                  </a:rPr>
                  <a:t>upite</a:t>
                </a:r>
                <a:r>
                  <a:rPr lang="en-US" dirty="0">
                    <a:effectLst/>
                  </a:rPr>
                  <a:t>, </a:t>
                </a:r>
                <a:r>
                  <a:rPr lang="en-US" dirty="0" err="1">
                    <a:effectLst/>
                  </a:rPr>
                  <a:t>njihove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nivoe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izolacije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i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sesije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koje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blokiraju</a:t>
                </a:r>
                <a:r>
                  <a:rPr lang="en-US" dirty="0">
                    <a:effectLst/>
                  </a:rPr>
                  <a:t> Garbage Collector. 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 err="1">
                    <a:effectLst/>
                  </a:rPr>
                  <a:t>Svaka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transakcija</a:t>
                </a:r>
                <a:r>
                  <a:rPr lang="en-US" dirty="0">
                    <a:effectLst/>
                  </a:rPr>
                  <a:t> u </a:t>
                </a:r>
                <a:r>
                  <a:rPr lang="en-US" dirty="0" err="1">
                    <a:effectLst/>
                  </a:rPr>
                  <a:t>Firebirdu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startuje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sa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Transaction Parameter Block (TPB)</a:t>
                </a:r>
                <a:r>
                  <a:rPr lang="en-US" dirty="0">
                    <a:effectLst/>
                  </a:rPr>
                  <a:t> koji </a:t>
                </a:r>
                <a:r>
                  <a:rPr lang="en-US" dirty="0" err="1">
                    <a:effectLst/>
                  </a:rPr>
                  <a:t>definiše</a:t>
                </a:r>
                <a:r>
                  <a:rPr lang="en-US" dirty="0">
                    <a:effectLst/>
                  </a:rPr>
                  <a:t> Access Mode, </a:t>
                </a:r>
                <a:r>
                  <a:rPr lang="en-US" dirty="0" err="1">
                    <a:effectLst/>
                  </a:rPr>
                  <a:t>nivo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izolacije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i</a:t>
                </a:r>
                <a:r>
                  <a:rPr lang="en-US" dirty="0">
                    <a:effectLst/>
                  </a:rPr>
                  <a:t> Wait/No Wait </a:t>
                </a:r>
                <a:r>
                  <a:rPr lang="en-US" dirty="0" err="1">
                    <a:effectLst/>
                  </a:rPr>
                  <a:t>opciju</a:t>
                </a:r>
                <a:r>
                  <a:rPr lang="en-US" dirty="0">
                    <a:effectLst/>
                  </a:rPr>
                  <a:t> — optimizer </a:t>
                </a:r>
                <a:r>
                  <a:rPr lang="en-US" dirty="0" err="1">
                    <a:effectLst/>
                  </a:rPr>
                  <a:t>koristi</a:t>
                </a:r>
                <a:r>
                  <a:rPr lang="en-US" dirty="0">
                    <a:effectLst/>
                  </a:rPr>
                  <a:t> TPB </a:t>
                </a:r>
                <a:r>
                  <a:rPr lang="en-US" dirty="0" err="1">
                    <a:effectLst/>
                  </a:rPr>
                  <a:t>informacije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pri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generisanju</a:t>
                </a:r>
                <a:r>
                  <a:rPr lang="en-US" dirty="0">
                    <a:effectLst/>
                  </a:rPr>
                  <a:t> plana, pa Read Only </a:t>
                </a:r>
                <a:r>
                  <a:rPr lang="en-US" dirty="0" err="1">
                    <a:effectLst/>
                  </a:rPr>
                  <a:t>transakcija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dobija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agresivniji</a:t>
                </a:r>
                <a:r>
                  <a:rPr lang="en-US" dirty="0">
                    <a:effectLst/>
                  </a:rPr>
                  <a:t> plan </a:t>
                </a:r>
                <a:r>
                  <a:rPr lang="en-US" dirty="0" err="1">
                    <a:effectLst/>
                  </a:rPr>
                  <a:t>jer</a:t>
                </a:r>
                <a:r>
                  <a:rPr lang="en-US" dirty="0">
                    <a:effectLst/>
                  </a:rPr>
                  <a:t> engine </a:t>
                </a:r>
                <a:r>
                  <a:rPr lang="en-US" dirty="0" err="1">
                    <a:effectLst/>
                  </a:rPr>
                  <a:t>zna</a:t>
                </a:r>
                <a:r>
                  <a:rPr lang="en-US" dirty="0">
                    <a:effectLst/>
                  </a:rPr>
                  <a:t> da se </a:t>
                </a:r>
                <a:r>
                  <a:rPr lang="en-US" dirty="0" err="1">
                    <a:effectLst/>
                  </a:rPr>
                  <a:t>podaci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neće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menjati</a:t>
                </a:r>
                <a:r>
                  <a:rPr lang="en-US" dirty="0">
                    <a:effectLst/>
                  </a:rPr>
                  <a:t>.</a:t>
                </a:r>
              </a:p>
              <a:p>
                <a:r>
                  <a:rPr lang="en-US" b="1" dirty="0">
                    <a:effectLst/>
                  </a:rPr>
                  <a:t>Snapshot </a:t>
                </a:r>
                <a:r>
                  <a:rPr lang="en-US" dirty="0" err="1">
                    <a:effectLst/>
                  </a:rPr>
                  <a:t>kombinacija</a:t>
                </a:r>
                <a:r>
                  <a:rPr lang="en-US" dirty="0">
                    <a:effectLst/>
                  </a:rPr>
                  <a:t> je </a:t>
                </a:r>
                <a:r>
                  <a:rPr lang="en-US" dirty="0" err="1">
                    <a:effectLst/>
                  </a:rPr>
                  <a:t>idealna</a:t>
                </a:r>
                <a:r>
                  <a:rPr lang="en-US" dirty="0">
                    <a:effectLst/>
                  </a:rPr>
                  <a:t> za </a:t>
                </a:r>
                <a:r>
                  <a:rPr lang="en-US" dirty="0" err="1">
                    <a:effectLst/>
                  </a:rPr>
                  <a:t>izveštaje</a:t>
                </a:r>
                <a:r>
                  <a:rPr lang="en-US" dirty="0">
                    <a:effectLst/>
                  </a:rPr>
                  <a:t> — </a:t>
                </a:r>
                <a:r>
                  <a:rPr lang="en-US" dirty="0" err="1">
                    <a:effectLst/>
                  </a:rPr>
                  <a:t>transakcija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dobija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zamrznutu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sliku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baze</a:t>
                </a:r>
                <a:r>
                  <a:rPr lang="en-US" dirty="0">
                    <a:effectLst/>
                  </a:rPr>
                  <a:t> u </a:t>
                </a:r>
                <a:r>
                  <a:rPr lang="en-US" dirty="0" err="1">
                    <a:effectLst/>
                  </a:rPr>
                  <a:t>trenutku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starta</a:t>
                </a:r>
                <a:r>
                  <a:rPr lang="en-US" dirty="0">
                    <a:effectLst/>
                  </a:rPr>
                  <a:t>, </a:t>
                </a:r>
                <a:r>
                  <a:rPr lang="en-US" dirty="0" err="1">
                    <a:effectLst/>
                  </a:rPr>
                  <a:t>čita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podatke</a:t>
                </a:r>
                <a:r>
                  <a:rPr lang="en-US" dirty="0">
                    <a:effectLst/>
                  </a:rPr>
                  <a:t> bez </a:t>
                </a:r>
                <a:r>
                  <a:rPr lang="en-US" dirty="0" err="1">
                    <a:effectLst/>
                  </a:rPr>
                  <a:t>ikavih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katanaca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i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garantuje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konzistentne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rezultate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čak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i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ako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drugi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korisnici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menjaju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podatke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tokom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izvršavanja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upita</a:t>
                </a:r>
                <a:r>
                  <a:rPr lang="en-US" dirty="0">
                    <a:effectLst/>
                  </a:rPr>
                  <a:t>.</a:t>
                </a:r>
              </a:p>
              <a:p>
                <a:r>
                  <a:rPr lang="en-US" dirty="0" err="1">
                    <a:effectLst/>
                  </a:rPr>
                  <a:t>Pojava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reči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NATURAL</a:t>
                </a:r>
                <a:r>
                  <a:rPr lang="en-US" dirty="0">
                    <a:effectLst/>
                  </a:rPr>
                  <a:t> u </a:t>
                </a:r>
                <a:r>
                  <a:rPr lang="en-US" dirty="0" err="1">
                    <a:effectLst/>
                  </a:rPr>
                  <a:t>planu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izvršavanja</a:t>
                </a:r>
                <a:r>
                  <a:rPr lang="en-US" dirty="0">
                    <a:effectLst/>
                  </a:rPr>
                  <a:t> za </a:t>
                </a:r>
                <a:r>
                  <a:rPr lang="en-US" dirty="0" err="1">
                    <a:effectLst/>
                  </a:rPr>
                  <a:t>veliku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tabelu</a:t>
                </a:r>
                <a:r>
                  <a:rPr lang="en-US" dirty="0">
                    <a:effectLst/>
                  </a:rPr>
                  <a:t> je </a:t>
                </a:r>
                <a:r>
                  <a:rPr lang="en-US" dirty="0" err="1">
                    <a:effectLst/>
                  </a:rPr>
                  <a:t>direktan</a:t>
                </a:r>
                <a:r>
                  <a:rPr lang="en-US" dirty="0">
                    <a:effectLst/>
                  </a:rPr>
                  <a:t> signal da </a:t>
                </a:r>
                <a:r>
                  <a:rPr lang="en-US" dirty="0" err="1">
                    <a:effectLst/>
                  </a:rPr>
                  <a:t>nešto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nije</a:t>
                </a:r>
                <a:r>
                  <a:rPr lang="en-US" dirty="0">
                    <a:effectLst/>
                  </a:rPr>
                  <a:t> u </a:t>
                </a:r>
                <a:r>
                  <a:rPr lang="en-US" dirty="0" err="1">
                    <a:effectLst/>
                  </a:rPr>
                  <a:t>redu</a:t>
                </a:r>
                <a:r>
                  <a:rPr lang="en-US" dirty="0">
                    <a:effectLst/>
                  </a:rPr>
                  <a:t> — </a:t>
                </a:r>
                <a:r>
                  <a:rPr lang="en-US" dirty="0" err="1">
                    <a:effectLst/>
                  </a:rPr>
                  <a:t>uzrok</a:t>
                </a:r>
                <a:r>
                  <a:rPr lang="en-US" dirty="0">
                    <a:effectLst/>
                  </a:rPr>
                  <a:t> je </a:t>
                </a:r>
                <a:r>
                  <a:rPr lang="en-US" dirty="0" err="1">
                    <a:effectLst/>
                  </a:rPr>
                  <a:t>najčešće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zastarela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statistika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indeksa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ili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visok</a:t>
                </a:r>
                <a:r>
                  <a:rPr lang="en-US" dirty="0">
                    <a:effectLst/>
                  </a:rPr>
                  <a:t> Index Bloat, a </a:t>
                </a:r>
                <a:r>
                  <a:rPr lang="en-US" dirty="0" err="1">
                    <a:effectLst/>
                  </a:rPr>
                  <a:t>rešenje</a:t>
                </a:r>
                <a:r>
                  <a:rPr lang="en-US" dirty="0">
                    <a:effectLst/>
                  </a:rPr>
                  <a:t> je </a:t>
                </a:r>
                <a:r>
                  <a:rPr lang="en-US" dirty="0" err="1">
                    <a:effectLst/>
                  </a:rPr>
                  <a:t>pokretanje</a:t>
                </a:r>
                <a:r>
                  <a:rPr lang="en-US" dirty="0">
                    <a:effectLst/>
                  </a:rPr>
                  <a:t> SET STATISTICS INDEX </a:t>
                </a:r>
                <a:r>
                  <a:rPr lang="en-US" dirty="0" err="1">
                    <a:effectLst/>
                  </a:rPr>
                  <a:t>ili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rekreacija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indeksa</a:t>
                </a:r>
                <a:r>
                  <a:rPr lang="en-US" dirty="0">
                    <a:effectLst/>
                  </a:rPr>
                  <a:t>.</a:t>
                </a:r>
              </a:p>
              <a:p>
                <a:r>
                  <a:rPr lang="en-US" b="1" dirty="0">
                    <a:effectLst/>
                  </a:rPr>
                  <a:t>Snapshot </a:t>
                </a:r>
                <a:r>
                  <a:rPr lang="en-US" b="1" dirty="0" err="1">
                    <a:effectLst/>
                  </a:rPr>
                  <a:t>kazna</a:t>
                </a:r>
                <a:r>
                  <a:rPr lang="en-US" dirty="0">
                    <a:effectLst/>
                  </a:rPr>
                  <a:t> je </a:t>
                </a:r>
                <a:r>
                  <a:rPr lang="en-US" dirty="0" err="1">
                    <a:effectLst/>
                  </a:rPr>
                  <a:t>važno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upozorenje</a:t>
                </a:r>
                <a:r>
                  <a:rPr lang="en-US" dirty="0">
                    <a:effectLst/>
                  </a:rPr>
                  <a:t> — Snapshot </a:t>
                </a:r>
                <a:r>
                  <a:rPr lang="en-US" dirty="0" err="1">
                    <a:effectLst/>
                  </a:rPr>
                  <a:t>transakcija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nad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tabelom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sa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mnogo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verzija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može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biti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sporija</a:t>
                </a:r>
                <a:r>
                  <a:rPr lang="en-US" dirty="0">
                    <a:effectLst/>
                  </a:rPr>
                  <a:t> od Read Committed </a:t>
                </a:r>
                <a:r>
                  <a:rPr lang="en-US" dirty="0" err="1">
                    <a:effectLst/>
                  </a:rPr>
                  <a:t>jer</a:t>
                </a:r>
                <a:r>
                  <a:rPr lang="en-US" dirty="0">
                    <a:effectLst/>
                  </a:rPr>
                  <a:t> engine mora </a:t>
                </a:r>
                <a:r>
                  <a:rPr lang="en-US" dirty="0" err="1">
                    <a:effectLst/>
                  </a:rPr>
                  <a:t>pratiti</a:t>
                </a:r>
                <a:r>
                  <a:rPr lang="en-US" dirty="0">
                    <a:effectLst/>
                  </a:rPr>
                  <a:t> Back Interest Pointer </a:t>
                </a:r>
                <a:r>
                  <a:rPr lang="en-US" dirty="0" err="1">
                    <a:effectLst/>
                  </a:rPr>
                  <a:t>unazad</a:t>
                </a:r>
                <a:r>
                  <a:rPr lang="en-US" dirty="0">
                    <a:effectLst/>
                  </a:rPr>
                  <a:t> za </a:t>
                </a:r>
                <a:r>
                  <a:rPr lang="en-US" dirty="0" err="1">
                    <a:effectLst/>
                  </a:rPr>
                  <a:t>svaki</a:t>
                </a:r>
                <a:r>
                  <a:rPr lang="en-US" dirty="0">
                    <a:effectLst/>
                  </a:rPr>
                  <a:t> red </a:t>
                </a:r>
                <a:r>
                  <a:rPr lang="en-US" dirty="0" err="1">
                    <a:effectLst/>
                  </a:rPr>
                  <a:t>dok</a:t>
                </a:r>
                <a:r>
                  <a:rPr lang="en-US" dirty="0">
                    <a:effectLst/>
                  </a:rPr>
                  <a:t> ne </a:t>
                </a:r>
                <a:r>
                  <a:rPr lang="en-US" dirty="0" err="1">
                    <a:effectLst/>
                  </a:rPr>
                  <a:t>pronađe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verziju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vidljivu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toj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transakciji</a:t>
                </a:r>
                <a:r>
                  <a:rPr lang="en-US" dirty="0">
                    <a:effectLst/>
                  </a:rPr>
                  <a:t>.</a:t>
                </a:r>
              </a:p>
              <a:p>
                <a:r>
                  <a:rPr lang="en-US" b="1" dirty="0">
                    <a:effectLst/>
                  </a:rPr>
                  <a:t>MON$ monitoring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omogućava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dijagnostiku</a:t>
                </a:r>
                <a:r>
                  <a:rPr lang="en-US" dirty="0">
                    <a:effectLst/>
                  </a:rPr>
                  <a:t> u </a:t>
                </a:r>
                <a:r>
                  <a:rPr lang="en-US" dirty="0" err="1">
                    <a:effectLst/>
                  </a:rPr>
                  <a:t>realnom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vremenu</a:t>
                </a:r>
                <a:r>
                  <a:rPr lang="en-US" dirty="0">
                    <a:effectLst/>
                  </a:rPr>
                  <a:t> — </a:t>
                </a:r>
                <a:r>
                  <a:rPr lang="en-US" dirty="0" err="1">
                    <a:effectLst/>
                  </a:rPr>
                  <a:t>upitom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nad</a:t>
                </a:r>
                <a:r>
                  <a:rPr lang="en-US" dirty="0">
                    <a:effectLst/>
                  </a:rPr>
                  <a:t> MON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𝑆𝑇𝐴𝑇𝐸𝑀𝐸𝑁𝑇𝑆𝑖𝑀𝑂𝑁</a:t>
                </a:r>
                <a:r>
                  <a:rPr lang="en-US" dirty="0">
                    <a:effectLst/>
                  </a:rPr>
                  <a:t>TRANSACTIONS </a:t>
                </a:r>
                <a:r>
                  <a:rPr lang="en-US" dirty="0" err="1">
                    <a:effectLst/>
                  </a:rPr>
                  <a:t>možemo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trenutno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identifikovati</a:t>
                </a:r>
                <a:r>
                  <a:rPr lang="en-US" dirty="0">
                    <a:effectLst/>
                  </a:rPr>
                  <a:t> spore </a:t>
                </a:r>
                <a:r>
                  <a:rPr lang="en-US" dirty="0" err="1">
                    <a:effectLst/>
                  </a:rPr>
                  <a:t>upite</a:t>
                </a:r>
                <a:r>
                  <a:rPr lang="en-US" dirty="0">
                    <a:effectLst/>
                  </a:rPr>
                  <a:t>, </a:t>
                </a:r>
                <a:r>
                  <a:rPr lang="en-US" dirty="0" err="1">
                    <a:effectLst/>
                  </a:rPr>
                  <a:t>njihove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nivoe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izolacije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i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sesije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koje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blokiraju</a:t>
                </a:r>
                <a:r>
                  <a:rPr lang="en-US" dirty="0">
                    <a:effectLst/>
                  </a:rPr>
                  <a:t> Garbage Collector. 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effectLst/>
              </a:rPr>
              <a:t>Praktična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demonstracija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kroz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šest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testova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na</a:t>
            </a:r>
            <a:r>
              <a:rPr lang="en-US" dirty="0">
                <a:effectLst/>
              </a:rPr>
              <a:t> EMPLOYEE.FDB </a:t>
            </a:r>
            <a:r>
              <a:rPr lang="en-US" dirty="0" err="1">
                <a:effectLst/>
              </a:rPr>
              <a:t>bazi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potvrđuje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teorijske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principe</a:t>
            </a:r>
            <a:r>
              <a:rPr lang="en-US" dirty="0">
                <a:effectLst/>
              </a:rPr>
              <a:t> MGA </a:t>
            </a:r>
            <a:r>
              <a:rPr lang="en-US" dirty="0" err="1">
                <a:effectLst/>
              </a:rPr>
              <a:t>arhitekture</a:t>
            </a:r>
            <a:r>
              <a:rPr lang="en-US" dirty="0">
                <a:effectLst/>
              </a:rPr>
              <a:t> u </a:t>
            </a:r>
            <a:r>
              <a:rPr lang="en-US" dirty="0" err="1">
                <a:effectLst/>
              </a:rPr>
              <a:t>realnim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scenarijima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konkurentnog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pristupa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podacima</a:t>
            </a:r>
            <a:r>
              <a:rPr lang="en-US" dirty="0">
                <a:effectLst/>
              </a:rPr>
              <a:t>.</a:t>
            </a:r>
          </a:p>
          <a:p>
            <a:r>
              <a:rPr lang="en-US" b="1" dirty="0">
                <a:effectLst/>
              </a:rPr>
              <a:t>Test 1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potvrđuje</a:t>
            </a:r>
            <a:r>
              <a:rPr lang="en-US" dirty="0">
                <a:effectLst/>
              </a:rPr>
              <a:t> da je Dirty Read u </a:t>
            </a:r>
            <a:r>
              <a:rPr lang="en-US" dirty="0" err="1">
                <a:effectLst/>
              </a:rPr>
              <a:t>Firebirdu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nemoguć</a:t>
            </a:r>
            <a:r>
              <a:rPr lang="en-US" dirty="0">
                <a:effectLst/>
              </a:rPr>
              <a:t> po </a:t>
            </a:r>
            <a:r>
              <a:rPr lang="en-US" dirty="0" err="1">
                <a:effectLst/>
              </a:rPr>
              <a:t>dizajnu</a:t>
            </a:r>
            <a:r>
              <a:rPr lang="en-US" dirty="0">
                <a:effectLst/>
              </a:rPr>
              <a:t> — </a:t>
            </a:r>
            <a:r>
              <a:rPr lang="en-US" dirty="0" err="1">
                <a:effectLst/>
              </a:rPr>
              <a:t>kada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Sesija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promeni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platu</a:t>
            </a:r>
            <a:r>
              <a:rPr lang="en-US" dirty="0">
                <a:effectLst/>
              </a:rPr>
              <a:t> bez COMMIT-a, </a:t>
            </a:r>
            <a:r>
              <a:rPr lang="en-US" dirty="0" err="1">
                <a:effectLst/>
              </a:rPr>
              <a:t>Sesija</a:t>
            </a:r>
            <a:r>
              <a:rPr lang="en-US" dirty="0">
                <a:effectLst/>
              </a:rPr>
              <a:t> B </a:t>
            </a:r>
            <a:r>
              <a:rPr lang="en-US" dirty="0" err="1">
                <a:effectLst/>
              </a:rPr>
              <a:t>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dalje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vidi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originalnu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vrednost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jer</a:t>
            </a:r>
            <a:r>
              <a:rPr lang="en-US" dirty="0">
                <a:effectLst/>
              </a:rPr>
              <a:t> engine </a:t>
            </a:r>
            <a:r>
              <a:rPr lang="en-US" dirty="0" err="1">
                <a:effectLst/>
              </a:rPr>
              <a:t>nikada</a:t>
            </a:r>
            <a:r>
              <a:rPr lang="en-US" dirty="0">
                <a:effectLst/>
              </a:rPr>
              <a:t> ne </a:t>
            </a:r>
            <a:r>
              <a:rPr lang="en-US" dirty="0" err="1">
                <a:effectLst/>
              </a:rPr>
              <a:t>čita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nepotvrđene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podatke</a:t>
            </a:r>
            <a:r>
              <a:rPr lang="en-US" dirty="0">
                <a:effectLst/>
              </a:rPr>
              <a:t>.</a:t>
            </a:r>
          </a:p>
          <a:p>
            <a:r>
              <a:rPr lang="en-US" b="1" dirty="0">
                <a:effectLst/>
              </a:rPr>
              <a:t>Test 2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demonstrira</a:t>
            </a:r>
            <a:r>
              <a:rPr lang="en-US" dirty="0">
                <a:effectLst/>
              </a:rPr>
              <a:t> Non-repeatable Read </a:t>
            </a:r>
            <a:r>
              <a:rPr lang="en-US" dirty="0" err="1">
                <a:effectLst/>
              </a:rPr>
              <a:t>na</a:t>
            </a:r>
            <a:r>
              <a:rPr lang="en-US" dirty="0">
                <a:effectLst/>
              </a:rPr>
              <a:t> Read Committed </a:t>
            </a:r>
            <a:r>
              <a:rPr lang="en-US" dirty="0" err="1">
                <a:effectLst/>
              </a:rPr>
              <a:t>nivou</a:t>
            </a:r>
            <a:r>
              <a:rPr lang="en-US" dirty="0">
                <a:effectLst/>
              </a:rPr>
              <a:t> — </a:t>
            </a:r>
            <a:r>
              <a:rPr lang="en-US" dirty="0" err="1">
                <a:effectLst/>
              </a:rPr>
              <a:t>kada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Sesija</a:t>
            </a:r>
            <a:r>
              <a:rPr lang="en-US" dirty="0">
                <a:effectLst/>
              </a:rPr>
              <a:t> B </a:t>
            </a:r>
            <a:r>
              <a:rPr lang="en-US" dirty="0" err="1">
                <a:effectLst/>
              </a:rPr>
              <a:t>izvrši</a:t>
            </a:r>
            <a:r>
              <a:rPr lang="en-US" dirty="0">
                <a:effectLst/>
              </a:rPr>
              <a:t> UPDATE </a:t>
            </a:r>
            <a:r>
              <a:rPr lang="en-US" dirty="0" err="1">
                <a:effectLst/>
              </a:rPr>
              <a:t>i</a:t>
            </a:r>
            <a:r>
              <a:rPr lang="en-US" dirty="0">
                <a:effectLst/>
              </a:rPr>
              <a:t> COMMIT </a:t>
            </a:r>
            <a:r>
              <a:rPr lang="en-US" dirty="0" err="1">
                <a:effectLst/>
              </a:rPr>
              <a:t>između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dva</a:t>
            </a:r>
            <a:r>
              <a:rPr lang="en-US" dirty="0">
                <a:effectLst/>
              </a:rPr>
              <a:t> SELECT-a </a:t>
            </a:r>
            <a:r>
              <a:rPr lang="en-US" dirty="0" err="1">
                <a:effectLst/>
              </a:rPr>
              <a:t>Sesije</a:t>
            </a:r>
            <a:r>
              <a:rPr lang="en-US" dirty="0">
                <a:effectLst/>
              </a:rPr>
              <a:t> A, </a:t>
            </a:r>
            <a:r>
              <a:rPr lang="en-US" dirty="0" err="1">
                <a:effectLst/>
              </a:rPr>
              <a:t>drugi</a:t>
            </a:r>
            <a:r>
              <a:rPr lang="en-US" dirty="0">
                <a:effectLst/>
              </a:rPr>
              <a:t> SELECT </a:t>
            </a:r>
            <a:r>
              <a:rPr lang="en-US" dirty="0" err="1">
                <a:effectLst/>
              </a:rPr>
              <a:t>vraća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novu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vrednost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jer</a:t>
            </a:r>
            <a:r>
              <a:rPr lang="en-US" dirty="0">
                <a:effectLst/>
              </a:rPr>
              <a:t> Read Committed </a:t>
            </a:r>
            <a:r>
              <a:rPr lang="en-US" dirty="0" err="1">
                <a:effectLst/>
              </a:rPr>
              <a:t>uvek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čita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poslednju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potvrđenu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verziju</a:t>
            </a:r>
            <a:r>
              <a:rPr lang="en-US" dirty="0">
                <a:effectLst/>
              </a:rPr>
              <a:t>.</a:t>
            </a:r>
          </a:p>
          <a:p>
            <a:r>
              <a:rPr lang="en-US" b="1" dirty="0">
                <a:effectLst/>
              </a:rPr>
              <a:t>Test 3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potvrđuje</a:t>
            </a:r>
            <a:r>
              <a:rPr lang="en-US" dirty="0">
                <a:effectLst/>
              </a:rPr>
              <a:t> da Snapshot </a:t>
            </a:r>
            <a:r>
              <a:rPr lang="en-US" dirty="0" err="1">
                <a:effectLst/>
              </a:rPr>
              <a:t>nivo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sprečava</a:t>
            </a:r>
            <a:r>
              <a:rPr lang="en-US" dirty="0">
                <a:effectLst/>
              </a:rPr>
              <a:t> Phantom Read — </a:t>
            </a:r>
            <a:r>
              <a:rPr lang="en-US" dirty="0" err="1">
                <a:effectLst/>
              </a:rPr>
              <a:t>kada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Sesija</a:t>
            </a:r>
            <a:r>
              <a:rPr lang="en-US" dirty="0">
                <a:effectLst/>
              </a:rPr>
              <a:t> B </a:t>
            </a:r>
            <a:r>
              <a:rPr lang="en-US" dirty="0" err="1">
                <a:effectLst/>
              </a:rPr>
              <a:t>doda</a:t>
            </a:r>
            <a:r>
              <a:rPr lang="en-US" dirty="0">
                <a:effectLst/>
              </a:rPr>
              <a:t> novi red </a:t>
            </a:r>
            <a:r>
              <a:rPr lang="en-US" dirty="0" err="1">
                <a:effectLst/>
              </a:rPr>
              <a:t>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potvrdi</a:t>
            </a:r>
            <a:r>
              <a:rPr lang="en-US" dirty="0">
                <a:effectLst/>
              </a:rPr>
              <a:t> ga, </a:t>
            </a:r>
            <a:r>
              <a:rPr lang="en-US" dirty="0" err="1">
                <a:effectLst/>
              </a:rPr>
              <a:t>Sesija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na</a:t>
            </a:r>
            <a:r>
              <a:rPr lang="en-US" dirty="0">
                <a:effectLst/>
              </a:rPr>
              <a:t> Snapshot </a:t>
            </a:r>
            <a:r>
              <a:rPr lang="en-US" dirty="0" err="1">
                <a:effectLst/>
              </a:rPr>
              <a:t>nivou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dalje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broji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isti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broj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redova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jer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ignoriše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sve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promene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nastale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posle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njenog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starta</a:t>
            </a:r>
            <a:r>
              <a:rPr lang="en-US" dirty="0">
                <a:effectLst/>
              </a:rPr>
              <a:t>.</a:t>
            </a:r>
          </a:p>
          <a:p>
            <a:r>
              <a:rPr lang="en-US" b="1" dirty="0">
                <a:effectLst/>
              </a:rPr>
              <a:t>Test 4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pokazuje</a:t>
            </a:r>
            <a:r>
              <a:rPr lang="en-US" dirty="0">
                <a:effectLst/>
              </a:rPr>
              <a:t> Update Conflict — </a:t>
            </a:r>
            <a:r>
              <a:rPr lang="en-US" dirty="0" err="1">
                <a:effectLst/>
              </a:rPr>
              <a:t>kada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dve</a:t>
            </a:r>
            <a:r>
              <a:rPr lang="en-US" dirty="0">
                <a:effectLst/>
              </a:rPr>
              <a:t> Snapshot </a:t>
            </a:r>
            <a:r>
              <a:rPr lang="en-US" dirty="0" err="1">
                <a:effectLst/>
              </a:rPr>
              <a:t>sesije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pokušaju</a:t>
            </a:r>
            <a:r>
              <a:rPr lang="en-US" dirty="0">
                <a:effectLst/>
              </a:rPr>
              <a:t> da </a:t>
            </a:r>
            <a:r>
              <a:rPr lang="en-US" dirty="0" err="1">
                <a:effectLst/>
              </a:rPr>
              <a:t>menjaju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isti</a:t>
            </a:r>
            <a:r>
              <a:rPr lang="en-US" dirty="0">
                <a:effectLst/>
              </a:rPr>
              <a:t> red, Firebird </a:t>
            </a:r>
            <a:r>
              <a:rPr lang="en-US" dirty="0" err="1">
                <a:effectLst/>
              </a:rPr>
              <a:t>prekida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mlađu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sesiju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uz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grešku</a:t>
            </a:r>
            <a:r>
              <a:rPr lang="en-US" dirty="0">
                <a:effectLst/>
              </a:rPr>
              <a:t> deadlock, </a:t>
            </a:r>
            <a:r>
              <a:rPr lang="en-US" dirty="0" err="1">
                <a:effectLst/>
              </a:rPr>
              <a:t>što</a:t>
            </a:r>
            <a:r>
              <a:rPr lang="en-US" dirty="0">
                <a:effectLst/>
              </a:rPr>
              <a:t> je </a:t>
            </a:r>
            <a:r>
              <a:rPr lang="en-US" dirty="0" err="1">
                <a:effectLst/>
              </a:rPr>
              <a:t>pesimistički</a:t>
            </a:r>
            <a:r>
              <a:rPr lang="en-US" dirty="0">
                <a:effectLst/>
              </a:rPr>
              <a:t> lock </a:t>
            </a:r>
            <a:r>
              <a:rPr lang="en-US" dirty="0" err="1">
                <a:effectLst/>
              </a:rPr>
              <a:t>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nivou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verzije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zapisa</a:t>
            </a:r>
            <a:r>
              <a:rPr lang="en-US" dirty="0">
                <a:effectLst/>
              </a:rPr>
              <a:t>.</a:t>
            </a:r>
          </a:p>
          <a:p>
            <a:r>
              <a:rPr lang="en-US" b="1" dirty="0" err="1">
                <a:effectLst/>
              </a:rPr>
              <a:t>Testovi</a:t>
            </a:r>
            <a:r>
              <a:rPr lang="en-US" b="1" dirty="0">
                <a:effectLst/>
              </a:rPr>
              <a:t> 5 </a:t>
            </a:r>
            <a:r>
              <a:rPr lang="en-US" b="1" dirty="0" err="1">
                <a:effectLst/>
              </a:rPr>
              <a:t>i</a:t>
            </a:r>
            <a:r>
              <a:rPr lang="en-US" b="1" dirty="0">
                <a:effectLst/>
              </a:rPr>
              <a:t> 6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demonstriraju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upravljanje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čekanjem</a:t>
            </a:r>
            <a:r>
              <a:rPr lang="en-US" dirty="0">
                <a:effectLst/>
              </a:rPr>
              <a:t> — Lock Timeout </a:t>
            </a:r>
            <a:r>
              <a:rPr lang="en-US" dirty="0" err="1">
                <a:effectLst/>
              </a:rPr>
              <a:t>automatski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prekida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čekanje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nakon</a:t>
            </a:r>
            <a:r>
              <a:rPr lang="en-US" dirty="0">
                <a:effectLst/>
              </a:rPr>
              <a:t> 5 </a:t>
            </a:r>
            <a:r>
              <a:rPr lang="en-US" dirty="0" err="1">
                <a:effectLst/>
              </a:rPr>
              <a:t>sekundi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dok</a:t>
            </a:r>
            <a:r>
              <a:rPr lang="en-US" dirty="0">
                <a:effectLst/>
              </a:rPr>
              <a:t> WITH LOCK </a:t>
            </a:r>
            <a:r>
              <a:rPr lang="en-US" dirty="0" err="1">
                <a:effectLst/>
              </a:rPr>
              <a:t>pesimistički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zaključava</a:t>
            </a:r>
            <a:r>
              <a:rPr lang="en-US" dirty="0">
                <a:effectLst/>
              </a:rPr>
              <a:t> red </a:t>
            </a:r>
            <a:r>
              <a:rPr lang="en-US" dirty="0" err="1">
                <a:effectLst/>
              </a:rPr>
              <a:t>pri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čitanju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blokira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svaki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pokušaj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izmene</a:t>
            </a:r>
            <a:r>
              <a:rPr lang="en-US" dirty="0">
                <a:effectLst/>
              </a:rPr>
              <a:t> od </a:t>
            </a:r>
            <a:r>
              <a:rPr lang="en-US" dirty="0" err="1">
                <a:effectLst/>
              </a:rPr>
              <a:t>strane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druge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sesije</a:t>
            </a:r>
            <a:r>
              <a:rPr lang="en-US" dirty="0">
                <a:effectLst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MGA </a:t>
            </a:r>
            <a:r>
              <a:rPr lang="en-US" dirty="0" err="1"/>
              <a:t>arhitektura</a:t>
            </a:r>
            <a:r>
              <a:rPr lang="en-US" dirty="0"/>
              <a:t> je </a:t>
            </a:r>
            <a:r>
              <a:rPr lang="en-US" dirty="0" err="1"/>
              <a:t>temeljna</a:t>
            </a:r>
            <a:r>
              <a:rPr lang="en-US" dirty="0"/>
              <a:t> </a:t>
            </a:r>
            <a:r>
              <a:rPr lang="en-US" dirty="0" err="1"/>
              <a:t>prednost</a:t>
            </a:r>
            <a:r>
              <a:rPr lang="en-US" dirty="0"/>
              <a:t> </a:t>
            </a:r>
            <a:r>
              <a:rPr lang="en-US" dirty="0" err="1"/>
              <a:t>Firebirda</a:t>
            </a:r>
            <a:r>
              <a:rPr lang="en-US" dirty="0"/>
              <a:t> </a:t>
            </a:r>
            <a:r>
              <a:rPr lang="en-US" dirty="0" err="1"/>
              <a:t>nad</a:t>
            </a:r>
            <a:r>
              <a:rPr lang="en-US" dirty="0"/>
              <a:t> </a:t>
            </a:r>
            <a:r>
              <a:rPr lang="en-US" dirty="0" err="1"/>
              <a:t>klasičnim</a:t>
            </a:r>
            <a:r>
              <a:rPr lang="en-US" dirty="0"/>
              <a:t> </a:t>
            </a:r>
            <a:r>
              <a:rPr lang="en-US" dirty="0" err="1"/>
              <a:t>sistemima</a:t>
            </a:r>
            <a:r>
              <a:rPr lang="en-US" dirty="0"/>
              <a:t> — </a:t>
            </a:r>
            <a:r>
              <a:rPr lang="en-US" dirty="0" err="1"/>
              <a:t>čitaoci</a:t>
            </a:r>
            <a:r>
              <a:rPr lang="en-US" dirty="0"/>
              <a:t> </a:t>
            </a:r>
            <a:r>
              <a:rPr lang="en-US" dirty="0" err="1"/>
              <a:t>nikada</a:t>
            </a:r>
            <a:r>
              <a:rPr lang="en-US" dirty="0"/>
              <a:t> ne </a:t>
            </a:r>
            <a:r>
              <a:rPr lang="en-US" dirty="0" err="1"/>
              <a:t>blokiraju</a:t>
            </a:r>
            <a:r>
              <a:rPr lang="en-US" dirty="0"/>
              <a:t> </a:t>
            </a:r>
            <a:r>
              <a:rPr lang="en-US" dirty="0" err="1"/>
              <a:t>pisce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obrnuto</a:t>
            </a:r>
            <a:r>
              <a:rPr lang="en-US" dirty="0"/>
              <a:t>,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omogućava</a:t>
            </a:r>
            <a:r>
              <a:rPr lang="en-US" dirty="0"/>
              <a:t> </a:t>
            </a:r>
            <a:r>
              <a:rPr lang="en-US" dirty="0" err="1"/>
              <a:t>visok</a:t>
            </a:r>
            <a:r>
              <a:rPr lang="en-US" dirty="0"/>
              <a:t> </a:t>
            </a:r>
            <a:r>
              <a:rPr lang="en-US" dirty="0" err="1"/>
              <a:t>stepen</a:t>
            </a:r>
            <a:r>
              <a:rPr lang="en-US" dirty="0"/>
              <a:t> </a:t>
            </a:r>
            <a:r>
              <a:rPr lang="en-US" dirty="0" err="1"/>
              <a:t>konkurentnosti</a:t>
            </a:r>
            <a:r>
              <a:rPr lang="en-US" dirty="0"/>
              <a:t> bez </a:t>
            </a:r>
            <a:r>
              <a:rPr lang="en-US" dirty="0" err="1"/>
              <a:t>mehanizama</a:t>
            </a:r>
            <a:r>
              <a:rPr lang="en-US" dirty="0"/>
              <a:t> </a:t>
            </a:r>
            <a:r>
              <a:rPr lang="en-US" dirty="0" err="1"/>
              <a:t>zaključavanja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nivou</a:t>
            </a:r>
            <a:r>
              <a:rPr lang="en-US" dirty="0"/>
              <a:t> </a:t>
            </a:r>
            <a:r>
              <a:rPr lang="en-US" dirty="0" err="1"/>
              <a:t>redova</a:t>
            </a:r>
            <a:r>
              <a:rPr lang="en-US" dirty="0"/>
              <a:t>.</a:t>
            </a:r>
          </a:p>
          <a:p>
            <a:r>
              <a:rPr lang="en-US" dirty="0"/>
              <a:t>Izbor </a:t>
            </a:r>
            <a:r>
              <a:rPr lang="en-US" dirty="0" err="1"/>
              <a:t>nivoa</a:t>
            </a:r>
            <a:r>
              <a:rPr lang="en-US" dirty="0"/>
              <a:t> </a:t>
            </a:r>
            <a:r>
              <a:rPr lang="en-US" dirty="0" err="1"/>
              <a:t>izolacije</a:t>
            </a:r>
            <a:r>
              <a:rPr lang="en-US" dirty="0"/>
              <a:t> </a:t>
            </a:r>
            <a:r>
              <a:rPr lang="en-US" dirty="0" err="1"/>
              <a:t>uvek</a:t>
            </a:r>
            <a:r>
              <a:rPr lang="en-US" dirty="0"/>
              <a:t> je </a:t>
            </a:r>
            <a:r>
              <a:rPr lang="en-US" dirty="0" err="1"/>
              <a:t>kompromis</a:t>
            </a:r>
            <a:r>
              <a:rPr lang="en-US" dirty="0"/>
              <a:t> — Snapshot za </a:t>
            </a:r>
            <a:r>
              <a:rPr lang="en-US" dirty="0" err="1"/>
              <a:t>izveštaje</a:t>
            </a:r>
            <a:r>
              <a:rPr lang="en-US" dirty="0"/>
              <a:t> </a:t>
            </a:r>
            <a:r>
              <a:rPr lang="en-US" dirty="0" err="1"/>
              <a:t>gde</a:t>
            </a:r>
            <a:r>
              <a:rPr lang="en-US" dirty="0"/>
              <a:t> je </a:t>
            </a:r>
            <a:r>
              <a:rPr lang="en-US" dirty="0" err="1"/>
              <a:t>konzistentnost</a:t>
            </a:r>
            <a:r>
              <a:rPr lang="en-US" dirty="0"/>
              <a:t> </a:t>
            </a:r>
            <a:r>
              <a:rPr lang="en-US" dirty="0" err="1"/>
              <a:t>prioritet</a:t>
            </a:r>
            <a:r>
              <a:rPr lang="en-US" dirty="0"/>
              <a:t>, Read Committed za OLTP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svakodnevne</a:t>
            </a:r>
            <a:r>
              <a:rPr lang="en-US" dirty="0"/>
              <a:t> </a:t>
            </a:r>
            <a:r>
              <a:rPr lang="en-US" dirty="0" err="1"/>
              <a:t>operacije</a:t>
            </a:r>
            <a:r>
              <a:rPr lang="en-US" dirty="0"/>
              <a:t>, a Read Consistency </a:t>
            </a:r>
            <a:r>
              <a:rPr lang="en-US" dirty="0" err="1"/>
              <a:t>uveden</a:t>
            </a:r>
            <a:r>
              <a:rPr lang="en-US" dirty="0"/>
              <a:t> u Firebird 4.0 za </a:t>
            </a:r>
            <a:r>
              <a:rPr lang="en-US" dirty="0" err="1"/>
              <a:t>automatsko</a:t>
            </a:r>
            <a:r>
              <a:rPr lang="en-US" dirty="0"/>
              <a:t> </a:t>
            </a:r>
            <a:r>
              <a:rPr lang="en-US" dirty="0" err="1"/>
              <a:t>eliminisanje</a:t>
            </a:r>
            <a:r>
              <a:rPr lang="en-US" dirty="0"/>
              <a:t> </a:t>
            </a:r>
            <a:r>
              <a:rPr lang="en-US" dirty="0" err="1"/>
              <a:t>konflikata</a:t>
            </a:r>
            <a:r>
              <a:rPr lang="en-US" dirty="0"/>
              <a:t> bez retry </a:t>
            </a:r>
            <a:r>
              <a:rPr lang="en-US" dirty="0" err="1"/>
              <a:t>logike</a:t>
            </a:r>
            <a:r>
              <a:rPr lang="en-US" dirty="0"/>
              <a:t> u </a:t>
            </a:r>
            <a:r>
              <a:rPr lang="en-US" dirty="0" err="1"/>
              <a:t>aplikaciji</a:t>
            </a:r>
            <a:r>
              <a:rPr lang="en-US" dirty="0"/>
              <a:t>.</a:t>
            </a:r>
          </a:p>
          <a:p>
            <a:r>
              <a:rPr lang="en-US" dirty="0"/>
              <a:t>Garbage Collection je </a:t>
            </a:r>
            <a:r>
              <a:rPr lang="en-US" dirty="0" err="1"/>
              <a:t>ključan</a:t>
            </a:r>
            <a:r>
              <a:rPr lang="en-US" dirty="0"/>
              <a:t> za </a:t>
            </a:r>
            <a:r>
              <a:rPr lang="en-US" dirty="0" err="1"/>
              <a:t>zdravlje</a:t>
            </a:r>
            <a:r>
              <a:rPr lang="en-US" dirty="0"/>
              <a:t> </a:t>
            </a:r>
            <a:r>
              <a:rPr lang="en-US" dirty="0" err="1"/>
              <a:t>baze</a:t>
            </a:r>
            <a:r>
              <a:rPr lang="en-US" dirty="0"/>
              <a:t>, </a:t>
            </a:r>
            <a:r>
              <a:rPr lang="en-US" dirty="0" err="1"/>
              <a:t>ali</a:t>
            </a:r>
            <a:r>
              <a:rPr lang="en-US" dirty="0"/>
              <a:t> ga OAT </a:t>
            </a:r>
            <a:r>
              <a:rPr lang="en-US" dirty="0" err="1"/>
              <a:t>direktno</a:t>
            </a:r>
            <a:r>
              <a:rPr lang="en-US" dirty="0"/>
              <a:t> </a:t>
            </a:r>
            <a:r>
              <a:rPr lang="en-US" dirty="0" err="1"/>
              <a:t>kontroliše</a:t>
            </a:r>
            <a:r>
              <a:rPr lang="en-US" dirty="0"/>
              <a:t> — </a:t>
            </a:r>
            <a:r>
              <a:rPr lang="en-US" dirty="0" err="1"/>
              <a:t>dugačke</a:t>
            </a:r>
            <a:r>
              <a:rPr lang="en-US" dirty="0"/>
              <a:t> </a:t>
            </a:r>
            <a:r>
              <a:rPr lang="en-US" dirty="0" err="1"/>
              <a:t>otvorene</a:t>
            </a:r>
            <a:r>
              <a:rPr lang="en-US" dirty="0"/>
              <a:t> </a:t>
            </a:r>
            <a:r>
              <a:rPr lang="en-US" dirty="0" err="1"/>
              <a:t>transakcije</a:t>
            </a:r>
            <a:r>
              <a:rPr lang="en-US" dirty="0"/>
              <a:t> </a:t>
            </a:r>
            <a:r>
              <a:rPr lang="en-US" dirty="0" err="1"/>
              <a:t>blokiraju</a:t>
            </a:r>
            <a:r>
              <a:rPr lang="en-US" dirty="0"/>
              <a:t> </a:t>
            </a:r>
            <a:r>
              <a:rPr lang="en-US" dirty="0" err="1"/>
              <a:t>čišćenje</a:t>
            </a:r>
            <a:r>
              <a:rPr lang="en-US" dirty="0"/>
              <a:t> </a:t>
            </a:r>
            <a:r>
              <a:rPr lang="en-US" dirty="0" err="1"/>
              <a:t>zastarelih</a:t>
            </a:r>
            <a:r>
              <a:rPr lang="en-US" dirty="0"/>
              <a:t> </a:t>
            </a:r>
            <a:r>
              <a:rPr lang="en-US" dirty="0" err="1"/>
              <a:t>verzija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degradiraju</a:t>
            </a:r>
            <a:r>
              <a:rPr lang="en-US" dirty="0"/>
              <a:t> </a:t>
            </a:r>
            <a:r>
              <a:rPr lang="en-US" dirty="0" err="1"/>
              <a:t>performanse</a:t>
            </a:r>
            <a:r>
              <a:rPr lang="en-US" dirty="0"/>
              <a:t> </a:t>
            </a:r>
            <a:r>
              <a:rPr lang="en-US" dirty="0" err="1"/>
              <a:t>celog</a:t>
            </a:r>
            <a:r>
              <a:rPr lang="en-US" dirty="0"/>
              <a:t> </a:t>
            </a:r>
            <a:r>
              <a:rPr lang="en-US" dirty="0" err="1"/>
              <a:t>sistema</a:t>
            </a:r>
            <a:r>
              <a:rPr lang="en-US" dirty="0"/>
              <a:t>.</a:t>
            </a:r>
          </a:p>
          <a:p>
            <a:r>
              <a:rPr lang="en-US" dirty="0"/>
              <a:t>Deadlock </a:t>
            </a:r>
            <a:r>
              <a:rPr lang="en-US" dirty="0" err="1"/>
              <a:t>prevencija</a:t>
            </a:r>
            <a:r>
              <a:rPr lang="en-US" dirty="0"/>
              <a:t> je </a:t>
            </a:r>
            <a:r>
              <a:rPr lang="en-US" dirty="0" err="1"/>
              <a:t>jednostavna</a:t>
            </a:r>
            <a:r>
              <a:rPr lang="en-US" dirty="0"/>
              <a:t> </a:t>
            </a:r>
            <a:r>
              <a:rPr lang="en-US" dirty="0" err="1"/>
              <a:t>ali</a:t>
            </a:r>
            <a:r>
              <a:rPr lang="en-US" dirty="0"/>
              <a:t> </a:t>
            </a:r>
            <a:r>
              <a:rPr lang="en-US" dirty="0" err="1"/>
              <a:t>kritična</a:t>
            </a:r>
            <a:r>
              <a:rPr lang="en-US" dirty="0"/>
              <a:t> — </a:t>
            </a:r>
            <a:r>
              <a:rPr lang="en-US" dirty="0" err="1"/>
              <a:t>uvek</a:t>
            </a:r>
            <a:r>
              <a:rPr lang="en-US" dirty="0"/>
              <a:t> </a:t>
            </a:r>
            <a:r>
              <a:rPr lang="en-US" dirty="0" err="1"/>
              <a:t>ažurirati</a:t>
            </a:r>
            <a:r>
              <a:rPr lang="en-US" dirty="0"/>
              <a:t> </a:t>
            </a:r>
            <a:r>
              <a:rPr lang="en-US" dirty="0" err="1"/>
              <a:t>tabele</a:t>
            </a:r>
            <a:r>
              <a:rPr lang="en-US" dirty="0"/>
              <a:t> </a:t>
            </a:r>
            <a:r>
              <a:rPr lang="en-US" dirty="0" err="1"/>
              <a:t>istim</a:t>
            </a:r>
            <a:r>
              <a:rPr lang="en-US" dirty="0"/>
              <a:t> </a:t>
            </a:r>
            <a:r>
              <a:rPr lang="en-US" dirty="0" err="1"/>
              <a:t>redosledom</a:t>
            </a:r>
            <a:r>
              <a:rPr lang="en-US" dirty="0"/>
              <a:t> u </a:t>
            </a:r>
            <a:r>
              <a:rPr lang="en-US" dirty="0" err="1"/>
              <a:t>celoj</a:t>
            </a:r>
            <a:r>
              <a:rPr lang="en-US" dirty="0"/>
              <a:t> </a:t>
            </a:r>
            <a:r>
              <a:rPr lang="en-US" dirty="0" err="1"/>
              <a:t>aplikaciji</a:t>
            </a:r>
            <a:r>
              <a:rPr lang="en-US" dirty="0"/>
              <a:t>, </a:t>
            </a:r>
            <a:r>
              <a:rPr lang="en-US" dirty="0" err="1"/>
              <a:t>čime</a:t>
            </a:r>
            <a:r>
              <a:rPr lang="en-US" dirty="0"/>
              <a:t> se </a:t>
            </a:r>
            <a:r>
              <a:rPr lang="en-US" dirty="0" err="1"/>
              <a:t>eliminiše</a:t>
            </a:r>
            <a:r>
              <a:rPr lang="en-US" dirty="0"/>
              <a:t> </a:t>
            </a:r>
            <a:r>
              <a:rPr lang="en-US" dirty="0" err="1"/>
              <a:t>mogućnost</a:t>
            </a:r>
            <a:r>
              <a:rPr lang="en-US" dirty="0"/>
              <a:t> </a:t>
            </a:r>
            <a:r>
              <a:rPr lang="en-US" dirty="0" err="1"/>
              <a:t>kružnog</a:t>
            </a:r>
            <a:r>
              <a:rPr lang="en-US" dirty="0"/>
              <a:t> </a:t>
            </a:r>
            <a:r>
              <a:rPr lang="en-US" dirty="0" err="1"/>
              <a:t>čekanja</a:t>
            </a:r>
            <a:r>
              <a:rPr lang="en-US" dirty="0"/>
              <a:t> </a:t>
            </a:r>
            <a:r>
              <a:rPr lang="en-US" dirty="0" err="1"/>
              <a:t>između</a:t>
            </a:r>
            <a:r>
              <a:rPr lang="en-US" dirty="0"/>
              <a:t> </a:t>
            </a:r>
            <a:r>
              <a:rPr lang="en-US" dirty="0" err="1"/>
              <a:t>sesija</a:t>
            </a:r>
            <a:r>
              <a:rPr lang="en-US" dirty="0"/>
              <a:t>.</a:t>
            </a:r>
          </a:p>
          <a:p>
            <a:r>
              <a:rPr lang="en-US" dirty="0"/>
              <a:t>MON$ monitoring u </a:t>
            </a:r>
            <a:r>
              <a:rPr lang="en-US" dirty="0" err="1"/>
              <a:t>kombinaciji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SET PLAN ON </a:t>
            </a:r>
            <a:r>
              <a:rPr lang="en-US" dirty="0" err="1"/>
              <a:t>pruža</a:t>
            </a:r>
            <a:r>
              <a:rPr lang="en-US" dirty="0"/>
              <a:t> </a:t>
            </a:r>
            <a:r>
              <a:rPr lang="en-US" dirty="0" err="1"/>
              <a:t>kompletan</a:t>
            </a:r>
            <a:r>
              <a:rPr lang="en-US" dirty="0"/>
              <a:t> </a:t>
            </a:r>
            <a:r>
              <a:rPr lang="en-US" dirty="0" err="1"/>
              <a:t>uvid</a:t>
            </a:r>
            <a:r>
              <a:rPr lang="en-US" dirty="0"/>
              <a:t> u </a:t>
            </a:r>
            <a:r>
              <a:rPr lang="en-US" dirty="0" err="1"/>
              <a:t>planove</a:t>
            </a:r>
            <a:r>
              <a:rPr lang="en-US" dirty="0"/>
              <a:t> </a:t>
            </a:r>
            <a:r>
              <a:rPr lang="en-US" dirty="0" err="1"/>
              <a:t>izvršavanja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stanje</a:t>
            </a:r>
            <a:r>
              <a:rPr lang="en-US" dirty="0"/>
              <a:t> </a:t>
            </a:r>
            <a:r>
              <a:rPr lang="en-US" dirty="0" err="1"/>
              <a:t>transakcija</a:t>
            </a:r>
            <a:r>
              <a:rPr lang="en-US" dirty="0"/>
              <a:t> u </a:t>
            </a:r>
            <a:r>
              <a:rPr lang="en-US" dirty="0" err="1"/>
              <a:t>realnom</a:t>
            </a:r>
            <a:r>
              <a:rPr lang="en-US" dirty="0"/>
              <a:t> </a:t>
            </a:r>
            <a:r>
              <a:rPr lang="en-US" dirty="0" err="1"/>
              <a:t>vremenu</a:t>
            </a:r>
            <a:r>
              <a:rPr lang="en-US" dirty="0"/>
              <a:t>, </a:t>
            </a:r>
            <a:r>
              <a:rPr lang="en-US" dirty="0" err="1"/>
              <a:t>što</a:t>
            </a:r>
            <a:r>
              <a:rPr lang="en-US" dirty="0"/>
              <a:t> je </a:t>
            </a:r>
            <a:r>
              <a:rPr lang="en-US" dirty="0" err="1"/>
              <a:t>nezaobilazan</a:t>
            </a:r>
            <a:r>
              <a:rPr lang="en-US" dirty="0"/>
              <a:t> </a:t>
            </a:r>
            <a:r>
              <a:rPr lang="en-US" dirty="0" err="1"/>
              <a:t>alat</a:t>
            </a:r>
            <a:r>
              <a:rPr lang="en-US" dirty="0"/>
              <a:t> za </a:t>
            </a:r>
            <a:r>
              <a:rPr lang="en-US" dirty="0" err="1"/>
              <a:t>dijagnostiku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optimizaciju</a:t>
            </a:r>
            <a:r>
              <a:rPr lang="en-US" dirty="0"/>
              <a:t> </a:t>
            </a:r>
            <a:r>
              <a:rPr lang="en-US" dirty="0" err="1"/>
              <a:t>produkcijskih</a:t>
            </a:r>
            <a:r>
              <a:rPr lang="en-US" dirty="0"/>
              <a:t> </a:t>
            </a:r>
            <a:r>
              <a:rPr lang="en-US" dirty="0" err="1"/>
              <a:t>baza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chemeClr val="bg2">
              <a:lumMod val="75000"/>
            </a:scheme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201168" y="0"/>
            <a:ext cx="8942832" cy="54864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457199" y="960120"/>
            <a:ext cx="849923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Obrada transakcija, planovi izvršavanja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5361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6">
                    <a:lumMod val="40000"/>
                    <a:lumOff val="60000"/>
                  </a:schemeClr>
                </a:solidFill>
                <a:ea typeface="Calibri" pitchFamily="34" charset="-122"/>
                <a:cs typeface="Calibri" pitchFamily="34" charset="-120"/>
              </a:rPr>
              <a:t>transakcija, izolacija i zaključavanje</a:t>
            </a:r>
            <a:endParaRPr lang="en-US" sz="40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2172579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6">
                    <a:lumMod val="40000"/>
                    <a:lumOff val="60000"/>
                  </a:schemeClr>
                </a:solidFill>
                <a:ea typeface="Calibri" pitchFamily="34" charset="-122"/>
                <a:cs typeface="Calibri" pitchFamily="34" charset="-120"/>
              </a:rPr>
              <a:t>u Firebird bazi podataka</a:t>
            </a:r>
            <a:endParaRPr lang="en-US" sz="2000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348082B4-3CAC-CA09-CF8E-C284FE30D233}"/>
              </a:ext>
            </a:extLst>
          </p:cNvPr>
          <p:cNvSpPr/>
          <p:nvPr/>
        </p:nvSpPr>
        <p:spPr>
          <a:xfrm>
            <a:off x="660399" y="3863340"/>
            <a:ext cx="35269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Mentor: dr Aleksandar S. Stanimirović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F8908098-460B-D6DA-91C0-E94AEDEFBE7C}"/>
              </a:ext>
            </a:extLst>
          </p:cNvPr>
          <p:cNvSpPr/>
          <p:nvPr/>
        </p:nvSpPr>
        <p:spPr>
          <a:xfrm>
            <a:off x="660399" y="3510643"/>
            <a:ext cx="356325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400" i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Student:  </a:t>
            </a:r>
            <a:r>
              <a:rPr lang="en-US" sz="1400" i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Jefimija </a:t>
            </a:r>
            <a:r>
              <a:rPr lang="en-US" sz="1400" i="1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Stamenovi</a:t>
            </a:r>
            <a:r>
              <a:rPr lang="sr-Latn-RS" sz="1400" i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ć 1820/2024</a:t>
            </a:r>
            <a:endParaRPr lang="en-US" sz="1400" i="1" dirty="0">
              <a:solidFill>
                <a:schemeClr val="bg1"/>
              </a:solidFill>
            </a:endParaRPr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3A3026B5-436A-65A8-3346-EBBCC8C0CAD6}"/>
              </a:ext>
            </a:extLst>
          </p:cNvPr>
          <p:cNvSpPr/>
          <p:nvPr/>
        </p:nvSpPr>
        <p:spPr>
          <a:xfrm>
            <a:off x="274320" y="4818888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Elektronski fakultet u </a:t>
            </a:r>
            <a:r>
              <a:rPr lang="en-US" sz="1000" b="1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Nišu</a:t>
            </a:r>
            <a:r>
              <a:rPr lang="sr-Latn-RS" sz="1000" b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·</a:t>
            </a:r>
            <a:r>
              <a:rPr lang="sr-Latn-RS" sz="1000" b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Master </a:t>
            </a:r>
            <a:r>
              <a:rPr lang="en-US" sz="1000" b="1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akademske</a:t>
            </a:r>
            <a:r>
              <a:rPr lang="en-US" sz="1000" b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studije</a:t>
            </a:r>
            <a:r>
              <a:rPr lang="en-US" sz="1000" b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 ·  Sistemi za upravljanje </a:t>
            </a:r>
            <a:r>
              <a:rPr lang="en-US" sz="1000" b="1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bazama</a:t>
            </a:r>
            <a:r>
              <a:rPr lang="en-US" sz="1000" b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podataka</a:t>
            </a:r>
            <a:r>
              <a:rPr lang="sr-Latn-RS" sz="1000" b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·  Mart 2026. </a:t>
            </a:r>
            <a:endParaRPr lang="en-US" sz="1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bg2">
              <a:lumMod val="75000"/>
            </a:scheme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37160" y="0"/>
            <a:ext cx="9006840" cy="658368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274320" y="64008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Sadržaj prezentacije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4297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502920" cy="804672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246888" y="941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84124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ea typeface="Calibri" pitchFamily="34" charset="-122"/>
                <a:cs typeface="Calibri" pitchFamily="34" charset="-120"/>
              </a:rPr>
              <a:t>ACID principi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119786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660"/>
                </a:solidFill>
                <a:ea typeface="Calibri" pitchFamily="34" charset="-122"/>
                <a:cs typeface="Calibri" pitchFamily="34" charset="-120"/>
              </a:rPr>
              <a:t>Osnova svake transakcione baze podataka</a:t>
            </a:r>
            <a:endParaRPr lang="en-US" sz="1200" dirty="0">
              <a:solidFill>
                <a:srgbClr val="243660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228600" y="1737360"/>
            <a:ext cx="4297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228600" y="1737360"/>
            <a:ext cx="502920" cy="804672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246888" y="1901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2960" y="180136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ea typeface="Calibri" pitchFamily="34" charset="-122"/>
                <a:cs typeface="Calibri" pitchFamily="34" charset="-120"/>
              </a:rPr>
              <a:t>Transakcione anomalije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215798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660"/>
                </a:solidFill>
                <a:ea typeface="Calibri" pitchFamily="34" charset="-122"/>
                <a:cs typeface="Calibri" pitchFamily="34" charset="-120"/>
              </a:rPr>
              <a:t>Dirty Read, Non-repeatable, Phantom Read</a:t>
            </a:r>
            <a:endParaRPr lang="en-US" sz="1200" dirty="0">
              <a:solidFill>
                <a:srgbClr val="243660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28600" y="2697480"/>
            <a:ext cx="4297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228600" y="2697480"/>
            <a:ext cx="502920" cy="804672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246888" y="28620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2960" y="276148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ea typeface="Calibri" pitchFamily="34" charset="-122"/>
                <a:cs typeface="Calibri" pitchFamily="34" charset="-120"/>
              </a:rPr>
              <a:t>MGA i MVCC arhitektura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" y="311810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660"/>
                </a:solidFill>
                <a:ea typeface="Calibri" pitchFamily="34" charset="-122"/>
                <a:cs typeface="Calibri" pitchFamily="34" charset="-120"/>
              </a:rPr>
              <a:t>Verzije zapisa, TIP, Record Header</a:t>
            </a:r>
            <a:endParaRPr lang="en-US" sz="1200" dirty="0">
              <a:solidFill>
                <a:srgbClr val="243660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28600" y="3657600"/>
            <a:ext cx="4297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228600" y="3657600"/>
            <a:ext cx="502920" cy="804672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246888" y="38221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822960" y="372160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ea typeface="Calibri" pitchFamily="34" charset="-122"/>
                <a:cs typeface="Calibri" pitchFamily="34" charset="-120"/>
              </a:rPr>
              <a:t>Nivoi izolacije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2960" y="407822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660"/>
                </a:solidFill>
                <a:ea typeface="Calibri" pitchFamily="34" charset="-122"/>
                <a:cs typeface="Calibri" pitchFamily="34" charset="-120"/>
              </a:rPr>
              <a:t>Snapshot, Read Committed, Table Stability, Read Consistency</a:t>
            </a:r>
            <a:endParaRPr lang="en-US" sz="1200" dirty="0">
              <a:solidFill>
                <a:srgbClr val="243660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754880" y="777240"/>
            <a:ext cx="4297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4754880" y="777240"/>
            <a:ext cx="502920" cy="804672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4773168" y="941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05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5349240" y="84124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B2A4A"/>
                </a:solidFill>
                <a:ea typeface="Calibri" pitchFamily="34" charset="-122"/>
                <a:cs typeface="Calibri" pitchFamily="34" charset="-120"/>
              </a:rPr>
              <a:t>Mehanizmi</a:t>
            </a:r>
            <a:r>
              <a:rPr lang="en-US" sz="1600" b="1" dirty="0">
                <a:solidFill>
                  <a:srgbClr val="1B2A4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B2A4A"/>
                </a:solidFill>
                <a:ea typeface="Calibri" pitchFamily="34" charset="-122"/>
                <a:cs typeface="Calibri" pitchFamily="34" charset="-120"/>
              </a:rPr>
              <a:t>zaklju</a:t>
            </a:r>
            <a:r>
              <a:rPr lang="sr-Latn-RS" sz="1600" b="1" dirty="0">
                <a:solidFill>
                  <a:srgbClr val="1B2A4A"/>
                </a:solidFill>
                <a:ea typeface="Calibri" pitchFamily="34" charset="-122"/>
                <a:cs typeface="Calibri" pitchFamily="34" charset="-120"/>
              </a:rPr>
              <a:t>č</a:t>
            </a:r>
            <a:r>
              <a:rPr lang="en-US" sz="1600" b="1" dirty="0" err="1">
                <a:solidFill>
                  <a:srgbClr val="1B2A4A"/>
                </a:solidFill>
                <a:ea typeface="Calibri" pitchFamily="34" charset="-122"/>
                <a:cs typeface="Calibri" pitchFamily="34" charset="-120"/>
              </a:rPr>
              <a:t>avanja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349240" y="119786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660"/>
                </a:solidFill>
                <a:ea typeface="Calibri" pitchFamily="34" charset="-122"/>
                <a:cs typeface="Calibri" pitchFamily="34" charset="-120"/>
              </a:rPr>
              <a:t>WITH LOCK, deadlock, WAIT / NO WAIT / LOCK TIMEOUT</a:t>
            </a:r>
            <a:endParaRPr lang="en-US" sz="1200" dirty="0">
              <a:solidFill>
                <a:srgbClr val="243660"/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754880" y="1737360"/>
            <a:ext cx="4297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4754880" y="1737360"/>
            <a:ext cx="502920" cy="804672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4773168" y="1901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06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5349240" y="180136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ea typeface="Calibri" pitchFamily="34" charset="-122"/>
                <a:cs typeface="Calibri" pitchFamily="34" charset="-120"/>
              </a:rPr>
              <a:t>Garbage Collection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349240" y="215798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660"/>
                </a:solidFill>
                <a:ea typeface="Calibri" pitchFamily="34" charset="-122"/>
                <a:cs typeface="Calibri" pitchFamily="34" charset="-120"/>
              </a:rPr>
              <a:t>Database Bloat, transakcioni markeri, Sweep</a:t>
            </a:r>
            <a:endParaRPr lang="en-US" sz="1200" dirty="0">
              <a:solidFill>
                <a:srgbClr val="243660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754880" y="2697480"/>
            <a:ext cx="4297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4754880" y="2697480"/>
            <a:ext cx="502920" cy="804672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4773168" y="28620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07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38" name="Text 36"/>
          <p:cNvSpPr/>
          <p:nvPr/>
        </p:nvSpPr>
        <p:spPr>
          <a:xfrm>
            <a:off x="5349240" y="276148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B2A4A"/>
                </a:solidFill>
                <a:ea typeface="Calibri" pitchFamily="34" charset="-122"/>
                <a:cs typeface="Calibri" pitchFamily="34" charset="-120"/>
              </a:rPr>
              <a:t>Planovi</a:t>
            </a:r>
            <a:r>
              <a:rPr lang="en-US" sz="1600" b="1" dirty="0">
                <a:solidFill>
                  <a:srgbClr val="1B2A4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B2A4A"/>
                </a:solidFill>
                <a:ea typeface="Calibri" pitchFamily="34" charset="-122"/>
                <a:cs typeface="Calibri" pitchFamily="34" charset="-120"/>
              </a:rPr>
              <a:t>izvr</a:t>
            </a:r>
            <a:r>
              <a:rPr lang="sr-Latn-RS" sz="1600" b="1" dirty="0">
                <a:solidFill>
                  <a:srgbClr val="1B2A4A"/>
                </a:solidFill>
                <a:ea typeface="Calibri" pitchFamily="34" charset="-122"/>
                <a:cs typeface="Calibri" pitchFamily="34" charset="-120"/>
              </a:rPr>
              <a:t>š</a:t>
            </a:r>
            <a:r>
              <a:rPr lang="en-US" sz="1600" b="1" dirty="0" err="1">
                <a:solidFill>
                  <a:srgbClr val="1B2A4A"/>
                </a:solidFill>
                <a:ea typeface="Calibri" pitchFamily="34" charset="-122"/>
                <a:cs typeface="Calibri" pitchFamily="34" charset="-120"/>
              </a:rPr>
              <a:t>avanja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349240" y="311810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660"/>
                </a:solidFill>
                <a:ea typeface="Calibri" pitchFamily="34" charset="-122"/>
                <a:cs typeface="Calibri" pitchFamily="34" charset="-120"/>
              </a:rPr>
              <a:t>TPB, MON$ monitoring, dijagnostika u realnom vremenu</a:t>
            </a:r>
            <a:endParaRPr lang="en-US" sz="1200" dirty="0">
              <a:solidFill>
                <a:srgbClr val="24366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bg2">
              <a:lumMod val="75000"/>
            </a:scheme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37160" y="0"/>
            <a:ext cx="9006840" cy="658368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274320" y="64008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principi — temelj pouzdanosti baze podataka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1993392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1993392" cy="96012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228600" y="804672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320040" y="1771110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Atomičnost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" y="2225484"/>
            <a:ext cx="181051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Sve </a:t>
            </a:r>
            <a:r>
              <a:rPr lang="en-US" sz="1400" dirty="0" err="1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ili</a:t>
            </a:r>
            <a:r>
              <a:rPr lang="en-U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</a:t>
            </a:r>
            <a:r>
              <a:rPr lang="sr-Latn-R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</a:t>
            </a:r>
            <a:r>
              <a:rPr lang="en-U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— baza ne dozvoljava polovicne rezultate.</a:t>
            </a:r>
            <a:endParaRPr lang="en-US" sz="1400" dirty="0">
              <a:solidFill>
                <a:srgbClr val="243660"/>
              </a:solidFill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vraca sve operacije u pocetno stanje ako bilo koja ne uspe.</a:t>
            </a:r>
            <a:endParaRPr lang="en-US" sz="1400" dirty="0">
              <a:solidFill>
                <a:srgbClr val="243660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2404872" y="777240"/>
            <a:ext cx="1993392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2404872" y="777240"/>
            <a:ext cx="1993392" cy="960120"/>
          </a:xfrm>
          <a:prstGeom prst="rect">
            <a:avLst/>
          </a:prstGeom>
          <a:solidFill>
            <a:srgbClr val="243660"/>
          </a:solidFill>
          <a:ln>
            <a:solidFill>
              <a:srgbClr val="24366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2404872" y="804672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2496312" y="1771110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Konzistentnost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496312" y="2225484"/>
            <a:ext cx="181051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Transakcija vodi bazu iz jednog validnog u drugo validno stanje.</a:t>
            </a:r>
            <a:endParaRPr lang="en-US" sz="1400" dirty="0">
              <a:solidFill>
                <a:srgbClr val="243660"/>
              </a:solidFill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ForeignKey i check constraint — automatska provera integriteta.</a:t>
            </a:r>
            <a:endParaRPr lang="en-US" sz="1400" dirty="0">
              <a:solidFill>
                <a:srgbClr val="243660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81144" y="777240"/>
            <a:ext cx="1993392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581144" y="777240"/>
            <a:ext cx="1993392" cy="960120"/>
          </a:xfrm>
          <a:prstGeom prst="rect">
            <a:avLst/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581144" y="804672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4672584" y="1771110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Izolacija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72584" y="2225484"/>
            <a:ext cx="181051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Transakcija se oseca kao jedina u sistemu.</a:t>
            </a:r>
            <a:endParaRPr lang="en-US" sz="1400" dirty="0">
              <a:solidFill>
                <a:srgbClr val="243660"/>
              </a:solidFill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Stepen izolacije odredjuje koliko jedna transakcija vidi promene druge.</a:t>
            </a:r>
            <a:endParaRPr lang="en-US" sz="1400" dirty="0">
              <a:solidFill>
                <a:srgbClr val="243660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757416" y="777240"/>
            <a:ext cx="1993392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6757416" y="777240"/>
            <a:ext cx="1993392" cy="96012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757416" y="804672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4600" dirty="0"/>
          </a:p>
        </p:txBody>
      </p:sp>
      <p:sp>
        <p:nvSpPr>
          <p:cNvPr id="23" name="Text 21"/>
          <p:cNvSpPr/>
          <p:nvPr/>
        </p:nvSpPr>
        <p:spPr>
          <a:xfrm>
            <a:off x="6848856" y="1771110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Trajnost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48856" y="2225484"/>
            <a:ext cx="181051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= trajno na disku.</a:t>
            </a:r>
            <a:endParaRPr lang="en-US" sz="1400" dirty="0">
              <a:solidFill>
                <a:srgbClr val="243660"/>
              </a:solidFill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 i pad servera ne brise potvrdene promene — Write-Ahead Log.</a:t>
            </a:r>
            <a:endParaRPr lang="en-US" sz="1400" dirty="0">
              <a:solidFill>
                <a:srgbClr val="243660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28600" y="4434840"/>
            <a:ext cx="8686800" cy="50292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320040" y="44805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Firebird garantuje sva 4 ACID svojstva kroz MGA arhitekturu i Write-Ahead mehanizam.</a:t>
            </a:r>
            <a:endParaRPr lang="en-US" sz="1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bg2">
              <a:lumMod val="75000"/>
            </a:scheme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37160" y="0"/>
            <a:ext cx="9006840" cy="658368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274320" y="64008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Transakcione anomalije i kako ih Firebird rešava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8686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2148840" cy="1234440"/>
          </a:xfrm>
          <a:prstGeom prst="rect">
            <a:avLst/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301752" y="1033272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 Read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Prljavo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itanje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487168" y="850392"/>
            <a:ext cx="6309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Primer: Prodavac menja cenu auta sa 20.000 na 15.000 EUR bez COMMIT-a. Kupac vidi 15.000 EUR iako transakcija </a:t>
            </a:r>
            <a:r>
              <a:rPr lang="en-US" sz="1400" dirty="0" err="1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nije</a:t>
            </a:r>
            <a:r>
              <a:rPr lang="en-U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zavr</a:t>
            </a:r>
            <a:r>
              <a:rPr lang="sr-Latn-R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</a:t>
            </a:r>
            <a:r>
              <a:rPr lang="en-US" sz="1400" dirty="0" err="1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</a:t>
            </a:r>
            <a:r>
              <a:rPr lang="en-U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>
              <a:solidFill>
                <a:srgbClr val="24366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2487168" y="139903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</a:t>
            </a:r>
            <a:r>
              <a:rPr lang="sr-Latn-R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</a:t>
            </a: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 po dizajnu — Firebird NIKADA ne </a:t>
            </a:r>
            <a:r>
              <a:rPr lang="sr-Latn-R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</a:t>
            </a:r>
            <a:r>
              <a:rPr lang="en-US" sz="1400" b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</a:t>
            </a: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nepotvr</a:t>
            </a:r>
            <a:r>
              <a:rPr lang="sr-Latn-R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</a:t>
            </a:r>
            <a:r>
              <a:rPr lang="en-US" sz="1400" b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</a:t>
            </a: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podatke</a:t>
            </a: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bez obzira na nivo izolacije.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28600" y="2176272"/>
            <a:ext cx="8686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228600" y="2176272"/>
            <a:ext cx="2148840" cy="1234440"/>
          </a:xfrm>
          <a:prstGeom prst="rect">
            <a:avLst/>
          </a:prstGeom>
          <a:solidFill>
            <a:srgbClr val="243660"/>
          </a:solidFill>
          <a:ln>
            <a:solidFill>
              <a:srgbClr val="24366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01752" y="2432304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Non-repeatable Read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Neponovljivo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itanje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487168" y="2249424"/>
            <a:ext cx="6309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Primer: </a:t>
            </a:r>
            <a:r>
              <a:rPr lang="sr-Latn-R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Prilikom generisanja izveštaja, dug klijenta je </a:t>
            </a:r>
            <a:r>
              <a:rPr lang="en-U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 din. Klijent plati </a:t>
            </a:r>
            <a:r>
              <a:rPr lang="en-US" sz="1400" dirty="0" err="1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COMMIT</a:t>
            </a:r>
            <a:r>
              <a:rPr lang="sr-Latn-R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-uje aktivnost</a:t>
            </a:r>
            <a:r>
              <a:rPr lang="en-U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400" dirty="0" err="1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Izve</a:t>
            </a:r>
            <a:r>
              <a:rPr lang="sr-Latn-R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</a:t>
            </a:r>
            <a:r>
              <a:rPr lang="en-U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taj ponovi SELECT — </a:t>
            </a:r>
            <a:r>
              <a:rPr lang="sr-Latn-R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izveštaju je dug klijenta </a:t>
            </a:r>
            <a:r>
              <a:rPr lang="en-US" sz="1400" dirty="0" err="1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dobija</a:t>
            </a:r>
            <a:r>
              <a:rPr lang="en-U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0 din.</a:t>
            </a:r>
            <a:endParaRPr lang="en-US" sz="1400" dirty="0">
              <a:solidFill>
                <a:srgbClr val="243660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2487168" y="2798064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</a:t>
            </a:r>
            <a:r>
              <a:rPr lang="sr-Latn-R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</a:t>
            </a: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 u </a:t>
            </a:r>
            <a:r>
              <a:rPr lang="sr-Latn-R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</a:t>
            </a: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nivou. DOZVOLJENO u Read Committed — svaki SELECT </a:t>
            </a:r>
            <a:r>
              <a:rPr lang="en-US" sz="1400" b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</a:t>
            </a:r>
            <a:r>
              <a:rPr lang="sr-Latn-R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</a:t>
            </a: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najnoviju commitovanu vrednost.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28600" y="3575304"/>
            <a:ext cx="8686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228600" y="3575304"/>
            <a:ext cx="2148840" cy="12344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301752" y="3831336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Phantom Read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Fantomsko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itanje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487168" y="3648456"/>
            <a:ext cx="6309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Primer: Menad</a:t>
            </a:r>
            <a:r>
              <a:rPr lang="sr-Latn-R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</a:t>
            </a:r>
            <a:r>
              <a:rPr lang="en-U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dobija 10 zaposlenih sa platom &gt; 100k. Novi radnik se dodaje i commituje. </a:t>
            </a:r>
            <a:r>
              <a:rPr lang="en-US" sz="1400" dirty="0" err="1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Ponovni</a:t>
            </a:r>
            <a:r>
              <a:rPr lang="en-U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SELECT</a:t>
            </a:r>
            <a:r>
              <a:rPr lang="sr-Latn-R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daje</a:t>
            </a:r>
            <a:r>
              <a:rPr lang="en-U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11 radnika!</a:t>
            </a:r>
            <a:endParaRPr lang="en-US" sz="1400" dirty="0">
              <a:solidFill>
                <a:srgbClr val="243660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2487168" y="4197096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</a:t>
            </a:r>
            <a:r>
              <a:rPr lang="sr-Latn-R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</a:t>
            </a: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 u </a:t>
            </a:r>
            <a:r>
              <a:rPr lang="sr-Latn-R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</a:t>
            </a: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nivou — transakcija vidi samo redove koji su postojali u </a:t>
            </a:r>
            <a:r>
              <a:rPr lang="en-US" sz="1400" b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trenutku</a:t>
            </a: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njenog kreiranja</a:t>
            </a: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28600" y="4956048"/>
            <a:ext cx="8686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Napomena: Firebird ne podrzava Read Uncommitted — automatski se tretira kao Read Committed.</a:t>
            </a:r>
            <a:endParaRPr lang="en-US" sz="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bg2">
              <a:lumMod val="75000"/>
            </a:scheme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37160" y="0"/>
            <a:ext cx="9006840" cy="658368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274320" y="64008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MGA arhitektura — Multi-Version Concurrency Control (MVCC)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1874520" cy="86868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(TID 500)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167128" y="1005840"/>
            <a:ext cx="237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→</a:t>
            </a:r>
          </a:p>
        </p:txBody>
      </p:sp>
      <p:sp>
        <p:nvSpPr>
          <p:cNvPr id="8" name="Shape 6"/>
          <p:cNvSpPr/>
          <p:nvPr/>
        </p:nvSpPr>
        <p:spPr>
          <a:xfrm>
            <a:off x="2423160" y="777240"/>
            <a:ext cx="1874520" cy="868680"/>
          </a:xfrm>
          <a:prstGeom prst="rect">
            <a:avLst/>
          </a:prstGeom>
          <a:solidFill>
            <a:srgbClr val="243660"/>
          </a:solidFill>
          <a:ln/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2423160" y="77724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(TID 600)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315968" y="1005840"/>
            <a:ext cx="237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→</a:t>
            </a:r>
          </a:p>
        </p:txBody>
      </p:sp>
      <p:sp>
        <p:nvSpPr>
          <p:cNvPr id="11" name="Shape 9"/>
          <p:cNvSpPr/>
          <p:nvPr/>
        </p:nvSpPr>
        <p:spPr>
          <a:xfrm>
            <a:off x="4572000" y="777240"/>
            <a:ext cx="1874520" cy="868680"/>
          </a:xfrm>
          <a:prstGeom prst="rect">
            <a:avLst/>
          </a:prstGeom>
          <a:solidFill>
            <a:schemeClr val="bg2">
              <a:lumMod val="50000"/>
            </a:schemeClr>
          </a:solidFill>
          <a:ln/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572000" y="77724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(TID 700)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64808" y="1005840"/>
            <a:ext cx="237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→</a:t>
            </a:r>
          </a:p>
        </p:txBody>
      </p:sp>
      <p:sp>
        <p:nvSpPr>
          <p:cNvPr id="14" name="Shape 12"/>
          <p:cNvSpPr/>
          <p:nvPr/>
        </p:nvSpPr>
        <p:spPr>
          <a:xfrm>
            <a:off x="6720840" y="777240"/>
            <a:ext cx="1874520" cy="868680"/>
          </a:xfrm>
          <a:prstGeom prst="rect">
            <a:avLst/>
          </a:prstGeom>
          <a:solidFill>
            <a:schemeClr val="bg2">
              <a:lumMod val="75000"/>
            </a:schemeClr>
          </a:solidFill>
          <a:ln/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720840" y="77724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italac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T=550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vidi v1!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74320" y="170992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Interest Pointer: svaka </a:t>
            </a:r>
            <a:r>
              <a:rPr lang="en-US" sz="1400" b="1" dirty="0" err="1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verzija</a:t>
            </a:r>
            <a:r>
              <a:rPr lang="en-US" sz="1400" b="1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1400" b="1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</a:t>
            </a:r>
            <a:r>
              <a:rPr lang="en-US" sz="1400" b="1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uva </a:t>
            </a:r>
            <a:r>
              <a:rPr lang="en-US" sz="1400" b="1" dirty="0" err="1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pokaziva</a:t>
            </a:r>
            <a:r>
              <a:rPr lang="sr-Latn-RS" sz="1400" b="1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</a:t>
            </a:r>
            <a:r>
              <a:rPr lang="en-US" sz="1400" b="1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 prethodnu — engine navigira unazad kroz istoriju</a:t>
            </a:r>
            <a:endParaRPr lang="en-US" sz="1400" b="1" dirty="0">
              <a:solidFill>
                <a:srgbClr val="243660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28600" y="2084832"/>
            <a:ext cx="2743200" cy="183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228600" y="2084832"/>
            <a:ext cx="64008" cy="18360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365760" y="215798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Inventory Page (TIP)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5760" y="2432304"/>
            <a:ext cx="2560320" cy="1345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43660"/>
                </a:solidFill>
                <a:ea typeface="Calibri" pitchFamily="34" charset="-122"/>
                <a:cs typeface="Calibri" pitchFamily="34" charset="-120"/>
              </a:rPr>
              <a:t>Svaka transakcija dobija 2-bitni status:</a:t>
            </a:r>
            <a:endParaRPr lang="en-US" sz="1200" dirty="0">
              <a:solidFill>
                <a:srgbClr val="243660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243660"/>
                </a:solidFill>
                <a:ea typeface="Calibri" pitchFamily="34" charset="-122"/>
                <a:cs typeface="Calibri" pitchFamily="34" charset="-120"/>
              </a:rPr>
              <a:t>00 = Active</a:t>
            </a:r>
            <a:endParaRPr lang="en-US" sz="1200" dirty="0">
              <a:solidFill>
                <a:srgbClr val="243660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243660"/>
                </a:solidFill>
                <a:ea typeface="Calibri" pitchFamily="34" charset="-122"/>
                <a:cs typeface="Calibri" pitchFamily="34" charset="-120"/>
              </a:rPr>
              <a:t>01 = Committed</a:t>
            </a:r>
            <a:endParaRPr lang="en-US" sz="1200" dirty="0">
              <a:solidFill>
                <a:srgbClr val="243660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243660"/>
                </a:solidFill>
                <a:ea typeface="Calibri" pitchFamily="34" charset="-122"/>
                <a:cs typeface="Calibri" pitchFamily="34" charset="-120"/>
              </a:rPr>
              <a:t>10 = Rolled Back</a:t>
            </a:r>
            <a:endParaRPr lang="en-US" sz="1200" dirty="0">
              <a:solidFill>
                <a:srgbClr val="243660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243660"/>
                </a:solidFill>
                <a:ea typeface="Calibri" pitchFamily="34" charset="-122"/>
                <a:cs typeface="Calibri" pitchFamily="34" charset="-120"/>
              </a:rPr>
              <a:t>11 = Limbo (distribuirane </a:t>
            </a:r>
            <a:r>
              <a:rPr lang="en-US" sz="1200" dirty="0" err="1">
                <a:solidFill>
                  <a:srgbClr val="243660"/>
                </a:solidFill>
                <a:ea typeface="Calibri" pitchFamily="34" charset="-122"/>
                <a:cs typeface="Calibri" pitchFamily="34" charset="-120"/>
              </a:rPr>
              <a:t>transakcije</a:t>
            </a:r>
            <a:r>
              <a:rPr lang="en-US" sz="1200" dirty="0">
                <a:solidFill>
                  <a:srgbClr val="243660"/>
                </a:solidFill>
                <a:ea typeface="Calibri" pitchFamily="34" charset="-122"/>
                <a:cs typeface="Calibri" pitchFamily="34" charset="-120"/>
              </a:rPr>
              <a:t>)</a:t>
            </a:r>
            <a:endParaRPr lang="sr-Latn-RS" sz="1200" dirty="0">
              <a:solidFill>
                <a:srgbClr val="243660"/>
              </a:solidFill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200" dirty="0">
              <a:solidFill>
                <a:srgbClr val="243660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243660"/>
                </a:solidFill>
                <a:ea typeface="Calibri" pitchFamily="34" charset="-122"/>
                <a:cs typeface="Calibri" pitchFamily="34" charset="-120"/>
              </a:rPr>
              <a:t>Engine proverava TIP pre isporuke podataka.</a:t>
            </a:r>
            <a:endParaRPr lang="en-US" sz="1200" dirty="0">
              <a:solidFill>
                <a:srgbClr val="243660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154680" y="2084832"/>
            <a:ext cx="2743200" cy="1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3154680" y="2084832"/>
            <a:ext cx="64008" cy="1836000"/>
          </a:xfrm>
          <a:prstGeom prst="rect">
            <a:avLst/>
          </a:prstGeom>
          <a:solidFill>
            <a:schemeClr val="bg1">
              <a:lumMod val="50000"/>
            </a:scheme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3291840" y="215798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Header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291840" y="2432304"/>
            <a:ext cx="2560320" cy="1452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43660"/>
                </a:solidFill>
                <a:ea typeface="Calibri" pitchFamily="34" charset="-122"/>
                <a:cs typeface="Calibri" pitchFamily="34" charset="-120"/>
              </a:rPr>
              <a:t>Svaki red sadrži nevidljive metapodatke:</a:t>
            </a:r>
            <a:endParaRPr lang="en-US" sz="1200" dirty="0">
              <a:solidFill>
                <a:srgbClr val="243660"/>
              </a:solidFill>
            </a:endParaRPr>
          </a:p>
          <a:p>
            <a:pPr marL="171450" indent="-171450">
              <a:buSzPct val="15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43660"/>
                </a:solidFill>
                <a:ea typeface="Calibri" pitchFamily="34" charset="-122"/>
                <a:cs typeface="Calibri" pitchFamily="34" charset="-120"/>
              </a:rPr>
              <a:t>Transaction ID (TID)</a:t>
            </a:r>
            <a:endParaRPr lang="en-US" sz="1200" dirty="0">
              <a:solidFill>
                <a:srgbClr val="243660"/>
              </a:solidFill>
            </a:endParaRPr>
          </a:p>
          <a:p>
            <a:pPr marL="171450" indent="-171450">
              <a:buSzPct val="15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43660"/>
                </a:solidFill>
                <a:ea typeface="Calibri" pitchFamily="34" charset="-122"/>
                <a:cs typeface="Calibri" pitchFamily="34" charset="-120"/>
              </a:rPr>
              <a:t>Back Interest Pointer → prethodna verzija</a:t>
            </a:r>
            <a:endParaRPr lang="en-US" sz="1200" dirty="0">
              <a:solidFill>
                <a:srgbClr val="243660"/>
              </a:solidFill>
            </a:endParaRPr>
          </a:p>
          <a:p>
            <a:pPr marL="171450" indent="-171450">
              <a:buSzPct val="15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43660"/>
                </a:solidFill>
                <a:ea typeface="Calibri" pitchFamily="34" charset="-122"/>
                <a:cs typeface="Calibri" pitchFamily="34" charset="-120"/>
              </a:rPr>
              <a:t>Record Flags (status </a:t>
            </a:r>
            <a:r>
              <a:rPr lang="en-US" sz="1200" dirty="0" err="1">
                <a:solidFill>
                  <a:srgbClr val="243660"/>
                </a:solidFill>
                <a:ea typeface="Calibri" pitchFamily="34" charset="-122"/>
                <a:cs typeface="Calibri" pitchFamily="34" charset="-120"/>
              </a:rPr>
              <a:t>zapisa</a:t>
            </a:r>
            <a:r>
              <a:rPr lang="en-US" sz="1200" dirty="0">
                <a:solidFill>
                  <a:srgbClr val="243660"/>
                </a:solidFill>
                <a:ea typeface="Calibri" pitchFamily="34" charset="-122"/>
                <a:cs typeface="Calibri" pitchFamily="34" charset="-120"/>
              </a:rPr>
              <a:t>)</a:t>
            </a:r>
            <a:endParaRPr lang="en-US" sz="1200" dirty="0">
              <a:solidFill>
                <a:srgbClr val="243660"/>
              </a:solidFill>
            </a:endParaRPr>
          </a:p>
          <a:p>
            <a:pPr marL="0" indent="0">
              <a:buNone/>
            </a:pPr>
            <a:endParaRPr lang="en-US" sz="1200" dirty="0">
              <a:solidFill>
                <a:srgbClr val="243660"/>
              </a:solidFill>
            </a:endParaRPr>
          </a:p>
          <a:p>
            <a:pPr marL="0" indent="0">
              <a:buNone/>
            </a:pPr>
            <a:r>
              <a:rPr lang="en-US" sz="1200" dirty="0" err="1">
                <a:solidFill>
                  <a:srgbClr val="243660"/>
                </a:solidFill>
                <a:ea typeface="Calibri" pitchFamily="34" charset="-122"/>
                <a:cs typeface="Calibri" pitchFamily="34" charset="-120"/>
              </a:rPr>
              <a:t>Omogu</a:t>
            </a:r>
            <a:r>
              <a:rPr lang="sr-Latn-RS" sz="1200" dirty="0">
                <a:solidFill>
                  <a:srgbClr val="243660"/>
                </a:solidFill>
                <a:ea typeface="Calibri" pitchFamily="34" charset="-122"/>
                <a:cs typeface="Calibri" pitchFamily="34" charset="-120"/>
              </a:rPr>
              <a:t>ć</a:t>
            </a:r>
            <a:r>
              <a:rPr lang="en-US" sz="1200" dirty="0">
                <a:solidFill>
                  <a:srgbClr val="243660"/>
                </a:solidFill>
                <a:ea typeface="Calibri" pitchFamily="34" charset="-122"/>
                <a:cs typeface="Calibri" pitchFamily="34" charset="-120"/>
              </a:rPr>
              <a:t>ava instant navigaciju kroz istoriju.</a:t>
            </a:r>
            <a:endParaRPr lang="en-US" sz="1200" dirty="0">
              <a:solidFill>
                <a:srgbClr val="243660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080760" y="2084832"/>
            <a:ext cx="2834640" cy="183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6080760" y="2084832"/>
            <a:ext cx="64008" cy="1836000"/>
          </a:xfrm>
          <a:prstGeom prst="rect">
            <a:avLst/>
          </a:prstGeom>
          <a:solidFill>
            <a:schemeClr val="accent6">
              <a:lumMod val="75000"/>
            </a:scheme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217920" y="215798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Copy-on-Write princip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17920" y="2432304"/>
            <a:ext cx="265176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43660"/>
                </a:solidFill>
                <a:ea typeface="Calibri" pitchFamily="34" charset="-122"/>
                <a:cs typeface="Calibri" pitchFamily="34" charset="-120"/>
              </a:rPr>
              <a:t>UPDATE ne prepisuje podatke — kreira novu kopiju na slobodnom mestu.</a:t>
            </a:r>
            <a:endParaRPr lang="en-US" sz="1200" dirty="0">
              <a:solidFill>
                <a:srgbClr val="243660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243660"/>
                </a:solidFill>
                <a:ea typeface="Calibri" pitchFamily="34" charset="-122"/>
                <a:cs typeface="Calibri" pitchFamily="34" charset="-120"/>
              </a:rPr>
              <a:t>Stara verzija ostaje </a:t>
            </a:r>
            <a:r>
              <a:rPr lang="en-US" sz="1200" dirty="0" err="1">
                <a:solidFill>
                  <a:srgbClr val="243660"/>
                </a:solidFill>
                <a:ea typeface="Calibri" pitchFamily="34" charset="-122"/>
                <a:cs typeface="Calibri" pitchFamily="34" charset="-120"/>
              </a:rPr>
              <a:t>na</a:t>
            </a:r>
            <a:r>
              <a:rPr lang="en-US" sz="1200" dirty="0">
                <a:solidFill>
                  <a:srgbClr val="243660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43660"/>
                </a:solidFill>
                <a:ea typeface="Calibri" pitchFamily="34" charset="-122"/>
                <a:cs typeface="Calibri" pitchFamily="34" charset="-120"/>
              </a:rPr>
              <a:t>fizi</a:t>
            </a:r>
            <a:r>
              <a:rPr lang="sr-Latn-RS" sz="1200" dirty="0">
                <a:solidFill>
                  <a:srgbClr val="243660"/>
                </a:solidFill>
                <a:ea typeface="Calibri" pitchFamily="34" charset="-122"/>
                <a:cs typeface="Calibri" pitchFamily="34" charset="-120"/>
              </a:rPr>
              <a:t>č</a:t>
            </a:r>
            <a:r>
              <a:rPr lang="en-US" sz="1200" dirty="0" err="1">
                <a:solidFill>
                  <a:srgbClr val="243660"/>
                </a:solidFill>
                <a:ea typeface="Calibri" pitchFamily="34" charset="-122"/>
                <a:cs typeface="Calibri" pitchFamily="34" charset="-120"/>
              </a:rPr>
              <a:t>kom</a:t>
            </a:r>
            <a:r>
              <a:rPr lang="en-US" sz="1200" dirty="0">
                <a:solidFill>
                  <a:srgbClr val="243660"/>
                </a:solidFill>
                <a:ea typeface="Calibri" pitchFamily="34" charset="-122"/>
                <a:cs typeface="Calibri" pitchFamily="34" charset="-120"/>
              </a:rPr>
              <a:t> mestu.</a:t>
            </a:r>
            <a:endParaRPr lang="en-US" sz="1200" dirty="0">
              <a:solidFill>
                <a:srgbClr val="243660"/>
              </a:solidFill>
            </a:endParaRPr>
          </a:p>
          <a:p>
            <a:pPr marL="0" indent="0">
              <a:buNone/>
            </a:pPr>
            <a:endParaRPr lang="en-US" sz="1200" dirty="0">
              <a:solidFill>
                <a:srgbClr val="243660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243660"/>
                </a:solidFill>
                <a:ea typeface="Calibri" pitchFamily="34" charset="-122"/>
                <a:cs typeface="Calibri" pitchFamily="34" charset="-120"/>
              </a:rPr>
              <a:t>Prednost: instantni Rollback, </a:t>
            </a:r>
            <a:r>
              <a:rPr lang="en-US" sz="1200" dirty="0" err="1">
                <a:solidFill>
                  <a:srgbClr val="243660"/>
                </a:solidFill>
                <a:ea typeface="Calibri" pitchFamily="34" charset="-122"/>
                <a:cs typeface="Calibri" pitchFamily="34" charset="-120"/>
              </a:rPr>
              <a:t>nema</a:t>
            </a:r>
            <a:r>
              <a:rPr lang="en-US" sz="1200" dirty="0">
                <a:solidFill>
                  <a:srgbClr val="243660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43660"/>
                </a:solidFill>
                <a:ea typeface="Calibri" pitchFamily="34" charset="-122"/>
                <a:cs typeface="Calibri" pitchFamily="34" charset="-120"/>
              </a:rPr>
              <a:t>fizi</a:t>
            </a:r>
            <a:r>
              <a:rPr lang="sr-Latn-RS" sz="1200" dirty="0">
                <a:solidFill>
                  <a:srgbClr val="243660"/>
                </a:solidFill>
                <a:ea typeface="Calibri" pitchFamily="34" charset="-122"/>
                <a:cs typeface="Calibri" pitchFamily="34" charset="-120"/>
              </a:rPr>
              <a:t>č</a:t>
            </a:r>
            <a:r>
              <a:rPr lang="en-US" sz="1200" dirty="0" err="1">
                <a:solidFill>
                  <a:srgbClr val="243660"/>
                </a:solidFill>
                <a:ea typeface="Calibri" pitchFamily="34" charset="-122"/>
                <a:cs typeface="Calibri" pitchFamily="34" charset="-120"/>
              </a:rPr>
              <a:t>kog</a:t>
            </a:r>
            <a:r>
              <a:rPr lang="en-US" sz="1200" dirty="0">
                <a:solidFill>
                  <a:srgbClr val="243660"/>
                </a:solidFill>
                <a:ea typeface="Calibri" pitchFamily="34" charset="-122"/>
                <a:cs typeface="Calibri" pitchFamily="34" charset="-120"/>
              </a:rPr>
              <a:t> brisanja. </a:t>
            </a:r>
            <a:r>
              <a:rPr lang="sr-Latn-RS" sz="1200" dirty="0">
                <a:solidFill>
                  <a:srgbClr val="243660"/>
                </a:solidFill>
                <a:ea typeface="Calibri" pitchFamily="34" charset="-122"/>
                <a:cs typeface="Calibri" pitchFamily="34" charset="-120"/>
              </a:rPr>
              <a:t>Č</a:t>
            </a:r>
            <a:r>
              <a:rPr lang="en-US" sz="1200" dirty="0" err="1">
                <a:solidFill>
                  <a:srgbClr val="243660"/>
                </a:solidFill>
                <a:ea typeface="Calibri" pitchFamily="34" charset="-122"/>
                <a:cs typeface="Calibri" pitchFamily="34" charset="-120"/>
              </a:rPr>
              <a:t>itaoci</a:t>
            </a:r>
            <a:r>
              <a:rPr lang="en-US" sz="1200" dirty="0">
                <a:solidFill>
                  <a:srgbClr val="243660"/>
                </a:solidFill>
                <a:ea typeface="Calibri" pitchFamily="34" charset="-122"/>
                <a:cs typeface="Calibri" pitchFamily="34" charset="-120"/>
              </a:rPr>
              <a:t> nikad ne </a:t>
            </a:r>
            <a:r>
              <a:rPr lang="sr-Latn-RS" sz="1200" dirty="0">
                <a:solidFill>
                  <a:srgbClr val="243660"/>
                </a:solidFill>
                <a:ea typeface="Calibri" pitchFamily="34" charset="-122"/>
                <a:cs typeface="Calibri" pitchFamily="34" charset="-120"/>
              </a:rPr>
              <a:t>č</a:t>
            </a:r>
            <a:r>
              <a:rPr lang="en-US" sz="1200" dirty="0" err="1">
                <a:solidFill>
                  <a:srgbClr val="243660"/>
                </a:solidFill>
                <a:ea typeface="Calibri" pitchFamily="34" charset="-122"/>
                <a:cs typeface="Calibri" pitchFamily="34" charset="-120"/>
              </a:rPr>
              <a:t>ekaju</a:t>
            </a:r>
            <a:r>
              <a:rPr lang="en-US" sz="1200" dirty="0">
                <a:solidFill>
                  <a:srgbClr val="243660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43660"/>
                </a:solidFill>
                <a:ea typeface="Calibri" pitchFamily="34" charset="-122"/>
                <a:cs typeface="Calibri" pitchFamily="34" charset="-120"/>
              </a:rPr>
              <a:t>pisce</a:t>
            </a:r>
            <a:endParaRPr lang="en-US" sz="1200" dirty="0">
              <a:solidFill>
                <a:srgbClr val="243660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28600" y="4116282"/>
            <a:ext cx="8686800" cy="86868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365760" y="416200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Klju</a:t>
            </a:r>
            <a:r>
              <a:rPr lang="sr-Latn-R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</a:t>
            </a:r>
            <a:r>
              <a:rPr lang="en-US" sz="1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prednost MGA: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365760" y="443632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2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Č</a:t>
            </a:r>
            <a:r>
              <a:rPr lang="en-US" sz="12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itaoci</a:t>
            </a:r>
            <a:r>
              <a:rPr lang="en-US" sz="12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NIKADA ne blokiraju pisce — i obrnuto. Svaka transakcija vidi konzistentnu sliku podataka bez </a:t>
            </a:r>
            <a:r>
              <a:rPr lang="en-US" sz="12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ikakvih</a:t>
            </a:r>
            <a:r>
              <a:rPr lang="en-US" sz="12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12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mehanizama zaključavanja</a:t>
            </a:r>
            <a:r>
              <a:rPr lang="en-US" sz="12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na nivou redova. Ovo je </a:t>
            </a:r>
            <a:r>
              <a:rPr lang="en-US" sz="12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temeljni</a:t>
            </a:r>
            <a:r>
              <a:rPr lang="en-US" sz="12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princip</a:t>
            </a:r>
            <a:r>
              <a:rPr lang="en-US" sz="12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12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po kom se </a:t>
            </a:r>
            <a:r>
              <a:rPr lang="en-US" sz="12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Firebird razlikuje od </a:t>
            </a:r>
            <a:r>
              <a:rPr lang="sr-Latn-RS" sz="12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drugih SUBP-va</a:t>
            </a:r>
            <a:r>
              <a:rPr lang="en-US" sz="12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.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bg2">
              <a:lumMod val="75000"/>
            </a:scheme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37160" y="0"/>
            <a:ext cx="9006840" cy="658368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274320" y="64008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Implementacija nivoa izolacije u Firebirdu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42519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4251960" cy="420624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320040" y="832104"/>
            <a:ext cx="4041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1271016"/>
            <a:ext cx="404164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Zamrznuta slika baze od trenutka starta transakcije.</a:t>
            </a:r>
            <a:endParaRPr lang="en-US" sz="1400" dirty="0">
              <a:solidFill>
                <a:srgbClr val="243660"/>
              </a:solidFill>
            </a:endParaRPr>
          </a:p>
          <a:p>
            <a:pPr marL="0" indent="0">
              <a:buNone/>
            </a:pPr>
            <a:r>
              <a:rPr lang="en-US" sz="1400" dirty="0" err="1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Ignori</a:t>
            </a:r>
            <a:r>
              <a:rPr lang="sr-Latn-R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</a:t>
            </a:r>
            <a:r>
              <a:rPr lang="en-U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</a:t>
            </a:r>
            <a:r>
              <a:rPr lang="en-US" sz="1400" b="1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SVE</a:t>
            </a:r>
            <a:r>
              <a:rPr lang="en-U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promene tokom trajanja — bez obzira na commit.</a:t>
            </a:r>
            <a:endParaRPr lang="en-US" sz="1400" dirty="0">
              <a:solidFill>
                <a:srgbClr val="243660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Idealno za: </a:t>
            </a:r>
            <a:r>
              <a:rPr lang="en-US" sz="1400" dirty="0" err="1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kompleksn</a:t>
            </a:r>
            <a:r>
              <a:rPr lang="sr-Latn-R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r>
              <a:rPr lang="en-U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izve</a:t>
            </a:r>
            <a:r>
              <a:rPr lang="sr-Latn-R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</a:t>
            </a:r>
            <a:r>
              <a:rPr lang="en-U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taj</a:t>
            </a:r>
            <a:r>
              <a:rPr lang="sr-Latn-R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r>
              <a:rPr lang="en-U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finansijsk</a:t>
            </a:r>
            <a:r>
              <a:rPr lang="sr-Latn-R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</a:t>
            </a:r>
            <a:r>
              <a:rPr lang="en-US" sz="1400" dirty="0" err="1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</a:t>
            </a:r>
            <a:r>
              <a:rPr lang="sr-Latn-R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</a:t>
            </a:r>
            <a:r>
              <a:rPr lang="en-U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</a:t>
            </a:r>
            <a:r>
              <a:rPr lang="sr-Latn-R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r>
              <a:rPr lang="en-U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sr-Latn-RS" sz="1400" dirty="0">
              <a:solidFill>
                <a:srgbClr val="24366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400" dirty="0">
              <a:solidFill>
                <a:srgbClr val="243660"/>
              </a:solidFill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243660"/>
                </a:solidFill>
                <a:latin typeface="Consolas" panose="020B0609020204030204" pitchFamily="49" charset="0"/>
                <a:ea typeface="Calibri" pitchFamily="34" charset="-122"/>
                <a:cs typeface="Calibri" pitchFamily="34" charset="-120"/>
              </a:rPr>
              <a:t>SET TRANSACTION ISOLATION LEVEL SNAPSHOT;</a:t>
            </a:r>
            <a:endParaRPr lang="en-US" sz="1400" b="1" dirty="0">
              <a:solidFill>
                <a:srgbClr val="243660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709160" y="777240"/>
            <a:ext cx="42519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709160" y="777240"/>
            <a:ext cx="4251960" cy="420624"/>
          </a:xfrm>
          <a:prstGeom prst="rect">
            <a:avLst/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800600" y="832104"/>
            <a:ext cx="4041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Committed — Record Version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00600" y="1271016"/>
            <a:ext cx="404164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 err="1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Uvek</a:t>
            </a:r>
            <a:r>
              <a:rPr lang="en-U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</a:t>
            </a:r>
            <a:r>
              <a:rPr lang="en-US" sz="1400" dirty="0" err="1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</a:t>
            </a:r>
            <a:r>
              <a:rPr lang="en-U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poslednju commitovanu verziju.</a:t>
            </a:r>
            <a:endParaRPr lang="en-US" sz="1400" dirty="0">
              <a:solidFill>
                <a:srgbClr val="243660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</a:t>
            </a:r>
            <a:r>
              <a:rPr lang="sr-Latn-R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</a:t>
            </a:r>
            <a:r>
              <a:rPr lang="en-U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eka nikad — </a:t>
            </a:r>
            <a:r>
              <a:rPr lang="en-US" sz="1400" dirty="0" err="1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odmah</a:t>
            </a:r>
            <a:r>
              <a:rPr lang="en-U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</a:t>
            </a:r>
            <a:r>
              <a:rPr lang="sr-Latn-R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</a:t>
            </a:r>
            <a:r>
              <a:rPr lang="en-U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stariju verziju ako je red </a:t>
            </a:r>
            <a:r>
              <a:rPr lang="en-US" sz="1400" dirty="0" err="1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zaklju</a:t>
            </a:r>
            <a:r>
              <a:rPr lang="sr-Latn-R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</a:t>
            </a:r>
            <a:r>
              <a:rPr lang="en-U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an.</a:t>
            </a:r>
            <a:endParaRPr lang="en-US" sz="1400" dirty="0">
              <a:solidFill>
                <a:srgbClr val="243660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Idealno za: OLTP, svakodnevne </a:t>
            </a:r>
            <a:r>
              <a:rPr lang="en-US" sz="1400" dirty="0" err="1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operacije</a:t>
            </a:r>
            <a:r>
              <a:rPr lang="en-U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>
              <a:solidFill>
                <a:srgbClr val="243660"/>
              </a:solidFill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243660"/>
                </a:solidFill>
                <a:latin typeface="Consolas" panose="020B0609020204030204" pitchFamily="49" charset="0"/>
                <a:ea typeface="Calibri" pitchFamily="34" charset="-122"/>
                <a:cs typeface="Calibri" pitchFamily="34" charset="-120"/>
              </a:rPr>
              <a:t>SET TRANSACTION READ COMMITTED RECORD VERSION;</a:t>
            </a:r>
            <a:endParaRPr lang="en-US" sz="1400" b="1" dirty="0">
              <a:solidFill>
                <a:srgbClr val="243660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28600" y="2880360"/>
            <a:ext cx="42519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228600" y="2880360"/>
            <a:ext cx="4251960" cy="420624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20040" y="2935224"/>
            <a:ext cx="4041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Committed — No Record Version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0040" y="3374136"/>
            <a:ext cx="404164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sr-Latn-R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</a:t>
            </a:r>
            <a:r>
              <a:rPr lang="en-U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eka dok se </a:t>
            </a:r>
            <a:r>
              <a:rPr lang="en-US" sz="1400" dirty="0" err="1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zaklju</a:t>
            </a:r>
            <a:r>
              <a:rPr lang="sr-Latn-R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</a:t>
            </a:r>
            <a:r>
              <a:rPr lang="en-U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 red ne </a:t>
            </a:r>
            <a:r>
              <a:rPr lang="sr-Latn-R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otključa</a:t>
            </a:r>
            <a:r>
              <a:rPr lang="en-U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>
              <a:solidFill>
                <a:srgbClr val="243660"/>
              </a:solidFill>
            </a:endParaRPr>
          </a:p>
          <a:p>
            <a:pPr marL="0" indent="0">
              <a:buNone/>
            </a:pPr>
            <a:r>
              <a:rPr lang="sr-Latn-R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Apsolutno garantuje </a:t>
            </a:r>
            <a:r>
              <a:rPr lang="en-US" sz="1400" dirty="0" err="1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poslednju</a:t>
            </a:r>
            <a:r>
              <a:rPr lang="en-U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vrednost u bazi.</a:t>
            </a:r>
            <a:endParaRPr lang="en-US" sz="1400" dirty="0">
              <a:solidFill>
                <a:srgbClr val="243660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Idealno za: </a:t>
            </a:r>
            <a:r>
              <a:rPr lang="en-US" sz="1400" dirty="0" err="1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</a:t>
            </a:r>
            <a:r>
              <a:rPr lang="sr-Latn-R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</a:t>
            </a:r>
            <a:r>
              <a:rPr lang="en-U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finansijske </a:t>
            </a:r>
            <a:r>
              <a:rPr lang="en-US" sz="1400" dirty="0" err="1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transakcije</a:t>
            </a:r>
            <a:r>
              <a:rPr lang="en-U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sr-Latn-RS" sz="1400" dirty="0">
              <a:solidFill>
                <a:srgbClr val="24366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400" dirty="0">
              <a:solidFill>
                <a:srgbClr val="243660"/>
              </a:solidFill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243660"/>
                </a:solidFill>
                <a:latin typeface="Consolas" panose="020B0609020204030204" pitchFamily="49" charset="0"/>
                <a:ea typeface="Calibri" pitchFamily="34" charset="-122"/>
                <a:cs typeface="Calibri" pitchFamily="34" charset="-120"/>
              </a:rPr>
              <a:t>SET TRANSACTION READ COMMITTED NO RECORD VERSION;</a:t>
            </a:r>
            <a:endParaRPr lang="en-US" sz="1400" b="1" dirty="0">
              <a:solidFill>
                <a:srgbClr val="243660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709160" y="2880360"/>
            <a:ext cx="42519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4709160" y="2880360"/>
            <a:ext cx="4251960" cy="420624"/>
          </a:xfrm>
          <a:prstGeom prst="rect">
            <a:avLst/>
          </a:prstGeom>
          <a:solidFill>
            <a:schemeClr val="accent6">
              <a:lumMod val="50000"/>
            </a:scheme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4800600" y="2935224"/>
            <a:ext cx="4041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Committed Read Consistency (FB 4.0+)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00600" y="3374136"/>
            <a:ext cx="404164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Svaka SQL naredba dobija sopstveni mini-snapshot.</a:t>
            </a:r>
            <a:endParaRPr lang="en-US" sz="1400" dirty="0">
              <a:solidFill>
                <a:srgbClr val="243660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Automatski ponavlja konfliktni deo </a:t>
            </a:r>
            <a:r>
              <a:rPr lang="en-US" sz="1400" dirty="0" err="1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upita</a:t>
            </a:r>
            <a:r>
              <a:rPr lang="en-U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tako da ne dovodi do grešaka</a:t>
            </a:r>
            <a:r>
              <a:rPr lang="en-U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>
              <a:solidFill>
                <a:srgbClr val="243660"/>
              </a:solidFill>
            </a:endParaRPr>
          </a:p>
          <a:p>
            <a:pPr marL="0" indent="0">
              <a:buNone/>
            </a:pPr>
            <a:r>
              <a:rPr lang="en-US" sz="1400" dirty="0" err="1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Elimini</a:t>
            </a:r>
            <a:r>
              <a:rPr lang="sr-Latn-R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</a:t>
            </a:r>
            <a:r>
              <a:rPr lang="en-U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potrebu za retry logikom u </a:t>
            </a:r>
            <a:r>
              <a:rPr lang="en-US" sz="1400" dirty="0" err="1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aplikaciji</a:t>
            </a:r>
            <a:r>
              <a:rPr lang="en-US" sz="14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>
              <a:solidFill>
                <a:srgbClr val="243660"/>
              </a:solidFill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243660"/>
                </a:solidFill>
                <a:latin typeface="Consolas" panose="020B0609020204030204" pitchFamily="49" charset="0"/>
                <a:ea typeface="Calibri" pitchFamily="34" charset="-122"/>
                <a:cs typeface="Calibri" pitchFamily="34" charset="-120"/>
              </a:rPr>
              <a:t>SET TRANSACTION READ COMMITTED READ CONSISTENCY;</a:t>
            </a:r>
            <a:endParaRPr lang="en-US" sz="1400" b="1" dirty="0">
              <a:solidFill>
                <a:srgbClr val="243660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bg2">
              <a:lumMod val="75000"/>
            </a:scheme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37160" y="0"/>
            <a:ext cx="9006840" cy="658368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274320" y="64008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Mehanizmi zaključavanja — locking i rešavanje konflikata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4160520" cy="1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64008" cy="18000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365760" y="85039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Pesimistički lock — SELECT … WITH LOCK</a:t>
            </a:r>
            <a:endParaRPr lang="en-US" sz="1400" b="1" dirty="0"/>
          </a:p>
        </p:txBody>
      </p:sp>
      <p:sp>
        <p:nvSpPr>
          <p:cNvPr id="8" name="Text 6"/>
          <p:cNvSpPr/>
          <p:nvPr/>
        </p:nvSpPr>
        <p:spPr>
          <a:xfrm>
            <a:off x="365760" y="1213254"/>
            <a:ext cx="3977640" cy="1352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se </a:t>
            </a:r>
            <a:r>
              <a:rPr lang="en-US" sz="1200" dirty="0" err="1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rezervi</a:t>
            </a:r>
            <a:r>
              <a:rPr lang="sr-Latn-R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</a:t>
            </a:r>
            <a:r>
              <a:rPr lang="en-U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odmah </a:t>
            </a:r>
            <a:r>
              <a:rPr lang="en-US" sz="1200" dirty="0" err="1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</a:t>
            </a:r>
            <a:r>
              <a:rPr lang="en-U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</a:t>
            </a:r>
            <a:r>
              <a:rPr lang="en-US" sz="1200" dirty="0" err="1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itanju</a:t>
            </a:r>
            <a:r>
              <a:rPr lang="sr-Latn-R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 ekskluzivnim katancem dok se transakcija ne završi sa</a:t>
            </a:r>
            <a:r>
              <a:rPr lang="en-U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COMMIT/ROLLBACK.</a:t>
            </a:r>
            <a:endParaRPr lang="en-US" sz="1200" dirty="0">
              <a:solidFill>
                <a:srgbClr val="243660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Primer: prodaja avio-karte — kada korisnik odabere slobodan sedezaj,</a:t>
            </a:r>
            <a:endParaRPr lang="en-US" sz="1200" dirty="0">
              <a:solidFill>
                <a:srgbClr val="243660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ga odmah zakljucava.</a:t>
            </a:r>
            <a:endParaRPr lang="en-US" sz="1200" dirty="0">
              <a:solidFill>
                <a:srgbClr val="243660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243660"/>
                </a:solidFill>
                <a:latin typeface="Consolas" panose="020B0609020204030204" pitchFamily="49" charset="0"/>
                <a:ea typeface="Calibri" pitchFamily="34" charset="-122"/>
                <a:cs typeface="Calibri" pitchFamily="34" charset="-120"/>
              </a:rPr>
              <a:t>SELECT EMP_NO, SALARY FROM EMPLOYEE WHERE EMP_NO=4 WITH LOCK;</a:t>
            </a:r>
            <a:endParaRPr lang="en-US" sz="1200" dirty="0">
              <a:solidFill>
                <a:srgbClr val="243660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0" y="777240"/>
            <a:ext cx="4343400" cy="1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572000" y="777240"/>
            <a:ext cx="64008" cy="1800000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709160" y="85039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Optimistički pristup (podrazumevano)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09160" y="1213254"/>
            <a:ext cx="416052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Nema katanca </a:t>
            </a:r>
            <a:r>
              <a:rPr lang="en-US" sz="1200" dirty="0" err="1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</a:t>
            </a:r>
            <a:r>
              <a:rPr lang="en-U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</a:t>
            </a:r>
            <a:r>
              <a:rPr lang="en-US" sz="1200" dirty="0" err="1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itanju</a:t>
            </a:r>
            <a:r>
              <a:rPr lang="en-U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provera tek pri </a:t>
            </a:r>
            <a:r>
              <a:rPr lang="en-US" sz="1200" b="1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r>
              <a:rPr lang="en-U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>
              <a:solidFill>
                <a:srgbClr val="243660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Ako je red promenjen u me</a:t>
            </a:r>
            <a:r>
              <a:rPr lang="sr-Latn-R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</a:t>
            </a:r>
            <a:r>
              <a:rPr lang="en-US" sz="1200" dirty="0" err="1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uvremenu</a:t>
            </a:r>
            <a:r>
              <a:rPr lang="en-U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Conflict.</a:t>
            </a:r>
            <a:endParaRPr lang="en-US" sz="1200" dirty="0">
              <a:solidFill>
                <a:srgbClr val="243660"/>
              </a:solidFill>
            </a:endParaRPr>
          </a:p>
          <a:p>
            <a:pPr marL="0" indent="0">
              <a:buNone/>
            </a:pPr>
            <a:endParaRPr lang="en-US" sz="1200" dirty="0">
              <a:solidFill>
                <a:srgbClr val="243660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Programer mora predvideti </a:t>
            </a:r>
            <a:r>
              <a:rPr lang="en-US" sz="1200" b="1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logiku </a:t>
            </a:r>
            <a:r>
              <a:rPr lang="en-U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aplikaciji.</a:t>
            </a:r>
            <a:endParaRPr lang="en-US" sz="1200" dirty="0">
              <a:solidFill>
                <a:srgbClr val="243660"/>
              </a:solidFill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Manager </a:t>
            </a:r>
            <a:r>
              <a:rPr lang="en-U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 ko dr</a:t>
            </a:r>
            <a:r>
              <a:rPr lang="sr-Latn-R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</a:t>
            </a:r>
            <a:r>
              <a:rPr lang="en-US" sz="1200" dirty="0" err="1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koji katanac u deljenoj memoriji.</a:t>
            </a:r>
            <a:endParaRPr lang="en-US" sz="1200" dirty="0">
              <a:solidFill>
                <a:srgbClr val="243660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28600" y="2638746"/>
            <a:ext cx="8686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228600" y="2638746"/>
            <a:ext cx="8686800" cy="365760"/>
          </a:xfrm>
          <a:prstGeom prst="rect">
            <a:avLst/>
          </a:prstGeom>
          <a:solidFill>
            <a:schemeClr val="bg1">
              <a:lumMod val="50000"/>
            </a:scheme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20040" y="2657034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Deadlock — kružno čekanje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0040" y="3068514"/>
            <a:ext cx="8321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 err="1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Sesija</a:t>
            </a:r>
            <a:r>
              <a:rPr lang="en-US" sz="1200" b="1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</a:t>
            </a:r>
            <a:r>
              <a:rPr lang="sr-Latn-RS" sz="1200" b="1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</a:t>
            </a:r>
            <a:r>
              <a:rPr lang="sr-Latn-R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</a:t>
            </a:r>
            <a:r>
              <a:rPr lang="en-US" sz="1200" dirty="0" err="1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katanac na </a:t>
            </a:r>
            <a:r>
              <a:rPr lang="en-US" sz="1200" b="1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r>
              <a:rPr lang="en-U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-&gt; </a:t>
            </a:r>
            <a:r>
              <a:rPr lang="sr-Latn-R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</a:t>
            </a:r>
            <a:r>
              <a:rPr lang="en-U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eka </a:t>
            </a:r>
            <a:r>
              <a:rPr lang="en-US" sz="1200" b="1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200" b="1" dirty="0">
              <a:solidFill>
                <a:srgbClr val="243660"/>
              </a:solidFill>
            </a:endParaRPr>
          </a:p>
          <a:p>
            <a:r>
              <a:rPr lang="en-US" sz="1200" b="1" dirty="0" err="1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Sesija</a:t>
            </a:r>
            <a:r>
              <a:rPr lang="en-US" sz="1200" b="1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</a:t>
            </a:r>
            <a:r>
              <a:rPr lang="sr-Latn-RS" sz="1200" b="1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</a:t>
            </a:r>
            <a:r>
              <a:rPr lang="sr-Latn-R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</a:t>
            </a:r>
            <a:r>
              <a:rPr lang="en-US" sz="1200" dirty="0" err="1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katanac na </a:t>
            </a:r>
            <a:r>
              <a:rPr lang="en-US" sz="1200" b="1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r>
              <a:rPr lang="en-U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-&gt; </a:t>
            </a:r>
            <a:r>
              <a:rPr lang="sr-Latn-R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</a:t>
            </a:r>
            <a:r>
              <a:rPr lang="en-U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eka </a:t>
            </a:r>
            <a:r>
              <a:rPr lang="en-US" sz="1200" b="1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200" b="1" dirty="0">
              <a:solidFill>
                <a:srgbClr val="243660"/>
              </a:solidFill>
            </a:endParaRPr>
          </a:p>
          <a:p>
            <a:pPr marL="0" indent="0">
              <a:buNone/>
            </a:pPr>
            <a:endParaRPr lang="en-US" sz="1200" dirty="0">
              <a:solidFill>
                <a:srgbClr val="243660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Firebird Lock Manager periodično analizira </a:t>
            </a:r>
            <a:r>
              <a:rPr lang="en-US" sz="1200" dirty="0" err="1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</a:t>
            </a:r>
            <a:r>
              <a:rPr lang="en-U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</a:t>
            </a:r>
            <a:r>
              <a:rPr lang="en-US" sz="1200" dirty="0" err="1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ekanja</a:t>
            </a:r>
            <a:r>
              <a:rPr lang="en-U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detektuje petlju i </a:t>
            </a:r>
            <a:r>
              <a:rPr lang="en-US" sz="1200" dirty="0" err="1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prekida</a:t>
            </a:r>
            <a:r>
              <a:rPr lang="en-U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mlađu</a:t>
            </a:r>
            <a:r>
              <a:rPr lang="en-U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sesiju </a:t>
            </a:r>
            <a:r>
              <a:rPr lang="en-US" sz="1200" dirty="0" err="1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</a:t>
            </a:r>
            <a:r>
              <a:rPr lang="en-U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</a:t>
            </a:r>
            <a:r>
              <a:rPr lang="sr-Latn-R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</a:t>
            </a:r>
            <a:r>
              <a:rPr lang="en-US" sz="1200" dirty="0" err="1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</a:t>
            </a:r>
            <a:r>
              <a:rPr lang="en-U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'deadlock'.</a:t>
            </a:r>
            <a:endParaRPr lang="en-US" sz="1200" i="1" dirty="0">
              <a:solidFill>
                <a:srgbClr val="243660"/>
              </a:solidFill>
            </a:endParaRPr>
          </a:p>
          <a:p>
            <a:r>
              <a:rPr lang="en-US" sz="1200" dirty="0" err="1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Strategija</a:t>
            </a:r>
            <a:r>
              <a:rPr lang="en-U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prevencije</a:t>
            </a:r>
            <a:r>
              <a:rPr lang="sr-Latn-R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200" dirty="0" err="1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uvek</a:t>
            </a:r>
            <a:r>
              <a:rPr lang="en-U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ažurirati</a:t>
            </a:r>
            <a:r>
              <a:rPr lang="en-U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tabele istim redosledom u celoj aplikaciji!</a:t>
            </a:r>
            <a:endParaRPr lang="en-US" sz="1200" dirty="0">
              <a:solidFill>
                <a:srgbClr val="243660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28600" y="4172040"/>
            <a:ext cx="2743200" cy="9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228600" y="4172040"/>
            <a:ext cx="64008" cy="900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365760" y="420802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WAIT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5760" y="4482342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sr-Latn-R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Trenutna</a:t>
            </a:r>
            <a:r>
              <a:rPr lang="en-U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</a:t>
            </a:r>
            <a:r>
              <a:rPr lang="sr-Latn-R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</a:t>
            </a:r>
            <a:r>
              <a:rPr lang="en-U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 ako je red </a:t>
            </a:r>
            <a:r>
              <a:rPr lang="en-US" sz="1200" dirty="0" err="1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zaklju</a:t>
            </a:r>
            <a:r>
              <a:rPr lang="sr-Latn-R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</a:t>
            </a:r>
            <a:r>
              <a:rPr lang="en-U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an.</a:t>
            </a:r>
            <a:endParaRPr lang="en-US" sz="1200" dirty="0">
              <a:solidFill>
                <a:srgbClr val="243660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Idealno: interaktivni GUI.</a:t>
            </a:r>
            <a:endParaRPr lang="en-US" sz="1200" dirty="0">
              <a:solidFill>
                <a:srgbClr val="243660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216456" y="4172040"/>
            <a:ext cx="2743200" cy="9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3216456" y="4172040"/>
            <a:ext cx="64008" cy="90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3353616" y="420802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353616" y="4482342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sr-Latn-R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</a:t>
            </a:r>
            <a:r>
              <a:rPr lang="en-U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eka </a:t>
            </a:r>
            <a:r>
              <a:rPr lang="en-US" sz="1200" dirty="0" err="1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neograni</a:t>
            </a:r>
            <a:r>
              <a:rPr lang="sr-Latn-R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</a:t>
            </a:r>
            <a:r>
              <a:rPr lang="en-US" sz="1200" dirty="0" err="1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</a:t>
            </a:r>
            <a:r>
              <a:rPr lang="en-U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osloba</a:t>
            </a:r>
            <a:r>
              <a:rPr lang="sr-Latn-R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</a:t>
            </a:r>
            <a:r>
              <a:rPr lang="en-US" sz="1200" dirty="0" err="1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anje</a:t>
            </a:r>
            <a:r>
              <a:rPr lang="sr-Latn-R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traženog resursa.</a:t>
            </a:r>
            <a:endParaRPr lang="en-US" sz="1200" dirty="0">
              <a:solidFill>
                <a:srgbClr val="243660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Rizik</a:t>
            </a:r>
            <a:r>
              <a:rPr lang="sr-Latn-R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od</a:t>
            </a:r>
            <a:r>
              <a:rPr lang="en-U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zamrzavanja interfejsa.</a:t>
            </a:r>
            <a:endParaRPr lang="en-US" sz="1200" dirty="0">
              <a:solidFill>
                <a:srgbClr val="243660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167142" y="4172040"/>
            <a:ext cx="2743200" cy="9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6167142" y="4172040"/>
            <a:ext cx="64008" cy="90000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304302" y="420802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TIMEOUT 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304302" y="4482342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sr-Latn-R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</a:t>
            </a:r>
            <a:r>
              <a:rPr lang="en-U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eka N </a:t>
            </a:r>
            <a:r>
              <a:rPr lang="en-US" sz="1200" dirty="0" err="1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sekundi</a:t>
            </a:r>
            <a:r>
              <a:rPr lang="en-U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sr-Latn-R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ako za to vreme ne dobije resurs, dobija se</a:t>
            </a:r>
            <a:r>
              <a:rPr lang="en-U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</a:t>
            </a:r>
            <a:r>
              <a:rPr lang="sr-Latn-R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</a:t>
            </a:r>
            <a:r>
              <a:rPr lang="en-U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ka.</a:t>
            </a:r>
            <a:endParaRPr lang="en-US" sz="1200" dirty="0">
              <a:solidFill>
                <a:srgbClr val="243660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Najbolji kompromis za produkciju.</a:t>
            </a:r>
            <a:endParaRPr lang="en-US" sz="1200" dirty="0">
              <a:solidFill>
                <a:srgbClr val="24366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bg2">
              <a:lumMod val="75000"/>
            </a:scheme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37160" y="0"/>
            <a:ext cx="9006840" cy="658368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274320" y="64008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 Collection — održavanje MGA baze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1993392" cy="1371600"/>
          </a:xfrm>
          <a:prstGeom prst="rect">
            <a:avLst/>
          </a:prstGeom>
          <a:solidFill>
            <a:schemeClr val="accent6">
              <a:lumMod val="50000"/>
            </a:schemeClr>
          </a:solidFill>
          <a:ln/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228600" y="822960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TID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20040" y="1293095"/>
            <a:ext cx="185526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Slede</a:t>
            </a:r>
            <a:r>
              <a:rPr lang="sr-Latn-RS" sz="12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ć</a:t>
            </a:r>
            <a:r>
              <a:rPr lang="en-US" sz="1200" dirty="0" err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i</a:t>
            </a:r>
            <a:r>
              <a:rPr lang="en-US" sz="12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identifikator</a:t>
            </a:r>
            <a:r>
              <a:rPr lang="sr-Latn-RS" sz="1200" dirty="0"/>
              <a:t> </a:t>
            </a:r>
            <a:r>
              <a:rPr lang="en-US" sz="1200" dirty="0" err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transakcije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(gornja granica)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04872" y="777240"/>
            <a:ext cx="1993392" cy="1371600"/>
          </a:xfrm>
          <a:prstGeom prst="rect">
            <a:avLst/>
          </a:prstGeom>
          <a:solidFill>
            <a:schemeClr val="accent6">
              <a:lumMod val="75000"/>
            </a:schemeClr>
          </a:solidFill>
          <a:ln/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2404872" y="822960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OAT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404872" y="1280160"/>
            <a:ext cx="1993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Oldest Active</a:t>
            </a:r>
            <a:r>
              <a:rPr lang="sr-Latn-RS" sz="1200" dirty="0"/>
              <a:t> </a:t>
            </a:r>
            <a:r>
              <a:rPr lang="en-US" sz="12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Transaction</a:t>
            </a:r>
            <a:r>
              <a:rPr lang="sr-Latn-RS" sz="12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sr-Latn-RS" sz="12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BLOKIRA GC</a:t>
            </a:r>
            <a:endParaRPr lang="en-US" sz="1200" b="1" dirty="0"/>
          </a:p>
        </p:txBody>
      </p:sp>
      <p:sp>
        <p:nvSpPr>
          <p:cNvPr id="11" name="Shape 9"/>
          <p:cNvSpPr/>
          <p:nvPr/>
        </p:nvSpPr>
        <p:spPr>
          <a:xfrm>
            <a:off x="4581144" y="777240"/>
            <a:ext cx="1993392" cy="1371600"/>
          </a:xfrm>
          <a:prstGeom prst="rect">
            <a:avLst/>
          </a:prstGeom>
          <a:solidFill>
            <a:srgbClr val="243660"/>
          </a:solidFill>
          <a:ln/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581144" y="822960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OIT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581144" y="1280160"/>
            <a:ext cx="1993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Oldest Interesting</a:t>
            </a:r>
            <a:r>
              <a:rPr lang="sr-Latn-RS" sz="1200" dirty="0"/>
              <a:t> </a:t>
            </a:r>
            <a:r>
              <a:rPr lang="en-US" sz="12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Transaction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(donja granica)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757416" y="777240"/>
            <a:ext cx="1993392" cy="137160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757416" y="822960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830568" y="1280160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Oldest Snapshot</a:t>
            </a:r>
            <a:r>
              <a:rPr lang="sr-Latn-RS" sz="1200" dirty="0"/>
              <a:t> </a:t>
            </a:r>
            <a:r>
              <a:rPr lang="en-US" sz="12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Transaction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(zamrzava stanje)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8600" y="2286000"/>
            <a:ext cx="8686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228600" y="2286000"/>
            <a:ext cx="64008" cy="475488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365760" y="2340864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TRANSACTION_GAP = Next TID - OAT   =&gt;   mali gap = zdrava baza  |  veliki gap = GC blokiran, </a:t>
            </a:r>
            <a:r>
              <a:rPr lang="en-US" sz="1200" b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performanse</a:t>
            </a: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opadaju</a:t>
            </a: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28600" y="2889504"/>
            <a:ext cx="2743200" cy="9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228600" y="2889504"/>
            <a:ext cx="64008" cy="9000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365760" y="29107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Cooperative GC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65760" y="3239504"/>
            <a:ext cx="261853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Odvija se </a:t>
            </a:r>
            <a:r>
              <a:rPr lang="sr-Latn-R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automatski </a:t>
            </a:r>
            <a:r>
              <a:rPr lang="en-US" sz="1200" dirty="0" err="1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tokom</a:t>
            </a:r>
            <a:r>
              <a:rPr lang="en-U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SELECT upita.</a:t>
            </a:r>
            <a:endParaRPr lang="en-US" sz="1200" dirty="0">
              <a:solidFill>
                <a:srgbClr val="243660"/>
              </a:solidFill>
            </a:endParaRPr>
          </a:p>
          <a:p>
            <a:pPr marL="0" indent="0">
              <a:buNone/>
            </a:pPr>
            <a:r>
              <a:rPr lang="en-US" sz="1200" dirty="0" err="1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Svaki</a:t>
            </a:r>
            <a:r>
              <a:rPr lang="en-U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</a:t>
            </a:r>
            <a:r>
              <a:rPr lang="en-US" sz="1200" dirty="0" err="1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italac</a:t>
            </a:r>
            <a:r>
              <a:rPr lang="en-U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</a:t>
            </a:r>
            <a:r>
              <a:rPr lang="en-US" sz="1200" dirty="0" err="1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</a:t>
            </a:r>
            <a:r>
              <a:rPr lang="en-U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stare verzije usput.</a:t>
            </a:r>
            <a:endParaRPr lang="en-US" sz="1200" dirty="0">
              <a:solidFill>
                <a:srgbClr val="243660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209022" y="2889504"/>
            <a:ext cx="2743200" cy="9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3209022" y="2889504"/>
            <a:ext cx="64008" cy="9000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3346182" y="29107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GC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346182" y="3239504"/>
            <a:ext cx="261853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Posebna nit u SuperServer modelu.</a:t>
            </a:r>
            <a:endParaRPr lang="en-US" sz="1200" dirty="0">
              <a:solidFill>
                <a:srgbClr val="243660"/>
              </a:solidFill>
            </a:endParaRPr>
          </a:p>
          <a:p>
            <a:pPr marL="0" indent="0">
              <a:buNone/>
            </a:pPr>
            <a:r>
              <a:rPr lang="en-US" sz="1200" dirty="0" err="1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Nezavisn</a:t>
            </a:r>
            <a:r>
              <a:rPr lang="sr-Latn-R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od </a:t>
            </a:r>
            <a:r>
              <a:rPr lang="en-US" sz="1200" dirty="0" err="1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korisni</a:t>
            </a:r>
            <a:r>
              <a:rPr lang="sr-Latn-R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</a:t>
            </a:r>
            <a:r>
              <a:rPr lang="en-US" sz="1200" dirty="0" err="1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kih</a:t>
            </a:r>
            <a:r>
              <a:rPr lang="en-U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zahteva.</a:t>
            </a:r>
            <a:endParaRPr lang="en-US" sz="1200" dirty="0">
              <a:solidFill>
                <a:srgbClr val="243660"/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163056" y="2889504"/>
            <a:ext cx="2752344" cy="9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6159708" y="2889504"/>
            <a:ext cx="64008" cy="900000"/>
          </a:xfrm>
          <a:prstGeom prst="rect">
            <a:avLst/>
          </a:prstGeom>
          <a:solidFill>
            <a:srgbClr val="24366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6296868" y="29107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Sweeping (gfix)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296868" y="3239504"/>
            <a:ext cx="261853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Sistematsko skeniranje cele baze.</a:t>
            </a:r>
            <a:endParaRPr lang="en-US" sz="1200" dirty="0">
              <a:solidFill>
                <a:srgbClr val="243660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24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gfix -sweep -user SYSDBA -password masterkey localhost:employee</a:t>
            </a:r>
            <a:endParaRPr lang="en-US" sz="1200" dirty="0">
              <a:solidFill>
                <a:srgbClr val="243660"/>
              </a:solidFill>
            </a:endParaRPr>
          </a:p>
        </p:txBody>
      </p:sp>
      <p:sp>
        <p:nvSpPr>
          <p:cNvPr id="32" name="Shape 30"/>
          <p:cNvSpPr/>
          <p:nvPr/>
        </p:nvSpPr>
        <p:spPr>
          <a:xfrm>
            <a:off x="228600" y="3937498"/>
            <a:ext cx="8686800" cy="1141994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228600" y="3930141"/>
            <a:ext cx="8686800" cy="329184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320040" y="397407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monitoring — identifikacija blokirajuce sesije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5" name="Text 33"/>
          <p:cNvSpPr/>
          <p:nvPr/>
        </p:nvSpPr>
        <p:spPr>
          <a:xfrm>
            <a:off x="320040" y="4321546"/>
            <a:ext cx="8503920" cy="757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436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A.MON$USER, A.MON$REMOTE_PROCESS, T.MON$TRANSACTION_ID, T.MON$TIMESTAMP,</a:t>
            </a:r>
            <a:endParaRPr lang="en-US" sz="1000" dirty="0">
              <a:solidFill>
                <a:srgbClr val="243660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2436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CASE T.MON$ISOLATION_MODE WHEN 1 THEN 'Snapshot' WHEN 2 THEN 'RC RecordVersion'</a:t>
            </a:r>
            <a:endParaRPr lang="en-US" sz="1000" dirty="0">
              <a:solidFill>
                <a:srgbClr val="243660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2436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WHEN 4 THEN 'Read Consistency' END AS IZOLACIJA</a:t>
            </a:r>
            <a:endParaRPr lang="en-US" sz="1000" dirty="0">
              <a:solidFill>
                <a:srgbClr val="243660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2436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MON$TRANSACTIONS T JOIN MON$ATTACHMENTS A ON T.MON$ATTACHMENT_ID=A.MON$ATTACHMENT_ID</a:t>
            </a:r>
            <a:endParaRPr lang="en-US" sz="1000" dirty="0">
              <a:solidFill>
                <a:srgbClr val="243660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2436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T.MON$TRANSACTION_ID = (SELECT MON$OLDEST_ACTIVE FROM MON$DATABASE);</a:t>
            </a:r>
            <a:endParaRPr lang="en-US" sz="1000" dirty="0">
              <a:solidFill>
                <a:srgbClr val="24366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bg2">
              <a:lumMod val="75000"/>
            </a:scheme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37160" y="0"/>
            <a:ext cx="9006840" cy="658368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274320" y="64008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Planovi izvršavanja i MON$ monitoring u realnom vremenu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8686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64008" cy="713232"/>
          </a:xfrm>
          <a:prstGeom prst="rect">
            <a:avLst/>
          </a:prstGeom>
          <a:solidFill>
            <a:schemeClr val="accent6">
              <a:lumMod val="75000"/>
            </a:scheme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365760" y="791596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Uloga TPB (Transaction Parameter Block)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087769"/>
            <a:ext cx="8503920" cy="372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Svaka transakcija startuje TPB-om koji </a:t>
            </a:r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sadr</a:t>
            </a:r>
            <a:r>
              <a:rPr lang="sr-Latn-R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i: Access Mode (Read Only / Read Write), Isolation Level, Wait/No Wait.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koristi TPB: Read Only transakcija dobija agresivniji plan jer zna da se </a:t>
            </a:r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podaci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</a:t>
            </a:r>
            <a:r>
              <a:rPr lang="sr-Latn-R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</a:t>
            </a:r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menjati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" y="1549277"/>
            <a:ext cx="4160520" cy="2250755"/>
          </a:xfrm>
          <a:prstGeom prst="rect">
            <a:avLst/>
          </a:prstGeom>
          <a:solidFill>
            <a:schemeClr val="accent6">
              <a:lumMod val="50000"/>
            </a:schemeClr>
          </a:solidFill>
          <a:ln/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228600" y="1549278"/>
            <a:ext cx="4160520" cy="329184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sz="1200"/>
          </a:p>
        </p:txBody>
      </p:sp>
      <p:sp>
        <p:nvSpPr>
          <p:cNvPr id="11" name="Text 9"/>
          <p:cNvSpPr/>
          <p:nvPr/>
        </p:nvSpPr>
        <p:spPr>
          <a:xfrm>
            <a:off x="320040" y="157622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— zamrznuta slika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320040" y="1911621"/>
            <a:ext cx="3977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TIME ON</a:t>
            </a:r>
            <a:endParaRPr lang="en-US" sz="95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TRANSACTION ISOLATION LEVEL SNAPSHOT READ ONLY;</a:t>
            </a:r>
            <a:endParaRPr lang="en-US" sz="95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PLAN ON</a:t>
            </a:r>
            <a:endParaRPr lang="en-US" sz="95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E.EMP_NO, E.FIRST_NAME,</a:t>
            </a:r>
            <a:endParaRPr lang="en-US" sz="95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D.DEPARTMENT, E.SALARY</a:t>
            </a:r>
            <a:endParaRPr lang="en-US" sz="95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EMPLOYEE E</a:t>
            </a:r>
            <a:endParaRPr lang="en-US" sz="95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JOIN DEPARTMENT D ON E.DEPT_NO=D.DEPT_NO</a:t>
            </a:r>
            <a:endParaRPr lang="en-US" sz="95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E.SALARY &gt; 80000</a:t>
            </a:r>
            <a:endParaRPr lang="en-US" sz="95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E.SALARY DESC;</a:t>
            </a:r>
            <a:endParaRPr lang="en-US" sz="95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COMMIT;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0" y="1549278"/>
            <a:ext cx="4343400" cy="2250754"/>
          </a:xfrm>
          <a:prstGeom prst="rect">
            <a:avLst/>
          </a:prstGeom>
          <a:solidFill>
            <a:schemeClr val="accent6">
              <a:lumMod val="50000"/>
            </a:schemeClr>
          </a:solidFill>
          <a:ln/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572000" y="1549278"/>
            <a:ext cx="4343400" cy="329184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663440" y="1570167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MON$ — detekcija sporih upita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4663440" y="1899351"/>
            <a:ext cx="4160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A.MON$USER AS KORISNIK,</a:t>
            </a:r>
            <a:endParaRPr lang="en-US" sz="95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S.MON$SQL_TEXT AS SQL_UPIT,</a:t>
            </a:r>
            <a:endParaRPr lang="en-US" sz="95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CASE T.MON$ISOLATION_MODE</a:t>
            </a:r>
            <a:endParaRPr lang="en-US" sz="95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WHEN 1 THEN 'Snapshot'</a:t>
            </a:r>
            <a:endParaRPr lang="en-US" sz="95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WHEN 2 THEN 'RC RecordVersion'</a:t>
            </a:r>
            <a:endParaRPr lang="en-US" sz="95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WHEN 4 THEN 'Read Consistency'</a:t>
            </a:r>
            <a:endParaRPr lang="en-US" sz="95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END AS IZOLACIJA</a:t>
            </a:r>
            <a:endParaRPr lang="en-US" sz="95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MON$STATEMENTS S</a:t>
            </a:r>
            <a:endParaRPr lang="en-US" sz="95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JOIN MON$TRANSACTIONS T ON S.MON$TRANSACTION_ID=T.MON$TRANSACTION_ID</a:t>
            </a:r>
            <a:endParaRPr lang="en-US" sz="95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JOIN MON$ATTACHMENTS A ON T.MON$ATTACHMENT_ID=A.MON$ATTACHMENT_ID</a:t>
            </a:r>
            <a:endParaRPr lang="en-US" sz="95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S.MON$STATE=1;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28600" y="3873186"/>
            <a:ext cx="2743200" cy="120923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228600" y="3873186"/>
            <a:ext cx="64008" cy="120923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365760" y="394908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u planu = PROBLEM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5760" y="4334104"/>
            <a:ext cx="2560320" cy="675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Pojava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</a:t>
            </a:r>
            <a:r>
              <a:rPr lang="sr-Latn-R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</a:t>
            </a:r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NATURAL za veliku tabelu = dokaz da Optimizer bira </a:t>
            </a: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Scan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Uzrok: zastarela statistika indeksa ili visok </a:t>
            </a: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Bloat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127248" y="3873188"/>
            <a:ext cx="2879542" cy="120923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3127248" y="3873188"/>
            <a:ext cx="64008" cy="1209238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3264408" y="3916307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kazna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264408" y="4334104"/>
            <a:ext cx="2651760" cy="675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nad tabelom sa mnogo </a:t>
            </a:r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verzija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</a:t>
            </a:r>
            <a:r>
              <a:rPr lang="sr-Latn-R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biti </a:t>
            </a: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SPORIJI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od Read Committed.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mora pratiti Back Interest </a:t>
            </a:r>
            <a:r>
              <a:rPr lang="sr-Latn-R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ointer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unazad za svaki red.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68852" y="3873188"/>
            <a:ext cx="2743200" cy="120923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6159708" y="3873188"/>
            <a:ext cx="64008" cy="1209238"/>
          </a:xfrm>
          <a:prstGeom prst="rect">
            <a:avLst/>
          </a:prstGeom>
          <a:solidFill>
            <a:schemeClr val="bg2">
              <a:lumMod val="75000"/>
            </a:scheme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296868" y="3952651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Redovno SET STATISTICS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96868" y="4334104"/>
            <a:ext cx="2560320" cy="675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Selektivnost indeksa zastareva.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Pokrenuti SET STATISTICS INDEX posle masovnih INSERT/DELETE operacija.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bg2">
              <a:lumMod val="75000"/>
            </a:scheme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37160" y="0"/>
            <a:ext cx="9006840" cy="658368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274320" y="64008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Praktična demonstracija — 6 testova na EMPLOYEE.FDB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4717" y="873882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384717" y="873882"/>
            <a:ext cx="2743200" cy="41148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384717" y="873882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3629" y="928746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 Read — SPRE</a:t>
            </a:r>
            <a:r>
              <a:rPr lang="sr-Latn-R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4445" y="1376802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Sesija A: UPDATE SALARY (bez COMMIT)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Sesija B: SELECT -&gt; vraca 105.900,00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Firebird ne </a:t>
            </a:r>
            <a:r>
              <a:rPr lang="sr-Latn-R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či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nepotvr</a:t>
            </a:r>
            <a:r>
              <a:rPr lang="sr-Latn-R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sr-Latn-R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podatke 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po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dizajnu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83365" y="873882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3283365" y="873882"/>
            <a:ext cx="2743200" cy="411480"/>
          </a:xfrm>
          <a:prstGeom prst="rect">
            <a:avLst/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283365" y="873882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22277" y="928746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Non-repeatable Read </a:t>
            </a:r>
            <a:r>
              <a:rPr lang="sr-Latn-R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sr-Latn-R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ead Committed)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93093" y="1376802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Sesija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sr-Latn-RS" sz="1400" dirty="0"/>
              <a:t>→ 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sr-Latn-RS" sz="1400" dirty="0">
              <a:solidFill>
                <a:srgbClr val="47556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Sesija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 </a:t>
            </a:r>
            <a:r>
              <a:rPr lang="sr-Latn-RS" sz="1400" dirty="0"/>
              <a:t>→ 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+ COMMIT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Sesija A SELECT -&gt; vidi novu vrednost!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uvek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poslednju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commitovanu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verziju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82013" y="873882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182013" y="873882"/>
            <a:ext cx="2743200" cy="411480"/>
          </a:xfrm>
          <a:prstGeom prst="rect">
            <a:avLst/>
          </a:prstGeom>
          <a:solidFill>
            <a:schemeClr val="bg2">
              <a:lumMod val="25000"/>
            </a:scheme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182013" y="873882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20925" y="928746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Phantom Read — SPRE</a:t>
            </a:r>
            <a:r>
              <a:rPr lang="sr-Latn-R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91741" y="1376802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Sesija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ponovi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</a:t>
            </a:r>
            <a:r>
              <a:rPr lang="sr-Latn-R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1200" dirty="0"/>
              <a:t>→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</a:t>
            </a:r>
            <a:r>
              <a:rPr lang="sr-Latn-R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upita</a:t>
            </a:r>
          </a:p>
          <a:p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Sesija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</a:t>
            </a:r>
            <a:r>
              <a:rPr lang="sr-Latn-R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1200" dirty="0"/>
              <a:t>→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INSERT + COMMIT (105 redova)</a:t>
            </a:r>
            <a:endParaRPr lang="en-US" sz="1200" dirty="0"/>
          </a:p>
          <a:p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Sesija A </a:t>
            </a:r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ponovi</a:t>
            </a:r>
            <a:r>
              <a:rPr lang="sr-Latn-R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COUNT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1200" dirty="0"/>
              <a:t>→ </a:t>
            </a:r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dalje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104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</a:t>
            </a:r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ignori</a:t>
            </a:r>
            <a:r>
              <a:rPr lang="sr-Latn-R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sve promene posle </a:t>
            </a:r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svog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84717" y="2931282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384717" y="2931282"/>
            <a:ext cx="2743200" cy="411480"/>
          </a:xfrm>
          <a:prstGeom prst="rect">
            <a:avLst/>
          </a:prstGeom>
          <a:solidFill>
            <a:schemeClr val="accent6">
              <a:lumMod val="75000"/>
            </a:scheme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384717" y="2931282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3629" y="2986146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Conflict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4445" y="3434202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Dve Snapshot sesije menjaju isti red.</a:t>
            </a:r>
            <a:endParaRPr lang="en-US" sz="1400" dirty="0"/>
          </a:p>
          <a:p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Firebird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prekida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mla</a:t>
            </a:r>
            <a:r>
              <a:rPr lang="sr-Latn-R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đu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sesiju</a:t>
            </a:r>
            <a:r>
              <a:rPr lang="sr-Latn-R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1400" dirty="0"/>
              <a:t>→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</a:t>
            </a:r>
            <a:r>
              <a:rPr lang="sr-Latn-R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 deadlock.</a:t>
            </a:r>
            <a:endParaRPr lang="en-US" sz="1400" dirty="0"/>
          </a:p>
          <a:p>
            <a:pPr marL="0" indent="0">
              <a:buNone/>
            </a:pP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Pesimisti</a:t>
            </a:r>
            <a:r>
              <a:rPr lang="sr-Latn-R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 lock na nivou verzije zapisa.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283365" y="2931282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3283365" y="2931282"/>
            <a:ext cx="2743200" cy="41148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3283365" y="2931282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722277" y="2986146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Timeout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333657" y="3434202"/>
            <a:ext cx="2633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onsolas" panose="020B0609020204030204" pitchFamily="49" charset="0"/>
                <a:ea typeface="Calibri" pitchFamily="34" charset="-122"/>
                <a:cs typeface="Calibri" pitchFamily="34" charset="-120"/>
              </a:rPr>
              <a:t>SET TRANSACTION WAIT LOCK TIMEOUT 5</a:t>
            </a:r>
            <a:endParaRPr lang="en-US" sz="1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Sesija A ne oslobodi red za 5 sekundi -&gt;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Sesija B dobija gresku deadlock.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182013" y="2931282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6182013" y="2931282"/>
            <a:ext cx="2743200" cy="411480"/>
          </a:xfrm>
          <a:prstGeom prst="rect">
            <a:avLst/>
          </a:prstGeom>
          <a:solidFill>
            <a:schemeClr val="accent6">
              <a:lumMod val="50000"/>
            </a:scheme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6182013" y="2931282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620925" y="2986146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Pesimisticki WITH LOCK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291741" y="3434202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Sesija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</a:t>
            </a:r>
            <a:r>
              <a:rPr lang="sr-Latn-R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1400" dirty="0"/>
              <a:t>→ 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WITH LOCK (dr</a:t>
            </a:r>
            <a:r>
              <a:rPr lang="sr-Latn-R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ži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katanac)</a:t>
            </a:r>
            <a:endParaRPr lang="en-US" sz="1400" dirty="0"/>
          </a:p>
          <a:p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Sesija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</a:t>
            </a:r>
            <a:r>
              <a:rPr lang="sr-Latn-R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1400" dirty="0"/>
              <a:t>→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poku</a:t>
            </a:r>
            <a:r>
              <a:rPr lang="sr-Latn-R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 UPDATE istog reda</a:t>
            </a:r>
            <a:endParaRPr lang="en-US" sz="1400" dirty="0"/>
          </a:p>
          <a:p>
            <a:r>
              <a:rPr lang="sr-Latn-RS" sz="1400" dirty="0"/>
              <a:t>→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Odmah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</a:t>
            </a:r>
            <a:r>
              <a:rPr lang="sr-Latn-R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 (NO WAIT)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ili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eka (WAIT).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chemeClr val="bg2">
              <a:lumMod val="75000"/>
            </a:scheme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201168" y="0"/>
            <a:ext cx="8942832" cy="54864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411480" y="2788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Ključni zaključci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6091"/>
            <a:ext cx="8412480" cy="640080"/>
          </a:xfrm>
          <a:prstGeom prst="rect">
            <a:avLst/>
          </a:prstGeom>
          <a:solidFill>
            <a:schemeClr val="bg1">
              <a:alpha val="8000"/>
            </a:schemeClr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365760" y="1076091"/>
            <a:ext cx="73152" cy="64008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30352" y="1185819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MGA arhitektura: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2926080" y="1185819"/>
            <a:ext cx="5760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Či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taoci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nikada ne blokiraju pisce — temeljna prednost Firebirda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</a:t>
            </a:r>
            <a:r>
              <a:rPr lang="sr-Latn-R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</a:t>
            </a:r>
            <a:r>
              <a:rPr lang="sr-Latn-R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SUBP-ovima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835043"/>
            <a:ext cx="8412480" cy="640080"/>
          </a:xfrm>
          <a:prstGeom prst="rect">
            <a:avLst/>
          </a:prstGeom>
          <a:solidFill>
            <a:schemeClr val="bg1">
              <a:alpha val="8000"/>
            </a:schemeClr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365760" y="1835043"/>
            <a:ext cx="73152" cy="64008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30352" y="1944771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Nivo izolacije = kompromis: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2926080" y="1944771"/>
            <a:ext cx="5760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za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izve</a:t>
            </a:r>
            <a:r>
              <a:rPr lang="sr-Latn-R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taje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Read Committed za OLTP, Read Consistency (FB 4.0) za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eliminaciju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konflikata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593995"/>
            <a:ext cx="8412480" cy="640080"/>
          </a:xfrm>
          <a:prstGeom prst="rect">
            <a:avLst/>
          </a:prstGeom>
          <a:solidFill>
            <a:schemeClr val="bg1">
              <a:alpha val="8000"/>
            </a:schemeClr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65760" y="2593995"/>
            <a:ext cx="73152" cy="64008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30352" y="2703723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 Collection: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2926080" y="2703723"/>
            <a:ext cx="5760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OAT je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</a:t>
            </a:r>
            <a:r>
              <a:rPr lang="sr-Latn-R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marker —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duga</a:t>
            </a:r>
            <a:r>
              <a:rPr lang="sr-Latn-R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transakcije blokiraju GC i degradiraju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performanse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352947"/>
            <a:ext cx="8412480" cy="640080"/>
          </a:xfrm>
          <a:prstGeom prst="rect">
            <a:avLst/>
          </a:prstGeom>
          <a:solidFill>
            <a:schemeClr val="bg1">
              <a:alpha val="8000"/>
            </a:schemeClr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365760" y="3352947"/>
            <a:ext cx="73152" cy="64008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530352" y="3462675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Deadlock prevencija: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2926080" y="3462675"/>
            <a:ext cx="5760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Uvek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ažurirati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tabele istim redosledom u celoj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aplikaciji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elimini</a:t>
            </a:r>
            <a:r>
              <a:rPr lang="sr-Latn-R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še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</a:t>
            </a:r>
            <a:r>
              <a:rPr lang="sr-Latn-R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</a:t>
            </a:r>
            <a:r>
              <a:rPr lang="sr-Latn-R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ekanje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111899"/>
            <a:ext cx="8412480" cy="640080"/>
          </a:xfrm>
          <a:prstGeom prst="rect">
            <a:avLst/>
          </a:prstGeom>
          <a:solidFill>
            <a:schemeClr val="bg1">
              <a:alpha val="8000"/>
            </a:schemeClr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365760" y="4111899"/>
            <a:ext cx="73152" cy="64008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530352" y="4221627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MON$ monitoring: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2926080" y="4221627"/>
            <a:ext cx="5760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PLAN ON + MON$ tabele = kompletan uvid u planove i transakcije u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realnom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vremenu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chemeClr val="accent6">
              <a:lumMod val="75000"/>
            </a:schemeClr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734</TotalTime>
  <Words>3713</Words>
  <Application>Microsoft Office PowerPoint</Application>
  <PresentationFormat>On-screen Show (16:9)</PresentationFormat>
  <Paragraphs>314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Jefimija Stamenovic</cp:lastModifiedBy>
  <cp:revision>40</cp:revision>
  <dcterms:created xsi:type="dcterms:W3CDTF">2026-03-11T06:40:25Z</dcterms:created>
  <dcterms:modified xsi:type="dcterms:W3CDTF">2026-03-16T09:08:59Z</dcterms:modified>
</cp:coreProperties>
</file>