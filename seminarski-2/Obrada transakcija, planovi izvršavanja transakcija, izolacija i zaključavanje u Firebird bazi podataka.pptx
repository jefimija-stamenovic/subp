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66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4220" autoAdjust="0"/>
  </p:normalViewPr>
  <p:slideViewPr>
    <p:cSldViewPr snapToGrid="0" snapToObjects="1">
      <p:cViewPr varScale="1">
        <p:scale>
          <a:sx n="61" d="100"/>
          <a:sy n="61" d="100"/>
        </p:scale>
        <p:origin x="53" y="115"/>
      </p:cViewPr>
      <p:guideLst/>
    </p:cSldViewPr>
  </p:slideViewPr>
  <p:notesTextViewPr>
    <p:cViewPr>
      <p:scale>
        <a:sx n="1" d="1"/>
        <a:sy n="1" d="1"/>
      </p:scale>
      <p:origin x="0" y="-25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5409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r-Latn-RS" dirty="0"/>
              <a:t>Drugi seminarski rad je rađen na temu obrada transakcija, planovi izvršavanja transakcija, izolacija i zaključavanje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Krećemo</a:t>
            </a:r>
            <a:r>
              <a:rPr lang="en-US" dirty="0"/>
              <a:t> od </a:t>
            </a:r>
            <a:r>
              <a:rPr lang="en-US" b="1" dirty="0"/>
              <a:t>ACID </a:t>
            </a:r>
            <a:r>
              <a:rPr lang="en-US" b="1" dirty="0" err="1"/>
              <a:t>principa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osnove</a:t>
            </a:r>
            <a:r>
              <a:rPr lang="en-US" dirty="0"/>
              <a:t>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transakcione</a:t>
            </a:r>
            <a:r>
              <a:rPr lang="en-US" dirty="0"/>
              <a:t> </a:t>
            </a:r>
            <a:r>
              <a:rPr lang="en-US" dirty="0" err="1"/>
              <a:t>baze</a:t>
            </a:r>
            <a:r>
              <a:rPr lang="en-US" dirty="0"/>
              <a:t>,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čega</a:t>
            </a:r>
            <a:r>
              <a:rPr lang="en-US" dirty="0"/>
              <a:t> </a:t>
            </a:r>
            <a:r>
              <a:rPr lang="en-US" dirty="0" err="1"/>
              <a:t>analiziramo</a:t>
            </a:r>
            <a:r>
              <a:rPr lang="en-US" dirty="0"/>
              <a:t> </a:t>
            </a:r>
            <a:r>
              <a:rPr lang="en-US" b="1" dirty="0" err="1"/>
              <a:t>transakcione</a:t>
            </a:r>
            <a:r>
              <a:rPr lang="en-US" b="1" dirty="0"/>
              <a:t> </a:t>
            </a:r>
            <a:r>
              <a:rPr lang="en-US" b="1" dirty="0" err="1"/>
              <a:t>anomalije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Dirty Read, Non-repeatable </a:t>
            </a:r>
            <a:r>
              <a:rPr lang="en-US" dirty="0" err="1"/>
              <a:t>i</a:t>
            </a:r>
            <a:r>
              <a:rPr lang="en-US" dirty="0"/>
              <a:t> Phantom Read </a:t>
            </a:r>
            <a:r>
              <a:rPr lang="en-US" dirty="0" err="1"/>
              <a:t>koje</a:t>
            </a:r>
            <a:r>
              <a:rPr lang="en-US" dirty="0"/>
              <a:t> se </a:t>
            </a:r>
            <a:r>
              <a:rPr lang="en-US" dirty="0" err="1"/>
              <a:t>javljaju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 </a:t>
            </a:r>
            <a:r>
              <a:rPr lang="en-US" dirty="0" err="1"/>
              <a:t>nisu</a:t>
            </a:r>
            <a:r>
              <a:rPr lang="en-US" dirty="0"/>
              <a:t> </a:t>
            </a:r>
            <a:r>
              <a:rPr lang="en-US" dirty="0" err="1"/>
              <a:t>pravilno</a:t>
            </a:r>
            <a:r>
              <a:rPr lang="en-US" dirty="0"/>
              <a:t> </a:t>
            </a:r>
            <a:r>
              <a:rPr lang="en-US" dirty="0" err="1"/>
              <a:t>izolovane</a:t>
            </a:r>
            <a:r>
              <a:rPr lang="en-US" dirty="0"/>
              <a:t>.</a:t>
            </a:r>
            <a:r>
              <a:rPr lang="sr-Latn-RS" dirty="0"/>
              <a:t> </a:t>
            </a:r>
            <a:r>
              <a:rPr lang="en-US" dirty="0" err="1"/>
              <a:t>Centralni</a:t>
            </a:r>
            <a:r>
              <a:rPr lang="en-US" dirty="0"/>
              <a:t> deo </a:t>
            </a:r>
            <a:r>
              <a:rPr lang="en-US" dirty="0" err="1"/>
              <a:t>prezentacije</a:t>
            </a:r>
            <a:r>
              <a:rPr lang="en-US" dirty="0"/>
              <a:t> </a:t>
            </a:r>
            <a:r>
              <a:rPr lang="en-US" dirty="0" err="1"/>
              <a:t>posvećen</a:t>
            </a:r>
            <a:r>
              <a:rPr lang="en-US" dirty="0"/>
              <a:t> je </a:t>
            </a:r>
            <a:r>
              <a:rPr lang="en-US" b="1" dirty="0"/>
              <a:t>MGA </a:t>
            </a:r>
            <a:r>
              <a:rPr lang="en-US" b="1" dirty="0" err="1"/>
              <a:t>i</a:t>
            </a:r>
            <a:r>
              <a:rPr lang="en-US" b="1" dirty="0"/>
              <a:t> MVCC </a:t>
            </a:r>
            <a:r>
              <a:rPr lang="en-US" b="1" dirty="0" err="1"/>
              <a:t>arhitekturi</a:t>
            </a:r>
            <a:r>
              <a:rPr lang="sr-Latn-RS" b="0" dirty="0"/>
              <a:t>, ali ovaj put u kontekstu transakcija</a:t>
            </a:r>
            <a:r>
              <a:rPr lang="en-US" dirty="0"/>
              <a:t> — </a:t>
            </a:r>
            <a:r>
              <a:rPr lang="en-US" dirty="0" err="1"/>
              <a:t>verzijama</a:t>
            </a:r>
            <a:r>
              <a:rPr lang="en-US" dirty="0"/>
              <a:t> </a:t>
            </a:r>
            <a:r>
              <a:rPr lang="en-US" dirty="0" err="1"/>
              <a:t>zapisa</a:t>
            </a:r>
            <a:r>
              <a:rPr lang="en-US" dirty="0"/>
              <a:t>, TIP </a:t>
            </a:r>
            <a:r>
              <a:rPr lang="en-US" dirty="0" err="1"/>
              <a:t>stranicama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Record Header </a:t>
            </a:r>
            <a:r>
              <a:rPr lang="en-US" dirty="0" err="1"/>
              <a:t>strukturi</a:t>
            </a:r>
            <a:r>
              <a:rPr lang="en-US" dirty="0"/>
              <a:t> —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 err="1"/>
              <a:t>nivoima</a:t>
            </a:r>
            <a:r>
              <a:rPr lang="en-US" b="1" dirty="0"/>
              <a:t> </a:t>
            </a:r>
            <a:r>
              <a:rPr lang="en-US" b="1" dirty="0" err="1"/>
              <a:t>izolacije</a:t>
            </a:r>
            <a:r>
              <a:rPr lang="en-US" dirty="0"/>
              <a:t> koji </a:t>
            </a:r>
            <a:r>
              <a:rPr lang="en-US" dirty="0" err="1"/>
              <a:t>definišu</a:t>
            </a:r>
            <a:r>
              <a:rPr lang="en-US" dirty="0"/>
              <a:t> </a:t>
            </a:r>
            <a:r>
              <a:rPr lang="en-US" dirty="0" err="1"/>
              <a:t>šta</a:t>
            </a:r>
            <a:r>
              <a:rPr lang="en-US" dirty="0"/>
              <a:t> </a:t>
            </a: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sme</a:t>
            </a:r>
            <a:r>
              <a:rPr lang="en-US" dirty="0"/>
              <a:t> da </a:t>
            </a:r>
            <a:r>
              <a:rPr lang="en-US" dirty="0" err="1"/>
              <a:t>vidi</a:t>
            </a:r>
            <a:r>
              <a:rPr lang="en-US" dirty="0"/>
              <a:t>.</a:t>
            </a:r>
            <a:r>
              <a:rPr lang="sr-Latn-RS" dirty="0"/>
              <a:t> </a:t>
            </a:r>
            <a:r>
              <a:rPr lang="en-US" dirty="0" err="1"/>
              <a:t>Praktični</a:t>
            </a:r>
            <a:r>
              <a:rPr lang="en-US" dirty="0"/>
              <a:t> </a:t>
            </a:r>
            <a:r>
              <a:rPr lang="en-US" dirty="0" err="1"/>
              <a:t>aspekti</a:t>
            </a:r>
            <a:r>
              <a:rPr lang="en-US" dirty="0"/>
              <a:t> </a:t>
            </a:r>
            <a:r>
              <a:rPr lang="en-US" dirty="0" err="1"/>
              <a:t>obuhvataju</a:t>
            </a:r>
            <a:r>
              <a:rPr lang="en-US" dirty="0"/>
              <a:t> </a:t>
            </a:r>
            <a:r>
              <a:rPr lang="en-US" b="1" dirty="0" err="1"/>
              <a:t>mehanizme</a:t>
            </a:r>
            <a:r>
              <a:rPr lang="en-US" b="1" dirty="0"/>
              <a:t> </a:t>
            </a:r>
            <a:r>
              <a:rPr lang="en-US" b="1" dirty="0" err="1"/>
              <a:t>zaključavanja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WITH LOCK, deadlock </a:t>
            </a:r>
            <a:r>
              <a:rPr lang="en-US" dirty="0" err="1"/>
              <a:t>situacijama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WAIT/NO WAIT </a:t>
            </a:r>
            <a:r>
              <a:rPr lang="en-US" dirty="0" err="1"/>
              <a:t>opcijama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Garbage Collection</a:t>
            </a:r>
            <a:r>
              <a:rPr lang="en-US" dirty="0"/>
              <a:t> koji se </a:t>
            </a:r>
            <a:r>
              <a:rPr lang="en-US" dirty="0" err="1"/>
              <a:t>bavi</a:t>
            </a:r>
            <a:r>
              <a:rPr lang="en-US" dirty="0"/>
              <a:t> </a:t>
            </a:r>
            <a:r>
              <a:rPr lang="en-US" dirty="0" err="1"/>
              <a:t>čišćenjem</a:t>
            </a:r>
            <a:r>
              <a:rPr lang="en-US" dirty="0"/>
              <a:t> </a:t>
            </a:r>
            <a:r>
              <a:rPr lang="en-US" dirty="0" err="1"/>
              <a:t>zastarelih</a:t>
            </a:r>
            <a:r>
              <a:rPr lang="en-US" dirty="0"/>
              <a:t> </a:t>
            </a:r>
            <a:r>
              <a:rPr lang="en-US" dirty="0" err="1"/>
              <a:t>verzija</a:t>
            </a:r>
            <a:r>
              <a:rPr lang="en-US" dirty="0"/>
              <a:t>, Database Bloat-om </a:t>
            </a:r>
            <a:r>
              <a:rPr lang="en-US" dirty="0" err="1"/>
              <a:t>i</a:t>
            </a:r>
            <a:r>
              <a:rPr lang="en-US" dirty="0"/>
              <a:t> Sweep </a:t>
            </a:r>
            <a:r>
              <a:rPr lang="en-US" dirty="0" err="1"/>
              <a:t>procesom</a:t>
            </a:r>
            <a:r>
              <a:rPr lang="en-US" dirty="0"/>
              <a:t>.</a:t>
            </a:r>
            <a:r>
              <a:rPr lang="sr-Latn-RS" dirty="0"/>
              <a:t> </a:t>
            </a:r>
            <a:r>
              <a:rPr lang="en-US" dirty="0"/>
              <a:t>Prezentacija se </a:t>
            </a:r>
            <a:r>
              <a:rPr lang="en-US" dirty="0" err="1"/>
              <a:t>zaključuje</a:t>
            </a:r>
            <a:r>
              <a:rPr lang="en-US" dirty="0"/>
              <a:t> </a:t>
            </a:r>
            <a:r>
              <a:rPr lang="en-US" dirty="0" err="1"/>
              <a:t>temom</a:t>
            </a:r>
            <a:r>
              <a:rPr lang="en-US" dirty="0"/>
              <a:t> </a:t>
            </a:r>
            <a:r>
              <a:rPr lang="en-US" b="1" dirty="0" err="1"/>
              <a:t>planova</a:t>
            </a:r>
            <a:r>
              <a:rPr lang="en-US" b="1" dirty="0"/>
              <a:t> </a:t>
            </a:r>
            <a:r>
              <a:rPr lang="en-US" b="1" dirty="0" err="1"/>
              <a:t>izvršavanja</a:t>
            </a:r>
            <a:r>
              <a:rPr lang="en-US" dirty="0"/>
              <a:t> — TPB </a:t>
            </a:r>
            <a:r>
              <a:rPr lang="en-US" dirty="0" err="1"/>
              <a:t>parametrima</a:t>
            </a:r>
            <a:r>
              <a:rPr lang="en-US" dirty="0"/>
              <a:t>, MON$ </a:t>
            </a:r>
            <a:r>
              <a:rPr lang="en-US" dirty="0" err="1"/>
              <a:t>monitoringom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dijagnostikom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ACID </a:t>
            </a:r>
            <a:r>
              <a:rPr lang="en-US" dirty="0" err="1"/>
              <a:t>principi</a:t>
            </a:r>
            <a:r>
              <a:rPr lang="en-US" dirty="0"/>
              <a:t> </a:t>
            </a:r>
            <a:r>
              <a:rPr lang="en-US" dirty="0" err="1"/>
              <a:t>predstavljaju</a:t>
            </a:r>
            <a:r>
              <a:rPr lang="en-US" dirty="0"/>
              <a:t> </a:t>
            </a:r>
            <a:r>
              <a:rPr lang="en-US" dirty="0" err="1"/>
              <a:t>temelj</a:t>
            </a:r>
            <a:r>
              <a:rPr lang="en-US" dirty="0"/>
              <a:t>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pouzdane</a:t>
            </a:r>
            <a:r>
              <a:rPr lang="en-US" dirty="0"/>
              <a:t> </a:t>
            </a:r>
            <a:r>
              <a:rPr lang="en-US" dirty="0" err="1"/>
              <a:t>transakcione</a:t>
            </a:r>
            <a:r>
              <a:rPr lang="en-US" dirty="0"/>
              <a:t> </a:t>
            </a:r>
            <a:r>
              <a:rPr lang="en-US" dirty="0" err="1"/>
              <a:t>baze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, a Firebird </a:t>
            </a:r>
            <a:r>
              <a:rPr lang="en-US" dirty="0" err="1"/>
              <a:t>ih</a:t>
            </a:r>
            <a:r>
              <a:rPr lang="en-US" dirty="0"/>
              <a:t> </a:t>
            </a:r>
            <a:r>
              <a:rPr lang="en-US" dirty="0" err="1"/>
              <a:t>garantuje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MGA </a:t>
            </a:r>
            <a:r>
              <a:rPr lang="en-US" dirty="0" err="1"/>
              <a:t>arhitekturu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Write-Ahead </a:t>
            </a:r>
            <a:r>
              <a:rPr lang="en-US" dirty="0" err="1"/>
              <a:t>mehanizam</a:t>
            </a:r>
            <a:r>
              <a:rPr lang="en-US" dirty="0"/>
              <a:t>.</a:t>
            </a:r>
          </a:p>
          <a:p>
            <a:r>
              <a:rPr lang="en-US" b="1" dirty="0" err="1"/>
              <a:t>Atomičnost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ništa</a:t>
            </a:r>
            <a:r>
              <a:rPr lang="en-US" dirty="0"/>
              <a:t> — </a:t>
            </a:r>
            <a:r>
              <a:rPr lang="en-US" dirty="0" err="1"/>
              <a:t>ako</a:t>
            </a:r>
            <a:r>
              <a:rPr lang="en-US" dirty="0"/>
              <a:t>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operacija</a:t>
            </a:r>
            <a:r>
              <a:rPr lang="en-US" dirty="0"/>
              <a:t> </a:t>
            </a:r>
            <a:r>
              <a:rPr lang="en-US" dirty="0" err="1"/>
              <a:t>unutar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 ne </a:t>
            </a:r>
            <a:r>
              <a:rPr lang="en-US" dirty="0" err="1"/>
              <a:t>uspe</a:t>
            </a:r>
            <a:r>
              <a:rPr lang="en-US" dirty="0"/>
              <a:t>, ROLLBACK </a:t>
            </a:r>
            <a:r>
              <a:rPr lang="en-US" dirty="0" err="1"/>
              <a:t>vraća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u </a:t>
            </a:r>
            <a:r>
              <a:rPr lang="en-US" dirty="0" err="1"/>
              <a:t>početno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da se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nikada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</a:t>
            </a:r>
            <a:r>
              <a:rPr lang="en-US" dirty="0" err="1"/>
              <a:t>desila</a:t>
            </a:r>
            <a:r>
              <a:rPr lang="en-US" dirty="0"/>
              <a:t>.</a:t>
            </a:r>
          </a:p>
          <a:p>
            <a:r>
              <a:rPr lang="en-US" b="1" dirty="0" err="1"/>
              <a:t>Konzistentnost</a:t>
            </a:r>
            <a:r>
              <a:rPr lang="en-US" dirty="0"/>
              <a:t> </a:t>
            </a:r>
            <a:r>
              <a:rPr lang="en-US" dirty="0" err="1"/>
              <a:t>garantuje</a:t>
            </a:r>
            <a:r>
              <a:rPr lang="en-US" dirty="0"/>
              <a:t> da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vodi</a:t>
            </a:r>
            <a:r>
              <a:rPr lang="en-US" dirty="0"/>
              <a:t> </a:t>
            </a:r>
            <a:r>
              <a:rPr lang="en-US" dirty="0" err="1"/>
              <a:t>bazu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jednog</a:t>
            </a:r>
            <a:r>
              <a:rPr lang="en-US" dirty="0"/>
              <a:t> </a:t>
            </a:r>
            <a:r>
              <a:rPr lang="en-US" dirty="0" err="1"/>
              <a:t>validnog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 u </a:t>
            </a:r>
            <a:r>
              <a:rPr lang="en-US" dirty="0" err="1"/>
              <a:t>drugo</a:t>
            </a:r>
            <a:r>
              <a:rPr lang="en-US" dirty="0"/>
              <a:t> — Foreign Key </a:t>
            </a:r>
            <a:r>
              <a:rPr lang="en-US" dirty="0" err="1"/>
              <a:t>ograničenja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check constraint-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automatski</a:t>
            </a:r>
            <a:r>
              <a:rPr lang="en-US" dirty="0"/>
              <a:t> </a:t>
            </a:r>
            <a:r>
              <a:rPr lang="en-US" dirty="0" err="1"/>
              <a:t>proveravaju</a:t>
            </a:r>
            <a:r>
              <a:rPr lang="en-US" dirty="0"/>
              <a:t> </a:t>
            </a:r>
            <a:r>
              <a:rPr lang="en-US" dirty="0" err="1"/>
              <a:t>integritet</a:t>
            </a:r>
            <a:r>
              <a:rPr lang="en-US" dirty="0"/>
              <a:t>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svakoj</a:t>
            </a:r>
            <a:r>
              <a:rPr lang="en-US" dirty="0"/>
              <a:t> </a:t>
            </a:r>
            <a:r>
              <a:rPr lang="en-US" dirty="0" err="1"/>
              <a:t>promeni</a:t>
            </a:r>
            <a:r>
              <a:rPr lang="en-US" dirty="0"/>
              <a:t>.</a:t>
            </a:r>
          </a:p>
          <a:p>
            <a:r>
              <a:rPr lang="en-US" b="1" dirty="0" err="1"/>
              <a:t>Izolacija</a:t>
            </a:r>
            <a:r>
              <a:rPr lang="en-US" dirty="0"/>
              <a:t> </a:t>
            </a:r>
            <a:r>
              <a:rPr lang="en-US" dirty="0" err="1"/>
              <a:t>znači</a:t>
            </a:r>
            <a:r>
              <a:rPr lang="en-US" dirty="0"/>
              <a:t> da se </a:t>
            </a: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oseća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jedina</a:t>
            </a:r>
            <a:r>
              <a:rPr lang="en-US" dirty="0"/>
              <a:t> u </a:t>
            </a:r>
            <a:r>
              <a:rPr lang="en-US" dirty="0" err="1"/>
              <a:t>sistemu</a:t>
            </a:r>
            <a:r>
              <a:rPr lang="en-US" dirty="0"/>
              <a:t> — </a:t>
            </a:r>
            <a:r>
              <a:rPr lang="en-US" dirty="0" err="1"/>
              <a:t>stepen</a:t>
            </a:r>
            <a:r>
              <a:rPr lang="en-US" dirty="0"/>
              <a:t> </a:t>
            </a:r>
            <a:r>
              <a:rPr lang="en-US" dirty="0" err="1"/>
              <a:t>izolacije</a:t>
            </a:r>
            <a:r>
              <a:rPr lang="en-US" dirty="0"/>
              <a:t> </a:t>
            </a:r>
            <a:r>
              <a:rPr lang="en-US" dirty="0" err="1"/>
              <a:t>određuje</a:t>
            </a:r>
            <a:r>
              <a:rPr lang="en-US" dirty="0"/>
              <a:t> </a:t>
            </a:r>
            <a:r>
              <a:rPr lang="en-US" dirty="0" err="1"/>
              <a:t>koliko</a:t>
            </a:r>
            <a:r>
              <a:rPr lang="en-US" dirty="0"/>
              <a:t> </a:t>
            </a:r>
            <a:r>
              <a:rPr lang="en-US" dirty="0" err="1"/>
              <a:t>jedna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da </a:t>
            </a:r>
            <a:r>
              <a:rPr lang="en-US" dirty="0" err="1"/>
              <a:t>vidi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napravile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, </a:t>
            </a:r>
            <a:r>
              <a:rPr lang="en-US" dirty="0" err="1"/>
              <a:t>još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aktivne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.</a:t>
            </a:r>
          </a:p>
          <a:p>
            <a:r>
              <a:rPr lang="en-US" b="1" dirty="0" err="1"/>
              <a:t>Trajnost</a:t>
            </a:r>
            <a:r>
              <a:rPr lang="en-US" dirty="0"/>
              <a:t> </a:t>
            </a:r>
            <a:r>
              <a:rPr lang="en-US" dirty="0" err="1"/>
              <a:t>garantuje</a:t>
            </a:r>
            <a:r>
              <a:rPr lang="en-US" dirty="0"/>
              <a:t> da </a:t>
            </a:r>
            <a:r>
              <a:rPr lang="en-US" dirty="0" err="1"/>
              <a:t>jednom</a:t>
            </a:r>
            <a:r>
              <a:rPr lang="en-US" dirty="0"/>
              <a:t> </a:t>
            </a:r>
            <a:r>
              <a:rPr lang="en-US" dirty="0" err="1"/>
              <a:t>potvrđene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ostaju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 </a:t>
            </a:r>
            <a:r>
              <a:rPr lang="en-US" dirty="0" err="1"/>
              <a:t>zauvek</a:t>
            </a:r>
            <a:r>
              <a:rPr lang="en-US" dirty="0"/>
              <a:t> — </a:t>
            </a:r>
            <a:r>
              <a:rPr lang="en-US" dirty="0" err="1"/>
              <a:t>čak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pad </a:t>
            </a:r>
            <a:r>
              <a:rPr lang="en-US" dirty="0" err="1"/>
              <a:t>servera</a:t>
            </a:r>
            <a:r>
              <a:rPr lang="en-US" dirty="0"/>
              <a:t> ne </a:t>
            </a:r>
            <a:r>
              <a:rPr lang="en-US" dirty="0" err="1"/>
              <a:t>briše</a:t>
            </a:r>
            <a:r>
              <a:rPr lang="en-US" dirty="0"/>
              <a:t> </a:t>
            </a:r>
            <a:r>
              <a:rPr lang="en-US" dirty="0" err="1"/>
              <a:t>potvrđene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zahvaljujući</a:t>
            </a:r>
            <a:r>
              <a:rPr lang="en-US" dirty="0"/>
              <a:t> Write-Ahead Log </a:t>
            </a:r>
            <a:r>
              <a:rPr lang="en-US" dirty="0" err="1"/>
              <a:t>mehanizmu</a:t>
            </a:r>
            <a:r>
              <a:rPr lang="en-US" dirty="0"/>
              <a:t> koji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beleži</a:t>
            </a:r>
            <a:r>
              <a:rPr lang="en-US" dirty="0"/>
              <a:t> pre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se </a:t>
            </a:r>
            <a:r>
              <a:rPr lang="en-US" dirty="0" err="1"/>
              <a:t>upišu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disk.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Transakcione</a:t>
            </a:r>
            <a:r>
              <a:rPr lang="en-US" dirty="0"/>
              <a:t> </a:t>
            </a:r>
            <a:r>
              <a:rPr lang="en-US" dirty="0" err="1"/>
              <a:t>anomalije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problemi</a:t>
            </a:r>
            <a:r>
              <a:rPr lang="en-US" dirty="0"/>
              <a:t> koji </a:t>
            </a:r>
            <a:r>
              <a:rPr lang="en-US" dirty="0" err="1"/>
              <a:t>nastaju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istovremeno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istim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bez </a:t>
            </a:r>
            <a:r>
              <a:rPr lang="en-US" dirty="0" err="1"/>
              <a:t>odgovarajuće</a:t>
            </a:r>
            <a:r>
              <a:rPr lang="en-US" dirty="0"/>
              <a:t> </a:t>
            </a:r>
            <a:r>
              <a:rPr lang="en-US" dirty="0" err="1"/>
              <a:t>izolacije</a:t>
            </a:r>
            <a:r>
              <a:rPr lang="en-US" dirty="0"/>
              <a:t>.</a:t>
            </a:r>
          </a:p>
          <a:p>
            <a:r>
              <a:rPr lang="en-US" b="1" dirty="0"/>
              <a:t>Dirty Read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prljavo</a:t>
            </a:r>
            <a:r>
              <a:rPr lang="en-US" dirty="0"/>
              <a:t> </a:t>
            </a:r>
            <a:r>
              <a:rPr lang="en-US" dirty="0" err="1"/>
              <a:t>čitanje</a:t>
            </a:r>
            <a:r>
              <a:rPr lang="en-US" dirty="0"/>
              <a:t> </a:t>
            </a:r>
            <a:r>
              <a:rPr lang="en-US" dirty="0" err="1"/>
              <a:t>dešava</a:t>
            </a:r>
            <a:r>
              <a:rPr lang="en-US" dirty="0"/>
              <a:t> se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jedna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čita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je </a:t>
            </a:r>
            <a:r>
              <a:rPr lang="en-US" dirty="0" err="1"/>
              <a:t>druga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promenila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još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potvrdila</a:t>
            </a:r>
            <a:r>
              <a:rPr lang="en-US" dirty="0"/>
              <a:t> — Firebird </a:t>
            </a:r>
            <a:r>
              <a:rPr lang="en-US" dirty="0" err="1"/>
              <a:t>ovo</a:t>
            </a:r>
            <a:r>
              <a:rPr lang="en-US" dirty="0"/>
              <a:t> </a:t>
            </a:r>
            <a:r>
              <a:rPr lang="en-US" dirty="0" err="1"/>
              <a:t>sprečava</a:t>
            </a:r>
            <a:r>
              <a:rPr lang="en-US" dirty="0"/>
              <a:t> po </a:t>
            </a:r>
            <a:r>
              <a:rPr lang="en-US" dirty="0" err="1"/>
              <a:t>dizajnu</a:t>
            </a:r>
            <a:r>
              <a:rPr lang="en-US" dirty="0"/>
              <a:t>, </a:t>
            </a:r>
            <a:r>
              <a:rPr lang="en-US" dirty="0" err="1"/>
              <a:t>nikada</a:t>
            </a:r>
            <a:r>
              <a:rPr lang="en-US" dirty="0"/>
              <a:t> ne </a:t>
            </a:r>
            <a:r>
              <a:rPr lang="en-US" dirty="0" err="1"/>
              <a:t>čita</a:t>
            </a:r>
            <a:r>
              <a:rPr lang="en-US" dirty="0"/>
              <a:t> </a:t>
            </a:r>
            <a:r>
              <a:rPr lang="en-US" dirty="0" err="1"/>
              <a:t>nepotvrđene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bez </a:t>
            </a:r>
            <a:r>
              <a:rPr lang="en-US" dirty="0" err="1"/>
              <a:t>obzira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</a:t>
            </a:r>
            <a:r>
              <a:rPr lang="en-US" dirty="0"/>
              <a:t> </a:t>
            </a:r>
            <a:r>
              <a:rPr lang="en-US" dirty="0" err="1"/>
              <a:t>izolacije</a:t>
            </a:r>
            <a:r>
              <a:rPr lang="en-US" dirty="0"/>
              <a:t>.</a:t>
            </a:r>
          </a:p>
          <a:p>
            <a:r>
              <a:rPr lang="en-US" b="1" dirty="0"/>
              <a:t>Non-repeatable Read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neponovljivo</a:t>
            </a:r>
            <a:r>
              <a:rPr lang="en-US" dirty="0"/>
              <a:t> </a:t>
            </a:r>
            <a:r>
              <a:rPr lang="en-US" dirty="0" err="1"/>
              <a:t>čitanje</a:t>
            </a:r>
            <a:r>
              <a:rPr lang="en-US" dirty="0"/>
              <a:t> </a:t>
            </a:r>
            <a:r>
              <a:rPr lang="en-US" dirty="0" err="1"/>
              <a:t>dešava</a:t>
            </a:r>
            <a:r>
              <a:rPr lang="en-US" dirty="0"/>
              <a:t> se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isti</a:t>
            </a:r>
            <a:r>
              <a:rPr lang="en-US" dirty="0"/>
              <a:t> SELECT </a:t>
            </a:r>
            <a:r>
              <a:rPr lang="en-US" dirty="0" err="1"/>
              <a:t>unutar</a:t>
            </a:r>
            <a:r>
              <a:rPr lang="en-US" dirty="0"/>
              <a:t> </a:t>
            </a:r>
            <a:r>
              <a:rPr lang="en-US" dirty="0" err="1"/>
              <a:t>jedne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puta </a:t>
            </a:r>
            <a:r>
              <a:rPr lang="en-US" dirty="0" err="1"/>
              <a:t>vrati</a:t>
            </a:r>
            <a:r>
              <a:rPr lang="en-US" dirty="0"/>
              <a:t> </a:t>
            </a:r>
            <a:r>
              <a:rPr lang="en-US" dirty="0" err="1"/>
              <a:t>različite</a:t>
            </a:r>
            <a:r>
              <a:rPr lang="en-US" dirty="0"/>
              <a:t> </a:t>
            </a:r>
            <a:r>
              <a:rPr lang="en-US" dirty="0" err="1"/>
              <a:t>rezultate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je </a:t>
            </a:r>
            <a:r>
              <a:rPr lang="en-US" dirty="0" err="1"/>
              <a:t>druga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u </a:t>
            </a:r>
            <a:r>
              <a:rPr lang="en-US" dirty="0" err="1"/>
              <a:t>međuvremenu</a:t>
            </a:r>
            <a:r>
              <a:rPr lang="en-US" dirty="0"/>
              <a:t> </a:t>
            </a:r>
            <a:r>
              <a:rPr lang="en-US" dirty="0" err="1"/>
              <a:t>promenila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potvrdila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— u Firebird-u je </a:t>
            </a:r>
            <a:r>
              <a:rPr lang="en-US" dirty="0" err="1"/>
              <a:t>ovo</a:t>
            </a:r>
            <a:r>
              <a:rPr lang="en-US" dirty="0"/>
              <a:t> </a:t>
            </a:r>
            <a:r>
              <a:rPr lang="en-US" dirty="0" err="1"/>
              <a:t>sprečeno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SNAPSHOT </a:t>
            </a:r>
            <a:r>
              <a:rPr lang="en-US" dirty="0" err="1"/>
              <a:t>nivou</a:t>
            </a:r>
            <a:r>
              <a:rPr lang="en-US" dirty="0"/>
              <a:t>, </a:t>
            </a:r>
            <a:r>
              <a:rPr lang="en-US" dirty="0" err="1"/>
              <a:t>dok</a:t>
            </a:r>
            <a:r>
              <a:rPr lang="en-US" dirty="0"/>
              <a:t> je </a:t>
            </a:r>
            <a:r>
              <a:rPr lang="en-US" dirty="0" err="1"/>
              <a:t>na</a:t>
            </a:r>
            <a:r>
              <a:rPr lang="en-US" dirty="0"/>
              <a:t> Read Committed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dozvoljeno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svaki</a:t>
            </a:r>
            <a:r>
              <a:rPr lang="en-US" dirty="0"/>
              <a:t> SELECT </a:t>
            </a:r>
            <a:r>
              <a:rPr lang="en-US" dirty="0" err="1"/>
              <a:t>vraća</a:t>
            </a:r>
            <a:r>
              <a:rPr lang="en-US" dirty="0"/>
              <a:t> </a:t>
            </a:r>
            <a:r>
              <a:rPr lang="en-US" dirty="0" err="1"/>
              <a:t>najnoviju</a:t>
            </a:r>
            <a:r>
              <a:rPr lang="en-US" dirty="0"/>
              <a:t> </a:t>
            </a:r>
            <a:r>
              <a:rPr lang="en-US" dirty="0" err="1"/>
              <a:t>potvrđenu</a:t>
            </a:r>
            <a:r>
              <a:rPr lang="en-US" dirty="0"/>
              <a:t> </a:t>
            </a:r>
            <a:r>
              <a:rPr lang="en-US" dirty="0" err="1"/>
              <a:t>vrednost</a:t>
            </a:r>
            <a:r>
              <a:rPr lang="en-US" dirty="0"/>
              <a:t>.</a:t>
            </a:r>
          </a:p>
          <a:p>
            <a:r>
              <a:rPr lang="en-US" b="1" dirty="0"/>
              <a:t>Phantom Read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fantomsko</a:t>
            </a:r>
            <a:r>
              <a:rPr lang="en-US" dirty="0"/>
              <a:t> </a:t>
            </a:r>
            <a:r>
              <a:rPr lang="en-US" dirty="0" err="1"/>
              <a:t>čitanje</a:t>
            </a:r>
            <a:r>
              <a:rPr lang="en-US" dirty="0"/>
              <a:t> </a:t>
            </a:r>
            <a:r>
              <a:rPr lang="en-US" dirty="0" err="1"/>
              <a:t>dešava</a:t>
            </a:r>
            <a:r>
              <a:rPr lang="en-US" dirty="0"/>
              <a:t> se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ponovljeni</a:t>
            </a:r>
            <a:r>
              <a:rPr lang="en-US" dirty="0"/>
              <a:t> SELECT </a:t>
            </a:r>
            <a:r>
              <a:rPr lang="en-US" dirty="0" err="1"/>
              <a:t>vrati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redova</a:t>
            </a:r>
            <a:r>
              <a:rPr lang="en-US" dirty="0"/>
              <a:t>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prvi</a:t>
            </a:r>
            <a:r>
              <a:rPr lang="en-US" dirty="0"/>
              <a:t> put </a:t>
            </a:r>
            <a:r>
              <a:rPr lang="en-US" dirty="0" err="1"/>
              <a:t>jer</a:t>
            </a:r>
            <a:r>
              <a:rPr lang="en-US" dirty="0"/>
              <a:t> je </a:t>
            </a:r>
            <a:r>
              <a:rPr lang="en-US" dirty="0" err="1"/>
              <a:t>druga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dodala</a:t>
            </a:r>
            <a:r>
              <a:rPr lang="en-US" dirty="0"/>
              <a:t> </a:t>
            </a:r>
            <a:r>
              <a:rPr lang="en-US" dirty="0" err="1"/>
              <a:t>nove</a:t>
            </a:r>
            <a:r>
              <a:rPr lang="en-US" dirty="0"/>
              <a:t> </a:t>
            </a:r>
            <a:r>
              <a:rPr lang="en-US" dirty="0" err="1"/>
              <a:t>zapise</a:t>
            </a:r>
            <a:r>
              <a:rPr lang="en-US" dirty="0"/>
              <a:t> — Firebird </a:t>
            </a:r>
            <a:r>
              <a:rPr lang="en-US" dirty="0" err="1"/>
              <a:t>ovo</a:t>
            </a:r>
            <a:r>
              <a:rPr lang="en-US" dirty="0"/>
              <a:t> </a:t>
            </a:r>
            <a:r>
              <a:rPr lang="en-US" dirty="0" err="1"/>
              <a:t>sprečava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SNAPSHOT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tako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vidi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redove</a:t>
            </a:r>
            <a:r>
              <a:rPr lang="en-US" dirty="0"/>
              <a:t> koji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postojali</a:t>
            </a:r>
            <a:r>
              <a:rPr lang="en-US" dirty="0"/>
              <a:t> u </a:t>
            </a:r>
            <a:r>
              <a:rPr lang="en-US" dirty="0" err="1"/>
              <a:t>trenutku</a:t>
            </a:r>
            <a:r>
              <a:rPr lang="en-US" dirty="0"/>
              <a:t> </a:t>
            </a:r>
            <a:r>
              <a:rPr lang="en-US" dirty="0" err="1"/>
              <a:t>njenog</a:t>
            </a:r>
            <a:r>
              <a:rPr lang="en-US" dirty="0"/>
              <a:t> </a:t>
            </a:r>
            <a:r>
              <a:rPr lang="en-US" dirty="0" err="1"/>
              <a:t>kreiranja</a:t>
            </a:r>
            <a:r>
              <a:rPr lang="en-US" dirty="0"/>
              <a:t>, bez </a:t>
            </a:r>
            <a:r>
              <a:rPr lang="en-US" dirty="0" err="1"/>
              <a:t>obzira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naknadne</a:t>
            </a:r>
            <a:r>
              <a:rPr lang="en-US" dirty="0"/>
              <a:t> </a:t>
            </a:r>
            <a:r>
              <a:rPr lang="en-US" dirty="0" err="1"/>
              <a:t>izmene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MGA </a:t>
            </a:r>
            <a:r>
              <a:rPr lang="en-US" dirty="0" err="1"/>
              <a:t>arhitektura</a:t>
            </a:r>
            <a:r>
              <a:rPr lang="en-US" dirty="0"/>
              <a:t> je Firebird-ova </a:t>
            </a:r>
            <a:r>
              <a:rPr lang="en-US" dirty="0" err="1"/>
              <a:t>implementacija</a:t>
            </a:r>
            <a:r>
              <a:rPr lang="en-US" dirty="0"/>
              <a:t> MVCC </a:t>
            </a:r>
            <a:r>
              <a:rPr lang="en-US" dirty="0" err="1"/>
              <a:t>koncepta</a:t>
            </a:r>
            <a:r>
              <a:rPr lang="en-US" dirty="0"/>
              <a:t> — </a:t>
            </a:r>
            <a:r>
              <a:rPr lang="en-US" dirty="0" err="1"/>
              <a:t>svaki</a:t>
            </a:r>
            <a:r>
              <a:rPr lang="en-US" dirty="0"/>
              <a:t> UPDATE ne </a:t>
            </a:r>
            <a:r>
              <a:rPr lang="en-US" dirty="0" err="1"/>
              <a:t>prepisuje</a:t>
            </a:r>
            <a:r>
              <a:rPr lang="en-US" dirty="0"/>
              <a:t> </a:t>
            </a:r>
            <a:r>
              <a:rPr lang="en-US" dirty="0" err="1"/>
              <a:t>originalni</a:t>
            </a:r>
            <a:r>
              <a:rPr lang="en-US" dirty="0"/>
              <a:t> </a:t>
            </a:r>
            <a:r>
              <a:rPr lang="en-US" dirty="0" err="1"/>
              <a:t>podatak</a:t>
            </a:r>
            <a:r>
              <a:rPr lang="en-US" dirty="0"/>
              <a:t> </a:t>
            </a:r>
            <a:r>
              <a:rPr lang="en-US" dirty="0" err="1"/>
              <a:t>već</a:t>
            </a:r>
            <a:r>
              <a:rPr lang="en-US" dirty="0"/>
              <a:t> </a:t>
            </a:r>
            <a:r>
              <a:rPr lang="en-US" dirty="0" err="1"/>
              <a:t>kreira</a:t>
            </a:r>
            <a:r>
              <a:rPr lang="en-US" dirty="0"/>
              <a:t> </a:t>
            </a:r>
            <a:r>
              <a:rPr lang="en-US" dirty="0" err="1"/>
              <a:t>novu</a:t>
            </a:r>
            <a:r>
              <a:rPr lang="en-US" dirty="0"/>
              <a:t> </a:t>
            </a:r>
            <a:r>
              <a:rPr lang="en-US" dirty="0" err="1"/>
              <a:t>kopiju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slobodnom</a:t>
            </a:r>
            <a:r>
              <a:rPr lang="en-US" dirty="0"/>
              <a:t> </a:t>
            </a:r>
            <a:r>
              <a:rPr lang="en-US" dirty="0" err="1"/>
              <a:t>mestu</a:t>
            </a:r>
            <a:r>
              <a:rPr lang="en-US" dirty="0"/>
              <a:t>, </a:t>
            </a:r>
            <a:r>
              <a:rPr lang="en-US" dirty="0" err="1"/>
              <a:t>dok</a:t>
            </a:r>
            <a:r>
              <a:rPr lang="en-US" dirty="0"/>
              <a:t> </a:t>
            </a:r>
            <a:r>
              <a:rPr lang="en-US" dirty="0" err="1"/>
              <a:t>stara</a:t>
            </a:r>
            <a:r>
              <a:rPr lang="en-US" dirty="0"/>
              <a:t> </a:t>
            </a:r>
            <a:r>
              <a:rPr lang="en-US" dirty="0" err="1"/>
              <a:t>verzija</a:t>
            </a:r>
            <a:r>
              <a:rPr lang="en-US" dirty="0"/>
              <a:t> </a:t>
            </a:r>
            <a:r>
              <a:rPr lang="en-US" dirty="0" err="1"/>
              <a:t>ostaje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fizičkoj</a:t>
            </a:r>
            <a:r>
              <a:rPr lang="en-US" dirty="0"/>
              <a:t> </a:t>
            </a:r>
            <a:r>
              <a:rPr lang="en-US" dirty="0" err="1"/>
              <a:t>lokaciji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instantni</a:t>
            </a:r>
            <a:r>
              <a:rPr lang="en-US" dirty="0"/>
              <a:t> Rollback bez </a:t>
            </a:r>
            <a:r>
              <a:rPr lang="en-US" dirty="0" err="1"/>
              <a:t>fizičkog</a:t>
            </a:r>
            <a:r>
              <a:rPr lang="en-US" dirty="0"/>
              <a:t> </a:t>
            </a:r>
            <a:r>
              <a:rPr lang="en-US" dirty="0" err="1"/>
              <a:t>brisanja</a:t>
            </a:r>
            <a:r>
              <a:rPr lang="en-US" dirty="0"/>
              <a:t>.</a:t>
            </a:r>
          </a:p>
          <a:p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verzija</a:t>
            </a:r>
            <a:r>
              <a:rPr lang="en-US" dirty="0"/>
              <a:t> </a:t>
            </a:r>
            <a:r>
              <a:rPr lang="en-US" dirty="0" err="1"/>
              <a:t>zapisa</a:t>
            </a:r>
            <a:r>
              <a:rPr lang="en-US" dirty="0"/>
              <a:t> </a:t>
            </a:r>
            <a:r>
              <a:rPr lang="en-US" dirty="0" err="1"/>
              <a:t>nosi</a:t>
            </a:r>
            <a:r>
              <a:rPr lang="en-US" dirty="0"/>
              <a:t> </a:t>
            </a:r>
            <a:r>
              <a:rPr lang="en-US" b="1" dirty="0"/>
              <a:t>Transaction ID (TID)</a:t>
            </a:r>
            <a:r>
              <a:rPr lang="en-US" dirty="0"/>
              <a:t> u </a:t>
            </a:r>
            <a:r>
              <a:rPr lang="en-US" dirty="0" err="1"/>
              <a:t>svom</a:t>
            </a:r>
            <a:r>
              <a:rPr lang="en-US" dirty="0"/>
              <a:t> Record Header-u, </a:t>
            </a:r>
            <a:r>
              <a:rPr lang="en-US" dirty="0" err="1"/>
              <a:t>zajedno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b="1" dirty="0"/>
              <a:t>Back Interest Pointer-om</a:t>
            </a:r>
            <a:r>
              <a:rPr lang="en-US" dirty="0"/>
              <a:t> koji </a:t>
            </a:r>
            <a:r>
              <a:rPr lang="en-US" dirty="0" err="1"/>
              <a:t>pokazuje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prethodnu</a:t>
            </a:r>
            <a:r>
              <a:rPr lang="en-US" dirty="0"/>
              <a:t> </a:t>
            </a:r>
            <a:r>
              <a:rPr lang="en-US" dirty="0" err="1"/>
              <a:t>verziju</a:t>
            </a:r>
            <a:r>
              <a:rPr lang="en-US" dirty="0"/>
              <a:t> — </a:t>
            </a:r>
            <a:r>
              <a:rPr lang="en-US" dirty="0" err="1"/>
              <a:t>na</a:t>
            </a:r>
            <a:r>
              <a:rPr lang="en-US" dirty="0"/>
              <a:t> taj </a:t>
            </a:r>
            <a:r>
              <a:rPr lang="en-US" dirty="0" err="1"/>
              <a:t>način</a:t>
            </a:r>
            <a:r>
              <a:rPr lang="en-US" dirty="0"/>
              <a:t> se </a:t>
            </a:r>
            <a:r>
              <a:rPr lang="en-US" dirty="0" err="1"/>
              <a:t>formira</a:t>
            </a:r>
            <a:r>
              <a:rPr lang="en-US" dirty="0"/>
              <a:t> </a:t>
            </a:r>
            <a:r>
              <a:rPr lang="en-US" dirty="0" err="1"/>
              <a:t>lanac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koji engine </a:t>
            </a:r>
            <a:r>
              <a:rPr lang="en-US" dirty="0" err="1"/>
              <a:t>navigira</a:t>
            </a:r>
            <a:r>
              <a:rPr lang="en-US" dirty="0"/>
              <a:t> </a:t>
            </a:r>
            <a:r>
              <a:rPr lang="en-US" dirty="0" err="1"/>
              <a:t>unazad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istoriju</a:t>
            </a:r>
            <a:r>
              <a:rPr lang="en-US" dirty="0"/>
              <a:t> </a:t>
            </a:r>
            <a:r>
              <a:rPr lang="en-US" dirty="0" err="1"/>
              <a:t>zapisa</a:t>
            </a:r>
            <a:r>
              <a:rPr lang="en-US" dirty="0"/>
              <a:t>.</a:t>
            </a:r>
          </a:p>
          <a:p>
            <a:r>
              <a:rPr lang="en-US" dirty="0"/>
              <a:t>Da bi </a:t>
            </a:r>
            <a:r>
              <a:rPr lang="en-US" dirty="0" err="1"/>
              <a:t>znao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verzija</a:t>
            </a:r>
            <a:r>
              <a:rPr lang="en-US" dirty="0"/>
              <a:t> je </a:t>
            </a:r>
            <a:r>
              <a:rPr lang="en-US" dirty="0" err="1"/>
              <a:t>vidljiva</a:t>
            </a:r>
            <a:r>
              <a:rPr lang="en-US" dirty="0"/>
              <a:t> </a:t>
            </a:r>
            <a:r>
              <a:rPr lang="en-US" dirty="0" err="1"/>
              <a:t>kojoj</a:t>
            </a:r>
            <a:r>
              <a:rPr lang="en-US" dirty="0"/>
              <a:t> </a:t>
            </a:r>
            <a:r>
              <a:rPr lang="en-US" dirty="0" err="1"/>
              <a:t>transakciji</a:t>
            </a:r>
            <a:r>
              <a:rPr lang="en-US" dirty="0"/>
              <a:t>, engine </a:t>
            </a:r>
            <a:r>
              <a:rPr lang="en-US" dirty="0" err="1"/>
              <a:t>koristi</a:t>
            </a:r>
            <a:r>
              <a:rPr lang="en-US" dirty="0"/>
              <a:t> </a:t>
            </a:r>
            <a:r>
              <a:rPr lang="en-US" b="1" dirty="0"/>
              <a:t>Transaction Inventory Page (TIP)</a:t>
            </a:r>
            <a:r>
              <a:rPr lang="en-US" dirty="0"/>
              <a:t> — </a:t>
            </a:r>
            <a:r>
              <a:rPr lang="en-US" dirty="0" err="1"/>
              <a:t>posebnu</a:t>
            </a:r>
            <a:r>
              <a:rPr lang="en-US" dirty="0"/>
              <a:t> </a:t>
            </a:r>
            <a:r>
              <a:rPr lang="en-US" dirty="0" err="1"/>
              <a:t>stranicu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kojoj</a:t>
            </a:r>
            <a:r>
              <a:rPr lang="en-US" dirty="0"/>
              <a:t> </a:t>
            </a: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2-bitni status: Active, Committed, Rolled Back </a:t>
            </a:r>
            <a:r>
              <a:rPr lang="en-US" dirty="0" err="1"/>
              <a:t>ili</a:t>
            </a:r>
            <a:r>
              <a:rPr lang="en-US" dirty="0"/>
              <a:t> Limbo.</a:t>
            </a:r>
          </a:p>
          <a:p>
            <a:r>
              <a:rPr lang="en-US" dirty="0"/>
              <a:t>Kada </a:t>
            </a:r>
            <a:r>
              <a:rPr lang="en-US" dirty="0" err="1"/>
              <a:t>transakcija</a:t>
            </a:r>
            <a:r>
              <a:rPr lang="en-US" dirty="0"/>
              <a:t> T=550 </a:t>
            </a:r>
            <a:r>
              <a:rPr lang="en-US" dirty="0" err="1"/>
              <a:t>traži</a:t>
            </a:r>
            <a:r>
              <a:rPr lang="en-US" dirty="0"/>
              <a:t> </a:t>
            </a:r>
            <a:r>
              <a:rPr lang="en-US" dirty="0" err="1"/>
              <a:t>podatak</a:t>
            </a:r>
            <a:r>
              <a:rPr lang="en-US" dirty="0"/>
              <a:t>, engine </a:t>
            </a:r>
            <a:r>
              <a:rPr lang="en-US" dirty="0" err="1"/>
              <a:t>pronađe</a:t>
            </a:r>
            <a:r>
              <a:rPr lang="en-US" dirty="0"/>
              <a:t> </a:t>
            </a:r>
            <a:r>
              <a:rPr lang="en-US" dirty="0" err="1"/>
              <a:t>najnoviju</a:t>
            </a:r>
            <a:r>
              <a:rPr lang="en-US" dirty="0"/>
              <a:t> </a:t>
            </a:r>
            <a:r>
              <a:rPr lang="en-US" dirty="0" err="1"/>
              <a:t>verziju</a:t>
            </a:r>
            <a:r>
              <a:rPr lang="en-US" dirty="0"/>
              <a:t>, </a:t>
            </a:r>
            <a:r>
              <a:rPr lang="en-US" dirty="0" err="1"/>
              <a:t>proveri</a:t>
            </a:r>
            <a:r>
              <a:rPr lang="en-US" dirty="0"/>
              <a:t> </a:t>
            </a:r>
            <a:r>
              <a:rPr lang="en-US" dirty="0" err="1"/>
              <a:t>njen</a:t>
            </a:r>
            <a:r>
              <a:rPr lang="en-US" dirty="0"/>
              <a:t> TID </a:t>
            </a:r>
            <a:r>
              <a:rPr lang="en-US" dirty="0" err="1"/>
              <a:t>na</a:t>
            </a:r>
            <a:r>
              <a:rPr lang="en-US" dirty="0"/>
              <a:t> TIP </a:t>
            </a:r>
            <a:r>
              <a:rPr lang="en-US" dirty="0" err="1"/>
              <a:t>stranici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ako</a:t>
            </a:r>
            <a:r>
              <a:rPr lang="en-US" dirty="0"/>
              <a:t> ta </a:t>
            </a:r>
            <a:r>
              <a:rPr lang="en-US" dirty="0" err="1"/>
              <a:t>verzija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vidljiva</a:t>
            </a:r>
            <a:r>
              <a:rPr lang="en-US" dirty="0"/>
              <a:t>, </a:t>
            </a:r>
            <a:r>
              <a:rPr lang="en-US" dirty="0" err="1"/>
              <a:t>prati</a:t>
            </a:r>
            <a:r>
              <a:rPr lang="en-US" dirty="0"/>
              <a:t> Back Interest Pointer </a:t>
            </a:r>
            <a:r>
              <a:rPr lang="en-US" dirty="0" err="1"/>
              <a:t>unazad</a:t>
            </a:r>
            <a:r>
              <a:rPr lang="en-US" dirty="0"/>
              <a:t> </a:t>
            </a:r>
            <a:r>
              <a:rPr lang="en-US" dirty="0" err="1"/>
              <a:t>dok</a:t>
            </a:r>
            <a:r>
              <a:rPr lang="en-US" dirty="0"/>
              <a:t> ne </a:t>
            </a:r>
            <a:r>
              <a:rPr lang="en-US" dirty="0" err="1"/>
              <a:t>pronađe</a:t>
            </a:r>
            <a:r>
              <a:rPr lang="en-US" dirty="0"/>
              <a:t> </a:t>
            </a:r>
            <a:r>
              <a:rPr lang="en-US" dirty="0" err="1"/>
              <a:t>verziju</a:t>
            </a:r>
            <a:r>
              <a:rPr lang="en-US" dirty="0"/>
              <a:t> </a:t>
            </a:r>
            <a:r>
              <a:rPr lang="en-US" dirty="0" err="1"/>
              <a:t>koju</a:t>
            </a:r>
            <a:r>
              <a:rPr lang="en-US" dirty="0"/>
              <a:t> ta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sme</a:t>
            </a:r>
            <a:r>
              <a:rPr lang="en-US" dirty="0"/>
              <a:t> da </a:t>
            </a:r>
            <a:r>
              <a:rPr lang="en-US" dirty="0" err="1"/>
              <a:t>vidi</a:t>
            </a:r>
            <a:r>
              <a:rPr lang="en-US" dirty="0"/>
              <a:t>.</a:t>
            </a:r>
          </a:p>
          <a:p>
            <a:r>
              <a:rPr lang="en-US" dirty="0" err="1"/>
              <a:t>Ključna</a:t>
            </a:r>
            <a:r>
              <a:rPr lang="en-US" dirty="0"/>
              <a:t> </a:t>
            </a:r>
            <a:r>
              <a:rPr lang="en-US" dirty="0" err="1"/>
              <a:t>prednost</a:t>
            </a:r>
            <a:r>
              <a:rPr lang="en-US" dirty="0"/>
              <a:t> </a:t>
            </a:r>
            <a:r>
              <a:rPr lang="en-US" dirty="0" err="1"/>
              <a:t>ovog</a:t>
            </a:r>
            <a:r>
              <a:rPr lang="en-US" dirty="0"/>
              <a:t> </a:t>
            </a:r>
            <a:r>
              <a:rPr lang="en-US" dirty="0" err="1"/>
              <a:t>modela</a:t>
            </a:r>
            <a:r>
              <a:rPr lang="en-US" dirty="0"/>
              <a:t> je da </a:t>
            </a:r>
            <a:r>
              <a:rPr lang="en-US" dirty="0" err="1"/>
              <a:t>čitaoci</a:t>
            </a:r>
            <a:r>
              <a:rPr lang="en-US" dirty="0"/>
              <a:t> </a:t>
            </a:r>
            <a:r>
              <a:rPr lang="en-US" dirty="0" err="1"/>
              <a:t>nikada</a:t>
            </a:r>
            <a:r>
              <a:rPr lang="en-US" dirty="0"/>
              <a:t> ne </a:t>
            </a:r>
            <a:r>
              <a:rPr lang="en-US" dirty="0" err="1"/>
              <a:t>blokiraju</a:t>
            </a:r>
            <a:r>
              <a:rPr lang="en-US" dirty="0"/>
              <a:t> </a:t>
            </a:r>
            <a:r>
              <a:rPr lang="en-US" dirty="0" err="1"/>
              <a:t>pisce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obrnuto</a:t>
            </a:r>
            <a:r>
              <a:rPr lang="en-US" dirty="0"/>
              <a:t> — </a:t>
            </a: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vidi</a:t>
            </a:r>
            <a:r>
              <a:rPr lang="en-US" dirty="0"/>
              <a:t> </a:t>
            </a:r>
            <a:r>
              <a:rPr lang="en-US" dirty="0" err="1"/>
              <a:t>konzistentnu</a:t>
            </a:r>
            <a:r>
              <a:rPr lang="en-US" dirty="0"/>
              <a:t> </a:t>
            </a:r>
            <a:r>
              <a:rPr lang="en-US" dirty="0" err="1"/>
              <a:t>sliku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bez </a:t>
            </a:r>
            <a:r>
              <a:rPr lang="en-US" dirty="0" err="1"/>
              <a:t>ikakvih</a:t>
            </a:r>
            <a:r>
              <a:rPr lang="en-US" dirty="0"/>
              <a:t> </a:t>
            </a:r>
            <a:r>
              <a:rPr lang="en-US" dirty="0" err="1"/>
              <a:t>mehanizama</a:t>
            </a:r>
            <a:r>
              <a:rPr lang="en-US" dirty="0"/>
              <a:t> </a:t>
            </a:r>
            <a:r>
              <a:rPr lang="en-US" dirty="0" err="1"/>
              <a:t>zaključavanja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redova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temeljni</a:t>
            </a:r>
            <a:r>
              <a:rPr lang="en-US" dirty="0"/>
              <a:t> </a:t>
            </a:r>
            <a:r>
              <a:rPr lang="en-US" dirty="0" err="1"/>
              <a:t>princip</a:t>
            </a:r>
            <a:r>
              <a:rPr lang="en-US" dirty="0"/>
              <a:t> po </a:t>
            </a:r>
            <a:r>
              <a:rPr lang="en-US" dirty="0" err="1"/>
              <a:t>kom</a:t>
            </a:r>
            <a:r>
              <a:rPr lang="en-US" dirty="0"/>
              <a:t> se Firebird </a:t>
            </a:r>
            <a:r>
              <a:rPr lang="en-US" dirty="0" err="1"/>
              <a:t>razlikuje</a:t>
            </a:r>
            <a:r>
              <a:rPr lang="en-US" dirty="0"/>
              <a:t> od </a:t>
            </a:r>
            <a:r>
              <a:rPr lang="en-US" dirty="0" err="1"/>
              <a:t>drugih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Firebird </a:t>
            </a:r>
            <a:r>
              <a:rPr lang="en-US" dirty="0" err="1"/>
              <a:t>nudi</a:t>
            </a:r>
            <a:r>
              <a:rPr lang="en-US" dirty="0"/>
              <a:t> </a:t>
            </a:r>
            <a:r>
              <a:rPr lang="en-US" dirty="0" err="1"/>
              <a:t>četiri</a:t>
            </a:r>
            <a:r>
              <a:rPr lang="en-US" dirty="0"/>
              <a:t> </a:t>
            </a:r>
            <a:r>
              <a:rPr lang="en-US" dirty="0" err="1"/>
              <a:t>nivoa</a:t>
            </a:r>
            <a:r>
              <a:rPr lang="en-US" dirty="0"/>
              <a:t> </a:t>
            </a:r>
            <a:r>
              <a:rPr lang="en-US" dirty="0" err="1"/>
              <a:t>izolacije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, od </a:t>
            </a:r>
            <a:r>
              <a:rPr lang="en-US" dirty="0" err="1"/>
              <a:t>kojih</a:t>
            </a:r>
            <a:r>
              <a:rPr lang="en-US" dirty="0"/>
              <a:t> </a:t>
            </a: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pruža</a:t>
            </a:r>
            <a:r>
              <a:rPr lang="en-US" dirty="0"/>
              <a:t> </a:t>
            </a:r>
            <a:r>
              <a:rPr lang="en-US" dirty="0" err="1"/>
              <a:t>drugačiji</a:t>
            </a:r>
            <a:r>
              <a:rPr lang="en-US" dirty="0"/>
              <a:t> </a:t>
            </a:r>
            <a:r>
              <a:rPr lang="en-US" dirty="0" err="1"/>
              <a:t>balans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konzistentnosti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konkurentnosti</a:t>
            </a:r>
            <a:r>
              <a:rPr lang="en-US" dirty="0"/>
              <a:t>.</a:t>
            </a:r>
          </a:p>
          <a:p>
            <a:r>
              <a:rPr lang="en-US" b="1" dirty="0"/>
              <a:t>Snapshot</a:t>
            </a:r>
            <a:r>
              <a:rPr lang="en-US" dirty="0"/>
              <a:t> </a:t>
            </a:r>
            <a:r>
              <a:rPr lang="en-US" dirty="0" err="1"/>
              <a:t>zamrzava</a:t>
            </a:r>
            <a:r>
              <a:rPr lang="en-US" dirty="0"/>
              <a:t> </a:t>
            </a:r>
            <a:r>
              <a:rPr lang="en-US" dirty="0" err="1"/>
              <a:t>sliku</a:t>
            </a:r>
            <a:r>
              <a:rPr lang="en-US" dirty="0"/>
              <a:t> </a:t>
            </a:r>
            <a:r>
              <a:rPr lang="en-US" dirty="0" err="1"/>
              <a:t>baze</a:t>
            </a:r>
            <a:r>
              <a:rPr lang="en-US" dirty="0"/>
              <a:t> od </a:t>
            </a:r>
            <a:r>
              <a:rPr lang="en-US" dirty="0" err="1"/>
              <a:t>trenutka</a:t>
            </a:r>
            <a:r>
              <a:rPr lang="en-US" dirty="0"/>
              <a:t> </a:t>
            </a:r>
            <a:r>
              <a:rPr lang="en-US" dirty="0" err="1"/>
              <a:t>starta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 — </a:t>
            </a:r>
            <a:r>
              <a:rPr lang="en-US" dirty="0" err="1"/>
              <a:t>transakcija</a:t>
            </a:r>
            <a:r>
              <a:rPr lang="en-US" dirty="0"/>
              <a:t> </a:t>
            </a:r>
            <a:r>
              <a:rPr lang="en-US" dirty="0" err="1"/>
              <a:t>ignoriše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nastale</a:t>
            </a:r>
            <a:r>
              <a:rPr lang="en-US" dirty="0"/>
              <a:t> </a:t>
            </a:r>
            <a:r>
              <a:rPr lang="en-US" dirty="0" err="1"/>
              <a:t>tokom</a:t>
            </a:r>
            <a:r>
              <a:rPr lang="en-US" dirty="0"/>
              <a:t> </a:t>
            </a:r>
            <a:r>
              <a:rPr lang="en-US" dirty="0" err="1"/>
              <a:t>njenog</a:t>
            </a:r>
            <a:r>
              <a:rPr lang="en-US" dirty="0"/>
              <a:t> </a:t>
            </a:r>
            <a:r>
              <a:rPr lang="en-US" dirty="0" err="1"/>
              <a:t>trajanja</a:t>
            </a:r>
            <a:r>
              <a:rPr lang="en-US" dirty="0"/>
              <a:t>, bez </a:t>
            </a:r>
            <a:r>
              <a:rPr lang="en-US" dirty="0" err="1"/>
              <a:t>obzira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commit,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idealnim</a:t>
            </a:r>
            <a:r>
              <a:rPr lang="en-US" dirty="0"/>
              <a:t> za </a:t>
            </a:r>
            <a:r>
              <a:rPr lang="en-US" dirty="0" err="1"/>
              <a:t>kompleksne</a:t>
            </a:r>
            <a:r>
              <a:rPr lang="en-US" dirty="0"/>
              <a:t> </a:t>
            </a:r>
            <a:r>
              <a:rPr lang="en-US" dirty="0" err="1"/>
              <a:t>izveštaje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obračune</a:t>
            </a:r>
            <a:r>
              <a:rPr lang="en-US" dirty="0"/>
              <a:t>.</a:t>
            </a:r>
          </a:p>
          <a:p>
            <a:r>
              <a:rPr lang="en-US" b="1" dirty="0"/>
              <a:t>Read Committed — Record Version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čita</a:t>
            </a:r>
            <a:r>
              <a:rPr lang="en-US" dirty="0"/>
              <a:t> </a:t>
            </a:r>
            <a:r>
              <a:rPr lang="en-US" dirty="0" err="1"/>
              <a:t>poslednju</a:t>
            </a:r>
            <a:r>
              <a:rPr lang="en-US" dirty="0"/>
              <a:t> </a:t>
            </a:r>
            <a:r>
              <a:rPr lang="en-US" dirty="0" err="1"/>
              <a:t>potvrđenu</a:t>
            </a:r>
            <a:r>
              <a:rPr lang="en-US" dirty="0"/>
              <a:t> </a:t>
            </a:r>
            <a:r>
              <a:rPr lang="en-US" dirty="0" err="1"/>
              <a:t>verziju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nikada</a:t>
            </a:r>
            <a:r>
              <a:rPr lang="en-US" dirty="0"/>
              <a:t> ne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zaključan</a:t>
            </a:r>
            <a:r>
              <a:rPr lang="en-US" dirty="0"/>
              <a:t> red — </a:t>
            </a:r>
            <a:r>
              <a:rPr lang="en-US" dirty="0" err="1"/>
              <a:t>odmah</a:t>
            </a:r>
            <a:r>
              <a:rPr lang="en-US" dirty="0"/>
              <a:t> </a:t>
            </a:r>
            <a:r>
              <a:rPr lang="en-US" dirty="0" err="1"/>
              <a:t>vraća</a:t>
            </a:r>
            <a:r>
              <a:rPr lang="en-US" dirty="0"/>
              <a:t> </a:t>
            </a:r>
            <a:r>
              <a:rPr lang="en-US" dirty="0" err="1"/>
              <a:t>stariju</a:t>
            </a:r>
            <a:r>
              <a:rPr lang="en-US" dirty="0"/>
              <a:t> </a:t>
            </a:r>
            <a:r>
              <a:rPr lang="en-US" dirty="0" err="1"/>
              <a:t>verziju</a:t>
            </a:r>
            <a:r>
              <a:rPr lang="en-US" dirty="0"/>
              <a:t> </a:t>
            </a:r>
            <a:r>
              <a:rPr lang="en-US" dirty="0" err="1"/>
              <a:t>ako</a:t>
            </a:r>
            <a:r>
              <a:rPr lang="en-US" dirty="0"/>
              <a:t> je red </a:t>
            </a:r>
            <a:r>
              <a:rPr lang="en-US" dirty="0" err="1"/>
              <a:t>zaključan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idealnim</a:t>
            </a:r>
            <a:r>
              <a:rPr lang="en-US" dirty="0"/>
              <a:t> za OLTP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svakodnevne</a:t>
            </a:r>
            <a:r>
              <a:rPr lang="en-US" dirty="0"/>
              <a:t> </a:t>
            </a:r>
            <a:r>
              <a:rPr lang="en-US" dirty="0" err="1"/>
              <a:t>operacije</a:t>
            </a:r>
            <a:r>
              <a:rPr lang="en-US" dirty="0"/>
              <a:t>.</a:t>
            </a:r>
          </a:p>
          <a:p>
            <a:r>
              <a:rPr lang="en-US" b="1" dirty="0"/>
              <a:t>Read Committed — No Record Version</a:t>
            </a:r>
            <a:r>
              <a:rPr lang="en-US" dirty="0"/>
              <a:t>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dok</a:t>
            </a:r>
            <a:r>
              <a:rPr lang="en-US" dirty="0"/>
              <a:t> se </a:t>
            </a:r>
            <a:r>
              <a:rPr lang="en-US" dirty="0" err="1"/>
              <a:t>zaključani</a:t>
            </a:r>
            <a:r>
              <a:rPr lang="en-US" dirty="0"/>
              <a:t> red ne </a:t>
            </a:r>
            <a:r>
              <a:rPr lang="en-US" dirty="0" err="1"/>
              <a:t>otključa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apsolutno</a:t>
            </a:r>
            <a:r>
              <a:rPr lang="en-US" dirty="0"/>
              <a:t> </a:t>
            </a:r>
            <a:r>
              <a:rPr lang="en-US" dirty="0" err="1"/>
              <a:t>garantuje</a:t>
            </a:r>
            <a:r>
              <a:rPr lang="en-US" dirty="0"/>
              <a:t> </a:t>
            </a:r>
            <a:r>
              <a:rPr lang="en-US" dirty="0" err="1"/>
              <a:t>poslednju</a:t>
            </a:r>
            <a:r>
              <a:rPr lang="en-US" dirty="0"/>
              <a:t> </a:t>
            </a:r>
            <a:r>
              <a:rPr lang="en-US" dirty="0" err="1"/>
              <a:t>vrednost</a:t>
            </a:r>
            <a:r>
              <a:rPr lang="en-US" dirty="0"/>
              <a:t> u </a:t>
            </a:r>
            <a:r>
              <a:rPr lang="en-US" dirty="0" err="1"/>
              <a:t>bazi</a:t>
            </a:r>
            <a:r>
              <a:rPr lang="en-US" dirty="0"/>
              <a:t> — </a:t>
            </a:r>
            <a:r>
              <a:rPr lang="en-US" dirty="0" err="1"/>
              <a:t>idealan</a:t>
            </a:r>
            <a:r>
              <a:rPr lang="en-US" dirty="0"/>
              <a:t> za </a:t>
            </a:r>
            <a:r>
              <a:rPr lang="en-US" dirty="0" err="1"/>
              <a:t>kritične</a:t>
            </a:r>
            <a:r>
              <a:rPr lang="en-US" dirty="0"/>
              <a:t> </a:t>
            </a:r>
            <a:r>
              <a:rPr lang="en-US" dirty="0" err="1"/>
              <a:t>finansijske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</a:t>
            </a:r>
            <a:r>
              <a:rPr lang="en-US" dirty="0" err="1"/>
              <a:t>konzistentnost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apsolutni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brzinom</a:t>
            </a:r>
            <a:r>
              <a:rPr lang="en-US" dirty="0"/>
              <a:t>.</a:t>
            </a:r>
          </a:p>
          <a:p>
            <a:r>
              <a:rPr lang="en-US" b="1" dirty="0"/>
              <a:t>Read Committed Read Consistency</a:t>
            </a:r>
            <a:r>
              <a:rPr lang="en-US" dirty="0"/>
              <a:t>, </a:t>
            </a:r>
            <a:r>
              <a:rPr lang="en-US" dirty="0" err="1"/>
              <a:t>uveden</a:t>
            </a:r>
            <a:r>
              <a:rPr lang="en-US" dirty="0"/>
              <a:t> u Firebird 4.0, </a:t>
            </a:r>
            <a:r>
              <a:rPr lang="en-US" dirty="0" err="1"/>
              <a:t>kombinuje</a:t>
            </a:r>
            <a:r>
              <a:rPr lang="en-US" dirty="0"/>
              <a:t> </a:t>
            </a:r>
            <a:r>
              <a:rPr lang="en-US" dirty="0" err="1"/>
              <a:t>prednosti</a:t>
            </a:r>
            <a:r>
              <a:rPr lang="en-US" dirty="0"/>
              <a:t> </a:t>
            </a:r>
            <a:r>
              <a:rPr lang="en-US" dirty="0" err="1"/>
              <a:t>prethodnih</a:t>
            </a:r>
            <a:r>
              <a:rPr lang="en-US" dirty="0"/>
              <a:t> </a:t>
            </a:r>
            <a:r>
              <a:rPr lang="en-US" dirty="0" err="1"/>
              <a:t>nivoa</a:t>
            </a:r>
            <a:r>
              <a:rPr lang="en-US" dirty="0"/>
              <a:t> — </a:t>
            </a:r>
            <a:r>
              <a:rPr lang="en-US" dirty="0" err="1"/>
              <a:t>svaka</a:t>
            </a:r>
            <a:r>
              <a:rPr lang="en-US" dirty="0"/>
              <a:t> SQL </a:t>
            </a:r>
            <a:r>
              <a:rPr lang="en-US" dirty="0" err="1"/>
              <a:t>naredba</a:t>
            </a:r>
            <a:r>
              <a:rPr lang="en-US" dirty="0"/>
              <a:t> </a:t>
            </a:r>
            <a:r>
              <a:rPr lang="en-US" dirty="0" err="1"/>
              <a:t>dobija</a:t>
            </a:r>
            <a:r>
              <a:rPr lang="en-US" dirty="0"/>
              <a:t> </a:t>
            </a:r>
            <a:r>
              <a:rPr lang="en-US" dirty="0" err="1"/>
              <a:t>sopstveni</a:t>
            </a:r>
            <a:r>
              <a:rPr lang="en-US" dirty="0"/>
              <a:t> mini-snapshot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automatski</a:t>
            </a:r>
            <a:r>
              <a:rPr lang="en-US" dirty="0"/>
              <a:t> </a:t>
            </a:r>
            <a:r>
              <a:rPr lang="en-US" dirty="0" err="1"/>
              <a:t>ponavlja</a:t>
            </a:r>
            <a:r>
              <a:rPr lang="en-US" dirty="0"/>
              <a:t> </a:t>
            </a:r>
            <a:r>
              <a:rPr lang="en-US" dirty="0" err="1"/>
              <a:t>konfliktni</a:t>
            </a:r>
            <a:r>
              <a:rPr lang="en-US" dirty="0"/>
              <a:t> deo </a:t>
            </a:r>
            <a:r>
              <a:rPr lang="en-US" dirty="0" err="1"/>
              <a:t>upita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eliminiše</a:t>
            </a:r>
            <a:r>
              <a:rPr lang="en-US" dirty="0"/>
              <a:t> </a:t>
            </a:r>
            <a:r>
              <a:rPr lang="en-US" dirty="0" err="1"/>
              <a:t>potreba</a:t>
            </a:r>
            <a:r>
              <a:rPr lang="en-US" dirty="0"/>
              <a:t> za retry </a:t>
            </a:r>
            <a:r>
              <a:rPr lang="en-US" dirty="0" err="1"/>
              <a:t>logikom</a:t>
            </a:r>
            <a:r>
              <a:rPr lang="en-US" dirty="0"/>
              <a:t> u </a:t>
            </a:r>
            <a:r>
              <a:rPr lang="en-US" dirty="0" err="1"/>
              <a:t>aplikaciji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Firebird </a:t>
            </a:r>
            <a:r>
              <a:rPr lang="en-US" dirty="0" err="1"/>
              <a:t>podržava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zaključavanju</a:t>
            </a:r>
            <a:r>
              <a:rPr lang="en-US" dirty="0"/>
              <a:t> — </a:t>
            </a:r>
            <a:r>
              <a:rPr lang="en-US" dirty="0" err="1"/>
              <a:t>pesimistički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optimistički</a:t>
            </a:r>
            <a:r>
              <a:rPr lang="en-US" dirty="0"/>
              <a:t>, a </a:t>
            </a:r>
            <a:r>
              <a:rPr lang="en-US" dirty="0" err="1"/>
              <a:t>izbor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njih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utiče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konkurentnost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performanse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r>
              <a:rPr lang="en-US" b="1" dirty="0" err="1"/>
              <a:t>Pesimistički</a:t>
            </a:r>
            <a:r>
              <a:rPr lang="en-US" b="1" dirty="0"/>
              <a:t> lock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SELECT ... WITH LOCK </a:t>
            </a:r>
            <a:r>
              <a:rPr lang="en-US" dirty="0" err="1"/>
              <a:t>rezerviše</a:t>
            </a:r>
            <a:r>
              <a:rPr lang="en-US" dirty="0"/>
              <a:t> red </a:t>
            </a:r>
            <a:r>
              <a:rPr lang="en-US" dirty="0" err="1"/>
              <a:t>odmah</a:t>
            </a:r>
            <a:r>
              <a:rPr lang="en-US" dirty="0"/>
              <a:t>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čitanju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ekskluzivnim</a:t>
            </a:r>
            <a:r>
              <a:rPr lang="en-US" dirty="0"/>
              <a:t> </a:t>
            </a:r>
            <a:r>
              <a:rPr lang="en-US" dirty="0" err="1"/>
              <a:t>katancem</a:t>
            </a:r>
            <a:r>
              <a:rPr lang="en-US" dirty="0"/>
              <a:t> koji </a:t>
            </a:r>
            <a:r>
              <a:rPr lang="en-US" dirty="0" err="1"/>
              <a:t>traje</a:t>
            </a:r>
            <a:r>
              <a:rPr lang="en-US" dirty="0"/>
              <a:t> do COMMIT-a </a:t>
            </a:r>
            <a:r>
              <a:rPr lang="en-US" dirty="0" err="1"/>
              <a:t>ili</a:t>
            </a:r>
            <a:r>
              <a:rPr lang="en-US" dirty="0"/>
              <a:t> ROLLBACK-a — </a:t>
            </a:r>
            <a:r>
              <a:rPr lang="en-US" dirty="0" err="1"/>
              <a:t>idealan</a:t>
            </a:r>
            <a:r>
              <a:rPr lang="en-US" dirty="0"/>
              <a:t> za </a:t>
            </a:r>
            <a:r>
              <a:rPr lang="en-US" dirty="0" err="1"/>
              <a:t>scenarije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</a:t>
            </a:r>
            <a:r>
              <a:rPr lang="en-US" dirty="0" err="1"/>
              <a:t>prodaje</a:t>
            </a:r>
            <a:r>
              <a:rPr lang="en-US" dirty="0"/>
              <a:t> </a:t>
            </a:r>
            <a:r>
              <a:rPr lang="en-US" dirty="0" err="1"/>
              <a:t>avio-karata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se </a:t>
            </a:r>
            <a:r>
              <a:rPr lang="en-US" dirty="0" err="1"/>
              <a:t>slobodan</a:t>
            </a:r>
            <a:r>
              <a:rPr lang="en-US" dirty="0"/>
              <a:t> </a:t>
            </a:r>
            <a:r>
              <a:rPr lang="en-US" dirty="0" err="1"/>
              <a:t>sedež</a:t>
            </a:r>
            <a:r>
              <a:rPr lang="en-US" dirty="0"/>
              <a:t> mora </a:t>
            </a:r>
            <a:r>
              <a:rPr lang="en-US" dirty="0" err="1"/>
              <a:t>odmah</a:t>
            </a:r>
            <a:r>
              <a:rPr lang="en-US" dirty="0"/>
              <a:t> </a:t>
            </a:r>
            <a:r>
              <a:rPr lang="en-US" dirty="0" err="1"/>
              <a:t>zaključati</a:t>
            </a:r>
            <a:r>
              <a:rPr lang="en-US" dirty="0"/>
              <a:t> </a:t>
            </a:r>
            <a:r>
              <a:rPr lang="en-US" dirty="0" err="1"/>
              <a:t>čim</a:t>
            </a:r>
            <a:r>
              <a:rPr lang="en-US" dirty="0"/>
              <a:t> ga </a:t>
            </a:r>
            <a:r>
              <a:rPr lang="en-US" dirty="0" err="1"/>
              <a:t>korisnik</a:t>
            </a:r>
            <a:r>
              <a:rPr lang="en-US" dirty="0"/>
              <a:t> </a:t>
            </a:r>
            <a:r>
              <a:rPr lang="en-US" dirty="0" err="1"/>
              <a:t>odabere</a:t>
            </a:r>
            <a:r>
              <a:rPr lang="en-US" dirty="0"/>
              <a:t>.</a:t>
            </a:r>
          </a:p>
          <a:p>
            <a:r>
              <a:rPr lang="en-US" b="1" dirty="0" err="1"/>
              <a:t>Optimistički</a:t>
            </a:r>
            <a:r>
              <a:rPr lang="en-US" b="1" dirty="0"/>
              <a:t> </a:t>
            </a:r>
            <a:r>
              <a:rPr lang="en-US" b="1" dirty="0" err="1"/>
              <a:t>pristup</a:t>
            </a:r>
            <a:r>
              <a:rPr lang="en-US" dirty="0"/>
              <a:t> je </a:t>
            </a:r>
            <a:r>
              <a:rPr lang="en-US" dirty="0" err="1"/>
              <a:t>podrazumevani</a:t>
            </a:r>
            <a:r>
              <a:rPr lang="en-US" dirty="0"/>
              <a:t> u </a:t>
            </a:r>
            <a:r>
              <a:rPr lang="en-US" dirty="0" err="1"/>
              <a:t>Firebirdu</a:t>
            </a:r>
            <a:r>
              <a:rPr lang="en-US" dirty="0"/>
              <a:t> — </a:t>
            </a:r>
            <a:r>
              <a:rPr lang="en-US" dirty="0" err="1"/>
              <a:t>nema</a:t>
            </a:r>
            <a:r>
              <a:rPr lang="en-US" dirty="0"/>
              <a:t> </a:t>
            </a:r>
            <a:r>
              <a:rPr lang="en-US" dirty="0" err="1"/>
              <a:t>katanaca</a:t>
            </a:r>
            <a:r>
              <a:rPr lang="en-US" dirty="0"/>
              <a:t> </a:t>
            </a:r>
            <a:r>
              <a:rPr lang="en-US" dirty="0" err="1"/>
              <a:t>pri</a:t>
            </a:r>
            <a:r>
              <a:rPr lang="en-US" dirty="0"/>
              <a:t> </a:t>
            </a:r>
            <a:r>
              <a:rPr lang="en-US" dirty="0" err="1"/>
              <a:t>čitanju</a:t>
            </a:r>
            <a:r>
              <a:rPr lang="en-US" dirty="0"/>
              <a:t>, </a:t>
            </a:r>
            <a:r>
              <a:rPr lang="en-US" dirty="0" err="1"/>
              <a:t>provera</a:t>
            </a:r>
            <a:r>
              <a:rPr lang="en-US" dirty="0"/>
              <a:t> se </a:t>
            </a:r>
            <a:r>
              <a:rPr lang="en-US" dirty="0" err="1"/>
              <a:t>vrši</a:t>
            </a:r>
            <a:r>
              <a:rPr lang="en-US" dirty="0"/>
              <a:t> </a:t>
            </a:r>
            <a:r>
              <a:rPr lang="en-US" dirty="0" err="1"/>
              <a:t>tek</a:t>
            </a:r>
            <a:r>
              <a:rPr lang="en-US" dirty="0"/>
              <a:t> </a:t>
            </a:r>
            <a:r>
              <a:rPr lang="en-US" dirty="0" err="1"/>
              <a:t>pri</a:t>
            </a:r>
            <a:r>
              <a:rPr lang="en-US" dirty="0"/>
              <a:t> UPDATE-u, a </a:t>
            </a:r>
            <a:r>
              <a:rPr lang="en-US" dirty="0" err="1"/>
              <a:t>ako</a:t>
            </a:r>
            <a:r>
              <a:rPr lang="en-US" dirty="0"/>
              <a:t> je red </a:t>
            </a:r>
            <a:r>
              <a:rPr lang="en-US" dirty="0" err="1"/>
              <a:t>promenjen</a:t>
            </a:r>
            <a:r>
              <a:rPr lang="en-US" dirty="0"/>
              <a:t> u </a:t>
            </a:r>
            <a:r>
              <a:rPr lang="en-US" dirty="0" err="1"/>
              <a:t>međuvremenu</a:t>
            </a:r>
            <a:r>
              <a:rPr lang="en-US" dirty="0"/>
              <a:t> </a:t>
            </a:r>
            <a:r>
              <a:rPr lang="en-US" dirty="0" err="1"/>
              <a:t>dolazi</a:t>
            </a:r>
            <a:r>
              <a:rPr lang="en-US" dirty="0"/>
              <a:t> do Update Conflict koji </a:t>
            </a:r>
            <a:r>
              <a:rPr lang="en-US" dirty="0" err="1"/>
              <a:t>aplikacija</a:t>
            </a:r>
            <a:r>
              <a:rPr lang="en-US" dirty="0"/>
              <a:t> mora da </a:t>
            </a:r>
            <a:r>
              <a:rPr lang="en-US" dirty="0" err="1"/>
              <a:t>reši</a:t>
            </a:r>
            <a:r>
              <a:rPr lang="en-US" dirty="0"/>
              <a:t> retry </a:t>
            </a:r>
            <a:r>
              <a:rPr lang="en-US" dirty="0" err="1"/>
              <a:t>logikom</a:t>
            </a:r>
            <a:r>
              <a:rPr lang="en-US" dirty="0"/>
              <a:t>.</a:t>
            </a:r>
          </a:p>
          <a:p>
            <a:r>
              <a:rPr lang="en-US" b="1" dirty="0"/>
              <a:t>Deadlock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kružno</a:t>
            </a:r>
            <a:r>
              <a:rPr lang="en-US" dirty="0"/>
              <a:t> </a:t>
            </a:r>
            <a:r>
              <a:rPr lang="en-US" dirty="0" err="1"/>
              <a:t>čekanje</a:t>
            </a:r>
            <a:r>
              <a:rPr lang="en-US" dirty="0"/>
              <a:t> </a:t>
            </a:r>
            <a:r>
              <a:rPr lang="en-US" dirty="0" err="1"/>
              <a:t>nastaje</a:t>
            </a:r>
            <a:r>
              <a:rPr lang="en-US" dirty="0"/>
              <a:t> </a:t>
            </a:r>
            <a:r>
              <a:rPr lang="en-US" dirty="0" err="1"/>
              <a:t>kada</a:t>
            </a:r>
            <a:r>
              <a:rPr lang="en-US" dirty="0"/>
              <a:t> </a:t>
            </a:r>
            <a:r>
              <a:rPr lang="en-US" dirty="0" err="1"/>
              <a:t>Sesija</a:t>
            </a:r>
            <a:r>
              <a:rPr lang="en-US" dirty="0"/>
              <a:t> A </a:t>
            </a:r>
            <a:r>
              <a:rPr lang="en-US" dirty="0" err="1"/>
              <a:t>drži</a:t>
            </a:r>
            <a:r>
              <a:rPr lang="en-US" dirty="0"/>
              <a:t> </a:t>
            </a:r>
            <a:r>
              <a:rPr lang="en-US" dirty="0" err="1"/>
              <a:t>katanac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tabeli</a:t>
            </a:r>
            <a:r>
              <a:rPr lang="en-US" dirty="0"/>
              <a:t> DEPARTMENT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čeka</a:t>
            </a:r>
            <a:r>
              <a:rPr lang="en-US" dirty="0"/>
              <a:t> EMPLOYEE, </a:t>
            </a:r>
            <a:r>
              <a:rPr lang="en-US" dirty="0" err="1"/>
              <a:t>dok</a:t>
            </a:r>
            <a:r>
              <a:rPr lang="en-US" dirty="0"/>
              <a:t> </a:t>
            </a:r>
            <a:r>
              <a:rPr lang="en-US" dirty="0" err="1"/>
              <a:t>Sesija</a:t>
            </a:r>
            <a:r>
              <a:rPr lang="en-US" dirty="0"/>
              <a:t> B </a:t>
            </a:r>
            <a:r>
              <a:rPr lang="en-US" dirty="0" err="1"/>
              <a:t>drži</a:t>
            </a:r>
            <a:r>
              <a:rPr lang="en-US" dirty="0"/>
              <a:t> </a:t>
            </a:r>
            <a:r>
              <a:rPr lang="en-US" dirty="0" err="1"/>
              <a:t>katanac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EMPLOYEE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čeka</a:t>
            </a:r>
            <a:r>
              <a:rPr lang="en-US" dirty="0"/>
              <a:t> DEPARTMENT — Firebird Lock Manager </a:t>
            </a:r>
            <a:r>
              <a:rPr lang="en-US" dirty="0" err="1"/>
              <a:t>periodično</a:t>
            </a:r>
            <a:r>
              <a:rPr lang="en-US" dirty="0"/>
              <a:t> </a:t>
            </a:r>
            <a:r>
              <a:rPr lang="en-US" dirty="0" err="1"/>
              <a:t>analizira</a:t>
            </a:r>
            <a:r>
              <a:rPr lang="en-US" dirty="0"/>
              <a:t> </a:t>
            </a:r>
            <a:r>
              <a:rPr lang="en-US" dirty="0" err="1"/>
              <a:t>graf</a:t>
            </a:r>
            <a:r>
              <a:rPr lang="en-US" dirty="0"/>
              <a:t> </a:t>
            </a:r>
            <a:r>
              <a:rPr lang="en-US" dirty="0" err="1"/>
              <a:t>čekanja</a:t>
            </a:r>
            <a:r>
              <a:rPr lang="en-US" dirty="0"/>
              <a:t>, </a:t>
            </a:r>
            <a:r>
              <a:rPr lang="en-US" dirty="0" err="1"/>
              <a:t>detektuje</a:t>
            </a:r>
            <a:r>
              <a:rPr lang="en-US" dirty="0"/>
              <a:t> </a:t>
            </a:r>
            <a:r>
              <a:rPr lang="en-US" dirty="0" err="1"/>
              <a:t>petlju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prekida</a:t>
            </a:r>
            <a:r>
              <a:rPr lang="en-US" dirty="0"/>
              <a:t> </a:t>
            </a:r>
            <a:r>
              <a:rPr lang="en-US" dirty="0" err="1"/>
              <a:t>mlađu</a:t>
            </a:r>
            <a:r>
              <a:rPr lang="en-US" dirty="0"/>
              <a:t> </a:t>
            </a:r>
            <a:r>
              <a:rPr lang="en-US" dirty="0" err="1"/>
              <a:t>sesiju</a:t>
            </a:r>
            <a:r>
              <a:rPr lang="en-US" dirty="0"/>
              <a:t>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grešku</a:t>
            </a:r>
            <a:r>
              <a:rPr lang="en-US" dirty="0"/>
              <a:t>.</a:t>
            </a:r>
          </a:p>
          <a:p>
            <a:r>
              <a:rPr lang="en-US" dirty="0" err="1"/>
              <a:t>Strategija</a:t>
            </a:r>
            <a:r>
              <a:rPr lang="en-US" dirty="0"/>
              <a:t> </a:t>
            </a:r>
            <a:r>
              <a:rPr lang="en-US" dirty="0" err="1"/>
              <a:t>prevencije</a:t>
            </a:r>
            <a:r>
              <a:rPr lang="en-US" dirty="0"/>
              <a:t> deadlock-a je </a:t>
            </a:r>
            <a:r>
              <a:rPr lang="en-US" dirty="0" err="1"/>
              <a:t>jednostavna</a:t>
            </a:r>
            <a:r>
              <a:rPr lang="en-US" dirty="0"/>
              <a:t> —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ažurirati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 </a:t>
            </a:r>
            <a:r>
              <a:rPr lang="en-US" dirty="0" err="1"/>
              <a:t>istim</a:t>
            </a:r>
            <a:r>
              <a:rPr lang="en-US" dirty="0"/>
              <a:t> </a:t>
            </a:r>
            <a:r>
              <a:rPr lang="en-US" dirty="0" err="1"/>
              <a:t>redosledom</a:t>
            </a:r>
            <a:r>
              <a:rPr lang="en-US" dirty="0"/>
              <a:t> u </a:t>
            </a:r>
            <a:r>
              <a:rPr lang="en-US" dirty="0" err="1"/>
              <a:t>celoj</a:t>
            </a:r>
            <a:r>
              <a:rPr lang="en-US" dirty="0"/>
              <a:t> </a:t>
            </a:r>
            <a:r>
              <a:rPr lang="en-US" dirty="0" err="1"/>
              <a:t>aplikaciji</a:t>
            </a:r>
            <a:r>
              <a:rPr lang="en-US" dirty="0"/>
              <a:t>.</a:t>
            </a:r>
          </a:p>
          <a:p>
            <a:r>
              <a:rPr lang="en-US" dirty="0"/>
              <a:t>Za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čekanjem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zaključane</a:t>
            </a:r>
            <a:r>
              <a:rPr lang="en-US" dirty="0"/>
              <a:t> </a:t>
            </a:r>
            <a:r>
              <a:rPr lang="en-US" dirty="0" err="1"/>
              <a:t>resurse</a:t>
            </a:r>
            <a:r>
              <a:rPr lang="en-US" dirty="0"/>
              <a:t> Firebird </a:t>
            </a:r>
            <a:r>
              <a:rPr lang="en-US" dirty="0" err="1"/>
              <a:t>nudi</a:t>
            </a:r>
            <a:r>
              <a:rPr lang="en-US" dirty="0"/>
              <a:t> tri </a:t>
            </a:r>
            <a:r>
              <a:rPr lang="en-US" dirty="0" err="1"/>
              <a:t>opcije</a:t>
            </a:r>
            <a:r>
              <a:rPr lang="en-US" dirty="0"/>
              <a:t>: </a:t>
            </a:r>
            <a:r>
              <a:rPr lang="en-US" b="1" dirty="0"/>
              <a:t>NO WAIT</a:t>
            </a:r>
            <a:r>
              <a:rPr lang="en-US" dirty="0"/>
              <a:t> koji </a:t>
            </a:r>
            <a:r>
              <a:rPr lang="en-US" dirty="0" err="1"/>
              <a:t>odmah</a:t>
            </a:r>
            <a:r>
              <a:rPr lang="en-US" dirty="0"/>
              <a:t> </a:t>
            </a:r>
            <a:r>
              <a:rPr lang="en-US" dirty="0" err="1"/>
              <a:t>vraća</a:t>
            </a:r>
            <a:r>
              <a:rPr lang="en-US" dirty="0"/>
              <a:t> </a:t>
            </a:r>
            <a:r>
              <a:rPr lang="en-US" dirty="0" err="1"/>
              <a:t>grešku</a:t>
            </a:r>
            <a:r>
              <a:rPr lang="en-US" dirty="0"/>
              <a:t>, </a:t>
            </a:r>
            <a:r>
              <a:rPr lang="en-US" b="1" dirty="0"/>
              <a:t>WAIT</a:t>
            </a:r>
            <a:r>
              <a:rPr lang="en-US" dirty="0"/>
              <a:t> koji </a:t>
            </a:r>
            <a:r>
              <a:rPr lang="en-US" dirty="0" err="1"/>
              <a:t>čeka</a:t>
            </a:r>
            <a:r>
              <a:rPr lang="en-US" dirty="0"/>
              <a:t> </a:t>
            </a:r>
            <a:r>
              <a:rPr lang="en-US" dirty="0" err="1"/>
              <a:t>neograničeno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LOCK TIMEOUT</a:t>
            </a:r>
            <a:r>
              <a:rPr lang="en-US" dirty="0"/>
              <a:t> koji </a:t>
            </a:r>
            <a:r>
              <a:rPr lang="en-US" dirty="0" err="1"/>
              <a:t>čeka</a:t>
            </a:r>
            <a:r>
              <a:rPr lang="en-US" dirty="0"/>
              <a:t> N </a:t>
            </a:r>
            <a:r>
              <a:rPr lang="en-US" dirty="0" err="1"/>
              <a:t>sekundi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najbolji</a:t>
            </a:r>
            <a:r>
              <a:rPr lang="en-US" dirty="0"/>
              <a:t> </a:t>
            </a:r>
            <a:r>
              <a:rPr lang="en-US" dirty="0" err="1"/>
              <a:t>kompromis</a:t>
            </a:r>
            <a:r>
              <a:rPr lang="en-US" dirty="0"/>
              <a:t> za </a:t>
            </a:r>
            <a:r>
              <a:rPr lang="en-US" dirty="0" err="1"/>
              <a:t>produkcijska</a:t>
            </a:r>
            <a:r>
              <a:rPr lang="en-US" dirty="0"/>
              <a:t> </a:t>
            </a:r>
            <a:r>
              <a:rPr lang="en-US" dirty="0" err="1"/>
              <a:t>okruženja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Garbage Collection je </a:t>
            </a:r>
            <a:r>
              <a:rPr lang="en-US" dirty="0" err="1"/>
              <a:t>mehanizam</a:t>
            </a:r>
            <a:r>
              <a:rPr lang="en-US" dirty="0"/>
              <a:t> </a:t>
            </a:r>
            <a:r>
              <a:rPr lang="en-US" dirty="0" err="1"/>
              <a:t>kojim</a:t>
            </a:r>
            <a:r>
              <a:rPr lang="en-US" dirty="0"/>
              <a:t> Firebird </a:t>
            </a:r>
            <a:r>
              <a:rPr lang="en-US" dirty="0" err="1"/>
              <a:t>čisti</a:t>
            </a:r>
            <a:r>
              <a:rPr lang="en-US" dirty="0"/>
              <a:t> </a:t>
            </a:r>
            <a:r>
              <a:rPr lang="en-US" dirty="0" err="1"/>
              <a:t>zastarele</a:t>
            </a:r>
            <a:r>
              <a:rPr lang="en-US" dirty="0"/>
              <a:t> </a:t>
            </a:r>
            <a:r>
              <a:rPr lang="en-US" dirty="0" err="1"/>
              <a:t>verzije</a:t>
            </a:r>
            <a:r>
              <a:rPr lang="en-US" dirty="0"/>
              <a:t> </a:t>
            </a:r>
            <a:r>
              <a:rPr lang="en-US" dirty="0" err="1"/>
              <a:t>zapisa</a:t>
            </a:r>
            <a:r>
              <a:rPr lang="en-US" dirty="0"/>
              <a:t> </a:t>
            </a:r>
            <a:r>
              <a:rPr lang="en-US" dirty="0" err="1"/>
              <a:t>nastale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posledica</a:t>
            </a:r>
            <a:r>
              <a:rPr lang="en-US" dirty="0"/>
              <a:t> MGA </a:t>
            </a:r>
            <a:r>
              <a:rPr lang="en-US" dirty="0" err="1"/>
              <a:t>arhitekture</a:t>
            </a:r>
            <a:r>
              <a:rPr lang="en-US" dirty="0"/>
              <a:t>, a </a:t>
            </a:r>
            <a:r>
              <a:rPr lang="en-US" dirty="0" err="1"/>
              <a:t>njegovo</a:t>
            </a:r>
            <a:r>
              <a:rPr lang="en-US" dirty="0"/>
              <a:t> </a:t>
            </a:r>
            <a:r>
              <a:rPr lang="en-US" dirty="0" err="1"/>
              <a:t>funkcionisanje</a:t>
            </a:r>
            <a:r>
              <a:rPr lang="en-US" dirty="0"/>
              <a:t>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određuje</a:t>
            </a:r>
            <a:r>
              <a:rPr lang="en-US" dirty="0"/>
              <a:t> </a:t>
            </a:r>
            <a:r>
              <a:rPr lang="en-US" dirty="0" err="1"/>
              <a:t>zdravlje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performanse</a:t>
            </a:r>
            <a:r>
              <a:rPr lang="en-US" dirty="0"/>
              <a:t> </a:t>
            </a:r>
            <a:r>
              <a:rPr lang="en-US" dirty="0" err="1"/>
              <a:t>baze</a:t>
            </a:r>
            <a:r>
              <a:rPr lang="en-US" dirty="0"/>
              <a:t>.</a:t>
            </a:r>
          </a:p>
          <a:p>
            <a:r>
              <a:rPr lang="en-US" dirty="0" err="1"/>
              <a:t>Četiri</a:t>
            </a:r>
            <a:r>
              <a:rPr lang="en-US" dirty="0"/>
              <a:t> </a:t>
            </a:r>
            <a:r>
              <a:rPr lang="en-US" dirty="0" err="1"/>
              <a:t>ključna</a:t>
            </a:r>
            <a:r>
              <a:rPr lang="en-US" dirty="0"/>
              <a:t> </a:t>
            </a:r>
            <a:r>
              <a:rPr lang="en-US" dirty="0" err="1"/>
              <a:t>transakciona</a:t>
            </a:r>
            <a:r>
              <a:rPr lang="en-US" dirty="0"/>
              <a:t> </a:t>
            </a:r>
            <a:r>
              <a:rPr lang="en-US" dirty="0" err="1"/>
              <a:t>markera</a:t>
            </a:r>
            <a:r>
              <a:rPr lang="en-US" dirty="0"/>
              <a:t> </a:t>
            </a:r>
            <a:r>
              <a:rPr lang="en-US" dirty="0" err="1"/>
              <a:t>definišu</a:t>
            </a:r>
            <a:r>
              <a:rPr lang="en-US" dirty="0"/>
              <a:t> </a:t>
            </a:r>
            <a:r>
              <a:rPr lang="en-US" dirty="0" err="1"/>
              <a:t>šta</a:t>
            </a:r>
            <a:r>
              <a:rPr lang="en-US" dirty="0"/>
              <a:t> GC </a:t>
            </a:r>
            <a:r>
              <a:rPr lang="en-US" dirty="0" err="1"/>
              <a:t>sme</a:t>
            </a:r>
            <a:r>
              <a:rPr lang="en-US" dirty="0"/>
              <a:t> da </a:t>
            </a:r>
            <a:r>
              <a:rPr lang="en-US" dirty="0" err="1"/>
              <a:t>obriše</a:t>
            </a:r>
            <a:r>
              <a:rPr lang="en-US" dirty="0"/>
              <a:t> — </a:t>
            </a:r>
            <a:r>
              <a:rPr lang="en-US" b="1" dirty="0"/>
              <a:t>Next TID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gornja</a:t>
            </a:r>
            <a:r>
              <a:rPr lang="en-US" dirty="0"/>
              <a:t> </a:t>
            </a:r>
            <a:r>
              <a:rPr lang="en-US" dirty="0" err="1"/>
              <a:t>granica</a:t>
            </a:r>
            <a:r>
              <a:rPr lang="en-US" dirty="0"/>
              <a:t>, </a:t>
            </a:r>
            <a:r>
              <a:rPr lang="en-US" b="1" dirty="0"/>
              <a:t>OAT</a:t>
            </a:r>
            <a:r>
              <a:rPr lang="en-US" dirty="0"/>
              <a:t> (Oldest Active Transaction)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blokira</a:t>
            </a:r>
            <a:r>
              <a:rPr lang="en-US" dirty="0"/>
              <a:t> GC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najvažniji</a:t>
            </a:r>
            <a:r>
              <a:rPr lang="en-US" dirty="0"/>
              <a:t> marker, </a:t>
            </a:r>
            <a:r>
              <a:rPr lang="en-US" b="1" dirty="0"/>
              <a:t>OIT</a:t>
            </a:r>
            <a:r>
              <a:rPr lang="en-US" dirty="0"/>
              <a:t> (Oldest Interesting Transaction)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donja</a:t>
            </a:r>
            <a:r>
              <a:rPr lang="en-US" dirty="0"/>
              <a:t> </a:t>
            </a:r>
            <a:r>
              <a:rPr lang="en-US" dirty="0" err="1"/>
              <a:t>granica</a:t>
            </a:r>
            <a:r>
              <a:rPr lang="en-US" dirty="0"/>
              <a:t> </a:t>
            </a:r>
            <a:r>
              <a:rPr lang="en-US" dirty="0" err="1"/>
              <a:t>čišćenja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OST</a:t>
            </a:r>
            <a:r>
              <a:rPr lang="en-US" dirty="0"/>
              <a:t> (Oldest Snapshot Transaction)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zamrzava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za Snapshot </a:t>
            </a:r>
            <a:r>
              <a:rPr lang="en-US" dirty="0" err="1"/>
              <a:t>transakcije</a:t>
            </a:r>
            <a:r>
              <a:rPr lang="en-US" dirty="0"/>
              <a:t>.</a:t>
            </a:r>
          </a:p>
          <a:p>
            <a:r>
              <a:rPr lang="en-US" b="1" dirty="0"/>
              <a:t>TRANSACTION_GAP</a:t>
            </a:r>
            <a:r>
              <a:rPr lang="en-US" dirty="0"/>
              <a:t> je </a:t>
            </a:r>
            <a:r>
              <a:rPr lang="en-US" dirty="0" err="1"/>
              <a:t>razlika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Next TID </a:t>
            </a:r>
            <a:r>
              <a:rPr lang="en-US" dirty="0" err="1"/>
              <a:t>i</a:t>
            </a:r>
            <a:r>
              <a:rPr lang="en-US" dirty="0"/>
              <a:t> OAT — </a:t>
            </a:r>
            <a:r>
              <a:rPr lang="en-US" dirty="0" err="1"/>
              <a:t>mali</a:t>
            </a:r>
            <a:r>
              <a:rPr lang="en-US" dirty="0"/>
              <a:t> gap </a:t>
            </a:r>
            <a:r>
              <a:rPr lang="en-US" dirty="0" err="1"/>
              <a:t>znači</a:t>
            </a:r>
            <a:r>
              <a:rPr lang="en-US" dirty="0"/>
              <a:t> </a:t>
            </a:r>
            <a:r>
              <a:rPr lang="en-US" dirty="0" err="1"/>
              <a:t>zdravu</a:t>
            </a:r>
            <a:r>
              <a:rPr lang="en-US" dirty="0"/>
              <a:t> </a:t>
            </a:r>
            <a:r>
              <a:rPr lang="en-US" dirty="0" err="1"/>
              <a:t>bazu</a:t>
            </a:r>
            <a:r>
              <a:rPr lang="en-US" dirty="0"/>
              <a:t>, a </a:t>
            </a:r>
            <a:r>
              <a:rPr lang="en-US" dirty="0" err="1"/>
              <a:t>veliki</a:t>
            </a:r>
            <a:r>
              <a:rPr lang="en-US" dirty="0"/>
              <a:t> gap </a:t>
            </a:r>
            <a:r>
              <a:rPr lang="en-US" dirty="0" err="1"/>
              <a:t>znači</a:t>
            </a:r>
            <a:r>
              <a:rPr lang="en-US" dirty="0"/>
              <a:t> da je GC </a:t>
            </a:r>
            <a:r>
              <a:rPr lang="en-US" dirty="0" err="1"/>
              <a:t>blokiran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da </a:t>
            </a:r>
            <a:r>
              <a:rPr lang="en-US" dirty="0" err="1"/>
              <a:t>performanse</a:t>
            </a:r>
            <a:r>
              <a:rPr lang="en-US" dirty="0"/>
              <a:t> </a:t>
            </a:r>
            <a:r>
              <a:rPr lang="en-US" dirty="0" err="1"/>
              <a:t>opadaju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se stare </a:t>
            </a:r>
            <a:r>
              <a:rPr lang="en-US" dirty="0" err="1"/>
              <a:t>verzije</a:t>
            </a:r>
            <a:r>
              <a:rPr lang="en-US" dirty="0"/>
              <a:t> </a:t>
            </a:r>
            <a:r>
              <a:rPr lang="en-US" dirty="0" err="1"/>
              <a:t>gomilaju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.</a:t>
            </a:r>
          </a:p>
          <a:p>
            <a:r>
              <a:rPr lang="en-US" dirty="0"/>
              <a:t>Firebird </a:t>
            </a:r>
            <a:r>
              <a:rPr lang="en-US" dirty="0" err="1"/>
              <a:t>ima</a:t>
            </a:r>
            <a:r>
              <a:rPr lang="en-US" dirty="0"/>
              <a:t> tri </a:t>
            </a:r>
            <a:r>
              <a:rPr lang="en-US" dirty="0" err="1"/>
              <a:t>načina</a:t>
            </a:r>
            <a:r>
              <a:rPr lang="en-US" dirty="0"/>
              <a:t> </a:t>
            </a:r>
            <a:r>
              <a:rPr lang="en-US" dirty="0" err="1"/>
              <a:t>čišćenja</a:t>
            </a:r>
            <a:r>
              <a:rPr lang="en-US" dirty="0"/>
              <a:t> — </a:t>
            </a:r>
            <a:r>
              <a:rPr lang="en-US" b="1" dirty="0"/>
              <a:t>Cooperative GC</a:t>
            </a:r>
            <a:r>
              <a:rPr lang="en-US" dirty="0"/>
              <a:t> koji se </a:t>
            </a:r>
            <a:r>
              <a:rPr lang="en-US" dirty="0" err="1"/>
              <a:t>odvija</a:t>
            </a:r>
            <a:r>
              <a:rPr lang="en-US" dirty="0"/>
              <a:t> </a:t>
            </a:r>
            <a:r>
              <a:rPr lang="en-US" dirty="0" err="1"/>
              <a:t>automatski</a:t>
            </a:r>
            <a:r>
              <a:rPr lang="en-US" dirty="0"/>
              <a:t> </a:t>
            </a:r>
            <a:r>
              <a:rPr lang="en-US" dirty="0" err="1"/>
              <a:t>tokom</a:t>
            </a:r>
            <a:r>
              <a:rPr lang="en-US" dirty="0"/>
              <a:t> SELECT </a:t>
            </a:r>
            <a:r>
              <a:rPr lang="en-US" dirty="0" err="1"/>
              <a:t>upita</a:t>
            </a:r>
            <a:r>
              <a:rPr lang="en-US" dirty="0"/>
              <a:t> </a:t>
            </a:r>
            <a:r>
              <a:rPr lang="en-US" dirty="0" err="1"/>
              <a:t>dok</a:t>
            </a:r>
            <a:r>
              <a:rPr lang="en-US" dirty="0"/>
              <a:t> </a:t>
            </a:r>
            <a:r>
              <a:rPr lang="en-US" dirty="0" err="1"/>
              <a:t>svaki</a:t>
            </a:r>
            <a:r>
              <a:rPr lang="en-US" dirty="0"/>
              <a:t> </a:t>
            </a:r>
            <a:r>
              <a:rPr lang="en-US" dirty="0" err="1"/>
              <a:t>čitalac</a:t>
            </a:r>
            <a:r>
              <a:rPr lang="en-US" dirty="0"/>
              <a:t> </a:t>
            </a:r>
            <a:r>
              <a:rPr lang="en-US" dirty="0" err="1"/>
              <a:t>čisti</a:t>
            </a:r>
            <a:r>
              <a:rPr lang="en-US" dirty="0"/>
              <a:t> stare </a:t>
            </a:r>
            <a:r>
              <a:rPr lang="en-US" dirty="0" err="1"/>
              <a:t>verzije</a:t>
            </a:r>
            <a:r>
              <a:rPr lang="en-US" dirty="0"/>
              <a:t> </a:t>
            </a:r>
            <a:r>
              <a:rPr lang="en-US" dirty="0" err="1"/>
              <a:t>usput</a:t>
            </a:r>
            <a:r>
              <a:rPr lang="en-US" dirty="0"/>
              <a:t>, </a:t>
            </a:r>
            <a:r>
              <a:rPr lang="en-US" b="1" dirty="0"/>
              <a:t>Background GC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posebna</a:t>
            </a:r>
            <a:r>
              <a:rPr lang="en-US" dirty="0"/>
              <a:t> nit u </a:t>
            </a:r>
            <a:r>
              <a:rPr lang="en-US" dirty="0" err="1"/>
              <a:t>SuperServer</a:t>
            </a:r>
            <a:r>
              <a:rPr lang="en-US" dirty="0"/>
              <a:t> </a:t>
            </a:r>
            <a:r>
              <a:rPr lang="en-US" dirty="0" err="1"/>
              <a:t>modelu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nezavisno</a:t>
            </a:r>
            <a:r>
              <a:rPr lang="en-US" dirty="0"/>
              <a:t> od </a:t>
            </a:r>
            <a:r>
              <a:rPr lang="en-US" dirty="0" err="1"/>
              <a:t>korisničkih</a:t>
            </a:r>
            <a:r>
              <a:rPr lang="en-US" dirty="0"/>
              <a:t> </a:t>
            </a:r>
            <a:r>
              <a:rPr lang="en-US" dirty="0" err="1"/>
              <a:t>zahteva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b="1" dirty="0"/>
              <a:t>Sweeping</a:t>
            </a:r>
            <a:r>
              <a:rPr lang="en-US" dirty="0"/>
              <a:t> koji </a:t>
            </a:r>
            <a:r>
              <a:rPr lang="en-US" dirty="0" err="1"/>
              <a:t>sistematski</a:t>
            </a:r>
            <a:r>
              <a:rPr lang="en-US" dirty="0"/>
              <a:t> </a:t>
            </a:r>
            <a:r>
              <a:rPr lang="en-US" dirty="0" err="1"/>
              <a:t>skenira</a:t>
            </a:r>
            <a:r>
              <a:rPr lang="en-US" dirty="0"/>
              <a:t> </a:t>
            </a:r>
            <a:r>
              <a:rPr lang="en-US" dirty="0" err="1"/>
              <a:t>celu</a:t>
            </a:r>
            <a:r>
              <a:rPr lang="en-US" dirty="0"/>
              <a:t> </a:t>
            </a:r>
            <a:r>
              <a:rPr lang="en-US" dirty="0" err="1"/>
              <a:t>bazu</a:t>
            </a:r>
            <a:r>
              <a:rPr lang="en-US" dirty="0"/>
              <a:t> </a:t>
            </a:r>
            <a:r>
              <a:rPr lang="en-US" dirty="0" err="1"/>
              <a:t>komandom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gfix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-sweep</a:t>
            </a:r>
            <a:r>
              <a:rPr lang="en-US" dirty="0"/>
              <a:t>.</a:t>
            </a:r>
          </a:p>
          <a:p>
            <a:r>
              <a:rPr lang="en-US" dirty="0"/>
              <a:t>Kada </a:t>
            </a:r>
            <a:r>
              <a:rPr lang="en-US" dirty="0" err="1"/>
              <a:t>performanse</a:t>
            </a:r>
            <a:r>
              <a:rPr lang="en-US" dirty="0"/>
              <a:t> </a:t>
            </a:r>
            <a:r>
              <a:rPr lang="en-US" dirty="0" err="1"/>
              <a:t>opadnu</a:t>
            </a:r>
            <a:r>
              <a:rPr lang="en-US" dirty="0"/>
              <a:t>, </a:t>
            </a:r>
            <a:r>
              <a:rPr lang="en-US" dirty="0" err="1"/>
              <a:t>uzrok</a:t>
            </a:r>
            <a:r>
              <a:rPr lang="en-US" dirty="0"/>
              <a:t> je </a:t>
            </a:r>
            <a:r>
              <a:rPr lang="en-US" dirty="0" err="1"/>
              <a:t>najčešće</a:t>
            </a:r>
            <a:r>
              <a:rPr lang="en-US" dirty="0"/>
              <a:t> </a:t>
            </a:r>
            <a:r>
              <a:rPr lang="en-US" dirty="0" err="1"/>
              <a:t>jedna</a:t>
            </a:r>
            <a:r>
              <a:rPr lang="en-US" dirty="0"/>
              <a:t> </a:t>
            </a:r>
            <a:r>
              <a:rPr lang="en-US" dirty="0" err="1"/>
              <a:t>blokirana</a:t>
            </a:r>
            <a:r>
              <a:rPr lang="en-US" dirty="0"/>
              <a:t> </a:t>
            </a:r>
            <a:r>
              <a:rPr lang="en-US" dirty="0" err="1"/>
              <a:t>sesija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starom</a:t>
            </a:r>
            <a:r>
              <a:rPr lang="en-US" dirty="0"/>
              <a:t> </a:t>
            </a:r>
            <a:r>
              <a:rPr lang="en-US" dirty="0" err="1"/>
              <a:t>otvorenom</a:t>
            </a:r>
            <a:r>
              <a:rPr lang="en-US" dirty="0"/>
              <a:t> </a:t>
            </a:r>
            <a:r>
              <a:rPr lang="en-US" dirty="0" err="1"/>
              <a:t>transakcijom</a:t>
            </a:r>
            <a:r>
              <a:rPr lang="en-US" dirty="0"/>
              <a:t> — SQL monitoring </a:t>
            </a:r>
            <a:r>
              <a:rPr lang="en-US" dirty="0" err="1"/>
              <a:t>putem</a:t>
            </a:r>
            <a:r>
              <a:rPr lang="en-US" dirty="0"/>
              <a:t> MON$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trenutnu</a:t>
            </a:r>
            <a:r>
              <a:rPr lang="en-US" dirty="0"/>
              <a:t> </a:t>
            </a:r>
            <a:r>
              <a:rPr lang="en-US" dirty="0" err="1"/>
              <a:t>identifikaciju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sesije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njenog</a:t>
            </a:r>
            <a:r>
              <a:rPr lang="en-US" dirty="0"/>
              <a:t> </a:t>
            </a:r>
            <a:r>
              <a:rPr lang="en-US" dirty="0" err="1"/>
              <a:t>nivoa</a:t>
            </a:r>
            <a:r>
              <a:rPr lang="en-US" dirty="0"/>
              <a:t> </a:t>
            </a:r>
            <a:r>
              <a:rPr lang="en-US" dirty="0" err="1"/>
              <a:t>izolacije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 err="1">
                    <a:effectLst/>
                  </a:rPr>
                  <a:t>Svaka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transakcija</a:t>
                </a:r>
                <a:r>
                  <a:rPr lang="en-US" dirty="0">
                    <a:effectLst/>
                  </a:rPr>
                  <a:t> u </a:t>
                </a:r>
                <a:r>
                  <a:rPr lang="en-US" dirty="0" err="1">
                    <a:effectLst/>
                  </a:rPr>
                  <a:t>Firebirdu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startuje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sa</a:t>
                </a:r>
                <a:r>
                  <a:rPr lang="en-US" dirty="0">
                    <a:effectLst/>
                  </a:rPr>
                  <a:t> </a:t>
                </a:r>
                <a:r>
                  <a:rPr lang="en-US" b="1" dirty="0">
                    <a:effectLst/>
                  </a:rPr>
                  <a:t>Transaction Parameter Block (TPB)</a:t>
                </a:r>
                <a:r>
                  <a:rPr lang="en-US" dirty="0">
                    <a:effectLst/>
                  </a:rPr>
                  <a:t> koji </a:t>
                </a:r>
                <a:r>
                  <a:rPr lang="en-US" dirty="0" err="1">
                    <a:effectLst/>
                  </a:rPr>
                  <a:t>definiše</a:t>
                </a:r>
                <a:r>
                  <a:rPr lang="en-US" dirty="0">
                    <a:effectLst/>
                  </a:rPr>
                  <a:t> Access Mode, </a:t>
                </a:r>
                <a:r>
                  <a:rPr lang="en-US" dirty="0" err="1">
                    <a:effectLst/>
                  </a:rPr>
                  <a:t>nivo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izolacije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</a:t>
                </a:r>
                <a:r>
                  <a:rPr lang="en-US" dirty="0">
                    <a:effectLst/>
                  </a:rPr>
                  <a:t> Wait/No Wait </a:t>
                </a:r>
                <a:r>
                  <a:rPr lang="en-US" dirty="0" err="1">
                    <a:effectLst/>
                  </a:rPr>
                  <a:t>opciju</a:t>
                </a:r>
                <a:r>
                  <a:rPr lang="en-US" dirty="0">
                    <a:effectLst/>
                  </a:rPr>
                  <a:t> — optimizer </a:t>
                </a:r>
                <a:r>
                  <a:rPr lang="en-US" dirty="0" err="1">
                    <a:effectLst/>
                  </a:rPr>
                  <a:t>koristi</a:t>
                </a:r>
                <a:r>
                  <a:rPr lang="en-US" dirty="0">
                    <a:effectLst/>
                  </a:rPr>
                  <a:t> TPB </a:t>
                </a:r>
                <a:r>
                  <a:rPr lang="en-US" dirty="0" err="1">
                    <a:effectLst/>
                  </a:rPr>
                  <a:t>informacije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pri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generisanju</a:t>
                </a:r>
                <a:r>
                  <a:rPr lang="en-US" dirty="0">
                    <a:effectLst/>
                  </a:rPr>
                  <a:t> plana, pa Read Only </a:t>
                </a:r>
                <a:r>
                  <a:rPr lang="en-US" dirty="0" err="1">
                    <a:effectLst/>
                  </a:rPr>
                  <a:t>transakcija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dobija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agresivniji</a:t>
                </a:r>
                <a:r>
                  <a:rPr lang="en-US" dirty="0">
                    <a:effectLst/>
                  </a:rPr>
                  <a:t> plan </a:t>
                </a:r>
                <a:r>
                  <a:rPr lang="en-US" dirty="0" err="1">
                    <a:effectLst/>
                  </a:rPr>
                  <a:t>jer</a:t>
                </a:r>
                <a:r>
                  <a:rPr lang="en-US" dirty="0">
                    <a:effectLst/>
                  </a:rPr>
                  <a:t> engine </a:t>
                </a:r>
                <a:r>
                  <a:rPr lang="en-US" dirty="0" err="1">
                    <a:effectLst/>
                  </a:rPr>
                  <a:t>zna</a:t>
                </a:r>
                <a:r>
                  <a:rPr lang="en-US" dirty="0">
                    <a:effectLst/>
                  </a:rPr>
                  <a:t> da se </a:t>
                </a:r>
                <a:r>
                  <a:rPr lang="en-US" dirty="0" err="1">
                    <a:effectLst/>
                  </a:rPr>
                  <a:t>podaci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neće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menjati</a:t>
                </a:r>
                <a:r>
                  <a:rPr lang="en-US" dirty="0">
                    <a:effectLst/>
                  </a:rPr>
                  <a:t>.</a:t>
                </a:r>
              </a:p>
              <a:p>
                <a:r>
                  <a:rPr lang="en-US" b="1" dirty="0">
                    <a:effectLst/>
                  </a:rPr>
                  <a:t>Snapshot READ ONLY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kombinacija</a:t>
                </a:r>
                <a:r>
                  <a:rPr lang="en-US" dirty="0">
                    <a:effectLst/>
                  </a:rPr>
                  <a:t> je </a:t>
                </a:r>
                <a:r>
                  <a:rPr lang="en-US" dirty="0" err="1">
                    <a:effectLst/>
                  </a:rPr>
                  <a:t>idealna</a:t>
                </a:r>
                <a:r>
                  <a:rPr lang="en-US" dirty="0">
                    <a:effectLst/>
                  </a:rPr>
                  <a:t> za </a:t>
                </a:r>
                <a:r>
                  <a:rPr lang="en-US" dirty="0" err="1">
                    <a:effectLst/>
                  </a:rPr>
                  <a:t>izveštaje</a:t>
                </a:r>
                <a:r>
                  <a:rPr lang="en-US" dirty="0">
                    <a:effectLst/>
                  </a:rPr>
                  <a:t> — </a:t>
                </a:r>
                <a:r>
                  <a:rPr lang="en-US" dirty="0" err="1">
                    <a:effectLst/>
                  </a:rPr>
                  <a:t>transakcija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dobija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zamrznutu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sliku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baze</a:t>
                </a:r>
                <a:r>
                  <a:rPr lang="en-US" dirty="0">
                    <a:effectLst/>
                  </a:rPr>
                  <a:t> u </a:t>
                </a:r>
                <a:r>
                  <a:rPr lang="en-US" dirty="0" err="1">
                    <a:effectLst/>
                  </a:rPr>
                  <a:t>trenutku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starta</a:t>
                </a:r>
                <a:r>
                  <a:rPr lang="en-US" dirty="0">
                    <a:effectLst/>
                  </a:rPr>
                  <a:t>, </a:t>
                </a:r>
                <a:r>
                  <a:rPr lang="en-US" dirty="0" err="1">
                    <a:effectLst/>
                  </a:rPr>
                  <a:t>čita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podatke</a:t>
                </a:r>
                <a:r>
                  <a:rPr lang="en-US" dirty="0">
                    <a:effectLst/>
                  </a:rPr>
                  <a:t> bez </a:t>
                </a:r>
                <a:r>
                  <a:rPr lang="en-US" dirty="0" err="1">
                    <a:effectLst/>
                  </a:rPr>
                  <a:t>ikavih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katanaca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garantuje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konzistentne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rezultate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čak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ako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drugi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korisnici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menjaju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podatke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tokom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izvršavanja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upita</a:t>
                </a:r>
                <a:r>
                  <a:rPr lang="en-US" dirty="0">
                    <a:effectLst/>
                  </a:rPr>
                  <a:t>.</a:t>
                </a:r>
              </a:p>
              <a:p>
                <a:r>
                  <a:rPr lang="en-US" dirty="0" err="1">
                    <a:effectLst/>
                  </a:rPr>
                  <a:t>Pojava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reči</a:t>
                </a:r>
                <a:r>
                  <a:rPr lang="en-US" dirty="0">
                    <a:effectLst/>
                  </a:rPr>
                  <a:t> </a:t>
                </a:r>
                <a:r>
                  <a:rPr lang="en-US" b="1" dirty="0">
                    <a:effectLst/>
                  </a:rPr>
                  <a:t>NATURAL</a:t>
                </a:r>
                <a:r>
                  <a:rPr lang="en-US" dirty="0">
                    <a:effectLst/>
                  </a:rPr>
                  <a:t> u </a:t>
                </a:r>
                <a:r>
                  <a:rPr lang="en-US" dirty="0" err="1">
                    <a:effectLst/>
                  </a:rPr>
                  <a:t>planu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izvršavanja</a:t>
                </a:r>
                <a:r>
                  <a:rPr lang="en-US" dirty="0">
                    <a:effectLst/>
                  </a:rPr>
                  <a:t> za </a:t>
                </a:r>
                <a:r>
                  <a:rPr lang="en-US" dirty="0" err="1">
                    <a:effectLst/>
                  </a:rPr>
                  <a:t>veliku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tabelu</a:t>
                </a:r>
                <a:r>
                  <a:rPr lang="en-US" dirty="0">
                    <a:effectLst/>
                  </a:rPr>
                  <a:t> je </a:t>
                </a:r>
                <a:r>
                  <a:rPr lang="en-US" dirty="0" err="1">
                    <a:effectLst/>
                  </a:rPr>
                  <a:t>direktan</a:t>
                </a:r>
                <a:r>
                  <a:rPr lang="en-US" dirty="0">
                    <a:effectLst/>
                  </a:rPr>
                  <a:t> signal da </a:t>
                </a:r>
                <a:r>
                  <a:rPr lang="en-US" dirty="0" err="1">
                    <a:effectLst/>
                  </a:rPr>
                  <a:t>nešto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nije</a:t>
                </a:r>
                <a:r>
                  <a:rPr lang="en-US" dirty="0">
                    <a:effectLst/>
                  </a:rPr>
                  <a:t> u </a:t>
                </a:r>
                <a:r>
                  <a:rPr lang="en-US" dirty="0" err="1">
                    <a:effectLst/>
                  </a:rPr>
                  <a:t>redu</a:t>
                </a:r>
                <a:r>
                  <a:rPr lang="en-US" dirty="0">
                    <a:effectLst/>
                  </a:rPr>
                  <a:t> — </a:t>
                </a:r>
                <a:r>
                  <a:rPr lang="en-US" dirty="0" err="1">
                    <a:effectLst/>
                  </a:rPr>
                  <a:t>uzrok</a:t>
                </a:r>
                <a:r>
                  <a:rPr lang="en-US" dirty="0">
                    <a:effectLst/>
                  </a:rPr>
                  <a:t> je </a:t>
                </a:r>
                <a:r>
                  <a:rPr lang="en-US" dirty="0" err="1">
                    <a:effectLst/>
                  </a:rPr>
                  <a:t>najčešće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zastarela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statistika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indeksa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ili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visok</a:t>
                </a:r>
                <a:r>
                  <a:rPr lang="en-US" dirty="0">
                    <a:effectLst/>
                  </a:rPr>
                  <a:t> Index Bloat, a </a:t>
                </a:r>
                <a:r>
                  <a:rPr lang="en-US" dirty="0" err="1">
                    <a:effectLst/>
                  </a:rPr>
                  <a:t>rešenje</a:t>
                </a:r>
                <a:r>
                  <a:rPr lang="en-US" dirty="0">
                    <a:effectLst/>
                  </a:rPr>
                  <a:t> je </a:t>
                </a:r>
                <a:r>
                  <a:rPr lang="en-US" dirty="0" err="1">
                    <a:effectLst/>
                  </a:rPr>
                  <a:t>pokretanje</a:t>
                </a:r>
                <a:r>
                  <a:rPr lang="en-US" dirty="0">
                    <a:effectLst/>
                  </a:rPr>
                  <a:t> SET STATISTICS INDEX </a:t>
                </a:r>
                <a:r>
                  <a:rPr lang="en-US" dirty="0" err="1">
                    <a:effectLst/>
                  </a:rPr>
                  <a:t>ili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rekreacija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indeksa</a:t>
                </a:r>
                <a:r>
                  <a:rPr lang="en-US" dirty="0">
                    <a:effectLst/>
                  </a:rPr>
                  <a:t>.</a:t>
                </a:r>
              </a:p>
              <a:p>
                <a:r>
                  <a:rPr lang="en-US" b="1" dirty="0">
                    <a:effectLst/>
                  </a:rPr>
                  <a:t>Snapshot </a:t>
                </a:r>
                <a:r>
                  <a:rPr lang="en-US" b="1" dirty="0" err="1">
                    <a:effectLst/>
                  </a:rPr>
                  <a:t>kazna</a:t>
                </a:r>
                <a:r>
                  <a:rPr lang="en-US" dirty="0">
                    <a:effectLst/>
                  </a:rPr>
                  <a:t> je </a:t>
                </a:r>
                <a:r>
                  <a:rPr lang="en-US" dirty="0" err="1">
                    <a:effectLst/>
                  </a:rPr>
                  <a:t>važno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upozorenje</a:t>
                </a:r>
                <a:r>
                  <a:rPr lang="en-US" dirty="0">
                    <a:effectLst/>
                  </a:rPr>
                  <a:t> — Snapshot </a:t>
                </a:r>
                <a:r>
                  <a:rPr lang="en-US" dirty="0" err="1">
                    <a:effectLst/>
                  </a:rPr>
                  <a:t>transakcija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nad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tabelom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mnogo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verzija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može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biti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sporija</a:t>
                </a:r>
                <a:r>
                  <a:rPr lang="en-US" dirty="0">
                    <a:effectLst/>
                  </a:rPr>
                  <a:t> od Read Committed </a:t>
                </a:r>
                <a:r>
                  <a:rPr lang="en-US" dirty="0" err="1">
                    <a:effectLst/>
                  </a:rPr>
                  <a:t>jer</a:t>
                </a:r>
                <a:r>
                  <a:rPr lang="en-US" dirty="0">
                    <a:effectLst/>
                  </a:rPr>
                  <a:t> engine mora </a:t>
                </a:r>
                <a:r>
                  <a:rPr lang="en-US" dirty="0" err="1">
                    <a:effectLst/>
                  </a:rPr>
                  <a:t>pratiti</a:t>
                </a:r>
                <a:r>
                  <a:rPr lang="en-US" dirty="0">
                    <a:effectLst/>
                  </a:rPr>
                  <a:t> Back Interest Pointer </a:t>
                </a:r>
                <a:r>
                  <a:rPr lang="en-US" dirty="0" err="1">
                    <a:effectLst/>
                  </a:rPr>
                  <a:t>unazad</a:t>
                </a:r>
                <a:r>
                  <a:rPr lang="en-US" dirty="0">
                    <a:effectLst/>
                  </a:rPr>
                  <a:t> za </a:t>
                </a:r>
                <a:r>
                  <a:rPr lang="en-US" dirty="0" err="1">
                    <a:effectLst/>
                  </a:rPr>
                  <a:t>svaki</a:t>
                </a:r>
                <a:r>
                  <a:rPr lang="en-US" dirty="0">
                    <a:effectLst/>
                  </a:rPr>
                  <a:t> red </a:t>
                </a:r>
                <a:r>
                  <a:rPr lang="en-US" dirty="0" err="1">
                    <a:effectLst/>
                  </a:rPr>
                  <a:t>dok</a:t>
                </a:r>
                <a:r>
                  <a:rPr lang="en-US" dirty="0">
                    <a:effectLst/>
                  </a:rPr>
                  <a:t> ne </a:t>
                </a:r>
                <a:r>
                  <a:rPr lang="en-US" dirty="0" err="1">
                    <a:effectLst/>
                  </a:rPr>
                  <a:t>pronađe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verziju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vidljivu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toj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transakciji</a:t>
                </a:r>
                <a:r>
                  <a:rPr lang="en-US" dirty="0">
                    <a:effectLst/>
                  </a:rPr>
                  <a:t>.</a:t>
                </a:r>
              </a:p>
              <a:p>
                <a:r>
                  <a:rPr lang="en-US" b="1" dirty="0">
                    <a:effectLst/>
                  </a:rPr>
                  <a:t>MON$ monitoring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omogućava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dijagnostiku</a:t>
                </a:r>
                <a:r>
                  <a:rPr lang="en-US" dirty="0">
                    <a:effectLst/>
                  </a:rPr>
                  <a:t> u </a:t>
                </a:r>
                <a:r>
                  <a:rPr lang="en-US" dirty="0" err="1">
                    <a:effectLst/>
                  </a:rPr>
                  <a:t>realnom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vremenu</a:t>
                </a:r>
                <a:r>
                  <a:rPr lang="en-US" dirty="0">
                    <a:effectLst/>
                  </a:rPr>
                  <a:t> — </a:t>
                </a:r>
                <a:r>
                  <a:rPr lang="en-US" dirty="0" err="1">
                    <a:effectLst/>
                  </a:rPr>
                  <a:t>upitom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nad</a:t>
                </a:r>
                <a:r>
                  <a:rPr lang="en-US" dirty="0">
                    <a:effectLst/>
                  </a:rPr>
                  <a:t> MON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𝑆𝑇𝐴𝑇𝐸𝑀𝐸𝑁𝑇𝑆𝑖𝑀𝑂𝑁</m:t>
                    </m:r>
                  </m:oMath>
                </a14:m>
                <a:r>
                  <a:rPr lang="en-US" dirty="0">
                    <a:effectLst/>
                  </a:rPr>
                  <a:t>TRANSACTIONS </a:t>
                </a:r>
                <a:r>
                  <a:rPr lang="en-US" dirty="0" err="1">
                    <a:effectLst/>
                  </a:rPr>
                  <a:t>možemo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trenutno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identifikovati</a:t>
                </a:r>
                <a:r>
                  <a:rPr lang="en-US" dirty="0">
                    <a:effectLst/>
                  </a:rPr>
                  <a:t> spore </a:t>
                </a:r>
                <a:r>
                  <a:rPr lang="en-US" dirty="0" err="1">
                    <a:effectLst/>
                  </a:rPr>
                  <a:t>upite</a:t>
                </a:r>
                <a:r>
                  <a:rPr lang="en-US" dirty="0">
                    <a:effectLst/>
                  </a:rPr>
                  <a:t>, </a:t>
                </a:r>
                <a:r>
                  <a:rPr lang="en-US" dirty="0" err="1">
                    <a:effectLst/>
                  </a:rPr>
                  <a:t>njihove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nivoe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izolacije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sesije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koje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blokiraju</a:t>
                </a:r>
                <a:r>
                  <a:rPr lang="en-US" dirty="0">
                    <a:effectLst/>
                  </a:rPr>
                  <a:t> Garbage Collector.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 err="1">
                    <a:effectLst/>
                  </a:rPr>
                  <a:t>Svaka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transakcija</a:t>
                </a:r>
                <a:r>
                  <a:rPr lang="en-US" dirty="0">
                    <a:effectLst/>
                  </a:rPr>
                  <a:t> u </a:t>
                </a:r>
                <a:r>
                  <a:rPr lang="en-US" dirty="0" err="1">
                    <a:effectLst/>
                  </a:rPr>
                  <a:t>Firebirdu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startuje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sa</a:t>
                </a:r>
                <a:r>
                  <a:rPr lang="en-US" dirty="0">
                    <a:effectLst/>
                  </a:rPr>
                  <a:t> </a:t>
                </a:r>
                <a:r>
                  <a:rPr lang="en-US" b="1" dirty="0">
                    <a:effectLst/>
                  </a:rPr>
                  <a:t>Transaction Parameter Block (TPB)</a:t>
                </a:r>
                <a:r>
                  <a:rPr lang="en-US" dirty="0">
                    <a:effectLst/>
                  </a:rPr>
                  <a:t> koji </a:t>
                </a:r>
                <a:r>
                  <a:rPr lang="en-US" dirty="0" err="1">
                    <a:effectLst/>
                  </a:rPr>
                  <a:t>definiše</a:t>
                </a:r>
                <a:r>
                  <a:rPr lang="en-US" dirty="0">
                    <a:effectLst/>
                  </a:rPr>
                  <a:t> Access Mode, </a:t>
                </a:r>
                <a:r>
                  <a:rPr lang="en-US" dirty="0" err="1">
                    <a:effectLst/>
                  </a:rPr>
                  <a:t>nivo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izolacije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</a:t>
                </a:r>
                <a:r>
                  <a:rPr lang="en-US" dirty="0">
                    <a:effectLst/>
                  </a:rPr>
                  <a:t> Wait/No Wait </a:t>
                </a:r>
                <a:r>
                  <a:rPr lang="en-US" dirty="0" err="1">
                    <a:effectLst/>
                  </a:rPr>
                  <a:t>opciju</a:t>
                </a:r>
                <a:r>
                  <a:rPr lang="en-US" dirty="0">
                    <a:effectLst/>
                  </a:rPr>
                  <a:t> — optimizer </a:t>
                </a:r>
                <a:r>
                  <a:rPr lang="en-US" dirty="0" err="1">
                    <a:effectLst/>
                  </a:rPr>
                  <a:t>koristi</a:t>
                </a:r>
                <a:r>
                  <a:rPr lang="en-US" dirty="0">
                    <a:effectLst/>
                  </a:rPr>
                  <a:t> TPB </a:t>
                </a:r>
                <a:r>
                  <a:rPr lang="en-US" dirty="0" err="1">
                    <a:effectLst/>
                  </a:rPr>
                  <a:t>informacije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pri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generisanju</a:t>
                </a:r>
                <a:r>
                  <a:rPr lang="en-US" dirty="0">
                    <a:effectLst/>
                  </a:rPr>
                  <a:t> plana, pa Read Only </a:t>
                </a:r>
                <a:r>
                  <a:rPr lang="en-US" dirty="0" err="1">
                    <a:effectLst/>
                  </a:rPr>
                  <a:t>transakcija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dobija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agresivniji</a:t>
                </a:r>
                <a:r>
                  <a:rPr lang="en-US" dirty="0">
                    <a:effectLst/>
                  </a:rPr>
                  <a:t> plan </a:t>
                </a:r>
                <a:r>
                  <a:rPr lang="en-US" dirty="0" err="1">
                    <a:effectLst/>
                  </a:rPr>
                  <a:t>jer</a:t>
                </a:r>
                <a:r>
                  <a:rPr lang="en-US" dirty="0">
                    <a:effectLst/>
                  </a:rPr>
                  <a:t> engine </a:t>
                </a:r>
                <a:r>
                  <a:rPr lang="en-US" dirty="0" err="1">
                    <a:effectLst/>
                  </a:rPr>
                  <a:t>zna</a:t>
                </a:r>
                <a:r>
                  <a:rPr lang="en-US" dirty="0">
                    <a:effectLst/>
                  </a:rPr>
                  <a:t> da se </a:t>
                </a:r>
                <a:r>
                  <a:rPr lang="en-US" dirty="0" err="1">
                    <a:effectLst/>
                  </a:rPr>
                  <a:t>podaci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neće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menjati</a:t>
                </a:r>
                <a:r>
                  <a:rPr lang="en-US" dirty="0">
                    <a:effectLst/>
                  </a:rPr>
                  <a:t>.</a:t>
                </a:r>
              </a:p>
              <a:p>
                <a:r>
                  <a:rPr lang="en-US" b="1" dirty="0">
                    <a:effectLst/>
                  </a:rPr>
                  <a:t>Snapshot READ ONLY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kombinacija</a:t>
                </a:r>
                <a:r>
                  <a:rPr lang="en-US" dirty="0">
                    <a:effectLst/>
                  </a:rPr>
                  <a:t> je </a:t>
                </a:r>
                <a:r>
                  <a:rPr lang="en-US" dirty="0" err="1">
                    <a:effectLst/>
                  </a:rPr>
                  <a:t>idealna</a:t>
                </a:r>
                <a:r>
                  <a:rPr lang="en-US" dirty="0">
                    <a:effectLst/>
                  </a:rPr>
                  <a:t> za </a:t>
                </a:r>
                <a:r>
                  <a:rPr lang="en-US" dirty="0" err="1">
                    <a:effectLst/>
                  </a:rPr>
                  <a:t>izveštaje</a:t>
                </a:r>
                <a:r>
                  <a:rPr lang="en-US" dirty="0">
                    <a:effectLst/>
                  </a:rPr>
                  <a:t> — </a:t>
                </a:r>
                <a:r>
                  <a:rPr lang="en-US" dirty="0" err="1">
                    <a:effectLst/>
                  </a:rPr>
                  <a:t>transakcija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dobija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zamrznutu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sliku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baze</a:t>
                </a:r>
                <a:r>
                  <a:rPr lang="en-US" dirty="0">
                    <a:effectLst/>
                  </a:rPr>
                  <a:t> u </a:t>
                </a:r>
                <a:r>
                  <a:rPr lang="en-US" dirty="0" err="1">
                    <a:effectLst/>
                  </a:rPr>
                  <a:t>trenutku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starta</a:t>
                </a:r>
                <a:r>
                  <a:rPr lang="en-US" dirty="0">
                    <a:effectLst/>
                  </a:rPr>
                  <a:t>, </a:t>
                </a:r>
                <a:r>
                  <a:rPr lang="en-US" dirty="0" err="1">
                    <a:effectLst/>
                  </a:rPr>
                  <a:t>čita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podatke</a:t>
                </a:r>
                <a:r>
                  <a:rPr lang="en-US" dirty="0">
                    <a:effectLst/>
                  </a:rPr>
                  <a:t> bez </a:t>
                </a:r>
                <a:r>
                  <a:rPr lang="en-US" dirty="0" err="1">
                    <a:effectLst/>
                  </a:rPr>
                  <a:t>ikavih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katanaca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garantuje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konzistentne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rezultate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čak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ako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drugi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korisnici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menjaju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podatke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tokom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izvršavanja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upita</a:t>
                </a:r>
                <a:r>
                  <a:rPr lang="en-US" dirty="0">
                    <a:effectLst/>
                  </a:rPr>
                  <a:t>.</a:t>
                </a:r>
              </a:p>
              <a:p>
                <a:r>
                  <a:rPr lang="en-US" dirty="0" err="1">
                    <a:effectLst/>
                  </a:rPr>
                  <a:t>Pojava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reči</a:t>
                </a:r>
                <a:r>
                  <a:rPr lang="en-US" dirty="0">
                    <a:effectLst/>
                  </a:rPr>
                  <a:t> </a:t>
                </a:r>
                <a:r>
                  <a:rPr lang="en-US" b="1" dirty="0">
                    <a:effectLst/>
                  </a:rPr>
                  <a:t>NATURAL</a:t>
                </a:r>
                <a:r>
                  <a:rPr lang="en-US" dirty="0">
                    <a:effectLst/>
                  </a:rPr>
                  <a:t> u </a:t>
                </a:r>
                <a:r>
                  <a:rPr lang="en-US" dirty="0" err="1">
                    <a:effectLst/>
                  </a:rPr>
                  <a:t>planu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izvršavanja</a:t>
                </a:r>
                <a:r>
                  <a:rPr lang="en-US" dirty="0">
                    <a:effectLst/>
                  </a:rPr>
                  <a:t> za </a:t>
                </a:r>
                <a:r>
                  <a:rPr lang="en-US" dirty="0" err="1">
                    <a:effectLst/>
                  </a:rPr>
                  <a:t>veliku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tabelu</a:t>
                </a:r>
                <a:r>
                  <a:rPr lang="en-US" dirty="0">
                    <a:effectLst/>
                  </a:rPr>
                  <a:t> je </a:t>
                </a:r>
                <a:r>
                  <a:rPr lang="en-US" dirty="0" err="1">
                    <a:effectLst/>
                  </a:rPr>
                  <a:t>direktan</a:t>
                </a:r>
                <a:r>
                  <a:rPr lang="en-US" dirty="0">
                    <a:effectLst/>
                  </a:rPr>
                  <a:t> signal da </a:t>
                </a:r>
                <a:r>
                  <a:rPr lang="en-US" dirty="0" err="1">
                    <a:effectLst/>
                  </a:rPr>
                  <a:t>nešto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nije</a:t>
                </a:r>
                <a:r>
                  <a:rPr lang="en-US" dirty="0">
                    <a:effectLst/>
                  </a:rPr>
                  <a:t> u </a:t>
                </a:r>
                <a:r>
                  <a:rPr lang="en-US" dirty="0" err="1">
                    <a:effectLst/>
                  </a:rPr>
                  <a:t>redu</a:t>
                </a:r>
                <a:r>
                  <a:rPr lang="en-US" dirty="0">
                    <a:effectLst/>
                  </a:rPr>
                  <a:t> — </a:t>
                </a:r>
                <a:r>
                  <a:rPr lang="en-US" dirty="0" err="1">
                    <a:effectLst/>
                  </a:rPr>
                  <a:t>uzrok</a:t>
                </a:r>
                <a:r>
                  <a:rPr lang="en-US" dirty="0">
                    <a:effectLst/>
                  </a:rPr>
                  <a:t> je </a:t>
                </a:r>
                <a:r>
                  <a:rPr lang="en-US" dirty="0" err="1">
                    <a:effectLst/>
                  </a:rPr>
                  <a:t>najčešće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zastarela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statistika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indeksa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ili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visok</a:t>
                </a:r>
                <a:r>
                  <a:rPr lang="en-US" dirty="0">
                    <a:effectLst/>
                  </a:rPr>
                  <a:t> Index Bloat, a </a:t>
                </a:r>
                <a:r>
                  <a:rPr lang="en-US" dirty="0" err="1">
                    <a:effectLst/>
                  </a:rPr>
                  <a:t>rešenje</a:t>
                </a:r>
                <a:r>
                  <a:rPr lang="en-US" dirty="0">
                    <a:effectLst/>
                  </a:rPr>
                  <a:t> je </a:t>
                </a:r>
                <a:r>
                  <a:rPr lang="en-US" dirty="0" err="1">
                    <a:effectLst/>
                  </a:rPr>
                  <a:t>pokretanje</a:t>
                </a:r>
                <a:r>
                  <a:rPr lang="en-US" dirty="0">
                    <a:effectLst/>
                  </a:rPr>
                  <a:t> SET STATISTICS INDEX </a:t>
                </a:r>
                <a:r>
                  <a:rPr lang="en-US" dirty="0" err="1">
                    <a:effectLst/>
                  </a:rPr>
                  <a:t>ili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rekreacija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indeksa</a:t>
                </a:r>
                <a:r>
                  <a:rPr lang="en-US" dirty="0">
                    <a:effectLst/>
                  </a:rPr>
                  <a:t>.</a:t>
                </a:r>
              </a:p>
              <a:p>
                <a:r>
                  <a:rPr lang="en-US" b="1" dirty="0">
                    <a:effectLst/>
                  </a:rPr>
                  <a:t>Snapshot </a:t>
                </a:r>
                <a:r>
                  <a:rPr lang="en-US" b="1" dirty="0" err="1">
                    <a:effectLst/>
                  </a:rPr>
                  <a:t>kazna</a:t>
                </a:r>
                <a:r>
                  <a:rPr lang="en-US" dirty="0">
                    <a:effectLst/>
                  </a:rPr>
                  <a:t> je </a:t>
                </a:r>
                <a:r>
                  <a:rPr lang="en-US" dirty="0" err="1">
                    <a:effectLst/>
                  </a:rPr>
                  <a:t>važno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upozorenje</a:t>
                </a:r>
                <a:r>
                  <a:rPr lang="en-US" dirty="0">
                    <a:effectLst/>
                  </a:rPr>
                  <a:t> — Snapshot </a:t>
                </a:r>
                <a:r>
                  <a:rPr lang="en-US" dirty="0" err="1">
                    <a:effectLst/>
                  </a:rPr>
                  <a:t>transakcija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nad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tabelom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mnogo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verzija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može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biti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sporija</a:t>
                </a:r>
                <a:r>
                  <a:rPr lang="en-US" dirty="0">
                    <a:effectLst/>
                  </a:rPr>
                  <a:t> od Read Committed </a:t>
                </a:r>
                <a:r>
                  <a:rPr lang="en-US" dirty="0" err="1">
                    <a:effectLst/>
                  </a:rPr>
                  <a:t>jer</a:t>
                </a:r>
                <a:r>
                  <a:rPr lang="en-US" dirty="0">
                    <a:effectLst/>
                  </a:rPr>
                  <a:t> engine mora </a:t>
                </a:r>
                <a:r>
                  <a:rPr lang="en-US" dirty="0" err="1">
                    <a:effectLst/>
                  </a:rPr>
                  <a:t>pratiti</a:t>
                </a:r>
                <a:r>
                  <a:rPr lang="en-US" dirty="0">
                    <a:effectLst/>
                  </a:rPr>
                  <a:t> Back Interest Pointer </a:t>
                </a:r>
                <a:r>
                  <a:rPr lang="en-US" dirty="0" err="1">
                    <a:effectLst/>
                  </a:rPr>
                  <a:t>unazad</a:t>
                </a:r>
                <a:r>
                  <a:rPr lang="en-US" dirty="0">
                    <a:effectLst/>
                  </a:rPr>
                  <a:t> za </a:t>
                </a:r>
                <a:r>
                  <a:rPr lang="en-US" dirty="0" err="1">
                    <a:effectLst/>
                  </a:rPr>
                  <a:t>svaki</a:t>
                </a:r>
                <a:r>
                  <a:rPr lang="en-US" dirty="0">
                    <a:effectLst/>
                  </a:rPr>
                  <a:t> red </a:t>
                </a:r>
                <a:r>
                  <a:rPr lang="en-US" dirty="0" err="1">
                    <a:effectLst/>
                  </a:rPr>
                  <a:t>dok</a:t>
                </a:r>
                <a:r>
                  <a:rPr lang="en-US" dirty="0">
                    <a:effectLst/>
                  </a:rPr>
                  <a:t> ne </a:t>
                </a:r>
                <a:r>
                  <a:rPr lang="en-US" dirty="0" err="1">
                    <a:effectLst/>
                  </a:rPr>
                  <a:t>pronađe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verziju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vidljivu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toj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transakciji</a:t>
                </a:r>
                <a:r>
                  <a:rPr lang="en-US" dirty="0">
                    <a:effectLst/>
                  </a:rPr>
                  <a:t>.</a:t>
                </a:r>
              </a:p>
              <a:p>
                <a:r>
                  <a:rPr lang="en-US" b="1" dirty="0">
                    <a:effectLst/>
                  </a:rPr>
                  <a:t>MON$ monitoring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omogućava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dijagnostiku</a:t>
                </a:r>
                <a:r>
                  <a:rPr lang="en-US" dirty="0">
                    <a:effectLst/>
                  </a:rPr>
                  <a:t> u </a:t>
                </a:r>
                <a:r>
                  <a:rPr lang="en-US" dirty="0" err="1">
                    <a:effectLst/>
                  </a:rPr>
                  <a:t>realnom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vremenu</a:t>
                </a:r>
                <a:r>
                  <a:rPr lang="en-US" dirty="0">
                    <a:effectLst/>
                  </a:rPr>
                  <a:t> — </a:t>
                </a:r>
                <a:r>
                  <a:rPr lang="en-US" dirty="0" err="1">
                    <a:effectLst/>
                  </a:rPr>
                  <a:t>upitom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nad</a:t>
                </a:r>
                <a:r>
                  <a:rPr lang="en-US" dirty="0">
                    <a:effectLst/>
                  </a:rPr>
                  <a:t> MON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𝑆𝑇𝐴𝑇𝐸𝑀𝐸𝑁𝑇𝑆𝑖𝑀𝑂𝑁</a:t>
                </a:r>
                <a:r>
                  <a:rPr lang="en-US" dirty="0">
                    <a:effectLst/>
                  </a:rPr>
                  <a:t>TRANSACTIONS </a:t>
                </a:r>
                <a:r>
                  <a:rPr lang="en-US" dirty="0" err="1">
                    <a:effectLst/>
                  </a:rPr>
                  <a:t>možemo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trenutno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identifikovati</a:t>
                </a:r>
                <a:r>
                  <a:rPr lang="en-US" dirty="0">
                    <a:effectLst/>
                  </a:rPr>
                  <a:t> spore </a:t>
                </a:r>
                <a:r>
                  <a:rPr lang="en-US" dirty="0" err="1">
                    <a:effectLst/>
                  </a:rPr>
                  <a:t>upite</a:t>
                </a:r>
                <a:r>
                  <a:rPr lang="en-US" dirty="0">
                    <a:effectLst/>
                  </a:rPr>
                  <a:t>, </a:t>
                </a:r>
                <a:r>
                  <a:rPr lang="en-US" dirty="0" err="1">
                    <a:effectLst/>
                  </a:rPr>
                  <a:t>njihove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nivoe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izolacije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i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sesije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koje</a:t>
                </a:r>
                <a:r>
                  <a:rPr lang="en-US" dirty="0">
                    <a:effectLst/>
                  </a:rPr>
                  <a:t> </a:t>
                </a:r>
                <a:r>
                  <a:rPr lang="en-US" dirty="0" err="1">
                    <a:effectLst/>
                  </a:rPr>
                  <a:t>blokiraju</a:t>
                </a:r>
                <a:r>
                  <a:rPr lang="en-US" dirty="0">
                    <a:effectLst/>
                  </a:rPr>
                  <a:t> Garbage Collector. 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ffectLst/>
              </a:rPr>
              <a:t>Praktična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demonstracija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kroz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šest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testova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na</a:t>
            </a:r>
            <a:r>
              <a:rPr lang="en-US" dirty="0">
                <a:effectLst/>
              </a:rPr>
              <a:t> EMPLOYEE.FDB </a:t>
            </a:r>
            <a:r>
              <a:rPr lang="en-US" dirty="0" err="1">
                <a:effectLst/>
              </a:rPr>
              <a:t>bazi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potvrđuje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teorijske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principe</a:t>
            </a:r>
            <a:r>
              <a:rPr lang="en-US" dirty="0">
                <a:effectLst/>
              </a:rPr>
              <a:t> MGA </a:t>
            </a:r>
            <a:r>
              <a:rPr lang="en-US" dirty="0" err="1">
                <a:effectLst/>
              </a:rPr>
              <a:t>arhitekture</a:t>
            </a:r>
            <a:r>
              <a:rPr lang="en-US" dirty="0">
                <a:effectLst/>
              </a:rPr>
              <a:t> u </a:t>
            </a:r>
            <a:r>
              <a:rPr lang="en-US" dirty="0" err="1">
                <a:effectLst/>
              </a:rPr>
              <a:t>realnim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scenarijima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konkurentnog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pristupa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podacima</a:t>
            </a:r>
            <a:r>
              <a:rPr lang="en-US" dirty="0">
                <a:effectLst/>
              </a:rPr>
              <a:t>.</a:t>
            </a:r>
          </a:p>
          <a:p>
            <a:r>
              <a:rPr lang="en-US" b="1" dirty="0">
                <a:effectLst/>
              </a:rPr>
              <a:t>Test 1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potvrđuje</a:t>
            </a:r>
            <a:r>
              <a:rPr lang="en-US" dirty="0">
                <a:effectLst/>
              </a:rPr>
              <a:t> da je Dirty Read u </a:t>
            </a:r>
            <a:r>
              <a:rPr lang="en-US" dirty="0" err="1">
                <a:effectLst/>
              </a:rPr>
              <a:t>Firebirdu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nemoguć</a:t>
            </a:r>
            <a:r>
              <a:rPr lang="en-US" dirty="0">
                <a:effectLst/>
              </a:rPr>
              <a:t> po </a:t>
            </a:r>
            <a:r>
              <a:rPr lang="en-US" dirty="0" err="1">
                <a:effectLst/>
              </a:rPr>
              <a:t>dizajnu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kada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Sesija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promeni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platu</a:t>
            </a:r>
            <a:r>
              <a:rPr lang="en-US" dirty="0">
                <a:effectLst/>
              </a:rPr>
              <a:t> bez COMMIT-a, </a:t>
            </a:r>
            <a:r>
              <a:rPr lang="en-US" dirty="0" err="1">
                <a:effectLst/>
              </a:rPr>
              <a:t>Sesija</a:t>
            </a:r>
            <a:r>
              <a:rPr lang="en-US" dirty="0">
                <a:effectLst/>
              </a:rPr>
              <a:t> B </a:t>
            </a:r>
            <a:r>
              <a:rPr lang="en-US" dirty="0" err="1">
                <a:effectLst/>
              </a:rPr>
              <a:t>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dalje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vidi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originalnu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vrednost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jer</a:t>
            </a:r>
            <a:r>
              <a:rPr lang="en-US" dirty="0">
                <a:effectLst/>
              </a:rPr>
              <a:t> engine </a:t>
            </a:r>
            <a:r>
              <a:rPr lang="en-US" dirty="0" err="1">
                <a:effectLst/>
              </a:rPr>
              <a:t>nikada</a:t>
            </a:r>
            <a:r>
              <a:rPr lang="en-US" dirty="0">
                <a:effectLst/>
              </a:rPr>
              <a:t> ne </a:t>
            </a:r>
            <a:r>
              <a:rPr lang="en-US" dirty="0" err="1">
                <a:effectLst/>
              </a:rPr>
              <a:t>čita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nepotvrđene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podatke</a:t>
            </a:r>
            <a:r>
              <a:rPr lang="en-US" dirty="0">
                <a:effectLst/>
              </a:rPr>
              <a:t>.</a:t>
            </a:r>
          </a:p>
          <a:p>
            <a:r>
              <a:rPr lang="en-US" b="1" dirty="0">
                <a:effectLst/>
              </a:rPr>
              <a:t>Test 2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demonstrira</a:t>
            </a:r>
            <a:r>
              <a:rPr lang="en-US" dirty="0">
                <a:effectLst/>
              </a:rPr>
              <a:t> Non-repeatable Read </a:t>
            </a:r>
            <a:r>
              <a:rPr lang="en-US" dirty="0" err="1">
                <a:effectLst/>
              </a:rPr>
              <a:t>na</a:t>
            </a:r>
            <a:r>
              <a:rPr lang="en-US" dirty="0">
                <a:effectLst/>
              </a:rPr>
              <a:t> Read Committed </a:t>
            </a:r>
            <a:r>
              <a:rPr lang="en-US" dirty="0" err="1">
                <a:effectLst/>
              </a:rPr>
              <a:t>nivou</a:t>
            </a:r>
            <a:r>
              <a:rPr lang="en-US" dirty="0">
                <a:effectLst/>
              </a:rPr>
              <a:t> — </a:t>
            </a:r>
            <a:r>
              <a:rPr lang="en-US" dirty="0" err="1">
                <a:effectLst/>
              </a:rPr>
              <a:t>kada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Sesija</a:t>
            </a:r>
            <a:r>
              <a:rPr lang="en-US" dirty="0">
                <a:effectLst/>
              </a:rPr>
              <a:t> B </a:t>
            </a:r>
            <a:r>
              <a:rPr lang="en-US" dirty="0" err="1">
                <a:effectLst/>
              </a:rPr>
              <a:t>izvrši</a:t>
            </a:r>
            <a:r>
              <a:rPr lang="en-US" dirty="0">
                <a:effectLst/>
              </a:rPr>
              <a:t> UPDATE </a:t>
            </a:r>
            <a:r>
              <a:rPr lang="en-US" dirty="0" err="1">
                <a:effectLst/>
              </a:rPr>
              <a:t>i</a:t>
            </a:r>
            <a:r>
              <a:rPr lang="en-US" dirty="0">
                <a:effectLst/>
              </a:rPr>
              <a:t> COMMIT </a:t>
            </a:r>
            <a:r>
              <a:rPr lang="en-US" dirty="0" err="1">
                <a:effectLst/>
              </a:rPr>
              <a:t>između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dva</a:t>
            </a:r>
            <a:r>
              <a:rPr lang="en-US" dirty="0">
                <a:effectLst/>
              </a:rPr>
              <a:t> SELECT-a </a:t>
            </a:r>
            <a:r>
              <a:rPr lang="en-US" dirty="0" err="1">
                <a:effectLst/>
              </a:rPr>
              <a:t>Sesije</a:t>
            </a:r>
            <a:r>
              <a:rPr lang="en-US" dirty="0">
                <a:effectLst/>
              </a:rPr>
              <a:t> A, </a:t>
            </a:r>
            <a:r>
              <a:rPr lang="en-US" dirty="0" err="1">
                <a:effectLst/>
              </a:rPr>
              <a:t>drugi</a:t>
            </a:r>
            <a:r>
              <a:rPr lang="en-US" dirty="0">
                <a:effectLst/>
              </a:rPr>
              <a:t> SELECT </a:t>
            </a:r>
            <a:r>
              <a:rPr lang="en-US" dirty="0" err="1">
                <a:effectLst/>
              </a:rPr>
              <a:t>vraća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novu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vrednost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jer</a:t>
            </a:r>
            <a:r>
              <a:rPr lang="en-US" dirty="0">
                <a:effectLst/>
              </a:rPr>
              <a:t> Read Committed </a:t>
            </a:r>
            <a:r>
              <a:rPr lang="en-US" dirty="0" err="1">
                <a:effectLst/>
              </a:rPr>
              <a:t>uvek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čita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poslednju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potvrđenu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verziju</a:t>
            </a:r>
            <a:r>
              <a:rPr lang="en-US" dirty="0">
                <a:effectLst/>
              </a:rPr>
              <a:t>.</a:t>
            </a:r>
          </a:p>
          <a:p>
            <a:r>
              <a:rPr lang="en-US" b="1" dirty="0">
                <a:effectLst/>
              </a:rPr>
              <a:t>Test 3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potvrđuje</a:t>
            </a:r>
            <a:r>
              <a:rPr lang="en-US" dirty="0">
                <a:effectLst/>
              </a:rPr>
              <a:t> da Snapshot </a:t>
            </a:r>
            <a:r>
              <a:rPr lang="en-US" dirty="0" err="1">
                <a:effectLst/>
              </a:rPr>
              <a:t>nivo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sprečava</a:t>
            </a:r>
            <a:r>
              <a:rPr lang="en-US" dirty="0">
                <a:effectLst/>
              </a:rPr>
              <a:t> Phantom Read — </a:t>
            </a:r>
            <a:r>
              <a:rPr lang="en-US" dirty="0" err="1">
                <a:effectLst/>
              </a:rPr>
              <a:t>kada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Sesija</a:t>
            </a:r>
            <a:r>
              <a:rPr lang="en-US" dirty="0">
                <a:effectLst/>
              </a:rPr>
              <a:t> B </a:t>
            </a:r>
            <a:r>
              <a:rPr lang="en-US" dirty="0" err="1">
                <a:effectLst/>
              </a:rPr>
              <a:t>doda</a:t>
            </a:r>
            <a:r>
              <a:rPr lang="en-US" dirty="0">
                <a:effectLst/>
              </a:rPr>
              <a:t> novi red </a:t>
            </a:r>
            <a:r>
              <a:rPr lang="en-US" dirty="0" err="1">
                <a:effectLst/>
              </a:rPr>
              <a:t>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potvrdi</a:t>
            </a:r>
            <a:r>
              <a:rPr lang="en-US" dirty="0">
                <a:effectLst/>
              </a:rPr>
              <a:t> ga, </a:t>
            </a:r>
            <a:r>
              <a:rPr lang="en-US" dirty="0" err="1">
                <a:effectLst/>
              </a:rPr>
              <a:t>Sesija</a:t>
            </a:r>
            <a:r>
              <a:rPr lang="en-US" dirty="0">
                <a:effectLst/>
              </a:rPr>
              <a:t> A </a:t>
            </a:r>
            <a:r>
              <a:rPr lang="en-US" dirty="0" err="1">
                <a:effectLst/>
              </a:rPr>
              <a:t>na</a:t>
            </a:r>
            <a:r>
              <a:rPr lang="en-US" dirty="0">
                <a:effectLst/>
              </a:rPr>
              <a:t> Snapshot </a:t>
            </a:r>
            <a:r>
              <a:rPr lang="en-US" dirty="0" err="1">
                <a:effectLst/>
              </a:rPr>
              <a:t>nivou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dalje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broji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isti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broj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redova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jer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ignoriše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sve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promene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nastale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posle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njenog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starta</a:t>
            </a:r>
            <a:r>
              <a:rPr lang="en-US" dirty="0">
                <a:effectLst/>
              </a:rPr>
              <a:t>.</a:t>
            </a:r>
          </a:p>
          <a:p>
            <a:r>
              <a:rPr lang="en-US" b="1" dirty="0">
                <a:effectLst/>
              </a:rPr>
              <a:t>Test 4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pokazuje</a:t>
            </a:r>
            <a:r>
              <a:rPr lang="en-US" dirty="0">
                <a:effectLst/>
              </a:rPr>
              <a:t> Update Conflict — </a:t>
            </a:r>
            <a:r>
              <a:rPr lang="en-US" dirty="0" err="1">
                <a:effectLst/>
              </a:rPr>
              <a:t>kada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dve</a:t>
            </a:r>
            <a:r>
              <a:rPr lang="en-US" dirty="0">
                <a:effectLst/>
              </a:rPr>
              <a:t> Snapshot </a:t>
            </a:r>
            <a:r>
              <a:rPr lang="en-US" dirty="0" err="1">
                <a:effectLst/>
              </a:rPr>
              <a:t>sesije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pokušaju</a:t>
            </a:r>
            <a:r>
              <a:rPr lang="en-US" dirty="0">
                <a:effectLst/>
              </a:rPr>
              <a:t> da </a:t>
            </a:r>
            <a:r>
              <a:rPr lang="en-US" dirty="0" err="1">
                <a:effectLst/>
              </a:rPr>
              <a:t>menjaju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isti</a:t>
            </a:r>
            <a:r>
              <a:rPr lang="en-US" dirty="0">
                <a:effectLst/>
              </a:rPr>
              <a:t> red, Firebird </a:t>
            </a:r>
            <a:r>
              <a:rPr lang="en-US" dirty="0" err="1">
                <a:effectLst/>
              </a:rPr>
              <a:t>prekida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mlađu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sesiju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uz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grešku</a:t>
            </a:r>
            <a:r>
              <a:rPr lang="en-US" dirty="0">
                <a:effectLst/>
              </a:rPr>
              <a:t> deadlock, </a:t>
            </a:r>
            <a:r>
              <a:rPr lang="en-US" dirty="0" err="1">
                <a:effectLst/>
              </a:rPr>
              <a:t>što</a:t>
            </a:r>
            <a:r>
              <a:rPr lang="en-US" dirty="0">
                <a:effectLst/>
              </a:rPr>
              <a:t> je </a:t>
            </a:r>
            <a:r>
              <a:rPr lang="en-US" dirty="0" err="1">
                <a:effectLst/>
              </a:rPr>
              <a:t>pesimistički</a:t>
            </a:r>
            <a:r>
              <a:rPr lang="en-US" dirty="0">
                <a:effectLst/>
              </a:rPr>
              <a:t> lock </a:t>
            </a:r>
            <a:r>
              <a:rPr lang="en-US" dirty="0" err="1">
                <a:effectLst/>
              </a:rPr>
              <a:t>na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nivou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verzije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zapisa</a:t>
            </a:r>
            <a:r>
              <a:rPr lang="en-US" dirty="0">
                <a:effectLst/>
              </a:rPr>
              <a:t>.</a:t>
            </a:r>
          </a:p>
          <a:p>
            <a:r>
              <a:rPr lang="en-US" b="1" dirty="0" err="1">
                <a:effectLst/>
              </a:rPr>
              <a:t>Testovi</a:t>
            </a:r>
            <a:r>
              <a:rPr lang="en-US" b="1" dirty="0">
                <a:effectLst/>
              </a:rPr>
              <a:t> 5 </a:t>
            </a:r>
            <a:r>
              <a:rPr lang="en-US" b="1" dirty="0" err="1">
                <a:effectLst/>
              </a:rPr>
              <a:t>i</a:t>
            </a:r>
            <a:r>
              <a:rPr lang="en-US" b="1" dirty="0">
                <a:effectLst/>
              </a:rPr>
              <a:t> 6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demonstriraju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upravljanje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čekanjem</a:t>
            </a:r>
            <a:r>
              <a:rPr lang="en-US" dirty="0">
                <a:effectLst/>
              </a:rPr>
              <a:t> — Lock Timeout </a:t>
            </a:r>
            <a:r>
              <a:rPr lang="en-US" dirty="0" err="1">
                <a:effectLst/>
              </a:rPr>
              <a:t>automatski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prekida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čekanje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nakon</a:t>
            </a:r>
            <a:r>
              <a:rPr lang="en-US" dirty="0">
                <a:effectLst/>
              </a:rPr>
              <a:t> 5 </a:t>
            </a:r>
            <a:r>
              <a:rPr lang="en-US" dirty="0" err="1">
                <a:effectLst/>
              </a:rPr>
              <a:t>sekundi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dok</a:t>
            </a:r>
            <a:r>
              <a:rPr lang="en-US" dirty="0">
                <a:effectLst/>
              </a:rPr>
              <a:t> WITH LOCK </a:t>
            </a:r>
            <a:r>
              <a:rPr lang="en-US" dirty="0" err="1">
                <a:effectLst/>
              </a:rPr>
              <a:t>pesimistički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zaključava</a:t>
            </a:r>
            <a:r>
              <a:rPr lang="en-US" dirty="0">
                <a:effectLst/>
              </a:rPr>
              <a:t> red </a:t>
            </a:r>
            <a:r>
              <a:rPr lang="en-US" dirty="0" err="1">
                <a:effectLst/>
              </a:rPr>
              <a:t>pri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čitanju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blokira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svaki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pokušaj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izmene</a:t>
            </a:r>
            <a:r>
              <a:rPr lang="en-US" dirty="0">
                <a:effectLst/>
              </a:rPr>
              <a:t> od </a:t>
            </a:r>
            <a:r>
              <a:rPr lang="en-US" dirty="0" err="1">
                <a:effectLst/>
              </a:rPr>
              <a:t>strane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druge</a:t>
            </a:r>
            <a:r>
              <a:rPr lang="en-US" dirty="0">
                <a:effectLst/>
              </a:rPr>
              <a:t> </a:t>
            </a:r>
            <a:r>
              <a:rPr lang="en-US" dirty="0" err="1">
                <a:effectLst/>
              </a:rPr>
              <a:t>sesije</a:t>
            </a:r>
            <a:r>
              <a:rPr lang="en-US" dirty="0">
                <a:effectLst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MGA </a:t>
            </a:r>
            <a:r>
              <a:rPr lang="en-US" dirty="0" err="1"/>
              <a:t>arhitektura</a:t>
            </a:r>
            <a:r>
              <a:rPr lang="en-US" dirty="0"/>
              <a:t> je </a:t>
            </a:r>
            <a:r>
              <a:rPr lang="en-US" dirty="0" err="1"/>
              <a:t>temeljna</a:t>
            </a:r>
            <a:r>
              <a:rPr lang="en-US" dirty="0"/>
              <a:t> </a:t>
            </a:r>
            <a:r>
              <a:rPr lang="en-US" dirty="0" err="1"/>
              <a:t>prednost</a:t>
            </a:r>
            <a:r>
              <a:rPr lang="en-US" dirty="0"/>
              <a:t> </a:t>
            </a:r>
            <a:r>
              <a:rPr lang="en-US" dirty="0" err="1"/>
              <a:t>Firebirda</a:t>
            </a:r>
            <a:r>
              <a:rPr lang="en-US" dirty="0"/>
              <a:t> </a:t>
            </a:r>
            <a:r>
              <a:rPr lang="en-US" dirty="0" err="1"/>
              <a:t>nad</a:t>
            </a:r>
            <a:r>
              <a:rPr lang="en-US" dirty="0"/>
              <a:t> </a:t>
            </a:r>
            <a:r>
              <a:rPr lang="en-US" dirty="0" err="1"/>
              <a:t>klasičnim</a:t>
            </a:r>
            <a:r>
              <a:rPr lang="en-US" dirty="0"/>
              <a:t> </a:t>
            </a:r>
            <a:r>
              <a:rPr lang="en-US" dirty="0" err="1"/>
              <a:t>sistemima</a:t>
            </a:r>
            <a:r>
              <a:rPr lang="en-US" dirty="0"/>
              <a:t> — </a:t>
            </a:r>
            <a:r>
              <a:rPr lang="en-US" dirty="0" err="1"/>
              <a:t>čitaoci</a:t>
            </a:r>
            <a:r>
              <a:rPr lang="en-US" dirty="0"/>
              <a:t> </a:t>
            </a:r>
            <a:r>
              <a:rPr lang="en-US" dirty="0" err="1"/>
              <a:t>nikada</a:t>
            </a:r>
            <a:r>
              <a:rPr lang="en-US" dirty="0"/>
              <a:t> ne </a:t>
            </a:r>
            <a:r>
              <a:rPr lang="en-US" dirty="0" err="1"/>
              <a:t>blokiraju</a:t>
            </a:r>
            <a:r>
              <a:rPr lang="en-US" dirty="0"/>
              <a:t> </a:t>
            </a:r>
            <a:r>
              <a:rPr lang="en-US" dirty="0" err="1"/>
              <a:t>pisce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obrnuto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visok</a:t>
            </a:r>
            <a:r>
              <a:rPr lang="en-US" dirty="0"/>
              <a:t> </a:t>
            </a:r>
            <a:r>
              <a:rPr lang="en-US" dirty="0" err="1"/>
              <a:t>stepen</a:t>
            </a:r>
            <a:r>
              <a:rPr lang="en-US" dirty="0"/>
              <a:t> </a:t>
            </a:r>
            <a:r>
              <a:rPr lang="en-US" dirty="0" err="1"/>
              <a:t>konkurentnosti</a:t>
            </a:r>
            <a:r>
              <a:rPr lang="en-US" dirty="0"/>
              <a:t> bez </a:t>
            </a:r>
            <a:r>
              <a:rPr lang="en-US" dirty="0" err="1"/>
              <a:t>mehanizama</a:t>
            </a:r>
            <a:r>
              <a:rPr lang="en-US" dirty="0"/>
              <a:t> </a:t>
            </a:r>
            <a:r>
              <a:rPr lang="en-US" dirty="0" err="1"/>
              <a:t>zaključavanja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redova</a:t>
            </a:r>
            <a:r>
              <a:rPr lang="en-US" dirty="0"/>
              <a:t>.</a:t>
            </a:r>
          </a:p>
          <a:p>
            <a:r>
              <a:rPr lang="en-US" dirty="0"/>
              <a:t>Izbor </a:t>
            </a:r>
            <a:r>
              <a:rPr lang="en-US" dirty="0" err="1"/>
              <a:t>nivoa</a:t>
            </a:r>
            <a:r>
              <a:rPr lang="en-US" dirty="0"/>
              <a:t> </a:t>
            </a:r>
            <a:r>
              <a:rPr lang="en-US" dirty="0" err="1"/>
              <a:t>izolacije</a:t>
            </a:r>
            <a:r>
              <a:rPr lang="en-US" dirty="0"/>
              <a:t> </a:t>
            </a:r>
            <a:r>
              <a:rPr lang="en-US" dirty="0" err="1"/>
              <a:t>uvek</a:t>
            </a:r>
            <a:r>
              <a:rPr lang="en-US" dirty="0"/>
              <a:t> je </a:t>
            </a:r>
            <a:r>
              <a:rPr lang="en-US" dirty="0" err="1"/>
              <a:t>kompromis</a:t>
            </a:r>
            <a:r>
              <a:rPr lang="en-US" dirty="0"/>
              <a:t> — Snapshot za </a:t>
            </a:r>
            <a:r>
              <a:rPr lang="en-US" dirty="0" err="1"/>
              <a:t>izveštaje</a:t>
            </a:r>
            <a:r>
              <a:rPr lang="en-US" dirty="0"/>
              <a:t>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konzistentnost</a:t>
            </a:r>
            <a:r>
              <a:rPr lang="en-US" dirty="0"/>
              <a:t> </a:t>
            </a:r>
            <a:r>
              <a:rPr lang="en-US" dirty="0" err="1"/>
              <a:t>prioritet</a:t>
            </a:r>
            <a:r>
              <a:rPr lang="en-US" dirty="0"/>
              <a:t>, Read Committed za OLTP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svakodnevne</a:t>
            </a:r>
            <a:r>
              <a:rPr lang="en-US" dirty="0"/>
              <a:t> </a:t>
            </a:r>
            <a:r>
              <a:rPr lang="en-US" dirty="0" err="1"/>
              <a:t>operacije</a:t>
            </a:r>
            <a:r>
              <a:rPr lang="en-US" dirty="0"/>
              <a:t>, a Read Consistency </a:t>
            </a:r>
            <a:r>
              <a:rPr lang="en-US" dirty="0" err="1"/>
              <a:t>uveden</a:t>
            </a:r>
            <a:r>
              <a:rPr lang="en-US" dirty="0"/>
              <a:t> u Firebird 4.0 za </a:t>
            </a:r>
            <a:r>
              <a:rPr lang="en-US" dirty="0" err="1"/>
              <a:t>automatsko</a:t>
            </a:r>
            <a:r>
              <a:rPr lang="en-US" dirty="0"/>
              <a:t> </a:t>
            </a:r>
            <a:r>
              <a:rPr lang="en-US" dirty="0" err="1"/>
              <a:t>eliminisanje</a:t>
            </a:r>
            <a:r>
              <a:rPr lang="en-US" dirty="0"/>
              <a:t> </a:t>
            </a:r>
            <a:r>
              <a:rPr lang="en-US" dirty="0" err="1"/>
              <a:t>konflikata</a:t>
            </a:r>
            <a:r>
              <a:rPr lang="en-US" dirty="0"/>
              <a:t> bez retry </a:t>
            </a:r>
            <a:r>
              <a:rPr lang="en-US" dirty="0" err="1"/>
              <a:t>logike</a:t>
            </a:r>
            <a:r>
              <a:rPr lang="en-US" dirty="0"/>
              <a:t> u </a:t>
            </a:r>
            <a:r>
              <a:rPr lang="en-US" dirty="0" err="1"/>
              <a:t>aplikaciji</a:t>
            </a:r>
            <a:r>
              <a:rPr lang="en-US" dirty="0"/>
              <a:t>.</a:t>
            </a:r>
          </a:p>
          <a:p>
            <a:r>
              <a:rPr lang="en-US" dirty="0"/>
              <a:t>Garbage Collection je </a:t>
            </a:r>
            <a:r>
              <a:rPr lang="en-US" dirty="0" err="1"/>
              <a:t>ključan</a:t>
            </a:r>
            <a:r>
              <a:rPr lang="en-US" dirty="0"/>
              <a:t> za </a:t>
            </a:r>
            <a:r>
              <a:rPr lang="en-US" dirty="0" err="1"/>
              <a:t>zdravlje</a:t>
            </a:r>
            <a:r>
              <a:rPr lang="en-US" dirty="0"/>
              <a:t> </a:t>
            </a:r>
            <a:r>
              <a:rPr lang="en-US" dirty="0" err="1"/>
              <a:t>baze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ga OAT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kontroliše</a:t>
            </a:r>
            <a:r>
              <a:rPr lang="en-US" dirty="0"/>
              <a:t> — </a:t>
            </a:r>
            <a:r>
              <a:rPr lang="en-US" dirty="0" err="1"/>
              <a:t>dugačke</a:t>
            </a:r>
            <a:r>
              <a:rPr lang="en-US" dirty="0"/>
              <a:t> </a:t>
            </a:r>
            <a:r>
              <a:rPr lang="en-US" dirty="0" err="1"/>
              <a:t>otvorene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 </a:t>
            </a:r>
            <a:r>
              <a:rPr lang="en-US" dirty="0" err="1"/>
              <a:t>blokiraju</a:t>
            </a:r>
            <a:r>
              <a:rPr lang="en-US" dirty="0"/>
              <a:t> </a:t>
            </a:r>
            <a:r>
              <a:rPr lang="en-US" dirty="0" err="1"/>
              <a:t>čišćenje</a:t>
            </a:r>
            <a:r>
              <a:rPr lang="en-US" dirty="0"/>
              <a:t> </a:t>
            </a:r>
            <a:r>
              <a:rPr lang="en-US" dirty="0" err="1"/>
              <a:t>zastarelih</a:t>
            </a:r>
            <a:r>
              <a:rPr lang="en-US" dirty="0"/>
              <a:t> </a:t>
            </a:r>
            <a:r>
              <a:rPr lang="en-US" dirty="0" err="1"/>
              <a:t>verzija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degradiraju</a:t>
            </a:r>
            <a:r>
              <a:rPr lang="en-US" dirty="0"/>
              <a:t> </a:t>
            </a:r>
            <a:r>
              <a:rPr lang="en-US" dirty="0" err="1"/>
              <a:t>performanse</a:t>
            </a:r>
            <a:r>
              <a:rPr lang="en-US" dirty="0"/>
              <a:t> </a:t>
            </a:r>
            <a:r>
              <a:rPr lang="en-US" dirty="0" err="1"/>
              <a:t>celog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r>
              <a:rPr lang="en-US" dirty="0"/>
              <a:t>Deadlock </a:t>
            </a:r>
            <a:r>
              <a:rPr lang="en-US" dirty="0" err="1"/>
              <a:t>prevencija</a:t>
            </a:r>
            <a:r>
              <a:rPr lang="en-US" dirty="0"/>
              <a:t> je </a:t>
            </a:r>
            <a:r>
              <a:rPr lang="en-US" dirty="0" err="1"/>
              <a:t>jednostavna</a:t>
            </a:r>
            <a:r>
              <a:rPr lang="en-US" dirty="0"/>
              <a:t>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kritična</a:t>
            </a:r>
            <a:r>
              <a:rPr lang="en-US" dirty="0"/>
              <a:t> — </a:t>
            </a:r>
            <a:r>
              <a:rPr lang="en-US" dirty="0" err="1"/>
              <a:t>uvek</a:t>
            </a:r>
            <a:r>
              <a:rPr lang="en-US" dirty="0"/>
              <a:t> </a:t>
            </a:r>
            <a:r>
              <a:rPr lang="en-US" dirty="0" err="1"/>
              <a:t>ažurirati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 </a:t>
            </a:r>
            <a:r>
              <a:rPr lang="en-US" dirty="0" err="1"/>
              <a:t>istim</a:t>
            </a:r>
            <a:r>
              <a:rPr lang="en-US" dirty="0"/>
              <a:t> </a:t>
            </a:r>
            <a:r>
              <a:rPr lang="en-US" dirty="0" err="1"/>
              <a:t>redosledom</a:t>
            </a:r>
            <a:r>
              <a:rPr lang="en-US" dirty="0"/>
              <a:t> u </a:t>
            </a:r>
            <a:r>
              <a:rPr lang="en-US" dirty="0" err="1"/>
              <a:t>celoj</a:t>
            </a:r>
            <a:r>
              <a:rPr lang="en-US" dirty="0"/>
              <a:t> </a:t>
            </a:r>
            <a:r>
              <a:rPr lang="en-US" dirty="0" err="1"/>
              <a:t>aplikaciji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eliminiše</a:t>
            </a:r>
            <a:r>
              <a:rPr lang="en-US" dirty="0"/>
              <a:t> </a:t>
            </a:r>
            <a:r>
              <a:rPr lang="en-US" dirty="0" err="1"/>
              <a:t>mogućnost</a:t>
            </a:r>
            <a:r>
              <a:rPr lang="en-US" dirty="0"/>
              <a:t> </a:t>
            </a:r>
            <a:r>
              <a:rPr lang="en-US" dirty="0" err="1"/>
              <a:t>kružnog</a:t>
            </a:r>
            <a:r>
              <a:rPr lang="en-US" dirty="0"/>
              <a:t> </a:t>
            </a:r>
            <a:r>
              <a:rPr lang="en-US" dirty="0" err="1"/>
              <a:t>čekanja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sesija</a:t>
            </a:r>
            <a:r>
              <a:rPr lang="en-US" dirty="0"/>
              <a:t>.</a:t>
            </a:r>
          </a:p>
          <a:p>
            <a:r>
              <a:rPr lang="en-US" dirty="0"/>
              <a:t>MON$ monitoring u </a:t>
            </a:r>
            <a:r>
              <a:rPr lang="en-US" dirty="0" err="1"/>
              <a:t>kombinaciji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SET PLAN ON </a:t>
            </a:r>
            <a:r>
              <a:rPr lang="en-US" dirty="0" err="1"/>
              <a:t>pruža</a:t>
            </a:r>
            <a:r>
              <a:rPr lang="en-US" dirty="0"/>
              <a:t> </a:t>
            </a:r>
            <a:r>
              <a:rPr lang="en-US" dirty="0" err="1"/>
              <a:t>kompletan</a:t>
            </a:r>
            <a:r>
              <a:rPr lang="en-US" dirty="0"/>
              <a:t> </a:t>
            </a:r>
            <a:r>
              <a:rPr lang="en-US" dirty="0" err="1"/>
              <a:t>uvid</a:t>
            </a:r>
            <a:r>
              <a:rPr lang="en-US" dirty="0"/>
              <a:t> u </a:t>
            </a:r>
            <a:r>
              <a:rPr lang="en-US" dirty="0" err="1"/>
              <a:t>planove</a:t>
            </a:r>
            <a:r>
              <a:rPr lang="en-US" dirty="0"/>
              <a:t> </a:t>
            </a:r>
            <a:r>
              <a:rPr lang="en-US" dirty="0" err="1"/>
              <a:t>izvršavanja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</a:t>
            </a:r>
            <a:r>
              <a:rPr lang="en-US" dirty="0" err="1"/>
              <a:t>transakcija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nezaobilazan</a:t>
            </a:r>
            <a:r>
              <a:rPr lang="en-US" dirty="0"/>
              <a:t> </a:t>
            </a:r>
            <a:r>
              <a:rPr lang="en-US" dirty="0" err="1"/>
              <a:t>alat</a:t>
            </a:r>
            <a:r>
              <a:rPr lang="en-US" dirty="0"/>
              <a:t> za </a:t>
            </a:r>
            <a:r>
              <a:rPr lang="en-US" dirty="0" err="1"/>
              <a:t>dijagnostiku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optimizaciju</a:t>
            </a:r>
            <a:r>
              <a:rPr lang="en-US" dirty="0"/>
              <a:t> </a:t>
            </a:r>
            <a:r>
              <a:rPr lang="en-US" dirty="0" err="1"/>
              <a:t>produkcijskih</a:t>
            </a:r>
            <a:r>
              <a:rPr lang="en-US" dirty="0"/>
              <a:t> </a:t>
            </a:r>
            <a:r>
              <a:rPr lang="en-US" dirty="0" err="1"/>
              <a:t>baza</a:t>
            </a:r>
            <a:r>
              <a:rPr lang="en-US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199" y="960120"/>
            <a:ext cx="849923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Obrada transakcija, planovi izvršavanja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6">
                    <a:lumMod val="40000"/>
                    <a:lumOff val="60000"/>
                  </a:schemeClr>
                </a:solidFill>
                <a:ea typeface="Calibri" pitchFamily="34" charset="-122"/>
                <a:cs typeface="Calibri" pitchFamily="34" charset="-120"/>
              </a:rPr>
              <a:t>transakcija, izolacija i zaključavanje</a:t>
            </a:r>
            <a:endParaRPr lang="en-US" sz="40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17257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6">
                    <a:lumMod val="40000"/>
                    <a:lumOff val="60000"/>
                  </a:schemeClr>
                </a:solidFill>
                <a:ea typeface="Calibri" pitchFamily="34" charset="-122"/>
                <a:cs typeface="Calibri" pitchFamily="34" charset="-120"/>
              </a:rPr>
              <a:t>u Firebird bazi podataka</a:t>
            </a:r>
            <a:endParaRPr lang="en-US" sz="2000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348082B4-3CAC-CA09-CF8E-C284FE30D233}"/>
              </a:ext>
            </a:extLst>
          </p:cNvPr>
          <p:cNvSpPr/>
          <p:nvPr/>
        </p:nvSpPr>
        <p:spPr>
          <a:xfrm>
            <a:off x="660399" y="3863340"/>
            <a:ext cx="352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Mentor: dr Aleksandar S. Stanimirović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F8908098-460B-D6DA-91C0-E94AEDEFBE7C}"/>
              </a:ext>
            </a:extLst>
          </p:cNvPr>
          <p:cNvSpPr/>
          <p:nvPr/>
        </p:nvSpPr>
        <p:spPr>
          <a:xfrm>
            <a:off x="660399" y="3510643"/>
            <a:ext cx="35632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Student:  </a:t>
            </a:r>
            <a:r>
              <a:rPr lang="en-U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Jefimija </a:t>
            </a:r>
            <a:r>
              <a:rPr lang="en-US" sz="1400" i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Stamenovi</a:t>
            </a:r>
            <a:r>
              <a:rPr lang="sr-Latn-RS" sz="1400" i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ć 1820/2024</a:t>
            </a:r>
            <a:endParaRPr lang="en-US" sz="1400" i="1" dirty="0">
              <a:solidFill>
                <a:schemeClr val="bg1"/>
              </a:solidFill>
            </a:endParaRPr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3A3026B5-436A-65A8-3346-EBBCC8C0CAD6}"/>
              </a:ext>
            </a:extLst>
          </p:cNvPr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Elektronski fakultet u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Nišu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akademske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studije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 ·  Sistemi za upravljanje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podataka</a:t>
            </a:r>
            <a:r>
              <a:rPr lang="sr-Latn-R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·  Mart 2026. 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Sadržaj prezentacije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46888" y="941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8412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ACID principi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1978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Osnova svake transakcione baze podataka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28600" y="173736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8600" y="173736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18013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Transakcione anomalije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215798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Dirty Read, Non-repeatable, Phantom Read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28600" y="269748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28600" y="269748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246888" y="2862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276148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MGA i MVCC arhitektura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311810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Verzije zapisa, TIP, Record Header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28600" y="365760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365760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46888" y="3822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2960" y="372160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Nivoi izolacije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" y="407822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Snapshot, Read Committed, Table Stability, Read Consistency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754880" y="77724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754880" y="77724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773168" y="941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49240" y="8412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Mehanizmi</a:t>
            </a: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avanja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49240" y="119786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WITH LOCK, deadlock, WAIT / NO WAIT / LOCK TIMEOUT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754880" y="173736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754880" y="173736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773168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49240" y="18013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Garbage Collection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349240" y="215798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Database Bloat, transakcioni markeri, Sweep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754880" y="2697480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4754880" y="2697480"/>
            <a:ext cx="502920" cy="8046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773168" y="2862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07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349240" y="276148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Planovi</a:t>
            </a:r>
            <a:r>
              <a:rPr lang="en-U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izvr</a:t>
            </a:r>
            <a:r>
              <a:rPr lang="sr-Latn-RS" sz="1600" b="1" dirty="0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š</a:t>
            </a:r>
            <a:r>
              <a:rPr lang="en-US" sz="1600" b="1" dirty="0" err="1">
                <a:solidFill>
                  <a:srgbClr val="1B2A4A"/>
                </a:solidFill>
                <a:ea typeface="Calibri" pitchFamily="34" charset="-122"/>
                <a:cs typeface="Calibri" pitchFamily="34" charset="-120"/>
              </a:rPr>
              <a:t>avanja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349240" y="3118104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TPB, MON$ monitoring, dijagnostika u realnom vremenu</a:t>
            </a:r>
            <a:endParaRPr lang="en-US" sz="1200" dirty="0">
              <a:solidFill>
                <a:srgbClr val="24366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principi — temelj pouzdanosti baze podataka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1993392" cy="9601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28600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320040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Atomičnost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0040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— baza ne dozvoljava polovicne rezultate.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vraca sve operacije u pocetno stanje ako bilo koja ne uspe.</a:t>
            </a:r>
            <a:endParaRPr lang="en-US" sz="1400" dirty="0">
              <a:solidFill>
                <a:srgbClr val="243660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404872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404872" y="777240"/>
            <a:ext cx="1993392" cy="960120"/>
          </a:xfrm>
          <a:prstGeom prst="rect">
            <a:avLst/>
          </a:prstGeom>
          <a:solidFill>
            <a:srgbClr val="243660"/>
          </a:solidFill>
          <a:ln>
            <a:solidFill>
              <a:srgbClr val="24366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04872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2496312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Konzistentnost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496312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Transakcija vodi bazu iz jednog validnog u drugo validno stanje.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ForeignKey i check constraint — automatska provera integriteta.</a:t>
            </a:r>
            <a:endParaRPr lang="en-US" sz="1400" dirty="0">
              <a:solidFill>
                <a:srgbClr val="243660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81144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81144" y="777240"/>
            <a:ext cx="1993392" cy="96012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81144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672584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Izolacija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72584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Transakcija se oseca kao jedina u sistemu.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Stepen izolacije odredjuje koliko jedna transakcija vidi promene druge.</a:t>
            </a:r>
            <a:endParaRPr lang="en-US" sz="1400" dirty="0">
              <a:solidFill>
                <a:srgbClr val="243660"/>
              </a:solidFill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757416" y="777240"/>
            <a:ext cx="19933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57416" y="777240"/>
            <a:ext cx="1993392" cy="9601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757416" y="804672"/>
            <a:ext cx="1993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848856" y="177111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Trajnost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48856" y="2225484"/>
            <a:ext cx="18105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= trajno na disku.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 i pad servera ne brise potvrdene promene — Write-Ahead Log.</a:t>
            </a:r>
            <a:endParaRPr lang="en-US" sz="14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28600" y="4434840"/>
            <a:ext cx="8686800" cy="50292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20040" y="448056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garantuje sva 4 ACID svojstva kroz MGA arhitekturu i Write-Ahead mehanizam.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Transakcione anomalije i kako ih Firebird rešava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2148840" cy="123444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01752" y="103327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Read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Prljavo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itanje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487168" y="850392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Prodavac menja cenu auta sa 20.000 na 15.000 EUR bez COMMIT-a. Kupac vidi 15.000 EUR iako transakcija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zavr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>
              <a:solidFill>
                <a:srgbClr val="24366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2487168" y="1399032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 po dizajnu — Firebird NIKADA ne 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nepotvr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podatke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obzira na nivo izolacije.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" y="2176272"/>
            <a:ext cx="8686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28600" y="2176272"/>
            <a:ext cx="2148840" cy="1234440"/>
          </a:xfrm>
          <a:prstGeom prst="rect">
            <a:avLst/>
          </a:prstGeom>
          <a:solidFill>
            <a:srgbClr val="243660"/>
          </a:solidFill>
          <a:ln>
            <a:solidFill>
              <a:srgbClr val="24366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01752" y="24323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Non-repeatable Read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Neponovljivo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itanje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87168" y="2249424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Prilikom generisanja izveštaja, dug klijenta je 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din. Klijent plati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COMMIT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-uje aktivnost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Izve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 ponovi SELECT — 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izveštaju je dug klijenta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dobija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 din.</a:t>
            </a:r>
            <a:endParaRPr lang="en-US" sz="1400" dirty="0">
              <a:solidFill>
                <a:srgbClr val="24366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2487168" y="2798064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 u 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nivou. DOZVOLJENO u Read Committed — svaki SELECT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najnoviju commitovanu vrednost.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8600" y="3575304"/>
            <a:ext cx="86868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228600" y="3575304"/>
            <a:ext cx="2148840" cy="123444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01752" y="38313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Read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Fantomsko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itanje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487168" y="3648456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Menad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dobija 10 zaposlenih sa platom &gt; 100k. Novi radnik se dodaje i commituje.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Ponovni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SELECT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daje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11 radnika!</a:t>
            </a:r>
            <a:endParaRPr lang="en-US" sz="1400" dirty="0">
              <a:solidFill>
                <a:srgbClr val="24366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2487168" y="4197096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 u 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nivou — transakcija vidi samo redove koji su postojali u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trenutku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njenog kreiranja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28600" y="4956048"/>
            <a:ext cx="86868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Napomena: Firebird ne podrzava Read Uncommitted — automatski se tretira kao Read Committed.</a:t>
            </a:r>
            <a:endParaRPr lang="en-US" sz="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arhitektura — Multi-Version Concurrency Control (MVCC)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874520" cy="8686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(TID 500)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67128" y="100584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→</a:t>
            </a:r>
          </a:p>
        </p:txBody>
      </p:sp>
      <p:sp>
        <p:nvSpPr>
          <p:cNvPr id="8" name="Shape 6"/>
          <p:cNvSpPr/>
          <p:nvPr/>
        </p:nvSpPr>
        <p:spPr>
          <a:xfrm>
            <a:off x="2423160" y="777240"/>
            <a:ext cx="1874520" cy="868680"/>
          </a:xfrm>
          <a:prstGeom prst="rect">
            <a:avLst/>
          </a:prstGeom>
          <a:solidFill>
            <a:srgbClr val="243660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2316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(TID 600)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15968" y="100584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→</a:t>
            </a:r>
          </a:p>
        </p:txBody>
      </p:sp>
      <p:sp>
        <p:nvSpPr>
          <p:cNvPr id="11" name="Shape 9"/>
          <p:cNvSpPr/>
          <p:nvPr/>
        </p:nvSpPr>
        <p:spPr>
          <a:xfrm>
            <a:off x="4572000" y="777240"/>
            <a:ext cx="1874520" cy="86868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7200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(TID 700)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64808" y="1005840"/>
            <a:ext cx="2377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→</a:t>
            </a:r>
          </a:p>
        </p:txBody>
      </p:sp>
      <p:sp>
        <p:nvSpPr>
          <p:cNvPr id="14" name="Shape 12"/>
          <p:cNvSpPr/>
          <p:nvPr/>
        </p:nvSpPr>
        <p:spPr>
          <a:xfrm>
            <a:off x="6720840" y="777240"/>
            <a:ext cx="1874520" cy="86868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720840" y="77724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sr-Latn-R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italac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T=550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vidi v1!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74320" y="170992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Interest Pointer: svaka </a:t>
            </a:r>
            <a:r>
              <a:rPr lang="en-US" sz="14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verzija</a:t>
            </a:r>
            <a:r>
              <a:rPr lang="en-US" sz="14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 </a:t>
            </a:r>
            <a:r>
              <a:rPr lang="en-US" sz="14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pokaziva</a:t>
            </a:r>
            <a:r>
              <a:rPr lang="sr-Latn-RS" sz="14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prethodnu — engine navigira unazad kroz istoriju</a:t>
            </a:r>
            <a:endParaRPr lang="en-US" sz="1400" b="1" dirty="0">
              <a:solidFill>
                <a:srgbClr val="243660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600" y="2084832"/>
            <a:ext cx="2743200" cy="183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2084832"/>
            <a:ext cx="64008" cy="1836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215798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Inventory Page (TIP)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2432304"/>
            <a:ext cx="2560320" cy="134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Svaka transakcija dobija 2-bitni status: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00 = Active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01 = Committed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10 = Rolled Back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11 = Limbo (distribuirane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transakcije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)</a:t>
            </a:r>
            <a:endParaRPr lang="sr-Latn-RS" sz="1200" dirty="0">
              <a:solidFill>
                <a:srgbClr val="243660"/>
              </a:solidFill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Engine proverava TIP pre isporuke podataka.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154680" y="2084832"/>
            <a:ext cx="2743200" cy="1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154680" y="2084832"/>
            <a:ext cx="64008" cy="183600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91840" y="215798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Header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91840" y="2432304"/>
            <a:ext cx="2560320" cy="1452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Svaki red sadrži nevidljive metapodatke:</a:t>
            </a:r>
            <a:endParaRPr lang="en-US" sz="1200" dirty="0">
              <a:solidFill>
                <a:srgbClr val="243660"/>
              </a:solidFill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Transaction ID (TID)</a:t>
            </a:r>
            <a:endParaRPr lang="en-US" sz="1200" dirty="0">
              <a:solidFill>
                <a:srgbClr val="243660"/>
              </a:solidFill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Back Interest Pointer → prethodna verzija</a:t>
            </a:r>
            <a:endParaRPr lang="en-US" sz="1200" dirty="0">
              <a:solidFill>
                <a:srgbClr val="243660"/>
              </a:solidFill>
            </a:endParaRPr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Record Flags (status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zapisa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)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Omogu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ava instant navigaciju kroz istoriju.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080760" y="2084832"/>
            <a:ext cx="2834640" cy="183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080760" y="2084832"/>
            <a:ext cx="64008" cy="183600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217920" y="21579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Copy-on-Write princip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17920" y="2432304"/>
            <a:ext cx="265176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UPDATE ne prepisuje podatke — kreira novu kopiju na slobodnom mestu.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Stara verzija ostaje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fizi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kom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mestu.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Prednost: instantni Rollback,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nema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fizi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kog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brisanja. 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itaoci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nikad ne </a:t>
            </a:r>
            <a:r>
              <a:rPr lang="sr-Latn-R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ekaju</a:t>
            </a:r>
            <a:r>
              <a:rPr lang="en-US" sz="1200" dirty="0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ea typeface="Calibri" pitchFamily="34" charset="-122"/>
                <a:cs typeface="Calibri" pitchFamily="34" charset="-120"/>
              </a:rPr>
              <a:t>pisce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28600" y="4116282"/>
            <a:ext cx="8686800" cy="86868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365760" y="4162002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</a:t>
            </a:r>
            <a:r>
              <a:rPr lang="sr-Latn-R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prednost MGA: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365760" y="443632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itaoci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NIKADA ne blokiraju pisce — i obrnuto. Svaka transakcija vidi konzistentnu sliku podataka bez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ikakvih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mehanizama zaključavanja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na nivou redova. Ovo je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temeljni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princip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po kom se 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Firebird razlikuje od </a:t>
            </a:r>
            <a:r>
              <a:rPr lang="sr-Latn-R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drugih SUBP-va</a:t>
            </a:r>
            <a:r>
              <a:rPr lang="en-US" sz="1200" dirty="0">
                <a:solidFill>
                  <a:schemeClr val="bg1"/>
                </a:solidFill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Implementacija nivoa izolacije u Firebirdu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4251960" cy="42062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20040" y="83210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27101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Zamrznuta slika baze od trenutka starta transakcije.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4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promene tokom trajanja — bez obzira na commit.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 za: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kompleksn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izve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finansijsk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2436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ISOLATION LEVEL SNAPSHOT;</a:t>
            </a:r>
            <a:endParaRPr lang="en-US" sz="1400" b="1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09160" y="77724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251960" cy="420624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800600" y="83210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Committed — Record Version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127101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poslednju commitovanu verziju.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nikad —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odmah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stariju verziju ako je red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 za: OLTP, svakodnevne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operacije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READ COMMITTED RECORD VERSION;</a:t>
            </a:r>
            <a:endParaRPr lang="en-US" sz="1400" b="1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28600" y="288036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28600" y="2880360"/>
            <a:ext cx="4251960" cy="420624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" y="293522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Committed — No Record Version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" y="337413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dok se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red ne 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otključa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Apsolutno garantuje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poslednju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vrednost u bazi.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 za: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finansijske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transakcije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400" dirty="0">
              <a:solidFill>
                <a:srgbClr val="24366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READ COMMITTED NO RECORD VERSION;</a:t>
            </a:r>
            <a:endParaRPr lang="en-US" sz="1400" b="1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709160" y="2880360"/>
            <a:ext cx="42519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09160" y="2880360"/>
            <a:ext cx="4251960" cy="420624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800600" y="2935224"/>
            <a:ext cx="4041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Committed Read Consistency (FB 4.0+)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00600" y="3374136"/>
            <a:ext cx="404164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SQL naredba dobija sopstveni mini-snapshot.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Automatski ponavlja konfliktni deo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upita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tako da ne dovodi do grešaka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Elimini</a:t>
            </a:r>
            <a:r>
              <a:rPr lang="sr-Latn-R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potrebu za retry logikom u </a:t>
            </a:r>
            <a:r>
              <a:rPr lang="en-US" sz="14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aplikaciji</a:t>
            </a:r>
            <a:r>
              <a:rPr lang="en-US" sz="14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READ COMMITTED READ CONSISTENCY;</a:t>
            </a:r>
            <a:endParaRPr lang="en-US" sz="1400" b="1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Mehanizmi zaključavanja — locking i rešavanje konflikata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4160520" cy="1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64008" cy="180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65760" y="85039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Pesimistički lock — SELECT … WITH LOCK</a:t>
            </a:r>
            <a:endParaRPr lang="en-US" sz="1400" b="1" dirty="0"/>
          </a:p>
        </p:txBody>
      </p:sp>
      <p:sp>
        <p:nvSpPr>
          <p:cNvPr id="8" name="Text 6"/>
          <p:cNvSpPr/>
          <p:nvPr/>
        </p:nvSpPr>
        <p:spPr>
          <a:xfrm>
            <a:off x="365760" y="1213254"/>
            <a:ext cx="3977640" cy="1352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se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rezervi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odmah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itanju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 ekskluzivnim katancem dok se transakcija ne završi sa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COMMIT/ROLLBACK.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Primer: prodaja avio-karte — kada korisnik odabere slobodan sedezaj,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ga odmah zakljucava.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SELECT EMP_NO, SALARY FROM EMPLOYEE WHERE EMP_NO=4 WITH LOCK;</a:t>
            </a:r>
            <a:endParaRPr lang="en-US" sz="1200" dirty="0">
              <a:solidFill>
                <a:srgbClr val="24366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0" y="777240"/>
            <a:ext cx="4343400" cy="1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72000" y="777240"/>
            <a:ext cx="64008" cy="1800000"/>
          </a:xfrm>
          <a:prstGeom prst="rect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709160" y="85039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Optimistički pristup (podrazumevano)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09160" y="1213254"/>
            <a:ext cx="41605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katanca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itanju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provera tek pri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je red promenjen u me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uvremenu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Conflict.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Programer mora predvideti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logiku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aplikaciji.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Manager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 ko dr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koji katanac u deljenoj memoriji.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28600" y="2638746"/>
            <a:ext cx="8686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28600" y="2638746"/>
            <a:ext cx="8686800" cy="36576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" y="265703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— kružno čekanje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0040" y="3068514"/>
            <a:ext cx="8321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</a:t>
            </a:r>
            <a:r>
              <a:rPr lang="sr-Latn-R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katanac na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200" b="1" dirty="0">
              <a:solidFill>
                <a:srgbClr val="243660"/>
              </a:solidFill>
            </a:endParaRPr>
          </a:p>
          <a:p>
            <a:r>
              <a:rPr lang="en-US" sz="1200" b="1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katanac na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-&gt;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</a:t>
            </a:r>
            <a:r>
              <a:rPr lang="en-US" sz="1200" b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1200" b="1" dirty="0">
              <a:solidFill>
                <a:srgbClr val="243660"/>
              </a:solidFill>
            </a:endParaRPr>
          </a:p>
          <a:p>
            <a:pPr marL="0" indent="0">
              <a:buNone/>
            </a:pP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Lock Manager periodično analizira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ekanja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detektuje petlju i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prekida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mlađu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sesiju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'deadlock'.</a:t>
            </a:r>
            <a:endParaRPr lang="en-US" sz="1200" i="1" dirty="0">
              <a:solidFill>
                <a:srgbClr val="243660"/>
              </a:solidFill>
            </a:endParaRPr>
          </a:p>
          <a:p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Strategija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prevencije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ažurirati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tabele istim redosledom u celoj aplikaciji!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600" y="4172040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4172040"/>
            <a:ext cx="64008" cy="900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420802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WAIT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4482342"/>
            <a:ext cx="2560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Trenutna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ako je red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zaklju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Idealno: interaktivni GUI.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16456" y="4172040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216456" y="4172040"/>
            <a:ext cx="64008" cy="900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353616" y="420802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353616" y="4482342"/>
            <a:ext cx="2560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neograni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osloba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traženog resursa.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zamrzavanja interfejsa.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167142" y="4172040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167142" y="4172040"/>
            <a:ext cx="64008" cy="900000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304302" y="420802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TIMEOUT 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04302" y="4482342"/>
            <a:ext cx="2560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N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ako za to vreme ne dobije resurs, dobija se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Najbolji kompromis za produkciju.</a:t>
            </a:r>
            <a:endParaRPr lang="en-US" sz="1200" dirty="0">
              <a:solidFill>
                <a:srgbClr val="24366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 — održavanje MGA baze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1993392" cy="137160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28600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TID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20040" y="1293095"/>
            <a:ext cx="185526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Slede</a:t>
            </a:r>
            <a:r>
              <a:rPr lang="sr-Latn-R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identifikator</a:t>
            </a:r>
            <a:r>
              <a:rPr lang="sr-Latn-RS" sz="1200" dirty="0"/>
              <a:t> </a:t>
            </a:r>
            <a:r>
              <a:rPr lang="en-US" sz="1200" dirty="0" err="1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transakcije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(gornja granica)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04872" y="777240"/>
            <a:ext cx="1993392" cy="137160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404872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OAT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404872" y="1280160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Oldest Active</a:t>
            </a:r>
            <a:r>
              <a:rPr lang="sr-Latn-RS" sz="1200" dirty="0"/>
              <a:t> 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Transaction</a:t>
            </a:r>
            <a:r>
              <a:rPr lang="sr-Latn-R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sr-Latn-R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BLOKIRA GC</a:t>
            </a:r>
            <a:endParaRPr lang="en-US" sz="1200" b="1" dirty="0"/>
          </a:p>
        </p:txBody>
      </p:sp>
      <p:sp>
        <p:nvSpPr>
          <p:cNvPr id="11" name="Shape 9"/>
          <p:cNvSpPr/>
          <p:nvPr/>
        </p:nvSpPr>
        <p:spPr>
          <a:xfrm>
            <a:off x="4581144" y="777240"/>
            <a:ext cx="1993392" cy="1371600"/>
          </a:xfrm>
          <a:prstGeom prst="rect">
            <a:avLst/>
          </a:prstGeom>
          <a:solidFill>
            <a:srgbClr val="243660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81144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81144" y="1280160"/>
            <a:ext cx="199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Oldest Interesting</a:t>
            </a:r>
            <a:r>
              <a:rPr lang="sr-Latn-RS" sz="1200" dirty="0"/>
              <a:t> 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(donja granica)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57416" y="777240"/>
            <a:ext cx="1993392" cy="13716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757416" y="822960"/>
            <a:ext cx="1993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30568" y="1280160"/>
            <a:ext cx="184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Oldest Snapshot</a:t>
            </a:r>
            <a:r>
              <a:rPr lang="sr-Latn-RS" sz="1200" dirty="0"/>
              <a:t> </a:t>
            </a: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Transaction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(zamrzava stanje)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" y="2286000"/>
            <a:ext cx="8686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2286000"/>
            <a:ext cx="64008" cy="475488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2340864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TRANSACTION_GAP = Next TID - OAT   =&gt;   mali gap = zdrava baza  |  veliki gap = GC blokiran, </a:t>
            </a:r>
            <a:r>
              <a:rPr lang="en-US" sz="12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performanse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opadaju</a:t>
            </a: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2889504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228600" y="2889504"/>
            <a:ext cx="64008" cy="9000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65760" y="2910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GC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" y="3239504"/>
            <a:ext cx="26185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Odvija se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automatski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tokom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SELECT upita.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italac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stare verzije usput.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209022" y="2889504"/>
            <a:ext cx="2743200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3209022" y="2889504"/>
            <a:ext cx="64008" cy="90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3346182" y="2910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GC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46182" y="3239504"/>
            <a:ext cx="26185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Posebna nit u SuperServer modelu.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Nezavisn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 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korisni</a:t>
            </a:r>
            <a:r>
              <a:rPr lang="sr-Latn-R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kih</a:t>
            </a: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zahteva.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163056" y="2889504"/>
            <a:ext cx="2752344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159708" y="2889504"/>
            <a:ext cx="64008" cy="9000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296868" y="2910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(gfix)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6868" y="3239504"/>
            <a:ext cx="261853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Sistematsko skeniranje cele baze.</a:t>
            </a:r>
            <a:endParaRPr lang="en-US" sz="12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43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gfix -sweep -user SYSDBA -password masterkey localhost:employee</a:t>
            </a:r>
            <a:endParaRPr lang="en-US" sz="1200" dirty="0">
              <a:solidFill>
                <a:srgbClr val="243660"/>
              </a:solidFill>
            </a:endParaRPr>
          </a:p>
        </p:txBody>
      </p:sp>
      <p:sp>
        <p:nvSpPr>
          <p:cNvPr id="32" name="Shape 30"/>
          <p:cNvSpPr/>
          <p:nvPr/>
        </p:nvSpPr>
        <p:spPr>
          <a:xfrm>
            <a:off x="228600" y="3937498"/>
            <a:ext cx="8686800" cy="1141994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228600" y="3930141"/>
            <a:ext cx="868680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20040" y="3974074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monitoring — identifikacija blokirajuce sesije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35" name="Text 33"/>
          <p:cNvSpPr/>
          <p:nvPr/>
        </p:nvSpPr>
        <p:spPr>
          <a:xfrm>
            <a:off x="320040" y="4321546"/>
            <a:ext cx="8503920" cy="757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A.MON$USER, A.MON$REMOTE_PROCESS, T.MON$TRANSACTION_ID, T.MON$TIMESTAMP,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CASE T.MON$ISOLATION_MODE WHEN 1 THEN 'Snapshot' WHEN 2 THEN 'RC RecordVersion'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WHEN 4 THEN 'Read Consistency' END AS IZOLACIJA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MON$TRANSACTIONS T JOIN MON$ATTACHMENTS A ON T.MON$ATTACHMENT_ID=A.MON$ATTACHMENT_ID</a:t>
            </a:r>
            <a:endParaRPr lang="en-US" sz="1000" dirty="0">
              <a:solidFill>
                <a:srgbClr val="243660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2436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T.MON$TRANSACTION_ID = (SELECT MON$OLDEST_ACTIVE FROM MON$DATABASE);</a:t>
            </a:r>
            <a:endParaRPr lang="en-US" sz="1000" dirty="0">
              <a:solidFill>
                <a:srgbClr val="24366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Planovi izvršavanja i MON$ monitoring u realnom vremenu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64008" cy="713232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65760" y="791596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Uloga TPB (Transaction Parameter Block)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087769"/>
            <a:ext cx="8503920" cy="372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Svaka transakcija startuje TPB-om koji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sadr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Access Mode (Read Only / Read Write), Isolation Level, Wait/No Wait.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koristi TPB: Read Only transakcija dobija agresivniji plan jer zna da se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podaci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menjati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549277"/>
            <a:ext cx="4160520" cy="2250755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28600" y="1549278"/>
            <a:ext cx="416052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sz="1200"/>
          </a:p>
        </p:txBody>
      </p:sp>
      <p:sp>
        <p:nvSpPr>
          <p:cNvPr id="11" name="Text 9"/>
          <p:cNvSpPr/>
          <p:nvPr/>
        </p:nvSpPr>
        <p:spPr>
          <a:xfrm>
            <a:off x="320040" y="15762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READ ONLY — zamrznuta slika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320040" y="1911621"/>
            <a:ext cx="3977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TIME ON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TRANSACTION ISOLATION LEVEL SNAPSHOT READ ONLY;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PLAN ON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E.EMP_NO, E.FIRST_NAME,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D.DEPARTMENT, E.SALARY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EMPLOYEE E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DEPARTMENT D ON E.DEPT_NO=D.DEPT_NO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E.SALARY &gt; 80000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E.SALARY DESC;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COMMIT;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0" y="1549278"/>
            <a:ext cx="4343400" cy="2250754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72000" y="1549278"/>
            <a:ext cx="4343400" cy="329184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663440" y="1570167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MON$ — detekcija sporih upita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4663440" y="1899351"/>
            <a:ext cx="4160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A.MON$USER AS KORISNIK,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S.MON$SQL_TEXT AS SQL_UPIT,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CASE T.MON$ISOLATION_MODE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WHEN 1 THEN 'Snapshot'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WHEN 2 THEN 'RC RecordVersion'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WHEN 4 THEN 'Read Consistency'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END AS IZOLACIJA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MON$STATEMENTS S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MON$TRANSACTIONS T ON S.MON$TRANSACTION_ID=T.MON$TRANSACTION_ID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MON$ATTACHMENTS A ON T.MON$ATTACHMENT_ID=A.MON$ATTACHMENT_ID</a:t>
            </a:r>
            <a:endParaRPr lang="en-US" sz="9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S.MON$STATE=1;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28600" y="3873186"/>
            <a:ext cx="2743200" cy="12092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28600" y="3873186"/>
            <a:ext cx="64008" cy="1209239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65760" y="394908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u planu = PROBLEM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" y="4334104"/>
            <a:ext cx="2560320" cy="675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Pojava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NATURAL za veliku tabelu = dokaz da Optimizer bira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Scan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Uzrok: zastarela statistika indeksa ili visok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Bloat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27248" y="3873188"/>
            <a:ext cx="2879542" cy="120923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127248" y="3873188"/>
            <a:ext cx="64008" cy="1209238"/>
          </a:xfrm>
          <a:prstGeom prst="rect">
            <a:avLst/>
          </a:prstGeom>
          <a:solidFill>
            <a:schemeClr val="accent1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264408" y="3916307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kazna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64408" y="4334104"/>
            <a:ext cx="2651760" cy="675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nad tabelom sa mnogo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biti </a:t>
            </a: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SPORIJI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 Read Committed.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mora pratiti Back Interest 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ointer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unazad za svaki red.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68852" y="3873188"/>
            <a:ext cx="2743200" cy="120923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6159708" y="3873188"/>
            <a:ext cx="64008" cy="1209238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296868" y="3952651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Redovno SET STATISTICS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96868" y="4334104"/>
            <a:ext cx="2560320" cy="675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Selektivnost indeksa zastareva.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Pokrenuti SET STATISTICS INDEX posle masovnih INSERT/DELETE operacija.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Praktična demonstracija — 6 testova na EMPLOYEE.FDB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84717" y="8738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84717" y="873882"/>
            <a:ext cx="2743200" cy="4114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84717" y="8738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3629" y="9287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Read — SPRE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4445" y="13768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A: UPDATE SALARY (bez COMMIT)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B: SELECT -&gt; vraca 105.900,00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ne 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nepotvr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podatke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dizajnu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83365" y="8738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283365" y="873882"/>
            <a:ext cx="2743200" cy="411480"/>
          </a:xfrm>
          <a:prstGeom prst="rect">
            <a:avLst/>
          </a:prstGeom>
          <a:solidFill>
            <a:schemeClr val="bg2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283365" y="8738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22277" y="9287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Non-repeatable Read 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ead Committed)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93093" y="13768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sr-Latn-RS" sz="1400" dirty="0"/>
              <a:t>→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sr-Latn-RS" sz="1400" dirty="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 </a:t>
            </a:r>
            <a:r>
              <a:rPr lang="sr-Latn-RS" sz="1400" dirty="0"/>
              <a:t>→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+ COMMIT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 SELECT -&gt; vidi novu vrednost!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poslednju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commitovanu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verziju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82013" y="8738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182013" y="873882"/>
            <a:ext cx="2743200" cy="411480"/>
          </a:xfrm>
          <a:prstGeom prst="rect">
            <a:avLst/>
          </a:prstGeom>
          <a:solidFill>
            <a:schemeClr val="bg2">
              <a:lumMod val="2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182013" y="8738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20925" y="9287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Read — SPRE</a:t>
            </a:r>
            <a:r>
              <a:rPr lang="sr-Latn-R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91741" y="13768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ponovi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upita</a:t>
            </a:r>
          </a:p>
          <a:p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INSERT + COMMIT (105 redova)</a:t>
            </a:r>
            <a:endParaRPr lang="en-US" sz="1200" dirty="0"/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ponovi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 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/>
              <a:t>→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dalje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sve promene posle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svog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717" y="29312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84717" y="2931282"/>
            <a:ext cx="2743200" cy="411480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84717" y="29312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3629" y="29861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Conflict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4445" y="34342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Dve Snapshot sesije menjaju isti red.</a:t>
            </a:r>
            <a:endParaRPr lang="en-US" sz="1400" dirty="0"/>
          </a:p>
          <a:p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prekida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đu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sesiju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dirty="0"/>
              <a:t>→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deadlock.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Pesimisti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lock na nivou verzije zapisa.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283365" y="29312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283365" y="2931282"/>
            <a:ext cx="2743200" cy="41148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3283365" y="29312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722277" y="29861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Timeout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333657" y="3434202"/>
            <a:ext cx="2633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SET TRANSACTION WAIT LOCK TIMEOUT 5</a:t>
            </a:r>
            <a:endParaRPr lang="en-US" sz="1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A ne oslobodi red za 5 sekundi -&gt;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 B dobija gresku deadlock.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82013" y="2931282"/>
            <a:ext cx="27432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7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182013" y="2931282"/>
            <a:ext cx="2743200" cy="411480"/>
          </a:xfrm>
          <a:prstGeom prst="rect">
            <a:avLst/>
          </a:prstGeom>
          <a:solidFill>
            <a:schemeClr val="accent6">
              <a:lumMod val="50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182013" y="2931282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20925" y="2986146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Pesimisticki WITH LOCK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91741" y="3434202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dirty="0"/>
              <a:t>→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WITH LOCK (dr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katanac)</a:t>
            </a:r>
            <a:endParaRPr lang="en-US" sz="1400" dirty="0"/>
          </a:p>
          <a:p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Sesija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dirty="0"/>
              <a:t>→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 UPDATE istog reda</a:t>
            </a:r>
            <a:endParaRPr lang="en-US" sz="1400" dirty="0"/>
          </a:p>
          <a:p>
            <a:r>
              <a:rPr lang="sr-Latn-RS" sz="1400" dirty="0"/>
              <a:t>→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Odmah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(NO WAIT)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 (WAIT).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2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11480" y="2788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 zaključci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6091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5760" y="1076091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30352" y="1185819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arhitektura: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926080" y="1185819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taoci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nikada ne blokiraju pisce — temeljna prednost Firebirda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SUBP-ovima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835043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65760" y="1835043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30352" y="1944771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Nivo izolacije = kompromis: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2926080" y="1944771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za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izve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taje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Read Committed za OLTP, Read Consistency (FB 4.0) za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eliminaciju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konflikata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593995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65760" y="2593995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30352" y="2703723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926080" y="2703723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OAT je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marker —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duga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transakcije blokiraju GC i degradiraju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performanse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352947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365760" y="3352947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30352" y="3462675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Deadlock prevencija: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926080" y="3462675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Uvek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ažurirati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tabele istim redosledom u celoj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aplikaciji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elimini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kru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</a:t>
            </a:r>
            <a:r>
              <a:rPr lang="sr-Latn-R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ekanje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111899"/>
            <a:ext cx="8412480" cy="640080"/>
          </a:xfrm>
          <a:prstGeom prst="rect">
            <a:avLst/>
          </a:prstGeom>
          <a:solidFill>
            <a:schemeClr val="bg1">
              <a:alpha val="8000"/>
            </a:schemeClr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5760" y="4111899"/>
            <a:ext cx="73152" cy="64008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30352" y="4221627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MON$ monitoring: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2926080" y="4221627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PLAN ON + MON$ tabele = kompletan uvid u planove i transakcije u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realnom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vremenu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965192"/>
            <a:ext cx="9144000" cy="178308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</TotalTime>
  <Words>3717</Words>
  <Application>Microsoft Office PowerPoint</Application>
  <PresentationFormat>On-screen Show (16:9)</PresentationFormat>
  <Paragraphs>314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Jefimija Stamenovic</cp:lastModifiedBy>
  <cp:revision>33</cp:revision>
  <dcterms:created xsi:type="dcterms:W3CDTF">2026-03-11T06:40:25Z</dcterms:created>
  <dcterms:modified xsi:type="dcterms:W3CDTF">2026-03-16T00:05:52Z</dcterms:modified>
</cp:coreProperties>
</file>