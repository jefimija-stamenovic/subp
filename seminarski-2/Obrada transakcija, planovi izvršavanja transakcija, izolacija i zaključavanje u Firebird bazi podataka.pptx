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66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3" d="100"/>
          <a:sy n="103" d="100"/>
        </p:scale>
        <p:origin x="8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5409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199" y="960120"/>
            <a:ext cx="849923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Obrada transakcija, planovi izvršavanja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6">
                    <a:lumMod val="40000"/>
                    <a:lumOff val="60000"/>
                  </a:schemeClr>
                </a:solidFill>
                <a:ea typeface="Calibri" pitchFamily="34" charset="-122"/>
                <a:cs typeface="Calibri" pitchFamily="34" charset="-120"/>
              </a:rPr>
              <a:t>transakcija, izolacija i zaključavanje</a:t>
            </a:r>
            <a:endParaRPr lang="en-US" sz="4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7257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ea typeface="Calibri" pitchFamily="34" charset="-122"/>
                <a:cs typeface="Calibri" pitchFamily="34" charset="-120"/>
              </a:rPr>
              <a:t>u Firebird bazi podataka</a:t>
            </a:r>
            <a:endParaRPr lang="en-US" sz="20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348082B4-3CAC-CA09-CF8E-C284FE30D233}"/>
              </a:ext>
            </a:extLst>
          </p:cNvPr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F8908098-460B-D6DA-91C0-E94AEDEFBE7C}"/>
              </a:ext>
            </a:extLst>
          </p:cNvPr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3A3026B5-436A-65A8-3346-EBBCC8C0CAD6}"/>
              </a:ext>
            </a:extLst>
          </p:cNvPr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46888" y="941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8412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ACID principi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1978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Osnova svake transakcione baze podataka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8600" y="173736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173736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801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Transakcione anomalije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215798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Dirty Read, Non-repeatable, Phantom Read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28600" y="269748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269748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46888" y="2862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76148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MGA i MVCC arhitektura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31181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Verzije zapisa, TIP, Record Header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8600" y="365760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365760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46888" y="3822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72160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Nivoi izolacije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" y="407822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Snapshot, Read Committed, Table Stability, Read Consistency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754880" y="77724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754880" y="77724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773168" y="941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8412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Mehanizmi</a:t>
            </a: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avanja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49240" y="11978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WITH LOCK, deadlock, WAIT / NO WAIT / LOCK TIMEOUT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754880" y="173736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754880" y="173736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773168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801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Garbage Collection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349240" y="215798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Database Bloat, transakcioni markeri, Sweep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754880" y="269748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754880" y="269748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73168" y="2862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76148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Planovi</a:t>
            </a: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izvr</a:t>
            </a:r>
            <a:r>
              <a:rPr lang="sr-Latn-R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š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avanja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349240" y="31181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TPB, MON$ monitoring, dijagnostika u realnom vremenu</a:t>
            </a:r>
            <a:endParaRPr lang="en-US" sz="12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principi — temelj pouzdanosti baze podataka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1993392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28600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20040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Atomičnost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0040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— baza ne dozvoljava polovicne rezultate.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vraca sve operacije u pocetno stanje ako bilo koja ne uspe.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404872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04872" y="777240"/>
            <a:ext cx="1993392" cy="960120"/>
          </a:xfrm>
          <a:prstGeom prst="rect">
            <a:avLst/>
          </a:prstGeom>
          <a:solidFill>
            <a:srgbClr val="243660"/>
          </a:solidFill>
          <a:ln>
            <a:solidFill>
              <a:srgbClr val="24366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04872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2496312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96312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Transakcija vodi bazu iz jednog validnog u drugo validno stanje.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ForeignKey i check constraint — automatska provera integriteta.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81144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81144" y="777240"/>
            <a:ext cx="1993392" cy="96012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81144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672584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Izolacija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72584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Transakcija se oseca kao jedina u sistemu.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Stepen izolacije odredjuje koliko jedna transakcija vidi promene druge.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757416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57416" y="777240"/>
            <a:ext cx="1993392" cy="9601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57416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848856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Trajnost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48856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= trajno na disku.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 i pad servera ne brise potvrdene promene — Write-Ahead Log.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28600" y="4434840"/>
            <a:ext cx="8686800" cy="5029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20040" y="44805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garantuje sva 4 ACID svojstva kroz MGA arhitekturu i Write-Ahead mehanizam.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Transakcione anomalije i kako ih Firebird rešava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148840" cy="123444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01752" y="103327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Prljavo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487168" y="850392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Prodavac menja cenu auta sa 20.000 na 15.000 EUR bez COMMIT-a. Kupac vidi 15.000 EUR iako transakcija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zavr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2487168" y="139903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po dizajnu — Firebird NIKADA ne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nepotvr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obzira na nivo izolacije.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176272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2176272"/>
            <a:ext cx="2148840" cy="1234440"/>
          </a:xfrm>
          <a:prstGeom prst="rect">
            <a:avLst/>
          </a:prstGeom>
          <a:solidFill>
            <a:srgbClr val="243660"/>
          </a:solidFill>
          <a:ln>
            <a:solidFill>
              <a:srgbClr val="24366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01752" y="24323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Non-repeatable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Neponovljivo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2249424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Prilikom generisanja izveštaja, dug klijenta je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din. Klijent plati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COMMIT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-uje aktivnost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 ponovi SELECT —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izveštaju je dug klijenta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dobija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 din.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487168" y="2798064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u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nivou. DOZVOLJENO u Read Committed — svaki SELECT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najnoviju commitovanu vrednost.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3575304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3575304"/>
            <a:ext cx="2148840" cy="12344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01752" y="38313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Fantomsko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487168" y="3648456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Menad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dobija 10 zaposlenih sa platom &gt; 100k. Novi radnik se dodaje i commituje.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Ponovni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SELECT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daje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11 radnika!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2487168" y="4197096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u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nivou — transakcija vidi samo redove koji su postojali u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trenutku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njenog kreiranja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" y="4956048"/>
            <a:ext cx="8686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Napomena: Firebird ne podrzava Read Uncommitted — automatski se tretira kao Read Committed.</a:t>
            </a:r>
            <a:endParaRPr lang="en-US" sz="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arhitektura — Multi-Version Concurrency Control (MVCC)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874520" cy="8686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(TID 500)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6712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8" name="Shape 6"/>
          <p:cNvSpPr/>
          <p:nvPr/>
        </p:nvSpPr>
        <p:spPr>
          <a:xfrm>
            <a:off x="2423160" y="777240"/>
            <a:ext cx="1874520" cy="868680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2316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(TID 600)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1596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11" name="Shape 9"/>
          <p:cNvSpPr/>
          <p:nvPr/>
        </p:nvSpPr>
        <p:spPr>
          <a:xfrm>
            <a:off x="4572000" y="777240"/>
            <a:ext cx="1874520" cy="86868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(TID 700)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6480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14" name="Shape 12"/>
          <p:cNvSpPr/>
          <p:nvPr/>
        </p:nvSpPr>
        <p:spPr>
          <a:xfrm>
            <a:off x="6720840" y="777240"/>
            <a:ext cx="1874520" cy="86868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72084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italac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T=550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vidi v1!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4320" y="17099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Interest Pointer: svaka </a:t>
            </a:r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verzija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 </a:t>
            </a:r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pokaziva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prethodnu — engine navigira unazad kroz istoriju</a:t>
            </a:r>
            <a:endParaRPr lang="en-US" sz="1200" b="1" dirty="0">
              <a:solidFill>
                <a:srgbClr val="24366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2084832"/>
            <a:ext cx="2743200" cy="183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2084832"/>
            <a:ext cx="64008" cy="1836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21579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Inventory Page (TIP)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2432304"/>
            <a:ext cx="2560320" cy="134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Svaka transakcija dobija 2-bitni status: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00 = Active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01 = Committed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10 = Rolled Back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11 = Limbo (distribuirane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transakcije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sr-Latn-RS" sz="1200" dirty="0">
              <a:solidFill>
                <a:srgbClr val="243660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Engine proverava TIP pre isporuke podataka.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154680" y="2084832"/>
            <a:ext cx="274320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54680" y="2084832"/>
            <a:ext cx="64008" cy="183600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91840" y="21579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Header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91840" y="2432304"/>
            <a:ext cx="2560320" cy="145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Svaki red sadrži nevidljive metapodatke: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Transaction ID (TID)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Back Interest Pointer → prethodna verzija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Record Flags (status zapisa)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Omogu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ava instant navigaciju kroz istoriju.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80760" y="2084832"/>
            <a:ext cx="2834640" cy="183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080760" y="2084832"/>
            <a:ext cx="64008" cy="183600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17920" y="21579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Copy-on-Write princip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17920" y="2432304"/>
            <a:ext cx="26517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UPDATE ne prepisuje podatke — kreira novu kopiju na slobodnom mestu.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Stara verzija ostaje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fizi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kom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mestu.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Prednost: instantni Rollback,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nema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fizi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kog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brisanja. 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itaoci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nikad ne 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ekaju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pisce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28600" y="4116282"/>
            <a:ext cx="8686800" cy="8686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65760" y="416200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prednost MGA: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365760" y="443632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itaoci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NIKADA ne blokiraju pisce — i obrnuto. Svaka transakcija vidi konzistentnu sliku podataka bez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ikakvih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mehanizama zaključavanja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na nivou redova. Ovo je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temeljni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princip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 kom se 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Firebird razlikuje od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drugih SUBP-va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Implementacija nivoa izolacije u Firebirdu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251960" cy="42062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83210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7101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Zamrznuta slika baze od trenutka starta transakcije.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promene tokom trajanja — bez obzira na commit.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kompleksn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ISOLATION LEVEL SNAPSHOT;</a:t>
            </a:r>
            <a:endParaRPr lang="en-US" sz="1200" b="1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09160" y="77724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251960" cy="420624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00600" y="83210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— Record Version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27101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poslednju commitovanu verziju.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nikad —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odmah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stariju verziju ako je red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OLTP, svakodnevne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operacije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RECORD VERSION;</a:t>
            </a:r>
            <a:endParaRPr lang="en-US" sz="1200" b="1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28600" y="288036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28600" y="2880360"/>
            <a:ext cx="4251960" cy="420624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" y="293522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— No Record Version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" y="337413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dok se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red ne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otključa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Apsolutno garantuje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poslednju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vrednost u bazi.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finansijske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NO RECORD VERSION;</a:t>
            </a:r>
            <a:endParaRPr lang="en-US" sz="1200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4251960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800600" y="293522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Read Consistency (FB 4.0+)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00600" y="337413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SQL naredba dobija sopstveni mini-snapshot.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 ponavlja konfliktni deo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upita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tako da ne dovodi do grešaka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potrebu za retry logikom u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READ CONSISTENCY;</a:t>
            </a:r>
            <a:endParaRPr lang="en-US" sz="1200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Mehanizmi zaključavanja — locking i rešavanje konflikata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16052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180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85039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Pesimistički lock — SELECT … WITH LOCK</a:t>
            </a:r>
            <a:endParaRPr lang="en-US" sz="1400" b="1" dirty="0"/>
          </a:p>
        </p:txBody>
      </p:sp>
      <p:sp>
        <p:nvSpPr>
          <p:cNvPr id="8" name="Text 6"/>
          <p:cNvSpPr/>
          <p:nvPr/>
        </p:nvSpPr>
        <p:spPr>
          <a:xfrm>
            <a:off x="365760" y="1213254"/>
            <a:ext cx="3977640" cy="1352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rezervi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odmah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ekskluzivnim katancem dok se transakcija ne završi sa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COMMIT/ROLLBACK.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prodaja avio-karte — kada korisnik odabere slobodan sedezaj,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ga odmah zakljucava.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SELECT EMP_NO, SALARY FROM EMPLOYEE WHERE EMP_NO=4 WITH LOCK;</a:t>
            </a:r>
            <a:endParaRPr lang="en-US" sz="1200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0" y="777240"/>
            <a:ext cx="434340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72000" y="777240"/>
            <a:ext cx="64008" cy="1800000"/>
          </a:xfrm>
          <a:prstGeom prst="rect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709160" y="85039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Optimistički pristup (podrazumevano)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09160" y="1213254"/>
            <a:ext cx="41605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katanca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provera tek pri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je red promenjen u me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uvremenu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Conflict.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Programer mora predvideti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logiku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aplikaciji.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Manager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 ko 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koji katanac u deljenoj memoriji.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28600" y="2638746"/>
            <a:ext cx="8686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28600" y="2638746"/>
            <a:ext cx="8686800" cy="36576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" y="265703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— kružno čekanje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" y="3068514"/>
            <a:ext cx="8321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 na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200" b="1" dirty="0">
              <a:solidFill>
                <a:srgbClr val="243660"/>
              </a:solidFill>
            </a:endParaRPr>
          </a:p>
          <a:p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 na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200" b="1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Lock Manager periodično analizira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ekanja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detektuje petlju i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prekida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mlađu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sesiju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'deadlock'.</a:t>
            </a:r>
            <a:endParaRPr lang="en-US" sz="1200" i="1" dirty="0">
              <a:solidFill>
                <a:srgbClr val="243660"/>
              </a:solidFill>
            </a:endParaRPr>
          </a:p>
          <a:p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Strategija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prevencije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ažurirati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tabele istim redosledom u celoj aplikaciji!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4172040"/>
            <a:ext cx="64008" cy="90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WAIT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Trenutna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ako je red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Idealno: interaktivni GUI.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16456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216456" y="4172040"/>
            <a:ext cx="64008" cy="90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353616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353616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neograni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osloba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traženog resursa.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zamrzavanja interfejsa.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167142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167142" y="4172040"/>
            <a:ext cx="64008" cy="90000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304302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TIMEOUT 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4302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N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ako za to vreme ne dobije resurs, dobija se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Najbolji kompromis za produkciju.</a:t>
            </a:r>
            <a:endParaRPr lang="en-US" sz="12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 — održavanje MGA baze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1993392" cy="137160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28600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TID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0040" y="1293095"/>
            <a:ext cx="18552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Slede</a:t>
            </a: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identifikator</a:t>
            </a:r>
            <a:r>
              <a:rPr lang="sr-Latn-RS" sz="1200" dirty="0"/>
              <a:t> 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transakcije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(gornja granica)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04872" y="777240"/>
            <a:ext cx="1993392" cy="137160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04872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404872" y="1280160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Active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BLOKIRA GC</a:t>
            </a:r>
            <a:endParaRPr lang="en-US" sz="1200" b="1" dirty="0"/>
          </a:p>
        </p:txBody>
      </p:sp>
      <p:sp>
        <p:nvSpPr>
          <p:cNvPr id="11" name="Shape 9"/>
          <p:cNvSpPr/>
          <p:nvPr/>
        </p:nvSpPr>
        <p:spPr>
          <a:xfrm>
            <a:off x="4581144" y="777240"/>
            <a:ext cx="1993392" cy="1371600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81144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81144" y="1280160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Interesting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(donja granica)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57416" y="777240"/>
            <a:ext cx="1993392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757416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30568" y="1280160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Snapshot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(zamrzava stanje)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228600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2286000"/>
            <a:ext cx="64008" cy="475488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2340864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TRANSACTION_GAP = Next TID - OAT   =&gt;   mali gap = zdrava baza  |  veliki gap = GC blokiran,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performanse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opadaju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2889504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2889504"/>
            <a:ext cx="64008" cy="90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65760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GC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Odvija se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tokom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SELECT upita.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italac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stare verzije usput.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209022" y="2889504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209022" y="2889504"/>
            <a:ext cx="64008" cy="90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346182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GC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46182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Posebna nit u SuperServer modelu.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Nezavisn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kih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zahteva.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163056" y="2889504"/>
            <a:ext cx="2752344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159708" y="2889504"/>
            <a:ext cx="64008" cy="9000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296868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(gfix)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6868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Sistematsko skeniranje cele baze.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gfix -sweep -user SYSDBA -password masterkey localhost:employee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228600" y="3937498"/>
            <a:ext cx="8686800" cy="114199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228600" y="3930141"/>
            <a:ext cx="86868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20040" y="3974074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monitoring — identifikacija blokirajuce sesije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320040" y="4321546"/>
            <a:ext cx="8503920" cy="757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A.MON$USER, A.MON$REMOTE_PROCESS, T.MON$TRANSACTION_ID, T.MON$TIMESTAMP,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CASE T.MON$ISOLATION_MODE WHEN 1 THEN 'Snapshot' WHEN 2 THEN 'RC RecordVersion'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WHEN 4 THEN 'Read Consistency' END AS IZOLACIJA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MON$TRANSACTIONS T JOIN MON$ATTACHMENTS A ON T.MON$ATTACHMENT_ID=A.MON$ATTACHMENT_ID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T.MON$TRANSACTION_ID = (SELECT MON$OLDEST_ACTIVE FROM MON$DATABASE);</a:t>
            </a:r>
            <a:endParaRPr lang="en-US" sz="10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Planovi izvršavanja i MON$ monitoring u realnom vremenu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71323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791596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Uloga TPB (Transaction Parameter Block)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087769"/>
            <a:ext cx="8503920" cy="372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transakcija startuje TPB-om koji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Access Mode (Read Only / Read Write), Isolation Level, Wait/No Wait.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koristi TPB: Read Only transakcija dobija agresivniji plan jer zna da se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podaci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menjati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549277"/>
            <a:ext cx="4160520" cy="2250755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28600" y="1549278"/>
            <a:ext cx="416052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sz="1200"/>
          </a:p>
        </p:txBody>
      </p:sp>
      <p:sp>
        <p:nvSpPr>
          <p:cNvPr id="11" name="Text 9"/>
          <p:cNvSpPr/>
          <p:nvPr/>
        </p:nvSpPr>
        <p:spPr>
          <a:xfrm>
            <a:off x="320040" y="1576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READ ONLY — zamrznuta slika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0040" y="1911621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TIME ON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TRANSACTION ISOLATION LEVEL SNAPSHOT READ ONLY;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PLAN ON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E.EMP_NO, E.FIRST_NAME,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D.DEPARTMENT, E.SALARY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 E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DEPARTMENT D ON E.DEPT_NO=D.DEPT_NO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E.SALARY &gt; 80000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E.SALARY DESC;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COMMIT;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0" y="1549278"/>
            <a:ext cx="4343400" cy="2250754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2000" y="1549278"/>
            <a:ext cx="43434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63440" y="1570167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MON$ — detekcija sporih upita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63440" y="1899351"/>
            <a:ext cx="4160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A.MON$USER AS KORISNIK,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S.MON$SQL_TEXT AS SQL_UPIT,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CASE T.MON$ISOLATION_MODE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1 THEN 'Snapshot'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2 THEN 'RC RecordVersion'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4 THEN 'Read Consistency'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END AS IZOLACIJA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MON$STATEMENTS S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MON$TRANSACTIONS T ON S.MON$TRANSACTION_ID=T.MON$TRANSACTION_ID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MON$ATTACHMENTS A ON T.MON$ATTACHMENT_ID=A.MON$ATTACHMENT_ID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S.MON$STATE=1;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3873186"/>
            <a:ext cx="2743200" cy="12092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873186"/>
            <a:ext cx="64008" cy="120923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94908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u planu = PROBLEM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334104"/>
            <a:ext cx="2560320" cy="675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Pojava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NATURAL za veliku tabelu = dokaz da Optimizer bira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Scan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Uzrok: zastarela statistika indeksa ili visok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Bloat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27248" y="3873188"/>
            <a:ext cx="2879542" cy="120923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27248" y="3873188"/>
            <a:ext cx="64008" cy="1209238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64408" y="3916307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kazna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64408" y="4334104"/>
            <a:ext cx="2651760" cy="675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nad tabelom sa mnogo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biti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SPORIJI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Read Committed.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mora pratiti Back Interest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ointer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unazad za svaki red.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68852" y="3873188"/>
            <a:ext cx="2743200" cy="120923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159708" y="3873188"/>
            <a:ext cx="64008" cy="1209238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96868" y="3952651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Redovno SET STATISTICS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96868" y="4334104"/>
            <a:ext cx="2560320" cy="675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 indeksa zastareva.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Pokrenuti SET STATISTICS INDEX posle masovnih INSERT/DELETE operacija.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Praktična demonstracija — 6 testova na EMPLOYEE.FDB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4717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84717" y="873882"/>
            <a:ext cx="2743200" cy="411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84717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3629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Read — SPRE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4445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A: UPDATE SALARY (bez COMMIT)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B: SELECT -&gt; vraca 105.900,00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ne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nepotvr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podatke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dizajnu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83365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83365" y="873882"/>
            <a:ext cx="2743200" cy="41148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283365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22277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Non-repeatable Read 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Committed)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93093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sr-Latn-RS" sz="12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+ COMMIT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SELECT -&gt; vidi novu vrednost!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poslednju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commitovanu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82013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182013" y="873882"/>
            <a:ext cx="2743200" cy="41148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182013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20925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Read — SPRE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91741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upita</a:t>
            </a:r>
          </a:p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INSERT + COMMIT (105 redova)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ponovi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sve promene posle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svog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717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84717" y="2931282"/>
            <a:ext cx="2743200" cy="41148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84717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3629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Conflict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4445" y="34342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Dve Snapshot sesije menjaju isti red.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prekida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đu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sesiju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deadlock.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lock na nivou verzije zapisa.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83365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283365" y="2931282"/>
            <a:ext cx="2743200" cy="41148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283365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22277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Timeout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333657" y="3434202"/>
            <a:ext cx="2633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WAIT LOCK TIMEOUT 5</a:t>
            </a: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ne oslobodi red za 5 sekundi -&gt;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B dobija gresku deadlock.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82013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182013" y="2931282"/>
            <a:ext cx="2743200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182013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20925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Pesimisticki WITH LOCK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91741" y="34342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WITH LOCK (dr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katanac)</a:t>
            </a:r>
            <a:endParaRPr lang="en-US" sz="1200" dirty="0"/>
          </a:p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 UPDATE istog reda</a:t>
            </a:r>
            <a:endParaRPr lang="en-US" sz="1200" dirty="0"/>
          </a:p>
          <a:p>
            <a:r>
              <a:rPr lang="sr-Latn-RS" sz="1200" dirty="0"/>
              <a:t>→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Odmah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(NO WAIT)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(WAIT).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11480" y="2788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6091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076091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30352" y="1185819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arhitektura: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926080" y="1185819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taoci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nikada ne blokiraju pisce — temeljna prednost Firebirda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SUBP-ovima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835043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65760" y="1835043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0352" y="1944771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Nivo izolacije = kompromis: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926080" y="1944771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za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Read Committed za OLTP, Read Consistency (FB 4.0) za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eliminaciju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konflikata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593995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5760" y="2593995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30352" y="2703723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26080" y="2703723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 je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marker —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duga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transakcije blokiraju GC i degradiraju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352947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65760" y="3352947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30352" y="3462675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prevencija: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926080" y="3462675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ažurirati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tabele istim redosledom u celoj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elimini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</a:t>
            </a:r>
            <a:r>
              <a:rPr lang="sr-Latn-R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ekanje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111899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5760" y="4111899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30352" y="4221627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MON$ monitoring: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2926080" y="4221627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PLAN ON + MON$ tabele = kompletan uvid u planove i transakcije u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realnom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4965192"/>
            <a:ext cx="9144000" cy="178308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1953</Words>
  <Application>Microsoft Office PowerPoint</Application>
  <PresentationFormat>On-screen Show (16:9)</PresentationFormat>
  <Paragraphs>268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Jefimija Stamenovic</cp:lastModifiedBy>
  <cp:revision>13</cp:revision>
  <dcterms:created xsi:type="dcterms:W3CDTF">2026-03-11T06:40:25Z</dcterms:created>
  <dcterms:modified xsi:type="dcterms:W3CDTF">2026-03-11T18:12:42Z</dcterms:modified>
</cp:coreProperties>
</file>